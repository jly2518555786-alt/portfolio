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handoutMasterIdLst>
    <p:handoutMasterId r:id="rId51"/>
  </p:handoutMasterIdLst>
  <p:sldIdLst>
    <p:sldId id="349" r:id="rId3"/>
    <p:sldId id="258" r:id="rId4"/>
    <p:sldId id="335" r:id="rId5"/>
    <p:sldId id="336" r:id="rId6"/>
    <p:sldId id="337" r:id="rId7"/>
    <p:sldId id="338" r:id="rId8"/>
    <p:sldId id="339" r:id="rId9"/>
    <p:sldId id="340" r:id="rId10"/>
    <p:sldId id="321" r:id="rId11"/>
    <p:sldId id="259" r:id="rId12"/>
    <p:sldId id="314" r:id="rId13"/>
    <p:sldId id="315" r:id="rId14"/>
    <p:sldId id="260" r:id="rId15"/>
    <p:sldId id="285" r:id="rId16"/>
    <p:sldId id="313" r:id="rId17"/>
    <p:sldId id="286" r:id="rId18"/>
    <p:sldId id="352" r:id="rId19"/>
    <p:sldId id="261" r:id="rId20"/>
    <p:sldId id="262" r:id="rId21"/>
    <p:sldId id="333" r:id="rId22"/>
    <p:sldId id="264" r:id="rId23"/>
    <p:sldId id="317" r:id="rId24"/>
    <p:sldId id="265" r:id="rId25"/>
    <p:sldId id="324" r:id="rId26"/>
    <p:sldId id="266" r:id="rId27"/>
    <p:sldId id="267" r:id="rId28"/>
    <p:sldId id="323" r:id="rId29"/>
    <p:sldId id="283" r:id="rId30"/>
    <p:sldId id="268" r:id="rId31"/>
    <p:sldId id="284" r:id="rId32"/>
    <p:sldId id="270" r:id="rId33"/>
    <p:sldId id="320" r:id="rId34"/>
    <p:sldId id="331" r:id="rId35"/>
    <p:sldId id="343" r:id="rId36"/>
    <p:sldId id="327" r:id="rId37"/>
    <p:sldId id="344" r:id="rId38"/>
    <p:sldId id="330" r:id="rId39"/>
    <p:sldId id="332" r:id="rId40"/>
    <p:sldId id="293" r:id="rId41"/>
    <p:sldId id="294" r:id="rId42"/>
    <p:sldId id="341" r:id="rId43"/>
    <p:sldId id="350" r:id="rId44"/>
    <p:sldId id="351" r:id="rId45"/>
    <p:sldId id="348" r:id="rId46"/>
    <p:sldId id="345" r:id="rId47"/>
    <p:sldId id="346" r:id="rId48"/>
    <p:sldId id="347" r:id="rId49"/>
  </p:sldIdLst>
  <p:sldSz cx="12192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114" d="100"/>
          <a:sy n="114" d="100"/>
        </p:scale>
        <p:origin x="414" y="108"/>
      </p:cViewPr>
      <p:guideLst>
        <p:guide orient="horz" pos="2102"/>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handoutMaster" Target="handoutMasters/handoutMaster1.xml"/><Relationship Id="rId50" Type="http://schemas.openxmlformats.org/officeDocument/2006/relationships/notesMaster" Target="notesMasters/notesMaster1.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23"/>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47558.000 30253.000 1000,'-22.000'48.000'0,"7.000"1.000"0,6.000 0.000 0,6.000-1.000 0,3.000 1.000 0,0.000-1.000 0,0.000 1.000 0,0.000-1.000 0,3.000 0.000 0,6.000-4.000 0,6.000-3.000 0,7.000-3.000 0,3.000-5.000 0,4.000-6.000 0,3.000-6.000 0,3.000-5.000 0,3.000-6.000 0,3.000-2.000 0,3.000-4.000 0,3.000-2.000 0,6.000-7.000 0,10.000-8.000 0,8.000-10.000 0,9.000-9.000 0,5.000-4.000 0,0.000-1.000 0,0.000 1.000 0,0.000-1.000 0,-4.000 2.000 0,-10.000 4.000 0,-8.000 2.000 0,-11.000 3.000 0,-9.000 8.000 0,-13.000 12.000 0,-12.000 12.000 0,-11.000 12.000 0,-18.000 20.000 0,-21.000 27.000 0,-21.000 28.000 0,-21.000 27.000 0,-16.000 12.000 0,-8.000-3.000 0,-10.000-3.000 0,-9.000-3.000 0,0.000-6.000 0,9.000-10.000 0,9.000-8.000 0,10.000-9.000 0,10.000-14.000 0,12.000-19.000 0,13.000-17.000 0,11.000-19.000 0,8.000-13.000 0,3.000-10.000 0,3.000-9.000 0,3.000-8.000 0,2.000-6.000-9,0.000 1.000-15,0.000 0.000-16,-1.000 0.000-17</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23"/>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47217.000 32050.000 1000,'66.000'119.000'0,"-16.000"-7.000"0,-16.000-6.000 0,-14.000-6.000 0,-9.000 1.000 0,-3.000 5.000 0,-4.000 6.000 0,-2.000 7.000 0,-4.000 4.000 0,-2.000 3.000 0,-4.000 3.000 0,-3.000 3.000 0,-1.000-3.000 0,0.000-9.000 0,0.000-9.000 0,0.000-10.000 0,0.000-8.000 0,0.000-10.000 0,0.000-8.000 0,0.000-10.000 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23"/>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47898.000 31710.000 1000,'45.000'-1.000'0,"-5.000"-4.000"0,-7.000-2.000 0,-6.000-4.000 0,2.000 0.000 0,9.000 4.000 0,9.000 2.000 0,10.000 4.000 0,3.000 1.000 0,1.000 0.000 0,0.000 0.000 0,-1.000 0.000 0,-1.000 4.000 0,-3.000 10.000 0,-2.000 9.000 0,-4.000 8.000 0,-5.000 20.000 0,-5.000 26.000 0,-7.000 28.000 0,-5.000 27.000 0,-7.000 32.000 0,-6.000 36.000 0,-6.000 37.000 0,-6.000 36.000 0,-3.000 13.000 0,0.000-13.000 0,0.000-12.000 0,0.000-12.000 0,-2.000-26.000 0,-2.000-39.000 0,-4.000-40.000 0,-2.000-39.000 0,-5.000-29.000 0,-7.000-19.000 0,-5.000-17.000 0,-6.000-19.000 0,-7.000-10.000 0,-5.000-4.000 0,-7.000-2.000 0,-6.000-4.000 0,-4.000-7.000 0,-3.000-12.000 0,-4.000-12.000 0,-2.000-13.000 0,3.000-7.000 0,9.000-3.000 0,9.000-3.000 0,9.000-3.000 0,6.000-1.000-9,3.000 4.000-15,3.000 3.000-16,3.000 3.000-17</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23"/>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47655.000 32633.000 1000,'50.000'41.000'0,"3.000"-15.000"0,3.000-15.000 0,3.000-16.000 0,5.000-12.000 0,6.000-8.000 0,6.000-10.000 0,6.000-9.000 0,0.000-2.000 0,-6.000 7.000 0,-7.000 5.000 0,-5.000 7.000 0,-11.000 10.000 0,-15.000 16.000 0,-15.000 14.000 0,-15.000 16.000 0,-13.000 11.000 0,-8.000 5.000 0,-10.000 7.000 0,-9.000 5.000 0,-6.000 6.000 0,-3.000 2.000 0,-3.000 3.000 0,-3.000 4.000 0,0.000-3.000 0,3.000-5.000 0,3.000-6.000 0,3.000-6.000 0,3.000-7.000 0,3.000-5.000 0,3.000-7.000 0,3.000-6.000 0,9.000-7.000 0,16.000-9.000 0,15.000-10.000 0,15.000-8.000 0,9.000-15.000 0,2.000-17.000 0,5.000-19.000 0,2.000-18.000 0,-3.000-9.000 0,-9.000 0.000 0,-10.000 0.000 0,-8.000 0.000 0,-5.000 5.000 0,0.000 8.000 0,1.000 10.000 0,-1.000 9.000 0,-2.000 7.000-9,-2.000 7.000-15,-4.000 6.000-16,-2.000 5.000-17</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24"/>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48286.000 32293.000 1000,'-47.000'-23.000'0,"3.000"4.000"0,3.000 2.000 0,3.000 3.000 0,3.000 2.000 0,4.000 0.000 0,2.000 0.000 0,3.000 0.000 0,9.000 3.000 0,16.000 6.000 0,14.000 6.000 0,16.000 6.000 0,6.000 9.000 0,-3.000 12.000 0,-3.000 13.000 0,-3.000 11.000 0,-4.000 12.000 0,-2.000 8.000 0,-3.000 10.000 0,-3.000 8.000 0,-4.000 8.000 0,-2.000 7.000 0,-4.000 5.000 0,-2.000 6.000 0,-1.000-1.000 0,4.000-9.000 0,2.000-9.000 0,4.000-10.000 0,1.000-11.000-9,0.000-16.000-15,0.000-15.000-16,0.000-15.000-17</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24"/>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49355.000 30787.000 1000,'90.000'3.000'0,"-16.000"6.000"0,-15.000 7.000 0,-15.000 5.000 0,-8.000 3.000 0,1.000 0.000 0,0.000 1.000 0,-1.000-1.000 0,-1.000 6.000 0,-3.000 13.000 0,-3.000 11.000 0,-4.000 13.000 0,-5.000 14.000 0,-10.000 14.000 0,-8.000 16.000 0,-9.000 15.000 0,-12.000 8.000 0,-11.000-1.000 0,-13.000 1.000 0,-11.000 0.000 0,-7.000-8.000 0,0.000-16.000 0,0.000-14.000 0,1.000-16.000 0,2.000-16.000 0,7.000-18.000 0,5.000-19.000 0,7.000-18.000 0,4.000-13.000-9,3.000-10.000-15,3.000-9.000-16,3.000-9.000-17</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25"/>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49403.000 30933.000 1000,'43.000'3.000'0,"-13.000"6.000"0,-12.000 6.000 0,-11.000 7.000 0,-8.000 6.000 0,2.000 10.000 0,-2.000 9.000 0,2.000 10.000 0,-5.000 5.000 0,-4.000 3.000 0,-8.000 3.000 0,-5.000 4.000 0,0.000-2.000 0,6.000-7.000 0,6.000-5.000 0,5.000-6.000 0,5.000-5.000 0,-2.000-3.000 0,1.000-3.000 0,0.000-3.000 0,5.000-3.000 0,9.000-4.000 0,9.000-2.000 0,8.000-3.000 0,5.000-3.000 0,-5.000-3.000 0,-2.000-4.000 0,-3.000-2.000 0,-2.000-3.000 0,0.000-4.000 0,1.000-2.000 0,-1.000-4.000 0,-3.000 2.000 0,-5.000 6.000 0,-7.000 7.000 0,-6.000 5.000 0,-9.000 9.000 0,-13.000 13.000 0,-11.000 11.000 0,-13.000 13.000 0,-6.000 6.000 0,-5.000 0.000 0,-2.000 0.000 0,-3.000 0.000 0,1.000-2.000 0,7.000-3.000 0,5.000-2.000 0,6.000-4.000 0,7.000-6.000 0,6.000-9.000 0,6.000-9.000 0,5.000-9.000 0,9.000-8.000 0,8.000-6.000 0,10.000-6.000 0,9.000-6.000 0,13.000-9.000 0,19.000-12.000 0,18.000-12.000 0,17.000-13.000 0,12.000-10.000 0,3.000-9.000 0,3.000-9.000 0,3.000-10.000 0,0.000-4.000 0,-4.000 0.000 0,-2.000 0.000 0,-3.000 0.000 0,-12.000 3.000 0,-17.000 6.000 0,-18.000 6.000 0,-19.000 7.000 0,-16.000 6.000 0,-15.000 10.000 0,-16.000 9.000 0,-15.000 10.000 0,-10.000 5.000 0,-7.000 3.000 0,-5.000 3.000 0,-7.000 4.000 0,-3.000 2.000 0,0.000 3.000 0,0.000 4.000 0,1.000 2.000 0,4.000 2.000 0,8.000 0.000 0,11.000 0.000 0,8.000 0.000 0,7.000 3.000 0,7.000 7.000 0,6.000 5.000 0,6.000 6.000 0,5.000 8.000 0,2.000 9.000 0,4.000 9.000 0,3.000 9.000 0,2.000 9.000 0,4.000 10.000 0,3.000 8.000 0,2.000 10.000 0,-1.000 13.000 0,-6.000 18.000 0,-5.000 19.000 0,-7.000 18.000 0,-3.000 18.000 0,0.000 19.000 0,0.000 17.000 0,0.000 19.000 0,0.000-2.000 0,0.000-21.000 0,0.000-21.000 0,0.000-22.000 0,-2.000-26.000 0,-2.000-35.000 0,-4.000-32.000 0,-2.000-34.000 0,-4.000-25.000 0,-3.000-14.000 0,-2.000-16.000 0,-4.000-14.000 0,-2.000-10.000 0,1.000-3.000 0,0.000-3.000 0,0.000-4.000 0,0.000 1.000-9,-1.000 3.000-15,1.000 3.000-16,-1.000 3.000-17</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30"/>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50861.000 31953.000 1000,'110.000'64.000'0,"-20.000"-19.000"0,-21.000-17.000 0,-22.000-19.000 0,-10.000-6.000 0,-1.000 6.000 0,0.000 6.000 0,1.000 6.000 0,-3.000 2.000-9,-2.000-3.000-15,-3.000-3.000-16,-3.000-4.000-17</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30"/>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50812.000 33459.000 1000,'-79.000'44.000'0,"37.000"-9.000"0,36.000-9.000 0,36.000-10.000 0,20.000-13.000 0,3.000-18.000 0,4.000-18.000 0,2.000-19.000 0,3.000-13.000 0,4.000-9.000 0,2.000-10.000 0,3.000-8.000 0,-3.000 0.000 0,-8.000 14.000 0,-11.000 11.000 0,-8.000 12.000 0,-7.000 10.000-9,-7.000 5.000-15,-6.000 7.000-16,-5.000 5.000-17</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30"/>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52270.000 31127.000 1000,'28.000'64.000'0,"11.000"-18.000"0,7.000-19.000 0,11.000-18.000 0,0.000-9.000 0,-5.000 0.000 0,-7.000 0.000 0,-5.000 0.000 0,-4.000 0.000 0,1.000 0.000 0,-1.000 0.000 0,1.000 0.000 0,-4.000 6.000 0,-6.000 12.000 0,-5.000 13.000 0,-7.000 11.000 0,-5.000 11.000 0,-2.000 10.000 0,-3.000 8.000 0,-4.000 9.000 0,-10.000 8.000 0,-18.000 7.000 0,-19.000 5.000 0,-18.000 6.000 0,-11.000 0.000 0,-7.000-6.000 0,-6.000-5.000 0,-6.000-7.000 0,-2.000-3.000 0,3.000 0.000 0,3.000 0.000 0,4.000 0.000 0,4.000-5.000 0,6.000-9.000 0,7.000-8.000 0,5.000-10.000 0,23.000-15.000 0,39.000-22.000 0,40.000-20.000 0,39.000-22.000 0,23.000-22.000 0,7.000-25.000 0,5.000-25.000 0,7.000-23.000 0,1.000-13.000 0,-3.000 1.000 0,-3.000-1.000 0,-4.000 1.000 0,-9.000 5.000 0,-19.000 13.000 0,-19.000 12.000 0,-17.000 11.000 0,-13.000 14.000-9,-6.000 11.000-15,-6.000 12.000-16,-5.000 13.000-17</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31"/>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52707.000 30787.000 1000,'-2.000'47.000'0,"-2.000"-3.000"0,-4.000-3.000 0,-2.000-3.000 0,-1.000-3.000 0,4.000-3.000 0,2.000-3.000 0,3.000-3.000 0,2.000 3.000 0,0.000 8.000 0,0.000 11.000 0,0.000 8.000 0,0.000 6.000 0,0.000 3.000 0,0.000 4.000 0,0.000 2.000 0,0.000 5.000 0,0.000 6.000 0,0.000 6.000 0,0.000 6.000 0,-1.000 8.000 0,-4.000 8.000 0,-2.000 10.000 0,-4.000 9.000 0,-7.000 13.000 0,-13.000 14.000 0,-11.000 16.000 0,-13.000 14.000 0,-7.000 7.000 0,-3.000-3.000 0,-4.000-3.000 0,-2.000-4.000 0,3.000-16.000 0,9.000-30.000 0,9.000-31.000 0,9.000-30.000 0,7.000-26.000 0,7.000-21.000 0,6.000-21.000 0,5.000-22.000 0,1.000-13.000-9,-6.000-7.000-15,-6.000-5.000-16,-7.000-7.000-17</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31"/>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52270.000 32293.000 1000,'91.000'47.000'0,"-12.000"-3.000"0,-12.000-3.000 0,-13.000-3.000 0,-3.000 3.000 0,1.000 9.000 0,5.000 9.000 0,2.000 10.000 0,0.000 5.000 0,-3.000 4.000 0,-3.000 2.000 0,-3.000 4.000 0,-3.000 1.000 0,-3.000 0.000 0,-3.000 0.000 0,-3.000 0.000 0,-3.000-5.000 0,-3.000-9.000 0,-3.000-8.000 0,-3.000-10.000 0</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32"/>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53970.000 30739.000 1000,'46.000'-23.000'0,"-7.000"3.000"0,-6.000 3.000 0,-5.000 4.000 0,-7.000 5.000 0,-6.000 10.000 0,-6.000 8.000 0,-6.000 10.000 0,-3.000 10.000 0,0.000 13.000 0,0.000 12.000 0,0.000 11.000 0,-2.000 12.000 0,-8.000 8.000 0,-5.000 10.000 0,-6.000 9.000 0,-7.000 4.000 0,-5.000 0.000 0,-7.000 1.000 0,-5.000-1.000 0,-4.000-1.000 0,1.000-4.000 0,0.000-2.000 0,-1.000-3.000 0,2.000-7.000 0,3.000-8.000 0,3.000-10.000 0,3.000-8.000 0</inkml:trace>
</inkml:ink>
</file>

<file path=ppt/ink/ink1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32"/>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54067.000 31467.000 1000,'46.000'-1.000'0,"-7.000"-4.000"0,-6.000-2.000 0,-5.000-4.000 0,-1.000-1.000 0,7.000 0.000 0,5.000 0.000 0,6.000-1.000 0,5.000 0.000 0,4.000-4.000 0,2.000-3.000 0,3.000-2.000 0,-1.000-3.000 0,-6.000 1.000 0,-7.000 0.000 0,-6.000-1.000 0</inkml:trace>
</inkml:ink>
</file>

<file path=ppt/ink/ink1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32"/>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54019.000 32050.000 1000,'-55.000'61.000'0,"37.000"-25.000"0,36.000-23.000 0,37.000-26.000 0,19.000-14.000 0,3.000-6.000 0,4.000-7.000 0,2.000-5.000 0,-1.000-1.000 0,-6.000 7.000 0,-6.000 5.000 0,-6.000 7.000 0,-7.000 3.000-9,-5.000-1.000-15,-6.000 1.000-16,-7.000 0.000-17</inkml:trace>
</inkml:ink>
</file>

<file path=ppt/ink/ink1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33"/>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53630.000 33265.000 1000,'-79.000'82.000'0,"36.000"-31.000"0,38.000-29.000 0,35.000-32.000 0,24.000-20.000 0,13.000-12.000 0,12.000-13.000 0,12.000-12.000 0,6.000-6.000 0,0.000 0.000 0,1.000 1.000 0,-1.000-1.000 0,-2.000 0.000 0,-2.000 0.000 0,-3.000 0.000 0,-4.000 0.000 0,-10.000 6.000 0,-18.000 13.000 0,-19.000 11.000 0,-18.000 13.000 0</inkml:trace>
</inkml:ink>
</file>

<file path=ppt/ink/ink1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33"/>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54067.000 32342.000 1000,'23.000'48.000'0,"-3.000"1.000"0,-4.000-1.000 0,-2.000 1.000 0,-4.000 4.000 0,-2.000 9.000 0,-3.000 10.000 0,-4.000 8.000 0,-2.000 14.000 0,-4.000 19.000 0,-2.000 17.000 0,-4.000 19.000 0,-1.000 7.000 0,0.000-2.000 0,-1.000-4.000 0,1.000-3.000 0,2.000-13.000 0,2.000-25.000 0,4.000-24.000 0,2.000-24.000 0,6.000-26.000 0,10.000-28.000 0,9.000-26.000 0,9.000-28.000 0,12.000-26.000 0,15.000-24.000 0,15.000-25.000 0,16.000-24.000 0,-2.000 4.000 0,-18.000 29.000 0,-18.000 31.000 0,-19.000 31.000 0,-7.000 13.000-9,3.000-3.000-15,2.000-3.000-16,4.000-3.000-17</inkml:trace>
</inkml:ink>
</file>

<file path=ppt/ink/ink1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33"/>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54942.000 31710.000 1000,'25.000'44.000'0,"4.000"-9.000"0,3.000-9.000 0,3.000-9.000 0,2.000-7.000 0,-1.000-2.000 0,0.000-4.000 0,1.000-2.000 0,-1.000-5.000 0,1.000-6.000 0,-1.000-6.000 0,1.000-7.000 0,-1.000 0.000 0,1.000 2.000 0,-1.000 3.000 0,0.000 3.000 0</inkml:trace>
</inkml:ink>
</file>

<file path=ppt/ink/ink1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34"/>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54942.000 32828.000 1000,'-25.000'45.000'0,"1.000"-5.000"0,-1.000-7.000 0,1.000-6.000 0,6.000-7.000 0,12.000-9.000 0,12.000-10.000 0,12.000-8.000 0,13.000-13.000 0,11.000-15.000 0,12.000-15.000 0,14.000-15.000 0,6.000-10.000 0,4.000-2.000 0,2.000-4.000 0,4.000-2.000 0,1.000-2.000 0,0.000 0.000 0,0.000 0.000 0,-1.000 0.000 0,-5.000 3.000 0,-12.000 6.000 0,-12.000 6.000 0,-13.000 6.000 0,-8.000 8.000-9,-7.000 9.000-15,-6.000 9.000-16,-5.000 9.000-17</inkml:trace>
</inkml:ink>
</file>

<file path=ppt/ink/ink2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34"/>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55476.000 31224.000 1000,'44.000'57.000'0,"-9.000"14.000"0,-10.000 15.000 0,-8.000 16.000 0,-3.000 21.000 0,3.000 27.000 0,3.000 28.000 0,2.000 27.000 0,6.000 20.000 0,5.000 11.000 0,7.000 13.000 0,5.000 13.000 0,5.000-13.000 0,3.000-37.000 0,3.000-36.000 0,4.000-36.000 0,-1.000-31.000 0,-3.000-24.000 0,-3.000-24.000 0,-3.000-25.000 0,-4.000-16.000 0,-7.000-9.000 0,-6.000-10.000 0,-5.000-8.000 0,-5.000-10.000 0,-4.000-9.000 0,-2.000-9.000 0,-3.000-9.000 0,-4.000-11.000 0,-2.000-11.000 0,-4.000-13.000 0,-2.000-12.000 0,-3.000 1.000-9,-4.000 16.000-15,-3.000 14.000-16,-2.000 16.000-17</inkml:trace>
</inkml:ink>
</file>

<file path=ppt/ink/ink2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34"/>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56350.000 32099.000 1000,'-24.000'-41.000'0,"0.000"15.000"0,-1.000 15.000 0,1.000 16.000 0,-2.000 16.000 0,-2.000 19.000 0,-4.000 17.000 0,-3.000 19.000 0,-3.000 15.000 0,-3.000 13.000 0,-3.000 11.000 0,-3.000 12.000 0,-5.000 9.000 0,-6.000 2.000 0,-5.000 3.000 0,-7.000 3.000 0,-5.000-1.000 0,-2.000-7.000 0,-4.000-5.000 0,-2.000-7.000 0,1.000-11.000 0,6.000-19.000 0,6.000-18.000 0,7.000-18.000 0,6.000-14.000-9,10.000-10.000-15,10.000-8.000-16,8.000-9.000-17</inkml:trace>
</inkml:ink>
</file>

<file path=ppt/ink/ink2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34"/>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55670.000 30933.000 1000,'46.000'0.000'0,"-7.000"0.000"0,-5.000 0.000 0,-7.000 0.000 0,2.000 6.000 0,9.000 12.000 0,9.000 13.000 0,9.000 11.000 0,0.000 2.000-9,-9.000-9.000-15,-9.000-9.000-16,-9.000-9.000-17</inkml:trace>
</inkml:ink>
</file>

<file path=ppt/ink/ink2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34"/>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57516.000 31564.000 1000,'-68.000'46.000'0,"9.000"-7.000"0,9.000-5.000 0,9.000-7.000 0,5.000-4.000-9,5.000-3.000-15,2.000-4.000-16,3.000-2.000-17</inkml:trace>
</inkml:ink>
</file>

<file path=ppt/ink/ink2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35"/>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57079.000 30593.000 1000,'21.000'47.000'0,"-5.000"-3.000"0,-7.000-3.000 0,-6.000-3.000 0,-3.000 1.000 0,0.000 7.000 0,0.000 6.000 0,0.000 5.000 0,-2.000 4.000 0,-3.000 0.000 0,-2.000-1.000 0,-4.000 1.000 0,-2.000 3.000 0,-4.000 6.000 0,-3.000 6.000 0,-3.000 6.000 0,-2.000 4.000 0,-4.000 4.000 0,-3.000 2.000 0,-3.000 4.000 0,0.000-3.000 0,3.000-10.000 0,3.000-9.000 0,3.000-8.000 0,3.000-10.000-9,4.000-9.000-15,2.000-9.000-16,4.000-9.000-17</inkml:trace>
</inkml:ink>
</file>

<file path=ppt/ink/ink2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35"/>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57079.000 31176.000 1000,'138.000'-91.000'0,"-15.000"12.000"0,-15.000 12.000 0,-15.000 12.000 0,-11.000 8.000 0,-7.000 3.000 0,-5.000 3.000 0,-6.000 3.000 0,-8.000 6.000 0,-9.000 10.000 0,-9.000 8.000 0,-9.000 9.000 0,-13.000 9.000-9,-14.000 5.000-15,-15.000 6.000-16,-16.000 6.000-17</inkml:trace>
</inkml:ink>
</file>

<file path=ppt/ink/ink2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35"/>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57565.000 30933.000 1000,'-2.000'47.000'0,"-3.000"-3.000"0,-2.000-3.000 0,-3.000-3.000 0,-1.000-2.000 0,4.000 1.000 0,1.000-1.000 0,5.000 1.000 0,1.000 1.000 0,0.000 3.000 0,0.000 3.000 0,0.000 3.000 0,0.000 6.000 0,0.000 9.000 0,0.000 9.000 0,0.000 10.000 0,-1.000 8.000 0,-4.000 10.000 0,-2.000 9.000 0,-4.000 9.000 0,0.000 3.000 0,4.000-3.000 0,2.000-3.000 0,3.000-4.000 0,2.000-6.000 0,0.000-13.000 0,0.000-12.000 0,0.000-13.000 0,0.000-17.000 0,0.000-25.000 0,0.000-24.000 0,0.000-24.000 0,0.000-11.000-9,0.000 3.000-15,0.000 3.000-16,0.000 4.000-17</inkml:trace>
</inkml:ink>
</file>

<file path=ppt/ink/ink2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35"/>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57516.000 31516.000 1000,'47.000'-2.000'0,"-3.000"-2.000"0,-3.000-4.000 0,-3.000-2.000 0,-3.000-1.000 0,-3.000 3.000 0,-3.000 4.000 0,-3.000 2.000 0,-1.000 2.000 0,4.000 0.000 0,3.000 0.000 0,3.000 0.000 0,-3.000 3.000 0,-9.000 6.000 0,-10.000 7.000 0,-8.000 5.000 0,-8.000 6.000 0,-7.000 7.000 0,-4.000 5.000 0,-8.000 7.000 0,-4.000 1.000 0,-2.000-3.000 0,-4.000-3.000 0,-3.000-3.000 0,-1.000-2.000 0,-1.000 1.000 0,1.000-1.000 0,-1.000 0.000 0,2.000-1.000 0,3.000-3.000 0,4.000-3.000 0,2.000-3.000 0,12.000-8.000 0,22.000-12.000 0,21.000-12.000 0,21.000-12.000 0,10.000-8.000 0,1.000-3.000 0,0.000-3.000 0,-1.000-3.000 0,-2.000-1.000 0,-6.000 0.000 0,-7.000-1.000 0,-5.000 1.000 0,-7.000 1.000-9,-6.000 3.000-15,-5.000 3.000-16,-7.000 3.000-17</inkml:trace>
</inkml:ink>
</file>

<file path=ppt/ink/ink2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36"/>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57079.000 32876.000 1000,'1.000'67.000'0,"4.000"-12.000"0,2.000-13.000 0,4.000-12.000 0,0.000-2.000 0,-4.000 5.000 0,-2.000 7.000 0,-3.000 5.000 0,-2.000 11.000 0,0.000 16.000 0,0.000 14.000 0,0.000 16.000 0,0.000 4.000 0,0.000-6.000 0,0.000-6.000 0,0.000-5.000 0,-2.000-9.000 0,-3.000-9.000 0,-2.000-8.000 0,-4.000-10.000 0</inkml:trace>
</inkml:ink>
</file>

<file path=ppt/ink/ink2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36"/>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57322.000 33070.000 1000,'68.000'2.000'0,"-9.000"2.000"0,-8.000 4.000 0,-10.000 3.000 0,-4.000 7.000 0,4.000 12.000 0,4.000 13.000 0,1.000 11.000 0,5.000 7.000 0,2.000 0.000 0,3.000 0.000 0,3.000-1.000 0,4.000-2.000 0,2.000-6.000 0,3.000-7.000 0,3.000-5.000 0,0.000-5.000 0,-2.000-4.000 0,-4.000-2.000 0,-2.000-3.000 0,-4.000-6.000 0,-3.000-10.000 0,-3.000-8.000 0,-3.000-10.000 0,-4.000-7.000 0,-7.000-6.000 0,-6.000-6.000 0,-5.000-7.000 0,-9.000-2.000 0,-8.000-1.000 0,-9.000 1.000 0,-10.000-1.000 0,-9.000 1.000 0,-8.000 0.000 0,-10.000-1.000 0,-9.000 1.000 0,-8.000-1.000 0,-6.000 1.000 0,-6.000-1.000 0,-5.000 1.000 0,-4.000 0.000 0,0.000-1.000 0,0.000 1.000 0,0.000-1.000 0,3.000 2.000 0,7.000 3.000 0,5.000 4.000 0,6.000 2.000 0,13.000 3.000 0,17.000 3.000 0,20.000 4.000 0,17.000 2.000 0,23.000 0.000 0,27.000-2.000 0,28.000-4.000 0,27.000-3.000 0,3.000-1.000-9,-22.000 0.000-15,-20.000-1.000-16,-22.000 1.000-17</inkml:trace>
</inkml:ink>
</file>

<file path=ppt/ink/ink3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36"/>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59459.000 31516.000 1000,'41.000'9.000'0,"-15.000"18.000"0,-15.000 19.000 0,-16.000 18.000 0,-11.000 12.000 0,-10.000 6.000 0,-9.000 6.000 0,-9.000 6.000 0,-5.000 4.000 0,1.000 4.000 0,-1.000 3.000 0,0.000 3.000 0,2.000-1.000 0,3.000-2.000 0,3.000-3.000 0,3.000-3.000 0,3.000-7.000 0,3.000-8.000 0,4.000-10.000 0,2.000-9.000 0</inkml:trace>
</inkml:ink>
</file>

<file path=ppt/ink/ink3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37"/>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59751.000 32002.000 1000,'-47.000'97.000'0,"3.000"0.000"0,3.000 0.000 0,3.000 0.000 0,1.000 5.000 0,1.000 9.000 0,-1.000 9.000 0,1.000 9.000 0,1.000 0.000 0,3.000-9.000 0,3.000-9.000 0,4.000-10.000 0,2.000-8.000 0,3.000-10.000 0,3.000-8.000 0,4.000-10.000 0,5.000-12.000 0,10.000-15.000 0,8.000-15.000 0,10.000-16.000 0,9.000-14.000 0,9.000-16.000 0,9.000-15.000 0,9.000-15.000 0,6.000-11.000 0,4.000-6.000 0,2.000-5.000 0,3.000-7.000 0,-1.000 1.000 0,-6.000 10.000 0,-6.000 9.000 0,-7.000 8.000 0,-5.000 10.000 0,-7.000 9.000 0,-5.000 10.000 0,-7.000 8.000 0,-6.000 9.000 0,-5.000 10.000 0,-8.000 9.000 0,-5.000 8.000 0,-3.000 9.000 0,0.000 5.000 0,0.000 6.000 0,0.000 7.000 0,-1.000 1.000 0,-4.000-3.000 0,-2.000-3.000 0,-4.000-3.000 0,2.000-3.000 0,6.000-3.000 0,6.000-3.000 0,6.000-4.000 0,4.000-3.000 0,5.000-7.000 0,1.000-6.000 0,4.000-6.000 0</inkml:trace>
</inkml:ink>
</file>

<file path=ppt/ink/ink3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37"/>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61160.000 31322.000 1000,'-3.000'-57.000'0,"-6.000"35.000"0,-7.000 32.000 0,-5.000 34.000 0,-5.000 20.000 0,-2.000 6.000 0,-4.000 6.000 0,-4.000 6.000 0,-2.000 3.000 0,-2.000 0.000 0,-4.000 0.000 0,-4.000 0.000 0,0.000-3.000 0,-1.000-6.000 0,1.000-6.000 0,-1.000-7.000 0,4.000-4.000 0,5.000-2.000 0,7.000-4.000 0,6.000-3.000 0,5.000-5.000 0,7.000-5.000 0,6.000-7.000 0,6.000-5.000 0,10.000-7.000 0,16.000-6.000 0,15.000-6.000 0,15.000-6.000 0,9.000-9.000 0,4.000-12.000 0,2.000-12.000 0,3.000-13.000 0,-1.000-4.000 0,-6.000 3.000 0,-7.000 3.000 0,-5.000 3.000 0,-6.000 5.000 0,-7.000 5.000 0,-5.000 7.000 0,-7.000 6.000 0,-9.000 7.000 0,-12.000 10.000 0,-12.000 8.000 0,-12.000 10.000 0,-11.000 11.000 0,-9.000 11.000 0,-9.000 13.000 0,-9.000 11.000 0,-7.000 7.000 0,-7.000 0.000 0,-7.000 0.000 0,-4.000 0.000 0,0.000-2.000 0,10.000-2.000 0,9.000-4.000 0,9.000-3.000 0,10.000-4.000 0,13.000-7.000 0,12.000-5.000 0,11.000-7.000 0,15.000-5.000 0,15.000-7.000 0,15.000-6.000 0,15.000-5.000 0,10.000-9.000 0,7.000-8.000 0,7.000-10.000 0,4.000-9.000 0,3.000-6.000 0,-4.000-2.000 0,-2.000-4.000 0,-4.000-3.000 0,-5.000 0.000 0,-11.000 3.000 0,-7.000 3.000 0,-10.000 3.000 0,-19.000 13.000 0,-26.000 20.000 0,-28.000 22.000 0,-27.000 21.000 0,-17.000 12.000 0,-6.000 4.000 0,-6.000 2.000 0,-6.000 3.000 0,-3.000 1.000 0,-1.000-4.000 0,1.000-3.000 0,0.000-2.000 0,4.000-6.000 0,10.000-5.000 0,9.000-7.000 0,8.000-5.000 0,14.000-11.000 0,19.000-16.000 0,18.000-14.000 0,18.000-16.000 0,12.000-9.000 0,6.000-2.000 0,7.000-4.000 0,5.000-3.000 0,1.000 0.000-9,-7.000 3.000-15,-6.000 3.000-16,-6.000 3.000-17</inkml:trace>
</inkml:ink>
</file>

<file path=ppt/ink/ink3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38"/>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61500.000 31564.000 1000,'-40.000'-21.000'0,"19.000"6.000"0,17.000 6.000 0,20.000 6.000 0,11.000 1.000 0,7.000-2.000 0,5.000-4.000 0,7.000-2.000 0,4.000-3.000 0,3.000 1.000 0,4.000 0.000 0,2.000 0.000 0,-2.000-2.000 0,-5.000-2.000 0,-7.000-4.000 0,-5.000-3.000 0,-7.000-1.000 0,-6.000 0.000 0,-5.000-1.000 0,-7.000 1.000 0</inkml:trace>
</inkml:ink>
</file>

<file path=ppt/ink/ink3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38"/>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61888.000 30933.000 1000,'0.000'47.000'0,"0.000"-3.000"0,0.000-3.000 0,0.000-3.000 0,0.000 3.000 0,0.000 9.000 0,0.000 9.000 0,0.000 10.000 0,0.000 10.000 0,0.000 12.000 0,0.000 12.000 0,0.000 12.000 0,-3.000 10.000 0,-6.000 5.000 0,-6.000 7.000 0,-6.000 6.000 0,-2.000-11.000-9,3.000-28.000-15,4.000-26.000-16,2.000-28.000-17</inkml:trace>
</inkml:ink>
</file>

<file path=ppt/ink/ink3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38"/>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61645.000 32390.000 1000,'0.000'-66.000'0,"0.000"11.000"0,1.000 12.000 0,-2.000 13.000 0,7.000 4.000 0,13.000-3.000 0,11.000-3.000 0,12.000-2.000 0,10.000-1.000 0,6.000 3.000 0,6.000 3.000 0,5.000 3.000 0,3.000 0.000 0,-4.000-3.000 0,-3.000-2.000 0,-2.000-4.000 0,-19.000 9.000 0,-34.000 21.000 0,-32.000 22.000 0,-35.000 21.000 0,-14.000 11.000 0,3.000-1.000 0,2.000 1.000 0,4.000-1.000 0,5.000-1.000 0,5.000-3.000 0,7.000-3.000 0,5.000-3.000 0,6.000-1.000 0,7.000-1.000 0,6.000 1.000 0,5.000-1.000 0,5.000 2.000 0,4.000 3.000 0,3.000 3.000 0,2.000 3.000 0,2.000 2.000 0,0.000-1.000 0,1.000 1.000 0,-2.000-1.000 0,3.000 1.000 0,2.000 0.000 0,4.000-1.000 0,2.000 1.000 0,3.000 1.000 0,-1.000 3.000 0,0.000 3.000 0,0.000 3.000 0,-1.000 2.000 0,-4.000 0.000 0,-2.000-1.000 0,-4.000 1.000 0,1.000-3.000-9,2.000-7.000-15,4.000-5.000-16,3.000-7.000-17</inkml:trace>
</inkml:ink>
</file>

<file path=ppt/ink/ink36.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39"/>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61791.000 32633.000 1000,'-36.000'-61.000'0,"23.000"25.000"0,26.000 24.000 0,23.000 24.000 0,17.000 14.000 0,10.000 3.000 0,8.000 3.000 0,9.000 2.000 0,2.000 3.000 0,-6.000-1.000 0,-6.000 1.000 0,-6.000-1.000 0,-10.000 4.000 0,-11.000 5.000 0,-13.000 7.000 0,-11.000 6.000 0,-18.000 11.000 0,-20.000 19.000 0,-23.000 19.000 0,-20.000 17.000 0,-15.000 8.000 0,-10.000-3.000 0,-9.000-3.000 0,-8.000-3.000 0,0.000-10.000 0,14.000-19.000 0,10.000-18.000 0,13.000-19.000 0,15.000-20.000 0,13.000-25.000 0,17.000-24.000 0,14.000-25.000 0,13.000-19.000 0,9.000-15.000 0,8.000-16.000 0,10.000-14.000 0,3.000-1.000-9,-3.000 15.000-15,-3.000 16.000-16,-4.000 15.000-17</inkml:trace>
</inkml:ink>
</file>

<file path=ppt/ink/ink37.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39"/>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63297.000 30496.000 1000,'0.000'-35.000'0,"0.000"27.000"0,0.000 28.000 0,0.000 27.000 0,-3.000 18.000 0,-6.000 10.000 0,-6.000 8.000 0,-7.000 10.000 0,-3.000 12.000 0,-4.000 14.000 0,-3.000 17.000 0,-3.000 14.000 0,-3.000 6.000 0,-3.000-2.000 0,-3.000-4.000 0,-3.000-3.000 0,1.000-12.000 0,7.000-21.000 0,6.000-21.000 0,5.000-22.000 0</inkml:trace>
</inkml:ink>
</file>

<file path=ppt/ink/ink38.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39"/>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63346.000 30982.000 1000,'-17.000'-85.000'0,"15.000"24.000"0,16.000 24.000 0,15.000 25.000 0,8.000 12.000 0,5.000 0.000 0,2.000 0.000 0,3.000 0.000 0,0.000 0.000 0,-3.000 0.000 0,-3.000 0.000 0,-3.000 0.000 0,-9.000 0.000 0,-16.000 0.000 0,-14.000 0.000 0,-16.000 0.000 0,-10.000 2.000 0,-7.000 2.000 0,-5.000 4.000 0,-6.000 3.000 0,-1.000 4.000 0,6.000 6.000 0,7.000 6.000 0,6.000 7.000 0,3.000 2.000 0,-1.000 1.000 0,1.000-1.000 0,0.000 0.000 0,3.000 2.000 0,5.000 3.000 0,7.000 3.000 0,6.000 3.000 0,3.000 0.000 0,0.000-2.000 0,0.000-5.000 0,0.000-2.000 0,3.000-6.000-9,7.000-9.000-15,5.000-9.000-16,6.000-10.000-17</inkml:trace>
</inkml:ink>
</file>

<file path=ppt/ink/ink39.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39"/>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63880.000 30204.000 1000,'41.000'28.000'0,"-15.000"5.000"0,-16.000 6.000 0,-14.000 7.000 0,-8.000 6.000 0,-1.000 5.000 0,2.000 7.000 0,-2.000 6.000 0,-2.000 4.000 0,-6.000 4.000 0,-7.000 2.000 0,-5.000 4.000 0,-2.000-1.000 0,3.000-2.000 0,3.000-4.000 0,3.000-3.000 0,2.000-4.000 0,0.000-6.000 0,0.000-6.000 0,0.000-7.000 0,3.000-13.000 0,11.000-21.000 0,9.000-22.000 0,8.000-20.000 0,5.000-10.000-9,1.000 3.000-15,-1.000 3.000-16,0.000 3.000-17</inkml:trace>
</inkml:ink>
</file>

<file path=ppt/ink/ink40.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40"/>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63685.000 30982.000 1000,'48.000'-46.000'0,"-4.000"7.000"0,-3.000 5.000 0,-3.000 7.000 0,3.000 1.000 0,9.000-3.000 0,9.000-3.000 0,9.000-3.000 0,5.000 0.000 0,0.000 4.000 0,-1.000 2.000 0,2.000 3.000 0,-14.000 8.000 0,-23.000 12.000 0,-25.000 12.000 0,-24.000 12.000 0,-20.000 9.000 0,-15.000 7.000 0,-16.000 5.000 0,-14.000 7.000 0,-5.000-1.000 0,6.000-5.000 0,6.000-7.000 0,7.000-6.000 0,2.000-4.000 0,0.000-3.000 0,1.000-3.000 0,-1.000-4.000 0,3.000-2.000 0,7.000-4.000 0,5.000-2.000 0,7.000-3.000 0,10.000 4.000 0,15.000 12.000 0,16.000 12.000 0,14.000 13.000 0,7.000 7.000 0,-4.000 3.000 0,-2.000 3.000 0,-3.000 3.000 0,-3.000 2.000 0,-4.000 0.000 0,-2.000-1.000 0,-3.000 1.000 0,-4.000 3.000 0,-3.000 6.000 0,-2.000 6.000 0,-4.000 6.000 0,-2.000 3.000 0,-4.000 0.000 0,-3.000 0.000 0,-3.000 0.000 0,-1.000 1.000 0,-1.000 4.000 0,1.000 2.000 0,0.000 4.000 0,0.000-5.000 0,0.000-12.000 0,-1.000-12.000 0,1.000-12.000 0</inkml:trace>
</inkml:ink>
</file>

<file path=ppt/ink/ink41.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40"/>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63734.000 31273.000 1000,'66.000'-53.000'0,"-16.000"39.000"0,-15.000 40.000 0,-16.000 39.000 0,-8.000 22.000 0,-4.000 2.000 0,-2.000 4.000 0,-4.000 3.000 0,0.000-1.000 0,-2.000-2.000 0,1.000-4.000 0,0.000-2.000 0,1.000-1.000 0,-2.000 4.000 0,1.000 3.000 0,0.000 2.000 0,-2.000 4.000 0,-7.000 3.000 0,-7.000 2.000 0,-5.000 4.000 0,-4.000-6.000 0,1.000-16.000 0,0.000-14.000 0,0.000-16.000 0,0.000-17.000-9,-1.000-17.000-15,1.000-19.000-16,-1.000-18.000-17</inkml:trace>
</inkml:ink>
</file>

<file path=ppt/ink/ink42.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40"/>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63589.000 31564.000 1000,'-79.000'-19.000'0,"36.000"8.000"0,37.000 10.000 0,36.000 8.000 0,23.000 4.000 0,10.000-4.000 0,8.000-2.000 0,9.000-4.000 0,1.000-4.000 0,-10.000-6.000 0,-8.000-6.000 0,-10.000-6.000 0,-8.000 0.000 0,-5.000 5.000 0,-7.000 7.000 0,-6.000 6.000 0,-10.000 9.000 0,-16.000 13.000 0,-14.000 11.000 0,-16.000 12.000 0,-13.000 10.000 0,-13.000 6.000 0,-12.000 6.000 0,-12.000 5.000 0,-3.000 1.000 0,6.000-6.000 0,6.000-6.000 0,7.000-7.000 0,7.000-5.000 0,9.000-7.000 0,8.000-5.000 0,11.000-7.000 0,10.000-9.000 0,12.000-12.000 0,12.000-12.000 0,12.000-12.000 0,10.000-9.000 0,11.000-7.000 0,8.000-5.000 0,9.000-7.000 0,4.000 1.000 0,1.000 5.000 0,0.000 7.000 0,0.000 6.000 0,-5.000 2.000 0,-9.000 1.000 0,-9.000 0.000 0,-9.000-1.000 0,-5.000 4.000 0,0.000 6.000 0,1.000 6.000 0,-1.000 6.000 0,0.000 0.000 0,0.000-6.000 0,1.000-7.000 0,-1.000-5.000 0,-13.000 11.000 0,-28.000 26.000 0,-27.000 28.000 0,-28.000 28.000 0,-13.000 11.000 0,0.000-2.000 0,1.000-4.000 0,-2.000-3.000 0,4.000-1.000 0,7.000 0.000 0,5.000 0.000 0,6.000 0.000 0,5.000-3.000 0,2.000-7.000 0,5.000-5.000 0,1.000-6.000 0,12.000-10.000 0,17.000-11.000 0,20.000-13.000 0,17.000-12.000 0,18.000-12.000 0,19.000-12.000 0,18.000-13.000 0,18.000-11.000 0,7.000-8.000 0,-2.000-3.000 0,-3.000-4.000 0,-4.000-2.000 0,-2.000-2.000 0,-4.000 1.000 0,-2.000-1.000 0,-4.000 0.000 0,-6.000 2.000 0,-8.000 3.000 0,-11.000 3.000 0,-8.000 3.000 0,-7.000 3.000 0,-7.000 3.000 0,-6.000 3.000 0,-5.000 3.000 0</inkml:trace>
</inkml:ink>
</file>

<file path=ppt/ink/ink43.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41"/>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64026.000 31662.000 1000,'-89.000'-22.000'0,"19.000"7.000"0,19.000 6.000 0,18.000 6.000 0,10.000 9.000 0,4.000 12.000 0,2.000 13.000 0,3.000 11.000 0,0.000 16.000 0,-2.000 18.000 0,-4.000 18.000 0,-3.000 18.000 0,2.000 16.000 0,6.000 11.000 0,6.000 13.000 0,6.000 12.000 0,3.000 3.000 0,0.000-6.000 0,0.000-6.000 0,0.000-6.000 0,0.000-11.000 0,0.000-15.000 0,0.000-15.000 0,0.000-16.000 0,3.000-16.000 0,6.000-18.000 0,6.000-19.000 0,6.000-17.000 0</inkml:trace>
</inkml:ink>
</file>

<file path=ppt/ink/ink44.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41"/>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64269.000 31953.000 1000,'41.000'76.000'0,"-16.000"6.000"0,-14.000 6.000 0,-16.000 6.000 0,-10.000 12.000 0,-6.000 19.000 0,-6.000 18.000 0,-7.000 18.000 0,0.000 13.000 0,2.000 10.000 0,3.000 9.000 0,3.000 8.000 0,5.000 7.000 0,5.000 3.000 0,7.000 4.000 0,6.000 2.000 0,2.000-6.000 0,-4.000-16.000 0,-3.000-14.000 0,-2.000-15.000 0,-2.000-22.000-9,0.000-27.000-15,0.000-28.000-16,-1.000-27.000-17</inkml:trace>
</inkml:ink>
</file>

<file path=ppt/ink/ink45.xml><?xml version="1.0" encoding="utf-8"?>
<inkml:ink xmlns:inkml="http://www.w3.org/2003/InkML">
  <inkml:definitions>
    <inkml:context xml:id="ctx0">
      <inkml:inkSource xml:id="inkSrc0">
        <inkml:traceFormat>
          <inkml:channel name="X" type="integer" units="cm"/>
          <inkml:channel name="Y" type="integer" units="cm"/>
          <inkml:channel name="F" type="integer" max="1000" units="dev"/>
        </inkml:traceFormat>
        <inkml:channelProperties>
          <inkml:channelProperty channel="X" name="resolution" value="28.3464566929134" units="1/cm"/>
          <inkml:channelProperty channel="Y" name="resolution" value="28.3464566929134" units="1/cm"/>
          <inkml:channelProperty channel="F" name="resolution" value="1" units="1/dev"/>
        </inkml:channelProperties>
      </inkml:inkSource>
      <inkml:timestamp xml:id="ts0" timeString="2026-06-06T02:05:42"/>
    </inkml:context>
    <inkml:brush xml:id="br0">
      <inkml:brushProperty name="width" value="0.024666665121913" units="cm"/>
      <inkml:brushProperty name="height" value="0.024666665121913" units="cm"/>
      <inkml:brushProperty name="color" value="#000000"/>
      <inkml:brushProperty name="ignorePressure" value="0"/>
    </inkml:brush>
  </inkml:definitions>
  <inkml:trace contextRef="#ctx0" brushRef="#br0">46975.000 35159.000 1000,'0.000'-35.000'0,"0.000"28.000"0,0.000 26.000 0,0.000 29.000 0,6.000 15.000 0,12.000 7.000 0,12.000 6.000 0,13.000 6.000 0,10.000 2.000 0,9.000-4.000 0,10.000-3.000 0,8.000-2.000 0,14.000-7.000 0,18.000-9.000 0,19.000-9.000 0,18.000-9.000 0,16.000-9.000 0,16.000-9.000 0,15.000-9.000 0,15.000-10.000 0,9.000-5.000 0,3.000-4.000 0,3.000-2.000 0,3.000-4.000 0,9.000-4.000 0,10.000-6.000 0,14.000-7.000 0,11.000-5.000 0,9.000-5.000 0,6.000-3.000 0,7.000-3.000 0,5.000-3.000 0,4.000 3.000 0,0.000 9.000 0,-1.000 9.000 0,1.000 9.000 0,0.000 7.000 0,-1.000 2.000 0,1.000 4.000 0,-1.000 2.000 0,-5.000 5.000 0,-12.000 6.000 0,-13.000 6.000 0,-12.000 7.000 0,-6.000 2.000 0,0.000 0.000 0,0.000 0.000 0,0.000 1.000 0,0.000-4.000 0,0.000-6.000 0,0.000-6.000 0,0.000-6.000 0,3.000-1.000 0,6.000 2.000 0,7.000 4.000 0,5.000 3.000 0,2.000-1.000 0,-4.000-2.000 0,-2.000-4.000 0,-3.000-2.000 0,2.000-11.000 0,11.000-19.000 0,7.000-17.000 0,10.000-19.000 0,2.000-12.000 0,-6.000-6.000 0,-7.000-6.000 0,-6.000-6.000 0,-6.000 3.000 0,-5.000 12.000 0,-7.000 12.000 0,-6.000 13.000 0,-13.000 10.000 0,-22.000 9.000 0,-21.000 9.000 0,-22.000 9.000 0,-15.000 10.000 0,-8.000 8.000 0,-10.000 10.000 0,-9.000 9.000 0,-2.000 2.000 0,1.000-2.000 0,5.000-3.000 0,2.000-4.000 0,2.000-2.000 0,-1.000-3.000 0,1.000-4.000 0,0.000-2.000 0,-5.000-2.000 0,-9.000 0.000 0,-9.000 0.000 0,-9.000 0.000 0,-8.000 0.000 0,-5.000 0.000 0,-8.000 0.000 0,-4.000 0.000 0,-7.000 0.000 0,-7.000 0.000 0,-5.000 0.000 0,-6.000 0.000 0,-9.000 3.000 0,-13.000 6.000 0,-12.000 6.000 0,-11.000 6.000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p:nvPr>
            <p:ph type="ctrTitle"/>
          </p:nvPr>
        </p:nvSpPr>
        <p:spPr>
          <a:xfrm>
            <a:off x="1524000" y="1122363"/>
            <a:ext cx="9144000" cy="2387600"/>
          </a:xfrm>
        </p:spPr>
        <p:txBody>
          <a:bodyPr anchor="b"/>
          <a:lstStyle>
            <a:lvl1pPr algn="ctr">
              <a:defRPr sz="6000"/>
            </a:lvl1pPr>
          </a:lstStyle>
          <a:p>
            <a:r>
              <a:rPr lang="zh-CN" altLang="en-US" dirty="0" smtClean="0"/>
              <a:t>单击此处编辑母版标题样式</a:t>
            </a:r>
            <a:endParaRPr lang="zh-CN" altLang="en-US" dirty="0"/>
          </a:p>
        </p:txBody>
      </p:sp>
      <p:sp>
        <p:nvSpPr>
          <p:cNvPr id="3" name="副标题 2"/>
          <p:cNvSpPr/>
          <p:nvPr>
            <p:ph type="subTitle" idx="1"/>
          </p:nvPr>
        </p:nvSpPr>
        <p:spPr>
          <a:xfrm>
            <a:off x="1524000" y="3602038"/>
            <a:ext cx="9144000" cy="1655762"/>
          </a:xfr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smtClean="0"/>
              <a:t>单击此处编辑母版副标题样式</a:t>
            </a:r>
            <a:endParaRPr lang="zh-CN" altLang="en-US" dirty="0"/>
          </a:p>
        </p:txBody>
      </p:sp>
      <p:sp>
        <p:nvSpPr>
          <p:cNvPr id="4" name="日期占位符 3"/>
          <p:cNvSpPr/>
          <p:nvPr>
            <p:ph type="dt" sz="half" idx="10"/>
          </p:nvPr>
        </p:nvSpPr>
        <p:spPr>
          <a:xfrm>
            <a:off x="838200" y="6356350"/>
            <a:ext cx="2743200" cy="365125"/>
          </a:xfrm>
        </p:spPr>
        <p:txBody>
          <a:bodyPr/>
          <a:lstStyle/>
          <a:p>
            <a:fld id="{90106F6D-FB2C-4A93-B18F-24E90D5C3B62}" type="datetime1">
              <a:rPr lang="zh-CN" altLang="en-US" smtClean="0"/>
            </a:fld>
            <a:endParaRPr lang="zh-CN" altLang="en-US"/>
          </a:p>
        </p:txBody>
      </p:sp>
      <p:sp>
        <p:nvSpPr>
          <p:cNvPr id="5" name="页脚占位符 4"/>
          <p:cNvSpPr/>
          <p:nvPr>
            <p:ph type="ftr" sz="quarter" idx="11"/>
          </p:nvPr>
        </p:nvSpPr>
        <p:spPr>
          <a:xfrm>
            <a:off x="4038600" y="6356350"/>
            <a:ext cx="4114800" cy="365125"/>
          </a:xfrm>
        </p:spPr>
        <p:txBody>
          <a:bodyPr/>
          <a:lstStyle/>
          <a:p>
            <a:endParaRPr lang="zh-CN" altLang="en-US"/>
          </a:p>
        </p:txBody>
      </p:sp>
      <p:sp>
        <p:nvSpPr>
          <p:cNvPr id="6" name="灯片编号占位符 5"/>
          <p:cNvSpPr/>
          <p:nvPr>
            <p:ph type="sldNum" sz="quarter" idx="12"/>
          </p:nvPr>
        </p:nvSpPr>
        <p:spPr>
          <a:xfrm>
            <a:off x="8610600" y="6356350"/>
            <a:ext cx="2743200" cy="365125"/>
          </a:xfrm>
        </p:spPr>
        <p:txBody>
          <a:bodyPr/>
          <a:lstStyle/>
          <a:p>
            <a:fld id="{20D686B1-6509-4CC6-A0C8-F609EF2537BF}" type="slidenum">
              <a:rPr lang="zh-CN" altLang="en-US" smtClean="0"/>
            </a:fld>
            <a:endParaRPr lang="zh-CN" alt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9" Type="http://schemas.openxmlformats.org/officeDocument/2006/relationships/image" Target="../media/image14.png"/><Relationship Id="rId8" Type="http://schemas.openxmlformats.org/officeDocument/2006/relationships/image" Target="../media/image13.png"/><Relationship Id="rId7" Type="http://schemas.openxmlformats.org/officeDocument/2006/relationships/image" Target="../media/image12.png"/><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3.png"/><Relationship Id="rId2" Type="http://schemas.openxmlformats.org/officeDocument/2006/relationships/image" Target="../media/image8.png"/><Relationship Id="rId18" Type="http://schemas.openxmlformats.org/officeDocument/2006/relationships/slideLayout" Target="../slideLayouts/slideLayout1.xml"/><Relationship Id="rId17" Type="http://schemas.openxmlformats.org/officeDocument/2006/relationships/image" Target="../media/image22.png"/><Relationship Id="rId16" Type="http://schemas.openxmlformats.org/officeDocument/2006/relationships/image" Target="../media/image21.png"/><Relationship Id="rId15" Type="http://schemas.openxmlformats.org/officeDocument/2006/relationships/image" Target="../media/image20.png"/><Relationship Id="rId14" Type="http://schemas.openxmlformats.org/officeDocument/2006/relationships/image" Target="../media/image19.png"/><Relationship Id="rId13" Type="http://schemas.openxmlformats.org/officeDocument/2006/relationships/image" Target="../media/image18.png"/><Relationship Id="rId12" Type="http://schemas.openxmlformats.org/officeDocument/2006/relationships/image" Target="../media/image17.png"/><Relationship Id="rId11" Type="http://schemas.openxmlformats.org/officeDocument/2006/relationships/image" Target="../media/image16.png"/><Relationship Id="rId10" Type="http://schemas.openxmlformats.org/officeDocument/2006/relationships/image" Target="../media/image15.pn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3.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3.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3.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jpeg"/><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hyperlink" Target="https://zhida.zhihu.com/search?content_id=738768807&amp;content_type=Answer&amp;match_order=1&amp;q=Coinbase&amp;zhida_source=entity" TargetMode="External"/><Relationship Id="rId1" Type="http://schemas.openxmlformats.org/officeDocument/2006/relationships/hyperlink" Target="https://zhida.zhihu.com/search?content_id=738768807&amp;content_type=Answer&amp;match_order=1&amp;q=Uniswap&amp;zhida_source=entity" TargetMode="Externa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hyperlink" Target="https://www.sgpjbg.com" TargetMode="Externa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0.png"/><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1.png"/><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1.png"/><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2.png"/><Relationship Id="rId2" Type="http://schemas.openxmlformats.org/officeDocument/2006/relationships/image" Target="../media/image24.png"/><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3.png"/><Relationship Id="rId2" Type="http://schemas.openxmlformats.org/officeDocument/2006/relationships/image" Target="../media/image24.png"/><Relationship Id="rId1" Type="http://schemas.openxmlformats.org/officeDocument/2006/relationships/image" Target="../media/image1.png"/></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6.png"/><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image" Target="../media/image34.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5.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6.png"/><Relationship Id="rId1" Type="http://schemas.openxmlformats.org/officeDocument/2006/relationships/image" Target="../media/image3.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4.png"/><Relationship Id="rId1" Type="http://schemas.openxmlformats.org/officeDocument/2006/relationships/image" Target="../media/image1.png"/></Relationships>
</file>

<file path=ppt/slides/_rels/slide4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7.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8.png"/></Relationships>
</file>

<file path=ppt/slides/_rels/slide47.xml.rels><?xml version="1.0" encoding="UTF-8" standalone="yes"?>
<Relationships xmlns="http://schemas.openxmlformats.org/package/2006/relationships"><Relationship Id="rId92" Type="http://schemas.openxmlformats.org/officeDocument/2006/relationships/slideLayout" Target="../slideLayouts/slideLayout1.xml"/><Relationship Id="rId91" Type="http://schemas.openxmlformats.org/officeDocument/2006/relationships/image" Target="../media/image84.png"/><Relationship Id="rId90" Type="http://schemas.openxmlformats.org/officeDocument/2006/relationships/customXml" Target="../ink/ink45.xml"/><Relationship Id="rId9" Type="http://schemas.openxmlformats.org/officeDocument/2006/relationships/image" Target="../media/image43.png"/><Relationship Id="rId89" Type="http://schemas.openxmlformats.org/officeDocument/2006/relationships/image" Target="../media/image83.png"/><Relationship Id="rId88" Type="http://schemas.openxmlformats.org/officeDocument/2006/relationships/customXml" Target="../ink/ink44.xml"/><Relationship Id="rId87" Type="http://schemas.openxmlformats.org/officeDocument/2006/relationships/image" Target="../media/image82.png"/><Relationship Id="rId86" Type="http://schemas.openxmlformats.org/officeDocument/2006/relationships/customXml" Target="../ink/ink43.xml"/><Relationship Id="rId85" Type="http://schemas.openxmlformats.org/officeDocument/2006/relationships/image" Target="../media/image81.png"/><Relationship Id="rId84" Type="http://schemas.openxmlformats.org/officeDocument/2006/relationships/customXml" Target="../ink/ink42.xml"/><Relationship Id="rId83" Type="http://schemas.openxmlformats.org/officeDocument/2006/relationships/image" Target="../media/image80.png"/><Relationship Id="rId82" Type="http://schemas.openxmlformats.org/officeDocument/2006/relationships/customXml" Target="../ink/ink41.xml"/><Relationship Id="rId81" Type="http://schemas.openxmlformats.org/officeDocument/2006/relationships/image" Target="../media/image79.png"/><Relationship Id="rId80" Type="http://schemas.openxmlformats.org/officeDocument/2006/relationships/customXml" Target="../ink/ink40.xml"/><Relationship Id="rId8" Type="http://schemas.openxmlformats.org/officeDocument/2006/relationships/customXml" Target="../ink/ink4.xml"/><Relationship Id="rId79" Type="http://schemas.openxmlformats.org/officeDocument/2006/relationships/image" Target="../media/image78.png"/><Relationship Id="rId78" Type="http://schemas.openxmlformats.org/officeDocument/2006/relationships/customXml" Target="../ink/ink39.xml"/><Relationship Id="rId77" Type="http://schemas.openxmlformats.org/officeDocument/2006/relationships/image" Target="../media/image77.png"/><Relationship Id="rId76" Type="http://schemas.openxmlformats.org/officeDocument/2006/relationships/customXml" Target="../ink/ink38.xml"/><Relationship Id="rId75" Type="http://schemas.openxmlformats.org/officeDocument/2006/relationships/image" Target="../media/image76.png"/><Relationship Id="rId74" Type="http://schemas.openxmlformats.org/officeDocument/2006/relationships/customXml" Target="../ink/ink37.xml"/><Relationship Id="rId73" Type="http://schemas.openxmlformats.org/officeDocument/2006/relationships/image" Target="../media/image75.png"/><Relationship Id="rId72" Type="http://schemas.openxmlformats.org/officeDocument/2006/relationships/customXml" Target="../ink/ink36.xml"/><Relationship Id="rId71" Type="http://schemas.openxmlformats.org/officeDocument/2006/relationships/image" Target="../media/image74.png"/><Relationship Id="rId70" Type="http://schemas.openxmlformats.org/officeDocument/2006/relationships/customXml" Target="../ink/ink35.xml"/><Relationship Id="rId7" Type="http://schemas.openxmlformats.org/officeDocument/2006/relationships/image" Target="../media/image42.png"/><Relationship Id="rId69" Type="http://schemas.openxmlformats.org/officeDocument/2006/relationships/image" Target="../media/image73.png"/><Relationship Id="rId68" Type="http://schemas.openxmlformats.org/officeDocument/2006/relationships/customXml" Target="../ink/ink34.xml"/><Relationship Id="rId67" Type="http://schemas.openxmlformats.org/officeDocument/2006/relationships/image" Target="../media/image72.png"/><Relationship Id="rId66" Type="http://schemas.openxmlformats.org/officeDocument/2006/relationships/customXml" Target="../ink/ink33.xml"/><Relationship Id="rId65" Type="http://schemas.openxmlformats.org/officeDocument/2006/relationships/image" Target="../media/image71.png"/><Relationship Id="rId64" Type="http://schemas.openxmlformats.org/officeDocument/2006/relationships/customXml" Target="../ink/ink32.xml"/><Relationship Id="rId63" Type="http://schemas.openxmlformats.org/officeDocument/2006/relationships/image" Target="../media/image70.png"/><Relationship Id="rId62" Type="http://schemas.openxmlformats.org/officeDocument/2006/relationships/customXml" Target="../ink/ink31.xml"/><Relationship Id="rId61" Type="http://schemas.openxmlformats.org/officeDocument/2006/relationships/image" Target="../media/image69.png"/><Relationship Id="rId60" Type="http://schemas.openxmlformats.org/officeDocument/2006/relationships/customXml" Target="../ink/ink30.xml"/><Relationship Id="rId6" Type="http://schemas.openxmlformats.org/officeDocument/2006/relationships/customXml" Target="../ink/ink3.xml"/><Relationship Id="rId59" Type="http://schemas.openxmlformats.org/officeDocument/2006/relationships/image" Target="../media/image68.png"/><Relationship Id="rId58" Type="http://schemas.openxmlformats.org/officeDocument/2006/relationships/customXml" Target="../ink/ink29.xml"/><Relationship Id="rId57" Type="http://schemas.openxmlformats.org/officeDocument/2006/relationships/image" Target="../media/image67.png"/><Relationship Id="rId56" Type="http://schemas.openxmlformats.org/officeDocument/2006/relationships/customXml" Target="../ink/ink28.xml"/><Relationship Id="rId55" Type="http://schemas.openxmlformats.org/officeDocument/2006/relationships/image" Target="../media/image66.png"/><Relationship Id="rId54" Type="http://schemas.openxmlformats.org/officeDocument/2006/relationships/customXml" Target="../ink/ink27.xml"/><Relationship Id="rId53" Type="http://schemas.openxmlformats.org/officeDocument/2006/relationships/image" Target="../media/image65.png"/><Relationship Id="rId52" Type="http://schemas.openxmlformats.org/officeDocument/2006/relationships/customXml" Target="../ink/ink26.xml"/><Relationship Id="rId51" Type="http://schemas.openxmlformats.org/officeDocument/2006/relationships/image" Target="../media/image64.png"/><Relationship Id="rId50" Type="http://schemas.openxmlformats.org/officeDocument/2006/relationships/customXml" Target="../ink/ink25.xml"/><Relationship Id="rId5" Type="http://schemas.openxmlformats.org/officeDocument/2006/relationships/image" Target="../media/image41.png"/><Relationship Id="rId49" Type="http://schemas.openxmlformats.org/officeDocument/2006/relationships/image" Target="../media/image63.png"/><Relationship Id="rId48" Type="http://schemas.openxmlformats.org/officeDocument/2006/relationships/customXml" Target="../ink/ink24.xml"/><Relationship Id="rId47" Type="http://schemas.openxmlformats.org/officeDocument/2006/relationships/image" Target="../media/image62.png"/><Relationship Id="rId46" Type="http://schemas.openxmlformats.org/officeDocument/2006/relationships/customXml" Target="../ink/ink23.xml"/><Relationship Id="rId45" Type="http://schemas.openxmlformats.org/officeDocument/2006/relationships/image" Target="../media/image61.png"/><Relationship Id="rId44" Type="http://schemas.openxmlformats.org/officeDocument/2006/relationships/customXml" Target="../ink/ink22.xml"/><Relationship Id="rId43" Type="http://schemas.openxmlformats.org/officeDocument/2006/relationships/image" Target="../media/image60.png"/><Relationship Id="rId42" Type="http://schemas.openxmlformats.org/officeDocument/2006/relationships/customXml" Target="../ink/ink21.xml"/><Relationship Id="rId41" Type="http://schemas.openxmlformats.org/officeDocument/2006/relationships/image" Target="../media/image59.png"/><Relationship Id="rId40" Type="http://schemas.openxmlformats.org/officeDocument/2006/relationships/customXml" Target="../ink/ink20.xml"/><Relationship Id="rId4" Type="http://schemas.openxmlformats.org/officeDocument/2006/relationships/customXml" Target="../ink/ink2.xml"/><Relationship Id="rId39" Type="http://schemas.openxmlformats.org/officeDocument/2006/relationships/image" Target="../media/image58.png"/><Relationship Id="rId38" Type="http://schemas.openxmlformats.org/officeDocument/2006/relationships/customXml" Target="../ink/ink19.xml"/><Relationship Id="rId37" Type="http://schemas.openxmlformats.org/officeDocument/2006/relationships/image" Target="../media/image57.png"/><Relationship Id="rId36" Type="http://schemas.openxmlformats.org/officeDocument/2006/relationships/customXml" Target="../ink/ink18.xml"/><Relationship Id="rId35" Type="http://schemas.openxmlformats.org/officeDocument/2006/relationships/image" Target="../media/image56.png"/><Relationship Id="rId34" Type="http://schemas.openxmlformats.org/officeDocument/2006/relationships/customXml" Target="../ink/ink17.xml"/><Relationship Id="rId33" Type="http://schemas.openxmlformats.org/officeDocument/2006/relationships/image" Target="../media/image55.png"/><Relationship Id="rId32" Type="http://schemas.openxmlformats.org/officeDocument/2006/relationships/customXml" Target="../ink/ink16.xml"/><Relationship Id="rId31" Type="http://schemas.openxmlformats.org/officeDocument/2006/relationships/image" Target="../media/image54.png"/><Relationship Id="rId30" Type="http://schemas.openxmlformats.org/officeDocument/2006/relationships/customXml" Target="../ink/ink15.xml"/><Relationship Id="rId3" Type="http://schemas.openxmlformats.org/officeDocument/2006/relationships/image" Target="../media/image40.png"/><Relationship Id="rId29" Type="http://schemas.openxmlformats.org/officeDocument/2006/relationships/image" Target="../media/image53.png"/><Relationship Id="rId28" Type="http://schemas.openxmlformats.org/officeDocument/2006/relationships/customXml" Target="../ink/ink14.xml"/><Relationship Id="rId27" Type="http://schemas.openxmlformats.org/officeDocument/2006/relationships/image" Target="../media/image52.png"/><Relationship Id="rId26" Type="http://schemas.openxmlformats.org/officeDocument/2006/relationships/customXml" Target="../ink/ink13.xml"/><Relationship Id="rId25" Type="http://schemas.openxmlformats.org/officeDocument/2006/relationships/image" Target="../media/image51.png"/><Relationship Id="rId24" Type="http://schemas.openxmlformats.org/officeDocument/2006/relationships/customXml" Target="../ink/ink12.xml"/><Relationship Id="rId23" Type="http://schemas.openxmlformats.org/officeDocument/2006/relationships/image" Target="../media/image50.png"/><Relationship Id="rId22" Type="http://schemas.openxmlformats.org/officeDocument/2006/relationships/customXml" Target="../ink/ink11.xml"/><Relationship Id="rId21" Type="http://schemas.openxmlformats.org/officeDocument/2006/relationships/image" Target="../media/image49.png"/><Relationship Id="rId20" Type="http://schemas.openxmlformats.org/officeDocument/2006/relationships/customXml" Target="../ink/ink10.xml"/><Relationship Id="rId2" Type="http://schemas.openxmlformats.org/officeDocument/2006/relationships/customXml" Target="../ink/ink1.xml"/><Relationship Id="rId19" Type="http://schemas.openxmlformats.org/officeDocument/2006/relationships/image" Target="../media/image48.png"/><Relationship Id="rId18" Type="http://schemas.openxmlformats.org/officeDocument/2006/relationships/customXml" Target="../ink/ink9.xml"/><Relationship Id="rId17" Type="http://schemas.openxmlformats.org/officeDocument/2006/relationships/image" Target="../media/image47.png"/><Relationship Id="rId16" Type="http://schemas.openxmlformats.org/officeDocument/2006/relationships/customXml" Target="../ink/ink8.xml"/><Relationship Id="rId15" Type="http://schemas.openxmlformats.org/officeDocument/2006/relationships/image" Target="../media/image46.png"/><Relationship Id="rId14" Type="http://schemas.openxmlformats.org/officeDocument/2006/relationships/customXml" Target="../ink/ink7.xml"/><Relationship Id="rId13" Type="http://schemas.openxmlformats.org/officeDocument/2006/relationships/image" Target="../media/image45.png"/><Relationship Id="rId12" Type="http://schemas.openxmlformats.org/officeDocument/2006/relationships/customXml" Target="../ink/ink6.xml"/><Relationship Id="rId11" Type="http://schemas.openxmlformats.org/officeDocument/2006/relationships/image" Target="../media/image44.png"/><Relationship Id="rId10" Type="http://schemas.openxmlformats.org/officeDocument/2006/relationships/customXml" Target="../ink/ink5.xml"/><Relationship Id="rId1"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636905" y="1496695"/>
            <a:ext cx="11029950" cy="4022090"/>
          </a:xfrm>
          <a:prstGeom prst="rect">
            <a:avLst/>
          </a:prstGeom>
          <a:noFill/>
          <a:ln w="0" cap="flat">
            <a:noFill/>
            <a:prstDash val="solid"/>
            <a:miter lim="0"/>
          </a:ln>
        </p:spPr>
        <p:txBody>
          <a:bodyPr vert="horz" wrap="square" lIns="0" tIns="0" rIns="0" bIns="0"/>
          <a:lstStyle/>
          <a:p>
            <a:pPr algn="l" rtl="0" eaLnBrk="0">
              <a:lnSpc>
                <a:spcPct val="57000"/>
              </a:lnSpc>
            </a:pPr>
            <a:endParaRPr sz="100" dirty="0">
              <a:latin typeface="Arial" panose="020B0604020202020204" pitchFamily="34" charset="0"/>
              <a:ea typeface="Arial" panose="020B0604020202020204" pitchFamily="34" charset="0"/>
              <a:cs typeface="Arial" panose="020B0604020202020204" pitchFamily="34" charset="0"/>
            </a:endParaRPr>
          </a:p>
          <a:p>
            <a:pPr algn="ctr" rtl="0" eaLnBrk="0">
              <a:lnSpc>
                <a:spcPct val="105000"/>
              </a:lnSpc>
            </a:pPr>
            <a:r>
              <a:rPr lang="zh-CN" altLang="en-US" sz="5400" b="1" kern="0" spc="-90" dirty="0">
                <a:solidFill>
                  <a:srgbClr val="B02727">
                    <a:alpha val="100000"/>
                  </a:srgbClr>
                </a:solidFill>
                <a:latin typeface="微软雅黑" panose="020B0503020204020204" charset="-122"/>
                <a:ea typeface="微软雅黑" panose="020B0503020204020204" charset="-122"/>
                <a:cs typeface="微软雅黑" panose="020B0503020204020204" charset="-122"/>
              </a:rPr>
              <a:t>国际货币政策合作实践与难题</a:t>
            </a:r>
            <a:endParaRPr lang="zh-CN" altLang="en-US" sz="5400" b="1" kern="0" spc="-90" dirty="0">
              <a:solidFill>
                <a:srgbClr val="B02727">
                  <a:alpha val="100000"/>
                </a:srgbClr>
              </a:solidFill>
              <a:latin typeface="微软雅黑" panose="020B0503020204020204" charset="-122"/>
              <a:ea typeface="微软雅黑" panose="020B0503020204020204" charset="-122"/>
              <a:cs typeface="微软雅黑" panose="020B0503020204020204" charset="-122"/>
            </a:endParaRPr>
          </a:p>
          <a:p>
            <a:pPr algn="ctr" rtl="0" eaLnBrk="0">
              <a:lnSpc>
                <a:spcPct val="105000"/>
              </a:lnSpc>
            </a:pPr>
            <a:r>
              <a:rPr lang="en-US" altLang="zh-CN" sz="3600" kern="0" spc="-90" dirty="0">
                <a:solidFill>
                  <a:srgbClr val="B02727">
                    <a:alpha val="100000"/>
                  </a:srgbClr>
                </a:solidFill>
                <a:latin typeface="微软雅黑" panose="020B0503020204020204" charset="-122"/>
                <a:ea typeface="微软雅黑" panose="020B0503020204020204" charset="-122"/>
                <a:cs typeface="微软雅黑" panose="020B0503020204020204" charset="-122"/>
              </a:rPr>
              <a:t>——</a:t>
            </a:r>
            <a:r>
              <a:rPr lang="zh-CN" altLang="en-US" sz="3600" kern="0" spc="-90" dirty="0">
                <a:solidFill>
                  <a:srgbClr val="B02727">
                    <a:alpha val="100000"/>
                  </a:srgbClr>
                </a:solidFill>
                <a:latin typeface="微软雅黑" panose="020B0503020204020204" charset="-122"/>
                <a:ea typeface="微软雅黑" panose="020B0503020204020204" charset="-122"/>
                <a:cs typeface="微软雅黑" panose="020B0503020204020204" charset="-122"/>
              </a:rPr>
              <a:t>未来趋势分析：数字货币博弈，</a:t>
            </a:r>
            <a:endParaRPr lang="zh-CN" altLang="en-US" sz="3600" kern="0" spc="-90" dirty="0">
              <a:solidFill>
                <a:srgbClr val="B02727">
                  <a:alpha val="100000"/>
                </a:srgbClr>
              </a:solidFill>
              <a:latin typeface="微软雅黑" panose="020B0503020204020204" charset="-122"/>
              <a:ea typeface="微软雅黑" panose="020B0503020204020204" charset="-122"/>
              <a:cs typeface="微软雅黑" panose="020B0503020204020204" charset="-122"/>
            </a:endParaRPr>
          </a:p>
          <a:p>
            <a:pPr algn="ctr" rtl="0" eaLnBrk="0">
              <a:lnSpc>
                <a:spcPct val="105000"/>
              </a:lnSpc>
            </a:pPr>
            <a:r>
              <a:rPr lang="en-US" altLang="zh-CN" sz="3600" kern="0" spc="-90" dirty="0">
                <a:solidFill>
                  <a:srgbClr val="B02727">
                    <a:alpha val="100000"/>
                  </a:srgbClr>
                </a:solidFill>
                <a:latin typeface="微软雅黑" panose="020B0503020204020204" charset="-122"/>
                <a:ea typeface="微软雅黑" panose="020B0503020204020204" charset="-122"/>
                <a:cs typeface="微软雅黑" panose="020B0503020204020204" charset="-122"/>
              </a:rPr>
              <a:t>——</a:t>
            </a:r>
            <a:r>
              <a:rPr lang="zh-CN" altLang="en-US" sz="3600" kern="0" spc="-90" dirty="0">
                <a:solidFill>
                  <a:srgbClr val="B02727">
                    <a:alpha val="100000"/>
                  </a:srgbClr>
                </a:solidFill>
                <a:latin typeface="微软雅黑" panose="020B0503020204020204" charset="-122"/>
                <a:ea typeface="微软雅黑" panose="020B0503020204020204" charset="-122"/>
                <a:cs typeface="微软雅黑" panose="020B0503020204020204" charset="-122"/>
              </a:rPr>
              <a:t>稳定币与国际货币格局</a:t>
            </a:r>
            <a:endParaRPr lang="zh-CN" altLang="en-US" sz="3600" kern="0" spc="-90" dirty="0">
              <a:solidFill>
                <a:srgbClr val="B02727">
                  <a:alpha val="100000"/>
                </a:srgbClr>
              </a:solidFill>
              <a:latin typeface="微软雅黑" panose="020B0503020204020204" charset="-122"/>
              <a:ea typeface="微软雅黑" panose="020B0503020204020204" charset="-122"/>
              <a:cs typeface="微软雅黑" panose="020B0503020204020204" charset="-122"/>
            </a:endParaRPr>
          </a:p>
          <a:p>
            <a:pPr algn="r" rtl="0" eaLnBrk="0">
              <a:lnSpc>
                <a:spcPct val="105000"/>
              </a:lnSpc>
            </a:pPr>
            <a:r>
              <a:rPr lang="zh-CN" altLang="en-US" sz="2800" kern="0" spc="-90" dirty="0">
                <a:solidFill>
                  <a:srgbClr val="B02727">
                    <a:alpha val="100000"/>
                  </a:srgbClr>
                </a:solidFill>
                <a:latin typeface="微软雅黑" panose="020B0503020204020204" charset="-122"/>
                <a:ea typeface="微软雅黑" panose="020B0503020204020204" charset="-122"/>
                <a:cs typeface="微软雅黑" panose="020B0503020204020204" charset="-122"/>
              </a:rPr>
              <a:t>季玲宇</a:t>
            </a:r>
            <a:endParaRPr lang="zh-CN" altLang="en-US" sz="2800" kern="0" spc="-90" dirty="0">
              <a:solidFill>
                <a:srgbClr val="B02727">
                  <a:alpha val="100000"/>
                </a:srgbClr>
              </a:solidFill>
              <a:latin typeface="微软雅黑" panose="020B0503020204020204" charset="-122"/>
              <a:ea typeface="微软雅黑" panose="020B0503020204020204" charset="-122"/>
              <a:cs typeface="微软雅黑" panose="020B0503020204020204" charset="-122"/>
            </a:endParaRPr>
          </a:p>
          <a:p>
            <a:pPr algn="r" rtl="0" eaLnBrk="0">
              <a:lnSpc>
                <a:spcPct val="105000"/>
              </a:lnSpc>
            </a:pPr>
            <a:r>
              <a:rPr lang="zh-CN" altLang="en-US" sz="2800" b="1" kern="0" spc="-90" dirty="0">
                <a:solidFill>
                  <a:srgbClr val="B02727">
                    <a:alpha val="100000"/>
                  </a:srgbClr>
                </a:solidFill>
                <a:highlight>
                  <a:srgbClr val="FFFF00"/>
                </a:highlight>
                <a:latin typeface="微软雅黑" panose="020B0503020204020204" charset="-122"/>
                <a:ea typeface="微软雅黑" panose="020B0503020204020204" charset="-122"/>
                <a:cs typeface="微软雅黑" panose="020B0503020204020204" charset="-122"/>
                <a:sym typeface="+mn-ea"/>
              </a:rPr>
              <a:t>标黄需要持续跟进</a:t>
            </a:r>
            <a:endParaRPr lang="zh-CN" altLang="en-US" sz="2800" b="1" kern="0" spc="-90" dirty="0">
              <a:solidFill>
                <a:srgbClr val="B02727">
                  <a:alpha val="100000"/>
                </a:srgbClr>
              </a:solidFill>
              <a:highlight>
                <a:srgbClr val="FFFF00"/>
              </a:highlight>
              <a:latin typeface="微软雅黑" panose="020B0503020204020204" charset="-122"/>
              <a:ea typeface="微软雅黑" panose="020B0503020204020204" charset="-122"/>
              <a:cs typeface="微软雅黑" panose="020B0503020204020204" charset="-122"/>
            </a:endParaRPr>
          </a:p>
          <a:p>
            <a:pPr algn="r" rtl="0" eaLnBrk="0">
              <a:lnSpc>
                <a:spcPct val="105000"/>
              </a:lnSpc>
            </a:pPr>
            <a:endParaRPr lang="zh-CN" altLang="en-US" sz="2800" kern="0" spc="-90" dirty="0">
              <a:solidFill>
                <a:srgbClr val="B02727">
                  <a:alpha val="100000"/>
                </a:srgbClr>
              </a:solidFill>
              <a:latin typeface="微软雅黑" panose="020B0503020204020204" charset="-122"/>
              <a:ea typeface="微软雅黑" panose="020B0503020204020204" charset="-122"/>
              <a:cs typeface="微软雅黑" panose="020B0503020204020204" charset="-122"/>
            </a:endParaRPr>
          </a:p>
          <a:p>
            <a:pPr algn="r" rtl="0" eaLnBrk="0">
              <a:lnSpc>
                <a:spcPct val="105000"/>
              </a:lnSpc>
            </a:pPr>
            <a:endParaRPr sz="4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5000"/>
              </a:lnSpc>
            </a:pPr>
            <a:endParaRPr sz="1000" dirty="0">
              <a:latin typeface="Arial" panose="020B0604020202020204" pitchFamily="34" charset="0"/>
              <a:ea typeface="Arial" panose="020B0604020202020204" pitchFamily="34" charset="0"/>
              <a:cs typeface="Arial" panose="020B0604020202020204" pitchFamily="34" charset="0"/>
            </a:endParaRPr>
          </a:p>
          <a:p>
            <a:pPr marL="1242695" algn="l" rtl="0" eaLnBrk="0">
              <a:lnSpc>
                <a:spcPts val="2645"/>
              </a:lnSpc>
              <a:spcBef>
                <a:spcPts val="605"/>
              </a:spcBef>
            </a:pPr>
            <a:endParaRPr sz="1800" dirty="0">
              <a:latin typeface="微软雅黑" panose="020B0503020204020204" charset="-122"/>
              <a:ea typeface="微软雅黑" panose="020B0503020204020204" charset="-122"/>
              <a:cs typeface="微软雅黑" panose="020B0503020204020204" charset="-122"/>
            </a:endParaRPr>
          </a:p>
        </p:txBody>
      </p:sp>
      <p:sp>
        <p:nvSpPr>
          <p:cNvPr id="4" name="textbox 4"/>
          <p:cNvSpPr/>
          <p:nvPr/>
        </p:nvSpPr>
        <p:spPr>
          <a:xfrm>
            <a:off x="0" y="5138064"/>
            <a:ext cx="12192000" cy="1720214"/>
          </a:xfrm>
          <a:prstGeom prst="rect">
            <a:avLst/>
          </a:prstGeom>
          <a:solidFill>
            <a:srgbClr val="B12727">
              <a:alpha val="100000"/>
            </a:srgbClr>
          </a:solidFill>
          <a:ln w="0" cap="flat">
            <a:noFill/>
            <a:prstDash val="solid"/>
            <a:miter lim="0"/>
          </a:ln>
        </p:spPr>
        <p:txBody>
          <a:bodyPr vert="horz" wrap="square" lIns="0" tIns="0" rIns="0" bIns="0"/>
          <a:lstStyle/>
          <a:p>
            <a:pPr algn="l" rtl="0" eaLnBrk="0">
              <a:lnSpc>
                <a:spcPct val="14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4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8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8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9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500" dirty="0">
              <a:latin typeface="Arial" panose="020B0604020202020204" pitchFamily="34" charset="0"/>
              <a:ea typeface="Arial" panose="020B0604020202020204" pitchFamily="34" charset="0"/>
              <a:cs typeface="Arial" panose="020B0604020202020204" pitchFamily="34" charset="0"/>
            </a:endParaRPr>
          </a:p>
          <a:p>
            <a:pPr marL="4782185" algn="l" rtl="0" eaLnBrk="0">
              <a:lnSpc>
                <a:spcPct val="87000"/>
              </a:lnSpc>
              <a:spcBef>
                <a:spcPts val="5"/>
              </a:spcBef>
            </a:pPr>
            <a:endParaRPr sz="2000" dirty="0">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4"/>
          <p:cNvSpPr/>
          <p:nvPr/>
        </p:nvSpPr>
        <p:spPr>
          <a:xfrm>
            <a:off x="2680970" y="566420"/>
            <a:ext cx="10030460" cy="3735070"/>
          </a:xfrm>
          <a:prstGeom prst="rect">
            <a:avLst/>
          </a:prstGeom>
          <a:noFill/>
          <a:ln w="0" cap="flat">
            <a:noFill/>
            <a:prstDash val="solid"/>
            <a:miter lim="0"/>
          </a:ln>
        </p:spPr>
        <p:txBody>
          <a:bodyPr vert="horz" wrap="square" lIns="0" tIns="0" rIns="0" bIns="0"/>
          <a:lstStyle/>
          <a:p>
            <a:pPr algn="l" defTabSz="0" rtl="0" eaLnBrk="0">
              <a:lnSpc>
                <a:spcPct val="69000"/>
              </a:lnSpc>
            </a:pPr>
            <a:r>
              <a:rPr sz="23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rPr>
              <a:t>Part 1: 理论重构与时代背景 (国际货币体系的演变)	</a:t>
            </a:r>
            <a:endParaRPr sz="23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endParaRPr>
          </a:p>
          <a:p>
            <a:pPr marL="12700" algn="l" defTabSz="0" rtl="0" eaLnBrk="0">
              <a:lnSpc>
                <a:spcPct val="93000"/>
              </a:lnSpc>
            </a:pPr>
            <a:r>
              <a:rPr lang="en-US" sz="20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rPr>
              <a:t>——</a:t>
            </a:r>
            <a:r>
              <a:rPr sz="20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rPr>
              <a:t>引言与核心矛盾的演进	</a:t>
            </a:r>
            <a:endParaRPr sz="20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endParaRPr>
          </a:p>
          <a:p>
            <a:pPr marL="12700" algn="l" defTabSz="0" rtl="0" eaLnBrk="0">
              <a:lnSpc>
                <a:spcPct val="93000"/>
              </a:lnSpc>
            </a:pPr>
            <a:r>
              <a:rPr lang="en-US" sz="20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rPr>
              <a:t>——</a:t>
            </a:r>
            <a:r>
              <a:rPr sz="20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rPr>
              <a:t>数字时代的货币光谱——三足鼎立</a:t>
            </a:r>
            <a:endParaRPr sz="20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endParaRPr>
          </a:p>
          <a:p>
            <a:pPr marL="12700" algn="l" defTabSz="0" rtl="0" eaLnBrk="0">
              <a:lnSpc>
                <a:spcPct val="93000"/>
              </a:lnSpc>
            </a:pPr>
            <a:endParaRPr sz="23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endParaRPr>
          </a:p>
          <a:p>
            <a:pPr marL="12700" algn="l" defTabSz="0" rtl="0" eaLnBrk="0">
              <a:lnSpc>
                <a:spcPct val="93000"/>
              </a:lnSpc>
            </a:pPr>
            <a:r>
              <a:rPr sz="23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rPr>
              <a:t>Part 2: 稳定币重塑国际货币微观基础</a:t>
            </a:r>
            <a:endParaRPr sz="23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endParaRPr>
          </a:p>
          <a:p>
            <a:pPr marL="12700" algn="l" defTabSz="0" rtl="0" eaLnBrk="0">
              <a:lnSpc>
                <a:spcPct val="93000"/>
              </a:lnSpc>
            </a:pPr>
            <a:r>
              <a:rPr sz="23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rPr>
              <a:t>	</a:t>
            </a:r>
            <a:endParaRPr sz="23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endParaRPr>
          </a:p>
          <a:p>
            <a:pPr marL="12700" algn="l" defTabSz="0" rtl="0" eaLnBrk="0">
              <a:lnSpc>
                <a:spcPct val="93000"/>
              </a:lnSpc>
            </a:pPr>
            <a:r>
              <a:rPr sz="23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rPr>
              <a:t>Part 3: 国际数字货币博弈的大国战略	</a:t>
            </a:r>
            <a:endParaRPr sz="23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endParaRPr>
          </a:p>
          <a:p>
            <a:pPr marL="12700" algn="l" defTabSz="0" rtl="0" eaLnBrk="0">
              <a:lnSpc>
                <a:spcPct val="93000"/>
              </a:lnSpc>
            </a:pPr>
            <a:r>
              <a:rPr lang="en-US" sz="20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rPr>
              <a:t>——</a:t>
            </a:r>
            <a:r>
              <a:rPr sz="20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rPr>
              <a:t>大国博弈矩阵——截然不同的战略选择	</a:t>
            </a:r>
            <a:endParaRPr sz="20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endParaRPr>
          </a:p>
          <a:p>
            <a:pPr marL="12700" algn="l" defTabSz="0" rtl="0" eaLnBrk="0">
              <a:lnSpc>
                <a:spcPct val="93000"/>
              </a:lnSpc>
            </a:pPr>
            <a:r>
              <a:rPr lang="en-US" sz="20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rPr>
              <a:t>——</a:t>
            </a:r>
            <a:r>
              <a:rPr sz="20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rPr>
              <a:t>中国与香港的“双轨突围”与沙盒实践</a:t>
            </a:r>
            <a:endParaRPr sz="20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endParaRPr>
          </a:p>
          <a:p>
            <a:pPr marL="12700" algn="l" defTabSz="0" rtl="0" eaLnBrk="0">
              <a:lnSpc>
                <a:spcPct val="93000"/>
              </a:lnSpc>
            </a:pPr>
            <a:r>
              <a:rPr sz="23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rPr>
              <a:t>	</a:t>
            </a:r>
            <a:endParaRPr sz="23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endParaRPr>
          </a:p>
          <a:p>
            <a:pPr marL="12700" algn="l" defTabSz="0" rtl="0" eaLnBrk="0">
              <a:lnSpc>
                <a:spcPct val="93000"/>
              </a:lnSpc>
            </a:pPr>
            <a:r>
              <a:rPr sz="23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rPr>
              <a:t>Part 4: 国际货币政策的“合作实践与难题”</a:t>
            </a:r>
            <a:endParaRPr sz="23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endParaRPr>
          </a:p>
          <a:p>
            <a:pPr marL="12700" algn="l" defTabSz="0" rtl="0" eaLnBrk="0">
              <a:lnSpc>
                <a:spcPct val="93000"/>
              </a:lnSpc>
            </a:pPr>
            <a:r>
              <a:rPr lang="en-US" sz="20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rPr>
              <a:t>——</a:t>
            </a:r>
            <a:r>
              <a:rPr sz="20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rPr>
              <a:t>合作实践：国际社会在努力什么？	</a:t>
            </a:r>
            <a:endParaRPr sz="20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endParaRPr>
          </a:p>
          <a:p>
            <a:pPr marL="12700" algn="l" defTabSz="0" rtl="0" eaLnBrk="0">
              <a:lnSpc>
                <a:spcPct val="93000"/>
              </a:lnSpc>
            </a:pPr>
            <a:r>
              <a:rPr lang="en-US" sz="20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rPr>
              <a:t>——</a:t>
            </a:r>
            <a:r>
              <a:rPr sz="20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rPr>
              <a:t>合作难题一：监管套利与“逐底竞争”	</a:t>
            </a:r>
            <a:endParaRPr sz="20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endParaRPr>
          </a:p>
          <a:p>
            <a:pPr marL="12700" algn="l" defTabSz="0" rtl="0" eaLnBrk="0">
              <a:lnSpc>
                <a:spcPct val="93000"/>
              </a:lnSpc>
            </a:pPr>
            <a:r>
              <a:rPr lang="en-US" sz="20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rPr>
              <a:t>——</a:t>
            </a:r>
            <a:r>
              <a:rPr sz="20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rPr>
              <a:t>合作难题二：铸币税转移与发展中国家主权危机	</a:t>
            </a:r>
            <a:endParaRPr sz="20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endParaRPr>
          </a:p>
          <a:p>
            <a:pPr marL="12700" algn="l" defTabSz="0" rtl="0" eaLnBrk="0">
              <a:lnSpc>
                <a:spcPct val="93000"/>
              </a:lnSpc>
            </a:pPr>
            <a:r>
              <a:rPr lang="en-US" sz="20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rPr>
              <a:t>——</a:t>
            </a:r>
            <a:r>
              <a:rPr sz="20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rPr>
              <a:t>合作难题三：地缘政治与“武器化”的金融网络</a:t>
            </a:r>
            <a:endParaRPr sz="20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endParaRPr>
          </a:p>
          <a:p>
            <a:pPr marL="12700" algn="l" defTabSz="0" rtl="0" eaLnBrk="0">
              <a:lnSpc>
                <a:spcPct val="93000"/>
              </a:lnSpc>
            </a:pPr>
            <a:r>
              <a:rPr sz="23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rPr>
              <a:t>	</a:t>
            </a:r>
            <a:endParaRPr sz="23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endParaRPr>
          </a:p>
          <a:p>
            <a:pPr marL="12700" algn="l" defTabSz="0" rtl="0" eaLnBrk="0">
              <a:lnSpc>
                <a:spcPct val="93000"/>
              </a:lnSpc>
            </a:pPr>
            <a:r>
              <a:rPr sz="23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rPr>
              <a:t>Part 5: 国际货币格局的演进与中国应对</a:t>
            </a:r>
            <a:endParaRPr sz="23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endParaRPr>
          </a:p>
          <a:p>
            <a:pPr marL="12700" algn="l" defTabSz="0" rtl="0" eaLnBrk="0">
              <a:lnSpc>
                <a:spcPct val="93000"/>
              </a:lnSpc>
            </a:pPr>
            <a:r>
              <a:rPr lang="en-US" sz="20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rPr>
              <a:t>——</a:t>
            </a:r>
            <a:r>
              <a:rPr lang="zh-CN" altLang="en-US" sz="20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rPr>
              <a:t>稳定币 +数字人民币共同推进人民币国际化</a:t>
            </a:r>
            <a:endParaRPr lang="zh-CN" altLang="en-US" sz="20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endParaRPr>
          </a:p>
          <a:p>
            <a:pPr marL="12700" algn="l" defTabSz="0" rtl="0" eaLnBrk="0">
              <a:lnSpc>
                <a:spcPct val="93000"/>
              </a:lnSpc>
            </a:pPr>
            <a:r>
              <a:rPr sz="23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rPr>
              <a:t>	</a:t>
            </a:r>
            <a:endParaRPr sz="23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endParaRPr>
          </a:p>
          <a:p>
            <a:pPr marL="12700" algn="l" defTabSz="0" rtl="0" eaLnBrk="0">
              <a:lnSpc>
                <a:spcPct val="83000"/>
              </a:lnSpc>
            </a:pPr>
            <a:endParaRPr sz="2300" b="1" kern="0" spc="50" dirty="0">
              <a:solidFill>
                <a:srgbClr val="003963">
                  <a:alpha val="100000"/>
                </a:srgbClr>
              </a:solidFill>
              <a:latin typeface="华文楷体" panose="02010600040101010101" charset="-122"/>
              <a:ea typeface="华文楷体" panose="02010600040101010101" charset="-122"/>
              <a:cs typeface="华文楷体" panose="02010600040101010101" charset="-122"/>
            </a:endParaRPr>
          </a:p>
        </p:txBody>
      </p:sp>
      <p:sp>
        <p:nvSpPr>
          <p:cNvPr id="26" name="rect 26"/>
          <p:cNvSpPr/>
          <p:nvPr/>
        </p:nvSpPr>
        <p:spPr>
          <a:xfrm>
            <a:off x="0" y="6556247"/>
            <a:ext cx="12192000" cy="301752"/>
          </a:xfrm>
          <a:prstGeom prst="rect">
            <a:avLst/>
          </a:prstGeom>
          <a:solidFill>
            <a:srgbClr val="AE0B2A">
              <a:alpha val="100000"/>
            </a:srgbClr>
          </a:solidFill>
          <a:ln w="0" cap="flat">
            <a:noFill/>
            <a:prstDash val="solid"/>
            <a:miter lim="0"/>
          </a:ln>
        </p:spPr>
        <p:txBody>
          <a:bodyPr rtlCol="0"/>
          <a:lstStyle/>
          <a:p>
            <a:pPr algn="ctr"/>
            <a:endParaRPr lang="zh-CN" altLang="en-US"/>
          </a:p>
        </p:txBody>
      </p:sp>
      <p:pic>
        <p:nvPicPr>
          <p:cNvPr id="30" name="picture 30"/>
          <p:cNvPicPr>
            <a:picLocks noChangeAspect="1"/>
          </p:cNvPicPr>
          <p:nvPr/>
        </p:nvPicPr>
        <p:blipFill>
          <a:blip r:embed="rId1"/>
          <a:stretch>
            <a:fillRect/>
          </a:stretch>
        </p:blipFill>
        <p:spPr>
          <a:xfrm rot="21600000">
            <a:off x="2752725" y="451954"/>
            <a:ext cx="9439275" cy="19050"/>
          </a:xfrm>
          <a:prstGeom prst="rect">
            <a:avLst/>
          </a:prstGeom>
        </p:spPr>
      </p:pic>
      <p:sp>
        <p:nvSpPr>
          <p:cNvPr id="2" name="文本框 1"/>
          <p:cNvSpPr txBox="1"/>
          <p:nvPr/>
        </p:nvSpPr>
        <p:spPr>
          <a:xfrm>
            <a:off x="4424045" y="-8255"/>
            <a:ext cx="6096000" cy="460375"/>
          </a:xfrm>
          <a:prstGeom prst="rect">
            <a:avLst/>
          </a:prstGeom>
          <a:noFill/>
        </p:spPr>
        <p:txBody>
          <a:bodyPr wrap="square" rtlCol="0" anchor="t">
            <a:spAutoFit/>
          </a:bodyPr>
          <a:p>
            <a:r>
              <a:rPr lang="en-US" sz="2400" b="1" kern="0" spc="210" dirty="0">
                <a:solidFill>
                  <a:srgbClr val="003A63">
                    <a:alpha val="100000"/>
                  </a:srgbClr>
                </a:solidFill>
                <a:latin typeface="微软雅黑" panose="020B0503020204020204" charset="-122"/>
                <a:ea typeface="微软雅黑" panose="020B0503020204020204" charset="-122"/>
                <a:cs typeface="微软雅黑" panose="020B0503020204020204" charset="-122"/>
                <a:sym typeface="+mn-ea"/>
              </a:rPr>
              <a:t> </a:t>
            </a:r>
            <a:r>
              <a:rPr sz="2400" b="1" kern="0" spc="210" dirty="0">
                <a:solidFill>
                  <a:srgbClr val="003A63">
                    <a:alpha val="100000"/>
                  </a:srgbClr>
                </a:solidFill>
                <a:latin typeface="微软雅黑" panose="020B0503020204020204" charset="-122"/>
                <a:ea typeface="微软雅黑" panose="020B0503020204020204" charset="-122"/>
                <a:cs typeface="微软雅黑" panose="020B0503020204020204" charset="-122"/>
                <a:sym typeface="+mn-ea"/>
              </a:rPr>
              <a:t>报告提纲</a:t>
            </a:r>
            <a:endParaRPr lang="zh-CN" altLang="en-US" sz="2400" b="1" kern="0" spc="210" dirty="0">
              <a:solidFill>
                <a:srgbClr val="003A63">
                  <a:alpha val="100000"/>
                </a:srgbClr>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 name="textbox 578"/>
          <p:cNvSpPr/>
          <p:nvPr/>
        </p:nvSpPr>
        <p:spPr>
          <a:xfrm>
            <a:off x="384497" y="1185792"/>
            <a:ext cx="11513184" cy="1206500"/>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pitchFamily="34" charset="0"/>
              <a:ea typeface="Arial" panose="020B0604020202020204" pitchFamily="34" charset="0"/>
              <a:cs typeface="Arial" panose="020B0604020202020204" pitchFamily="34" charset="0"/>
            </a:endParaRPr>
          </a:p>
          <a:p>
            <a:pPr marL="284480" indent="12065" algn="l" rtl="0" eaLnBrk="0">
              <a:lnSpc>
                <a:spcPct val="152000"/>
              </a:lnSpc>
              <a:spcBef>
                <a:spcPts val="45"/>
              </a:spcBef>
            </a:pPr>
            <a:r>
              <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传统痛点： 现行牙买加体系的核心矛盾——“特里芬难题”依然存在，且</a:t>
            </a:r>
            <a:r>
              <a:rPr lang="en-US" altLang="zh-CN"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SWIFT</a:t>
            </a:r>
            <a:r>
              <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系统存在成本高、效率低、地缘政治武器化三大缺陷。</a:t>
            </a:r>
            <a:endPar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284480" indent="12065" algn="l" rtl="0" eaLnBrk="0">
              <a:lnSpc>
                <a:spcPct val="152000"/>
              </a:lnSpc>
              <a:spcBef>
                <a:spcPts val="45"/>
              </a:spcBef>
            </a:pPr>
            <a:endPar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284480" indent="12065" algn="l" rtl="0" eaLnBrk="0">
              <a:lnSpc>
                <a:spcPct val="152000"/>
              </a:lnSpc>
              <a:spcBef>
                <a:spcPts val="45"/>
              </a:spcBef>
            </a:pPr>
            <a:r>
              <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数字变量： 技术的降维打击——区块链技术、分布式账本（</a:t>
            </a:r>
            <a:r>
              <a:rPr lang="en-US" altLang="zh-CN"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DLT）</a:t>
            </a:r>
            <a:r>
              <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带来“支付即结算”的终极变革。</a:t>
            </a:r>
            <a:endPar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284480" indent="12065" algn="l" rtl="0" eaLnBrk="0">
              <a:lnSpc>
                <a:spcPct val="152000"/>
              </a:lnSpc>
              <a:spcBef>
                <a:spcPts val="45"/>
              </a:spcBef>
            </a:pPr>
            <a:endPar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284480" indent="12065" algn="l" rtl="0" eaLnBrk="0">
              <a:lnSpc>
                <a:spcPct val="152000"/>
              </a:lnSpc>
              <a:spcBef>
                <a:spcPts val="45"/>
              </a:spcBef>
            </a:pPr>
            <a:r>
              <a:rPr lang="zh-CN" altLang="en-US" sz="2400" kern="0" spc="-10" dirty="0">
                <a:solidFill>
                  <a:srgbClr val="000000">
                    <a:alpha val="100000"/>
                  </a:srgbClr>
                </a:solidFill>
                <a:highlight>
                  <a:srgbClr val="FFFF00"/>
                </a:highlight>
                <a:latin typeface="微软雅黑" panose="020B0503020204020204" charset="-122"/>
                <a:ea typeface="微软雅黑" panose="020B0503020204020204" charset="-122"/>
                <a:cs typeface="微软雅黑" panose="020B0503020204020204" charset="-122"/>
              </a:rPr>
              <a:t>核心追问： 数字货币特别是稳定币，是促进了国际货币体系的良性合作，还是加剧了监管套利和主权货币空心化？</a:t>
            </a:r>
            <a:endParaRPr lang="zh-CN" altLang="en-US" sz="2400" kern="0" spc="-10" dirty="0">
              <a:solidFill>
                <a:srgbClr val="000000">
                  <a:alpha val="100000"/>
                </a:srgbClr>
              </a:solidFill>
              <a:highlight>
                <a:srgbClr val="FFFF00"/>
              </a:highlight>
              <a:latin typeface="微软雅黑" panose="020B0503020204020204" charset="-122"/>
              <a:ea typeface="微软雅黑" panose="020B0503020204020204" charset="-122"/>
              <a:cs typeface="微软雅黑" panose="020B0503020204020204" charset="-122"/>
            </a:endParaRPr>
          </a:p>
          <a:p>
            <a:pPr marL="284480" indent="12065" algn="l" rtl="0" eaLnBrk="0">
              <a:lnSpc>
                <a:spcPct val="152000"/>
              </a:lnSpc>
              <a:spcBef>
                <a:spcPts val="45"/>
              </a:spcBef>
            </a:pPr>
            <a:endParaRPr lang="zh-CN" altLang="en-US" sz="2400" kern="0" spc="-10" dirty="0">
              <a:solidFill>
                <a:srgbClr val="000000">
                  <a:alpha val="100000"/>
                </a:srgbClr>
              </a:solidFill>
              <a:highlight>
                <a:srgbClr val="FFFF00"/>
              </a:highlight>
              <a:latin typeface="微软雅黑" panose="020B0503020204020204" charset="-122"/>
              <a:ea typeface="微软雅黑" panose="020B0503020204020204" charset="-122"/>
              <a:cs typeface="微软雅黑" panose="020B0503020204020204" charset="-122"/>
            </a:endParaRPr>
          </a:p>
        </p:txBody>
      </p:sp>
      <p:pic>
        <p:nvPicPr>
          <p:cNvPr id="580" name="picture 580"/>
          <p:cNvPicPr>
            <a:picLocks noChangeAspect="1"/>
          </p:cNvPicPr>
          <p:nvPr/>
        </p:nvPicPr>
        <p:blipFill>
          <a:blip r:embed="rId1"/>
          <a:stretch>
            <a:fillRect/>
          </a:stretch>
        </p:blipFill>
        <p:spPr>
          <a:xfrm rot="21600000">
            <a:off x="397197" y="1212400"/>
            <a:ext cx="143894" cy="130878"/>
          </a:xfrm>
          <a:prstGeom prst="rect">
            <a:avLst/>
          </a:prstGeom>
        </p:spPr>
      </p:pic>
      <p:sp>
        <p:nvSpPr>
          <p:cNvPr id="582" name="textbox 582"/>
          <p:cNvSpPr/>
          <p:nvPr/>
        </p:nvSpPr>
        <p:spPr>
          <a:xfrm>
            <a:off x="394970" y="264160"/>
            <a:ext cx="9323070" cy="453390"/>
          </a:xfrm>
          <a:prstGeom prst="rect">
            <a:avLst/>
          </a:prstGeom>
          <a:noFill/>
          <a:ln w="0" cap="flat">
            <a:noFill/>
            <a:prstDash val="solid"/>
            <a:miter lim="0"/>
          </a:ln>
        </p:spPr>
        <p:txBody>
          <a:bodyPr vert="horz" wrap="square" lIns="0" tIns="0" rIns="0" bIns="0"/>
          <a:lstStyle/>
          <a:p>
            <a:pPr algn="l" rtl="0" eaLnBrk="0">
              <a:lnSpc>
                <a:spcPct val="105000"/>
              </a:lnSpc>
            </a:pPr>
            <a:endParaRPr sz="400" dirty="0">
              <a:latin typeface="Arial" panose="020B0604020202020204" pitchFamily="34" charset="0"/>
              <a:ea typeface="Arial" panose="020B0604020202020204" pitchFamily="34" charset="0"/>
              <a:cs typeface="Arial" panose="020B0604020202020204" pitchFamily="34" charset="0"/>
            </a:endParaRPr>
          </a:p>
          <a:p>
            <a:pPr marL="1464945" algn="l" defTabSz="0" rtl="0" eaLnBrk="0">
              <a:lnSpc>
                <a:spcPct val="89000"/>
              </a:lnSpc>
            </a:pPr>
            <a:r>
              <a:rPr sz="24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引言与核心矛盾的演进</a:t>
            </a:r>
            <a:endParaRPr sz="24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endParaRPr>
          </a:p>
        </p:txBody>
      </p:sp>
      <p:pic>
        <p:nvPicPr>
          <p:cNvPr id="584" name="picture 584"/>
          <p:cNvPicPr>
            <a:picLocks noChangeAspect="1"/>
          </p:cNvPicPr>
          <p:nvPr/>
        </p:nvPicPr>
        <p:blipFill>
          <a:blip r:embed="rId2"/>
          <a:stretch>
            <a:fillRect/>
          </a:stretch>
        </p:blipFill>
        <p:spPr>
          <a:xfrm rot="21600000">
            <a:off x="407510" y="276742"/>
            <a:ext cx="683414" cy="427691"/>
          </a:xfrm>
          <a:prstGeom prst="rect">
            <a:avLst/>
          </a:prstGeom>
        </p:spPr>
      </p:pic>
      <p:sp>
        <p:nvSpPr>
          <p:cNvPr id="590" name="path 590"/>
          <p:cNvSpPr/>
          <p:nvPr/>
        </p:nvSpPr>
        <p:spPr>
          <a:xfrm>
            <a:off x="359397" y="984157"/>
            <a:ext cx="11473180" cy="17999"/>
          </a:xfrm>
          <a:custGeom>
            <a:avLst/>
            <a:gdLst/>
            <a:ahLst/>
            <a:cxnLst/>
            <a:rect l="0" t="0" r="0" b="0"/>
            <a:pathLst>
              <a:path w="18068" h="28">
                <a:moveTo>
                  <a:pt x="0" y="28"/>
                </a:moveTo>
                <a:lnTo>
                  <a:pt x="18068" y="28"/>
                </a:lnTo>
                <a:lnTo>
                  <a:pt x="18068" y="0"/>
                </a:lnTo>
                <a:lnTo>
                  <a:pt x="0" y="0"/>
                </a:lnTo>
                <a:lnTo>
                  <a:pt x="0" y="28"/>
                </a:lnTo>
                <a:close/>
              </a:path>
            </a:pathLst>
          </a:custGeom>
          <a:solidFill>
            <a:srgbClr val="C30F1B">
              <a:alpha val="100000"/>
            </a:srgbClr>
          </a:solidFill>
          <a:ln w="0" cap="flat">
            <a:noFill/>
            <a:prstDash val="solid"/>
            <a:miter lim="0"/>
          </a:ln>
        </p:spPr>
        <p:txBody>
          <a:bodyPr rtlCol="0"/>
          <a:lstStyle/>
          <a:p>
            <a:pPr algn="ctr"/>
            <a:endParaRPr lang="zh-CN" altLang="en-US"/>
          </a:p>
        </p:txBody>
      </p:sp>
      <p:sp>
        <p:nvSpPr>
          <p:cNvPr id="592" name="path 592"/>
          <p:cNvSpPr/>
          <p:nvPr/>
        </p:nvSpPr>
        <p:spPr>
          <a:xfrm>
            <a:off x="359397" y="6450596"/>
            <a:ext cx="11473192" cy="6350"/>
          </a:xfrm>
          <a:custGeom>
            <a:avLst/>
            <a:gdLst/>
            <a:ahLst/>
            <a:cxnLst/>
            <a:rect l="0" t="0" r="0" b="0"/>
            <a:pathLst>
              <a:path w="18068" h="10">
                <a:moveTo>
                  <a:pt x="0" y="5"/>
                </a:moveTo>
                <a:lnTo>
                  <a:pt x="18068" y="5"/>
                </a:lnTo>
              </a:path>
            </a:pathLst>
          </a:custGeom>
          <a:noFill/>
          <a:ln w="6350" cap="flat">
            <a:solidFill>
              <a:srgbClr val="000000"/>
            </a:solidFill>
            <a:prstDash val="solid"/>
            <a:miter lim="1000000"/>
          </a:ln>
        </p:spPr>
        <p:txBody>
          <a:bodyPr rtlCol="0"/>
          <a:lstStyle/>
          <a:p>
            <a:pPr algn="ct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rot="21600000">
            <a:off x="0" y="658"/>
            <a:ext cx="12192000" cy="6856728"/>
          </a:xfrm>
          <a:prstGeom prst="rect">
            <a:avLst/>
          </a:prstGeom>
        </p:spPr>
      </p:pic>
      <p:pic>
        <p:nvPicPr>
          <p:cNvPr id="4" name="picture 4"/>
          <p:cNvPicPr>
            <a:picLocks noChangeAspect="1"/>
          </p:cNvPicPr>
          <p:nvPr/>
        </p:nvPicPr>
        <p:blipFill>
          <a:blip r:embed="rId2"/>
          <a:stretch>
            <a:fillRect/>
          </a:stretch>
        </p:blipFill>
        <p:spPr>
          <a:xfrm rot="21600000">
            <a:off x="1318132" y="505846"/>
            <a:ext cx="10062971" cy="6058293"/>
          </a:xfrm>
          <a:prstGeom prst="rect">
            <a:avLst/>
          </a:prstGeom>
        </p:spPr>
      </p:pic>
      <p:sp>
        <p:nvSpPr>
          <p:cNvPr id="6" name="textbox 6"/>
          <p:cNvSpPr/>
          <p:nvPr/>
        </p:nvSpPr>
        <p:spPr>
          <a:xfrm>
            <a:off x="1589405" y="2566035"/>
            <a:ext cx="9340215" cy="1092200"/>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pitchFamily="34" charset="0"/>
              <a:ea typeface="Arial" panose="020B0604020202020204" pitchFamily="34" charset="0"/>
              <a:cs typeface="Arial" panose="020B0604020202020204" pitchFamily="34" charset="0"/>
            </a:endParaRPr>
          </a:p>
          <a:p>
            <a:pPr marL="29845" algn="l" rtl="0" eaLnBrk="0">
              <a:lnSpc>
                <a:spcPct val="86000"/>
              </a:lnSpc>
            </a:pPr>
            <a:endParaRPr sz="3200" dirty="0">
              <a:latin typeface="楷体" panose="02010609060101010101" charset="-122"/>
              <a:ea typeface="楷体" panose="02010609060101010101" charset="-122"/>
              <a:cs typeface="楷体" panose="02010609060101010101" charset="-122"/>
            </a:endParaRPr>
          </a:p>
          <a:p>
            <a:pPr algn="l" rtl="0" eaLnBrk="0">
              <a:lnSpc>
                <a:spcPct val="104000"/>
              </a:lnSpc>
            </a:pPr>
            <a:r>
              <a:rPr lang="en-US" altLang="zh-CN" sz="3600" b="1" kern="0" spc="-20" dirty="0">
                <a:solidFill>
                  <a:srgbClr val="FBFBFC">
                    <a:alpha val="100000"/>
                  </a:srgbClr>
                </a:solidFill>
                <a:latin typeface="楷体" panose="02010609060101010101" charset="-122"/>
                <a:ea typeface="楷体" panose="02010609060101010101" charset="-122"/>
                <a:cs typeface="楷体" panose="02010609060101010101" charset="-122"/>
              </a:rPr>
              <a:t>Part 1: </a:t>
            </a:r>
            <a:r>
              <a:rPr lang="zh-CN" altLang="en-US" sz="3600" b="1" kern="0" spc="-20" dirty="0">
                <a:solidFill>
                  <a:srgbClr val="FBFBFC">
                    <a:alpha val="100000"/>
                  </a:srgbClr>
                </a:solidFill>
                <a:latin typeface="楷体" panose="02010609060101010101" charset="-122"/>
                <a:ea typeface="楷体" panose="02010609060101010101" charset="-122"/>
                <a:cs typeface="楷体" panose="02010609060101010101" charset="-122"/>
              </a:rPr>
              <a:t>理论重构与时代背景</a:t>
            </a:r>
            <a:endParaRPr lang="zh-CN" altLang="en-US" sz="3600" b="1" kern="0" spc="-20" dirty="0">
              <a:solidFill>
                <a:srgbClr val="FBFBFC">
                  <a:alpha val="100000"/>
                </a:srgbClr>
              </a:solidFill>
              <a:latin typeface="楷体" panose="02010609060101010101" charset="-122"/>
              <a:ea typeface="楷体" panose="02010609060101010101" charset="-122"/>
              <a:cs typeface="楷体" panose="02010609060101010101" charset="-122"/>
            </a:endParaRPr>
          </a:p>
        </p:txBody>
      </p:sp>
      <p:pic>
        <p:nvPicPr>
          <p:cNvPr id="10" name="picture 10"/>
          <p:cNvPicPr>
            <a:picLocks noChangeAspect="1"/>
          </p:cNvPicPr>
          <p:nvPr/>
        </p:nvPicPr>
        <p:blipFill>
          <a:blip r:embed="rId3"/>
          <a:stretch>
            <a:fillRect/>
          </a:stretch>
        </p:blipFill>
        <p:spPr>
          <a:xfrm rot="21600000">
            <a:off x="9027245" y="4694442"/>
            <a:ext cx="1902037" cy="115753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 name="textbox 578"/>
          <p:cNvSpPr/>
          <p:nvPr/>
        </p:nvSpPr>
        <p:spPr>
          <a:xfrm>
            <a:off x="384497" y="1185792"/>
            <a:ext cx="11513184" cy="1206500"/>
          </a:xfrm>
          <a:prstGeom prst="rect">
            <a:avLst/>
          </a:prstGeom>
          <a:noFill/>
          <a:ln w="0" cap="flat">
            <a:noFill/>
            <a:prstDash val="solid"/>
            <a:miter lim="0"/>
          </a:ln>
        </p:spPr>
        <p:txBody>
          <a:bodyPr vert="horz" wrap="square" lIns="0" tIns="0" rIns="0" bIns="0"/>
          <a:lstStyle/>
          <a:p>
            <a:pPr algn="l" rtl="0" eaLnBrk="0">
              <a:lnSpc>
                <a:spcPct val="84000"/>
              </a:lnSpc>
            </a:pPr>
            <a:r>
              <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中国官方数字货币分类</a:t>
            </a:r>
            <a:endPar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284480" indent="12065" algn="l" rtl="0" eaLnBrk="0">
              <a:lnSpc>
                <a:spcPct val="152000"/>
              </a:lnSpc>
              <a:spcBef>
                <a:spcPts val="45"/>
              </a:spcBef>
            </a:pPr>
            <a:r>
              <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法定数字货币（</a:t>
            </a:r>
            <a:r>
              <a:rPr lang="en-US" altLang="zh-CN"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CBDC）</a:t>
            </a:r>
            <a:endParaRPr lang="en-US" altLang="zh-CN"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284480" indent="12065" algn="l" rtl="0" eaLnBrk="0">
              <a:lnSpc>
                <a:spcPct val="152000"/>
              </a:lnSpc>
              <a:spcBef>
                <a:spcPts val="45"/>
              </a:spcBef>
            </a:pPr>
            <a:r>
              <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 数字人民币（</a:t>
            </a:r>
            <a:r>
              <a:rPr lang="en-US" altLang="zh-CN"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e-CNY）：</a:t>
            </a:r>
            <a:r>
              <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央行发行、国家信用、无限法偿、合法流通</a:t>
            </a:r>
            <a:endPar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284480" indent="12065" algn="l" rtl="0" eaLnBrk="0">
              <a:lnSpc>
                <a:spcPct val="152000"/>
              </a:lnSpc>
              <a:spcBef>
                <a:spcPts val="45"/>
              </a:spcBef>
            </a:pPr>
            <a:r>
              <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非法定数字货币</a:t>
            </a:r>
            <a:endPar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284480" indent="12065" algn="l" rtl="0" eaLnBrk="0">
              <a:lnSpc>
                <a:spcPct val="152000"/>
              </a:lnSpc>
              <a:spcBef>
                <a:spcPts val="45"/>
              </a:spcBef>
            </a:pPr>
            <a:r>
              <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 虚拟货币：非央行发行、无国家信用、不具有法偿性</a:t>
            </a:r>
            <a:endPar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284480" indent="12065" algn="l" rtl="0" eaLnBrk="0">
              <a:lnSpc>
                <a:spcPct val="152000"/>
              </a:lnSpc>
              <a:spcBef>
                <a:spcPts val="45"/>
              </a:spcBef>
            </a:pPr>
            <a:r>
              <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 比特币（</a:t>
            </a:r>
            <a:r>
              <a:rPr lang="en-US" altLang="zh-CN"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BTC）</a:t>
            </a:r>
            <a:endParaRPr lang="en-US" altLang="zh-CN"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284480" indent="12065" algn="l" rtl="0" eaLnBrk="0">
              <a:lnSpc>
                <a:spcPct val="152000"/>
              </a:lnSpc>
              <a:spcBef>
                <a:spcPts val="45"/>
              </a:spcBef>
            </a:pPr>
            <a:r>
              <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 以太坊（</a:t>
            </a:r>
            <a:r>
              <a:rPr lang="en-US" altLang="zh-CN"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ETH）</a:t>
            </a:r>
            <a:endParaRPr lang="en-US" altLang="zh-CN"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284480" indent="12065" algn="l" rtl="0" eaLnBrk="0">
              <a:lnSpc>
                <a:spcPct val="152000"/>
              </a:lnSpc>
              <a:spcBef>
                <a:spcPts val="45"/>
              </a:spcBef>
            </a:pPr>
            <a:r>
              <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 稳定币（</a:t>
            </a:r>
            <a:r>
              <a:rPr lang="en-US" altLang="zh-CN"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USDT、USDC、DAI</a:t>
            </a:r>
            <a:r>
              <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等）</a:t>
            </a:r>
            <a:endPar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284480" indent="12065" algn="l" rtl="0" eaLnBrk="0">
              <a:lnSpc>
                <a:spcPct val="152000"/>
              </a:lnSpc>
              <a:spcBef>
                <a:spcPts val="45"/>
              </a:spcBef>
            </a:pPr>
            <a:r>
              <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 其他所有基于区块链的数字代币？</a:t>
            </a:r>
            <a:endPar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284480" indent="12065" algn="l" rtl="0" eaLnBrk="0">
              <a:lnSpc>
                <a:spcPct val="152000"/>
              </a:lnSpc>
              <a:spcBef>
                <a:spcPts val="45"/>
              </a:spcBef>
            </a:pPr>
            <a:endPar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580" name="picture 580"/>
          <p:cNvPicPr>
            <a:picLocks noChangeAspect="1"/>
          </p:cNvPicPr>
          <p:nvPr/>
        </p:nvPicPr>
        <p:blipFill>
          <a:blip r:embed="rId1"/>
          <a:stretch>
            <a:fillRect/>
          </a:stretch>
        </p:blipFill>
        <p:spPr>
          <a:xfrm rot="21600000">
            <a:off x="397197" y="1212400"/>
            <a:ext cx="143894" cy="130878"/>
          </a:xfrm>
          <a:prstGeom prst="rect">
            <a:avLst/>
          </a:prstGeom>
        </p:spPr>
      </p:pic>
      <p:sp>
        <p:nvSpPr>
          <p:cNvPr id="582" name="textbox 582"/>
          <p:cNvSpPr/>
          <p:nvPr/>
        </p:nvSpPr>
        <p:spPr>
          <a:xfrm>
            <a:off x="353695" y="347345"/>
            <a:ext cx="9323070" cy="453390"/>
          </a:xfrm>
          <a:prstGeom prst="rect">
            <a:avLst/>
          </a:prstGeom>
          <a:noFill/>
          <a:ln w="0" cap="flat">
            <a:noFill/>
            <a:prstDash val="solid"/>
            <a:miter lim="0"/>
          </a:ln>
        </p:spPr>
        <p:txBody>
          <a:bodyPr vert="horz" wrap="square" lIns="0" tIns="0" rIns="0" bIns="0"/>
          <a:lstStyle/>
          <a:p>
            <a:pPr algn="l" rtl="0" eaLnBrk="0">
              <a:lnSpc>
                <a:spcPct val="105000"/>
              </a:lnSpc>
            </a:pPr>
            <a:endParaRPr sz="400" dirty="0">
              <a:latin typeface="Arial" panose="020B0604020202020204" pitchFamily="34" charset="0"/>
              <a:ea typeface="Arial" panose="020B0604020202020204" pitchFamily="34" charset="0"/>
              <a:cs typeface="Arial" panose="020B0604020202020204" pitchFamily="34" charset="0"/>
            </a:endParaRPr>
          </a:p>
          <a:p>
            <a:pPr marL="1464945" algn="l" defTabSz="0" rtl="0" eaLnBrk="0">
              <a:lnSpc>
                <a:spcPct val="89000"/>
              </a:lnSpc>
            </a:pPr>
            <a:r>
              <a:rPr lang="zh-CN" altLang="en-US" sz="24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数字时代的货币光谱</a:t>
            </a:r>
            <a:endParaRPr lang="zh-CN" altLang="en-US" sz="24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endParaRPr>
          </a:p>
        </p:txBody>
      </p:sp>
      <p:pic>
        <p:nvPicPr>
          <p:cNvPr id="584" name="picture 584"/>
          <p:cNvPicPr>
            <a:picLocks noChangeAspect="1"/>
          </p:cNvPicPr>
          <p:nvPr/>
        </p:nvPicPr>
        <p:blipFill>
          <a:blip r:embed="rId2"/>
          <a:stretch>
            <a:fillRect/>
          </a:stretch>
        </p:blipFill>
        <p:spPr>
          <a:xfrm rot="21600000">
            <a:off x="407510" y="276742"/>
            <a:ext cx="683414" cy="427691"/>
          </a:xfrm>
          <a:prstGeom prst="rect">
            <a:avLst/>
          </a:prstGeom>
        </p:spPr>
      </p:pic>
      <p:sp>
        <p:nvSpPr>
          <p:cNvPr id="590" name="path 590"/>
          <p:cNvSpPr/>
          <p:nvPr/>
        </p:nvSpPr>
        <p:spPr>
          <a:xfrm>
            <a:off x="359397" y="984157"/>
            <a:ext cx="11473180" cy="17999"/>
          </a:xfrm>
          <a:custGeom>
            <a:avLst/>
            <a:gdLst/>
            <a:ahLst/>
            <a:cxnLst/>
            <a:rect l="0" t="0" r="0" b="0"/>
            <a:pathLst>
              <a:path w="18068" h="28">
                <a:moveTo>
                  <a:pt x="0" y="28"/>
                </a:moveTo>
                <a:lnTo>
                  <a:pt x="18068" y="28"/>
                </a:lnTo>
                <a:lnTo>
                  <a:pt x="18068" y="0"/>
                </a:lnTo>
                <a:lnTo>
                  <a:pt x="0" y="0"/>
                </a:lnTo>
                <a:lnTo>
                  <a:pt x="0" y="28"/>
                </a:lnTo>
                <a:close/>
              </a:path>
            </a:pathLst>
          </a:custGeom>
          <a:solidFill>
            <a:srgbClr val="C30F1B">
              <a:alpha val="100000"/>
            </a:srgbClr>
          </a:solidFill>
          <a:ln w="0" cap="flat">
            <a:noFill/>
            <a:prstDash val="solid"/>
            <a:miter lim="0"/>
          </a:ln>
        </p:spPr>
        <p:txBody>
          <a:bodyPr rtlCol="0"/>
          <a:lstStyle/>
          <a:p>
            <a:pPr algn="ctr"/>
            <a:endParaRPr lang="zh-CN" altLang="en-US"/>
          </a:p>
        </p:txBody>
      </p:sp>
      <p:sp>
        <p:nvSpPr>
          <p:cNvPr id="592" name="path 592"/>
          <p:cNvSpPr/>
          <p:nvPr/>
        </p:nvSpPr>
        <p:spPr>
          <a:xfrm>
            <a:off x="359397" y="6450596"/>
            <a:ext cx="11473192" cy="6350"/>
          </a:xfrm>
          <a:custGeom>
            <a:avLst/>
            <a:gdLst/>
            <a:ahLst/>
            <a:cxnLst/>
            <a:rect l="0" t="0" r="0" b="0"/>
            <a:pathLst>
              <a:path w="18068" h="10">
                <a:moveTo>
                  <a:pt x="0" y="5"/>
                </a:moveTo>
                <a:lnTo>
                  <a:pt x="18068" y="5"/>
                </a:lnTo>
              </a:path>
            </a:pathLst>
          </a:custGeom>
          <a:noFill/>
          <a:ln w="6350" cap="flat">
            <a:solidFill>
              <a:srgbClr val="000000"/>
            </a:solidFill>
            <a:prstDash val="solid"/>
            <a:miter lim="1000000"/>
          </a:ln>
        </p:spPr>
        <p:txBody>
          <a:bodyPr rtlCol="0"/>
          <a:lstStyle/>
          <a:p>
            <a:pPr algn="ct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 name="textbox 578"/>
          <p:cNvSpPr/>
          <p:nvPr/>
        </p:nvSpPr>
        <p:spPr>
          <a:xfrm>
            <a:off x="384497" y="1185792"/>
            <a:ext cx="11513184" cy="1206500"/>
          </a:xfrm>
          <a:prstGeom prst="rect">
            <a:avLst/>
          </a:prstGeom>
          <a:noFill/>
          <a:ln w="0" cap="flat">
            <a:noFill/>
            <a:prstDash val="solid"/>
            <a:miter lim="0"/>
          </a:ln>
        </p:spPr>
        <p:txBody>
          <a:bodyPr vert="horz" wrap="square" lIns="0" tIns="0" rIns="0" bIns="0"/>
          <a:lstStyle/>
          <a:p>
            <a:pPr algn="l" rtl="0" eaLnBrk="0">
              <a:lnSpc>
                <a:spcPct val="84000"/>
              </a:lnSpc>
            </a:pPr>
            <a:r>
              <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中国官方数字货币分类</a:t>
            </a:r>
            <a:endPar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284480" indent="12065" algn="l" rtl="0" eaLnBrk="0">
              <a:lnSpc>
                <a:spcPct val="152000"/>
              </a:lnSpc>
              <a:spcBef>
                <a:spcPts val="45"/>
              </a:spcBef>
            </a:pPr>
            <a:r>
              <a:rPr lang="zh-CN" altLang="en-US" sz="2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法定数字货币（</a:t>
            </a:r>
            <a:r>
              <a:rPr lang="en-US" altLang="zh-CN" sz="2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CBDC）</a:t>
            </a:r>
            <a:endParaRPr lang="en-US" altLang="zh-CN" sz="2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284480" indent="12065" algn="l" rtl="0" eaLnBrk="0">
              <a:lnSpc>
                <a:spcPct val="152000"/>
              </a:lnSpc>
              <a:spcBef>
                <a:spcPts val="45"/>
              </a:spcBef>
            </a:pPr>
            <a:r>
              <a:rPr lang="zh-CN" altLang="en-US" sz="2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 数字人民币（</a:t>
            </a:r>
            <a:r>
              <a:rPr lang="en-US" altLang="zh-CN" sz="2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e-CNY）：</a:t>
            </a:r>
            <a:r>
              <a:rPr lang="zh-CN" altLang="en-US" sz="2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央行发行、国家信用、无限法偿、合法流通</a:t>
            </a:r>
            <a:endParaRPr lang="zh-CN" altLang="en-US" sz="2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284480" indent="12065" algn="l" rtl="0" eaLnBrk="0">
              <a:lnSpc>
                <a:spcPct val="152000"/>
              </a:lnSpc>
              <a:spcBef>
                <a:spcPts val="45"/>
              </a:spcBef>
            </a:pPr>
            <a:r>
              <a:rPr lang="zh-CN" altLang="en-US" sz="2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非法定数字货币</a:t>
            </a:r>
            <a:endParaRPr lang="zh-CN" altLang="en-US" sz="2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284480" indent="12065" algn="l" rtl="0" eaLnBrk="0">
              <a:lnSpc>
                <a:spcPct val="152000"/>
              </a:lnSpc>
              <a:spcBef>
                <a:spcPts val="45"/>
              </a:spcBef>
            </a:pPr>
            <a:r>
              <a:rPr lang="zh-CN" altLang="en-US" sz="2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 虚拟货币：非央行发行、无国家信用、不具有法偿性</a:t>
            </a:r>
            <a:endParaRPr lang="zh-CN" altLang="en-US" sz="2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284480" indent="12065" algn="l" rtl="0" eaLnBrk="0">
              <a:lnSpc>
                <a:spcPct val="152000"/>
              </a:lnSpc>
              <a:spcBef>
                <a:spcPts val="45"/>
              </a:spcBef>
            </a:pPr>
            <a:r>
              <a:rPr lang="zh-CN" altLang="en-US" sz="2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 比特币（</a:t>
            </a:r>
            <a:r>
              <a:rPr lang="en-US" altLang="zh-CN" sz="2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BTC）</a:t>
            </a:r>
            <a:endParaRPr lang="en-US" altLang="zh-CN" sz="2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284480" indent="12065" algn="l" rtl="0" eaLnBrk="0">
              <a:lnSpc>
                <a:spcPct val="152000"/>
              </a:lnSpc>
              <a:spcBef>
                <a:spcPts val="45"/>
              </a:spcBef>
            </a:pPr>
            <a:r>
              <a:rPr lang="zh-CN" altLang="en-US" sz="2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 以太坊（</a:t>
            </a:r>
            <a:r>
              <a:rPr lang="en-US" altLang="zh-CN" sz="2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ETH）</a:t>
            </a:r>
            <a:endParaRPr lang="en-US" altLang="zh-CN" sz="2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284480" indent="12065" algn="l" rtl="0" eaLnBrk="0">
              <a:lnSpc>
                <a:spcPct val="152000"/>
              </a:lnSpc>
              <a:spcBef>
                <a:spcPts val="45"/>
              </a:spcBef>
            </a:pPr>
            <a:r>
              <a:rPr lang="zh-CN" altLang="en-US" sz="2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 稳定币（</a:t>
            </a:r>
            <a:r>
              <a:rPr lang="en-US" altLang="zh-CN" sz="2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USDT、USDC、DAI</a:t>
            </a:r>
            <a:r>
              <a:rPr lang="zh-CN" altLang="en-US" sz="2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等）</a:t>
            </a:r>
            <a:endParaRPr lang="zh-CN" altLang="en-US" sz="2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284480" indent="12065" algn="l" rtl="0" eaLnBrk="0">
              <a:lnSpc>
                <a:spcPct val="152000"/>
              </a:lnSpc>
              <a:spcBef>
                <a:spcPts val="45"/>
              </a:spcBef>
            </a:pPr>
            <a:r>
              <a:rPr lang="zh-CN" altLang="en-US" sz="2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 其他所有基于区块链的数字代币？</a:t>
            </a:r>
            <a:endParaRPr lang="zh-CN" altLang="en-US" sz="2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284480" indent="12065" algn="l" rtl="0" eaLnBrk="0">
              <a:lnSpc>
                <a:spcPct val="152000"/>
              </a:lnSpc>
              <a:spcBef>
                <a:spcPts val="45"/>
              </a:spcBef>
            </a:pPr>
            <a:endParaRPr lang="zh-CN" altLang="en-US" sz="2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sp>
        <p:nvSpPr>
          <p:cNvPr id="582" name="textbox 582"/>
          <p:cNvSpPr/>
          <p:nvPr/>
        </p:nvSpPr>
        <p:spPr>
          <a:xfrm>
            <a:off x="353695" y="347345"/>
            <a:ext cx="9323070" cy="453390"/>
          </a:xfrm>
          <a:prstGeom prst="rect">
            <a:avLst/>
          </a:prstGeom>
          <a:noFill/>
          <a:ln w="0" cap="flat">
            <a:noFill/>
            <a:prstDash val="solid"/>
            <a:miter lim="0"/>
          </a:ln>
        </p:spPr>
        <p:txBody>
          <a:bodyPr vert="horz" wrap="square" lIns="0" tIns="0" rIns="0" bIns="0"/>
          <a:lstStyle/>
          <a:p>
            <a:pPr algn="l" rtl="0" eaLnBrk="0">
              <a:lnSpc>
                <a:spcPct val="105000"/>
              </a:lnSpc>
            </a:pPr>
            <a:endParaRPr sz="400" dirty="0">
              <a:latin typeface="Arial" panose="020B0604020202020204" pitchFamily="34" charset="0"/>
              <a:ea typeface="Arial" panose="020B0604020202020204" pitchFamily="34" charset="0"/>
              <a:cs typeface="Arial" panose="020B0604020202020204" pitchFamily="34" charset="0"/>
            </a:endParaRPr>
          </a:p>
          <a:p>
            <a:pPr marL="1464945" algn="l" defTabSz="0" rtl="0" eaLnBrk="0">
              <a:lnSpc>
                <a:spcPct val="89000"/>
              </a:lnSpc>
            </a:pPr>
            <a:r>
              <a:rPr lang="zh-CN" altLang="en-US" sz="24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数字时代的货币光谱</a:t>
            </a:r>
            <a:endParaRPr lang="zh-CN" altLang="en-US" sz="24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endParaRPr>
          </a:p>
        </p:txBody>
      </p:sp>
      <p:pic>
        <p:nvPicPr>
          <p:cNvPr id="584" name="picture 584"/>
          <p:cNvPicPr>
            <a:picLocks noChangeAspect="1"/>
          </p:cNvPicPr>
          <p:nvPr/>
        </p:nvPicPr>
        <p:blipFill>
          <a:blip r:embed="rId1"/>
          <a:stretch>
            <a:fillRect/>
          </a:stretch>
        </p:blipFill>
        <p:spPr>
          <a:xfrm rot="21600000">
            <a:off x="407510" y="276742"/>
            <a:ext cx="683414" cy="427691"/>
          </a:xfrm>
          <a:prstGeom prst="rect">
            <a:avLst/>
          </a:prstGeom>
        </p:spPr>
      </p:pic>
      <p:sp>
        <p:nvSpPr>
          <p:cNvPr id="590" name="path 590"/>
          <p:cNvSpPr/>
          <p:nvPr/>
        </p:nvSpPr>
        <p:spPr>
          <a:xfrm>
            <a:off x="359397" y="984157"/>
            <a:ext cx="11473180" cy="17999"/>
          </a:xfrm>
          <a:custGeom>
            <a:avLst/>
            <a:gdLst/>
            <a:ahLst/>
            <a:cxnLst/>
            <a:rect l="0" t="0" r="0" b="0"/>
            <a:pathLst>
              <a:path w="18068" h="28">
                <a:moveTo>
                  <a:pt x="0" y="28"/>
                </a:moveTo>
                <a:lnTo>
                  <a:pt x="18068" y="28"/>
                </a:lnTo>
                <a:lnTo>
                  <a:pt x="18068" y="0"/>
                </a:lnTo>
                <a:lnTo>
                  <a:pt x="0" y="0"/>
                </a:lnTo>
                <a:lnTo>
                  <a:pt x="0" y="28"/>
                </a:lnTo>
                <a:close/>
              </a:path>
            </a:pathLst>
          </a:custGeom>
          <a:solidFill>
            <a:srgbClr val="C30F1B">
              <a:alpha val="100000"/>
            </a:srgbClr>
          </a:solidFill>
          <a:ln w="0" cap="flat">
            <a:noFill/>
            <a:prstDash val="solid"/>
            <a:miter lim="0"/>
          </a:ln>
        </p:spPr>
        <p:txBody>
          <a:bodyPr rtlCol="0"/>
          <a:lstStyle/>
          <a:p>
            <a:pPr algn="ctr"/>
            <a:endParaRPr lang="zh-CN" altLang="en-US"/>
          </a:p>
        </p:txBody>
      </p:sp>
      <p:sp>
        <p:nvSpPr>
          <p:cNvPr id="592" name="path 592"/>
          <p:cNvSpPr/>
          <p:nvPr/>
        </p:nvSpPr>
        <p:spPr>
          <a:xfrm>
            <a:off x="359397" y="6450596"/>
            <a:ext cx="11473192" cy="6350"/>
          </a:xfrm>
          <a:custGeom>
            <a:avLst/>
            <a:gdLst/>
            <a:ahLst/>
            <a:cxnLst/>
            <a:rect l="0" t="0" r="0" b="0"/>
            <a:pathLst>
              <a:path w="18068" h="10">
                <a:moveTo>
                  <a:pt x="0" y="5"/>
                </a:moveTo>
                <a:lnTo>
                  <a:pt x="18068" y="5"/>
                </a:lnTo>
              </a:path>
            </a:pathLst>
          </a:custGeom>
          <a:noFill/>
          <a:ln w="6350" cap="flat">
            <a:solidFill>
              <a:srgbClr val="000000"/>
            </a:solidFill>
            <a:prstDash val="solid"/>
            <a:miter lim="1000000"/>
          </a:ln>
        </p:spPr>
        <p:txBody>
          <a:bodyPr rtlCol="0"/>
          <a:lstStyle/>
          <a:p>
            <a:pPr algn="ct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 name="textbox 578"/>
          <p:cNvSpPr/>
          <p:nvPr/>
        </p:nvSpPr>
        <p:spPr>
          <a:xfrm>
            <a:off x="384497" y="1185792"/>
            <a:ext cx="11513184" cy="1206500"/>
          </a:xfrm>
          <a:prstGeom prst="rect">
            <a:avLst/>
          </a:prstGeom>
          <a:noFill/>
          <a:ln w="0" cap="flat">
            <a:noFill/>
            <a:prstDash val="solid"/>
            <a:miter lim="0"/>
          </a:ln>
        </p:spPr>
        <p:txBody>
          <a:bodyPr vert="horz" wrap="square" lIns="0" tIns="0" rIns="0" bIns="0"/>
          <a:lstStyle/>
          <a:p>
            <a:pPr algn="l" rtl="0" eaLnBrk="0">
              <a:lnSpc>
                <a:spcPct val="144000"/>
              </a:lnSpc>
            </a:pPr>
            <a:r>
              <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根据2026年3月17日美国</a:t>
            </a:r>
            <a:r>
              <a:rPr lang="en-US" altLang="zh-CN"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SEC</a:t>
            </a:r>
            <a:r>
              <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与</a:t>
            </a:r>
            <a:r>
              <a:rPr lang="en-US" altLang="zh-CN"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CFTC</a:t>
            </a:r>
            <a:r>
              <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联合发布的《联邦证券法对特定类型加密资产及相关交易的适用》解释性文件，以及2025年7月生效的《</a:t>
            </a:r>
            <a:r>
              <a:rPr lang="en-US" altLang="zh-CN"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GENIUS</a:t>
            </a:r>
            <a:r>
              <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稳定币法案》</a:t>
            </a:r>
            <a:endPar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algn="l" rtl="0" eaLnBrk="0">
              <a:lnSpc>
                <a:spcPct val="144000"/>
              </a:lnSpc>
            </a:pPr>
            <a:r>
              <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美国官方加密资产分类（2026年最新）</a:t>
            </a:r>
            <a:endPar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algn="l" rtl="0" eaLnBrk="0">
              <a:lnSpc>
                <a:spcPct val="144000"/>
              </a:lnSpc>
            </a:pPr>
            <a:r>
              <a:rPr lang="zh-CN" altLang="en-US"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数字商品（</a:t>
            </a:r>
            <a:r>
              <a:rPr lang="en-US" altLang="zh-CN"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Digital Commodities）——CFTC</a:t>
            </a:r>
            <a:r>
              <a:rPr lang="zh-CN" altLang="en-US"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监管</a:t>
            </a:r>
            <a:endParaRPr lang="zh-CN" altLang="en-US"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algn="l" rtl="0" eaLnBrk="0">
              <a:lnSpc>
                <a:spcPct val="144000"/>
              </a:lnSpc>
            </a:pPr>
            <a:r>
              <a:rPr lang="zh-CN" altLang="en-US"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 比特币（</a:t>
            </a:r>
            <a:r>
              <a:rPr lang="en-US" altLang="zh-CN"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BTC）、</a:t>
            </a:r>
            <a:r>
              <a:rPr lang="zh-CN" altLang="en-US"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以太坊（</a:t>
            </a:r>
            <a:r>
              <a:rPr lang="en-US" altLang="zh-CN"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ETH）、SOL、XRP</a:t>
            </a:r>
            <a:r>
              <a:rPr lang="zh-CN" altLang="en-US"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等18种主流代币</a:t>
            </a:r>
            <a:endParaRPr lang="zh-CN" altLang="en-US"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algn="l" rtl="0" eaLnBrk="0">
              <a:lnSpc>
                <a:spcPct val="144000"/>
              </a:lnSpc>
            </a:pPr>
            <a:r>
              <a:rPr lang="zh-CN" altLang="en-US"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支付稳定币（</a:t>
            </a:r>
            <a:r>
              <a:rPr lang="en-US" altLang="zh-CN"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Payment Stablecoins）——OCC+</a:t>
            </a:r>
            <a:r>
              <a:rPr lang="zh-CN" altLang="en-US"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美联储联合监管</a:t>
            </a:r>
            <a:endParaRPr lang="zh-CN" altLang="en-US"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algn="l" rtl="0" eaLnBrk="0">
              <a:lnSpc>
                <a:spcPct val="144000"/>
              </a:lnSpc>
            </a:pPr>
            <a:r>
              <a:rPr lang="en-US" altLang="zh-CN"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 USDC、USDT</a:t>
            </a:r>
            <a:r>
              <a:rPr lang="zh-CN" altLang="en-US"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等法币抵押型稳定币（算法稳定币已被禁止）</a:t>
            </a:r>
            <a:endParaRPr lang="zh-CN" altLang="en-US"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algn="l" rtl="0" eaLnBrk="0">
              <a:lnSpc>
                <a:spcPct val="144000"/>
              </a:lnSpc>
            </a:pPr>
            <a:r>
              <a:rPr lang="zh-CN" altLang="en-US"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数字证券（</a:t>
            </a:r>
            <a:r>
              <a:rPr lang="en-US" altLang="zh-CN"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Digital Securities）——SEC</a:t>
            </a:r>
            <a:r>
              <a:rPr lang="zh-CN" altLang="en-US"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监管</a:t>
            </a:r>
            <a:endParaRPr lang="zh-CN" altLang="en-US"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algn="l" rtl="0" eaLnBrk="0">
              <a:lnSpc>
                <a:spcPct val="144000"/>
              </a:lnSpc>
            </a:pPr>
            <a:r>
              <a:rPr lang="zh-CN" altLang="en-US"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 代币化股票、债券、基金等</a:t>
            </a:r>
            <a:endParaRPr lang="zh-CN" altLang="en-US"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algn="l" rtl="0" eaLnBrk="0">
              <a:lnSpc>
                <a:spcPct val="144000"/>
              </a:lnSpc>
            </a:pPr>
            <a:r>
              <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在美国官方分类体系中均不属于法定货币</a:t>
            </a:r>
            <a:endParaRPr lang="zh-CN" altLang="en-US"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580" name="picture 580"/>
          <p:cNvPicPr>
            <a:picLocks noChangeAspect="1"/>
          </p:cNvPicPr>
          <p:nvPr/>
        </p:nvPicPr>
        <p:blipFill>
          <a:blip r:embed="rId1"/>
          <a:stretch>
            <a:fillRect/>
          </a:stretch>
        </p:blipFill>
        <p:spPr>
          <a:xfrm rot="21600000">
            <a:off x="397197" y="1212400"/>
            <a:ext cx="143894" cy="130878"/>
          </a:xfrm>
          <a:prstGeom prst="rect">
            <a:avLst/>
          </a:prstGeom>
        </p:spPr>
      </p:pic>
      <p:sp>
        <p:nvSpPr>
          <p:cNvPr id="582" name="textbox 582"/>
          <p:cNvSpPr/>
          <p:nvPr/>
        </p:nvSpPr>
        <p:spPr>
          <a:xfrm>
            <a:off x="353695" y="347345"/>
            <a:ext cx="9323070" cy="453390"/>
          </a:xfrm>
          <a:prstGeom prst="rect">
            <a:avLst/>
          </a:prstGeom>
          <a:noFill/>
          <a:ln w="0" cap="flat">
            <a:noFill/>
            <a:prstDash val="solid"/>
            <a:miter lim="0"/>
          </a:ln>
        </p:spPr>
        <p:txBody>
          <a:bodyPr vert="horz" wrap="square" lIns="0" tIns="0" rIns="0" bIns="0"/>
          <a:lstStyle/>
          <a:p>
            <a:pPr algn="l" rtl="0" eaLnBrk="0">
              <a:lnSpc>
                <a:spcPct val="105000"/>
              </a:lnSpc>
            </a:pPr>
            <a:endParaRPr sz="400" dirty="0">
              <a:latin typeface="Arial" panose="020B0604020202020204" pitchFamily="34" charset="0"/>
              <a:ea typeface="Arial" panose="020B0604020202020204" pitchFamily="34" charset="0"/>
              <a:cs typeface="Arial" panose="020B0604020202020204" pitchFamily="34" charset="0"/>
            </a:endParaRPr>
          </a:p>
          <a:p>
            <a:pPr marL="1464945" algn="l" defTabSz="0" rtl="0" eaLnBrk="0">
              <a:lnSpc>
                <a:spcPct val="89000"/>
              </a:lnSpc>
            </a:pPr>
            <a:r>
              <a:rPr lang="zh-CN" altLang="en-US" sz="24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数字时代的货币光谱</a:t>
            </a:r>
            <a:endParaRPr lang="zh-CN" altLang="en-US" sz="24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endParaRPr>
          </a:p>
        </p:txBody>
      </p:sp>
      <p:pic>
        <p:nvPicPr>
          <p:cNvPr id="584" name="picture 584"/>
          <p:cNvPicPr>
            <a:picLocks noChangeAspect="1"/>
          </p:cNvPicPr>
          <p:nvPr/>
        </p:nvPicPr>
        <p:blipFill>
          <a:blip r:embed="rId2"/>
          <a:stretch>
            <a:fillRect/>
          </a:stretch>
        </p:blipFill>
        <p:spPr>
          <a:xfrm rot="21600000">
            <a:off x="407510" y="276742"/>
            <a:ext cx="683414" cy="427691"/>
          </a:xfrm>
          <a:prstGeom prst="rect">
            <a:avLst/>
          </a:prstGeom>
        </p:spPr>
      </p:pic>
      <p:sp>
        <p:nvSpPr>
          <p:cNvPr id="590" name="path 590"/>
          <p:cNvSpPr/>
          <p:nvPr/>
        </p:nvSpPr>
        <p:spPr>
          <a:xfrm>
            <a:off x="359397" y="984157"/>
            <a:ext cx="11473180" cy="17999"/>
          </a:xfrm>
          <a:custGeom>
            <a:avLst/>
            <a:gdLst/>
            <a:ahLst/>
            <a:cxnLst/>
            <a:rect l="0" t="0" r="0" b="0"/>
            <a:pathLst>
              <a:path w="18068" h="28">
                <a:moveTo>
                  <a:pt x="0" y="28"/>
                </a:moveTo>
                <a:lnTo>
                  <a:pt x="18068" y="28"/>
                </a:lnTo>
                <a:lnTo>
                  <a:pt x="18068" y="0"/>
                </a:lnTo>
                <a:lnTo>
                  <a:pt x="0" y="0"/>
                </a:lnTo>
                <a:lnTo>
                  <a:pt x="0" y="28"/>
                </a:lnTo>
                <a:close/>
              </a:path>
            </a:pathLst>
          </a:custGeom>
          <a:solidFill>
            <a:srgbClr val="C30F1B">
              <a:alpha val="100000"/>
            </a:srgbClr>
          </a:solidFill>
          <a:ln w="0" cap="flat">
            <a:noFill/>
            <a:prstDash val="solid"/>
            <a:miter lim="0"/>
          </a:ln>
        </p:spPr>
        <p:txBody>
          <a:bodyPr rtlCol="0"/>
          <a:lstStyle/>
          <a:p>
            <a:pPr algn="ctr"/>
            <a:endParaRPr lang="zh-CN" altLang="en-US"/>
          </a:p>
        </p:txBody>
      </p:sp>
      <p:sp>
        <p:nvSpPr>
          <p:cNvPr id="592" name="path 592"/>
          <p:cNvSpPr/>
          <p:nvPr/>
        </p:nvSpPr>
        <p:spPr>
          <a:xfrm>
            <a:off x="359397" y="6450596"/>
            <a:ext cx="11473192" cy="6350"/>
          </a:xfrm>
          <a:custGeom>
            <a:avLst/>
            <a:gdLst/>
            <a:ahLst/>
            <a:cxnLst/>
            <a:rect l="0" t="0" r="0" b="0"/>
            <a:pathLst>
              <a:path w="18068" h="10">
                <a:moveTo>
                  <a:pt x="0" y="5"/>
                </a:moveTo>
                <a:lnTo>
                  <a:pt x="18068" y="5"/>
                </a:lnTo>
              </a:path>
            </a:pathLst>
          </a:custGeom>
          <a:noFill/>
          <a:ln w="6350" cap="flat">
            <a:solidFill>
              <a:srgbClr val="000000"/>
            </a:solidFill>
            <a:prstDash val="solid"/>
            <a:miter lim="1000000"/>
          </a:ln>
        </p:spPr>
        <p:txBody>
          <a:bodyPr rtlCol="0"/>
          <a:lstStyle/>
          <a:p>
            <a:pPr algn="ct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rot="21600000">
            <a:off x="0" y="658"/>
            <a:ext cx="12192000" cy="6856728"/>
          </a:xfrm>
          <a:prstGeom prst="rect">
            <a:avLst/>
          </a:prstGeom>
        </p:spPr>
      </p:pic>
      <p:pic>
        <p:nvPicPr>
          <p:cNvPr id="4" name="picture 4"/>
          <p:cNvPicPr>
            <a:picLocks noChangeAspect="1"/>
          </p:cNvPicPr>
          <p:nvPr/>
        </p:nvPicPr>
        <p:blipFill>
          <a:blip r:embed="rId2"/>
          <a:stretch>
            <a:fillRect/>
          </a:stretch>
        </p:blipFill>
        <p:spPr>
          <a:xfrm rot="21600000">
            <a:off x="1318132" y="505846"/>
            <a:ext cx="10062971" cy="6058293"/>
          </a:xfrm>
          <a:prstGeom prst="rect">
            <a:avLst/>
          </a:prstGeom>
        </p:spPr>
      </p:pic>
      <p:sp>
        <p:nvSpPr>
          <p:cNvPr id="6" name="textbox 6"/>
          <p:cNvSpPr/>
          <p:nvPr/>
        </p:nvSpPr>
        <p:spPr>
          <a:xfrm>
            <a:off x="1589405" y="2566035"/>
            <a:ext cx="9340215" cy="1092200"/>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pitchFamily="34" charset="0"/>
              <a:ea typeface="Arial" panose="020B0604020202020204" pitchFamily="34" charset="0"/>
              <a:cs typeface="Arial" panose="020B0604020202020204" pitchFamily="34" charset="0"/>
            </a:endParaRPr>
          </a:p>
          <a:p>
            <a:pPr marL="29845" algn="l" rtl="0" eaLnBrk="0">
              <a:lnSpc>
                <a:spcPct val="86000"/>
              </a:lnSpc>
            </a:pPr>
            <a:endParaRPr sz="3200" dirty="0">
              <a:latin typeface="楷体" panose="02010609060101010101" charset="-122"/>
              <a:ea typeface="楷体" panose="02010609060101010101" charset="-122"/>
              <a:cs typeface="楷体" panose="02010609060101010101" charset="-122"/>
            </a:endParaRPr>
          </a:p>
          <a:p>
            <a:pPr algn="l" rtl="0" eaLnBrk="0">
              <a:lnSpc>
                <a:spcPct val="104000"/>
              </a:lnSpc>
            </a:pPr>
            <a:r>
              <a:rPr lang="en-US" altLang="zh-CN" sz="3600" b="1" kern="0" spc="-20" dirty="0">
                <a:solidFill>
                  <a:srgbClr val="FBFBFC">
                    <a:alpha val="100000"/>
                  </a:srgbClr>
                </a:solidFill>
                <a:latin typeface="楷体" panose="02010609060101010101" charset="-122"/>
                <a:ea typeface="楷体" panose="02010609060101010101" charset="-122"/>
                <a:cs typeface="楷体" panose="02010609060101010101" charset="-122"/>
              </a:rPr>
              <a:t>Part 2: </a:t>
            </a:r>
            <a:r>
              <a:rPr lang="zh-CN" altLang="en-US" sz="3600" b="1" kern="0" spc="-20" dirty="0">
                <a:solidFill>
                  <a:srgbClr val="FBFBFC">
                    <a:alpha val="100000"/>
                  </a:srgbClr>
                </a:solidFill>
                <a:latin typeface="楷体" panose="02010609060101010101" charset="-122"/>
                <a:ea typeface="楷体" panose="02010609060101010101" charset="-122"/>
                <a:cs typeface="楷体" panose="02010609060101010101" charset="-122"/>
              </a:rPr>
              <a:t>稳定币重塑国际货币微观基础</a:t>
            </a:r>
            <a:endParaRPr lang="zh-CN" altLang="en-US" sz="3600" b="1" kern="0" spc="-20" dirty="0">
              <a:solidFill>
                <a:srgbClr val="FBFBFC">
                  <a:alpha val="100000"/>
                </a:srgbClr>
              </a:solidFill>
              <a:latin typeface="楷体" panose="02010609060101010101" charset="-122"/>
              <a:ea typeface="楷体" panose="02010609060101010101" charset="-122"/>
              <a:cs typeface="楷体" panose="02010609060101010101" charset="-122"/>
            </a:endParaRPr>
          </a:p>
        </p:txBody>
      </p:sp>
      <p:pic>
        <p:nvPicPr>
          <p:cNvPr id="10" name="picture 10"/>
          <p:cNvPicPr>
            <a:picLocks noChangeAspect="1"/>
          </p:cNvPicPr>
          <p:nvPr/>
        </p:nvPicPr>
        <p:blipFill>
          <a:blip r:embed="rId3"/>
          <a:stretch>
            <a:fillRect/>
          </a:stretch>
        </p:blipFill>
        <p:spPr>
          <a:xfrm rot="21600000">
            <a:off x="9027245" y="4694442"/>
            <a:ext cx="1902037" cy="115753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textbox 116"/>
          <p:cNvSpPr/>
          <p:nvPr/>
        </p:nvSpPr>
        <p:spPr>
          <a:xfrm>
            <a:off x="451857" y="1348861"/>
            <a:ext cx="11186159" cy="1554480"/>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89000"/>
              </a:lnSpc>
              <a:tabLst>
                <a:tab pos="156210" algn="l"/>
              </a:tabLst>
            </a:pPr>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b="1"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目前整体加密货币的市值在3.3万亿美元左右</a:t>
            </a:r>
            <a:r>
              <a:rPr sz="1400" b="1"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，稳定币发行规模超2500亿美元</a:t>
            </a:r>
            <a:r>
              <a:rPr sz="1400" b="1" kern="0" spc="-2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，在发数量超过250种</a:t>
            </a:r>
            <a:r>
              <a:rPr sz="1400" b="1" kern="0" spc="-2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400" b="1" kern="0" spc="-3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2024年交易量达27.6万亿美元</a:t>
            </a:r>
            <a:r>
              <a:rPr sz="1400" b="1" kern="0" spc="-2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，超</a:t>
            </a:r>
            <a:endParaRPr sz="1400" dirty="0">
              <a:latin typeface="微软雅黑" panose="020B0503020204020204" charset="-122"/>
              <a:ea typeface="微软雅黑" panose="020B0503020204020204" charset="-122"/>
              <a:cs typeface="微软雅黑" panose="020B0503020204020204" charset="-122"/>
            </a:endParaRPr>
          </a:p>
          <a:p>
            <a:pPr marL="286385" indent="-635" algn="l" rtl="0" eaLnBrk="0">
              <a:lnSpc>
                <a:spcPct val="154000"/>
              </a:lnSpc>
              <a:spcBef>
                <a:spcPts val="0"/>
              </a:spcBef>
            </a:pPr>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越Visa与Mastercard交易量总和。</a:t>
            </a:r>
            <a:r>
              <a:rPr sz="1400" b="1" kern="0" spc="-2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目前超过三分之二加密</a:t>
            </a:r>
            <a:r>
              <a:rPr sz="1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货币交易以稳定币形式完成。</a:t>
            </a: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但其中</a:t>
            </a:r>
            <a:r>
              <a:rPr sz="1400"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，挂钩美元的USDT和USDC份额合计就已超</a:t>
            </a: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过2200亿美元，</a:t>
            </a:r>
            <a:r>
              <a:rPr sz="1400" kern="0" spc="-2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占据绝对主流</a:t>
            </a:r>
            <a:r>
              <a:rPr sz="1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从支持链数来看，</a:t>
            </a:r>
            <a:r>
              <a:rPr sz="1400" kern="0" spc="-3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USDC与USDT同样位居前二</a:t>
            </a:r>
            <a:r>
              <a:rPr sz="1400"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，分别在118及98条公链上</a:t>
            </a: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运行。</a:t>
            </a:r>
            <a:endParaRPr sz="1400" dirty="0">
              <a:latin typeface="微软雅黑" panose="020B0503020204020204" charset="-122"/>
              <a:ea typeface="微软雅黑" panose="020B0503020204020204" charset="-122"/>
              <a:cs typeface="微软雅黑" panose="020B0503020204020204" charset="-122"/>
            </a:endParaRPr>
          </a:p>
          <a:p>
            <a:pPr marL="12700" algn="l" defTabSz="0" rtl="0" eaLnBrk="0">
              <a:lnSpc>
                <a:spcPct val="89000"/>
              </a:lnSpc>
              <a:spcBef>
                <a:spcPts val="890"/>
              </a:spcBef>
              <a:tabLst>
                <a:tab pos="156210" algn="l"/>
              </a:tabLst>
            </a:pPr>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b="1"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美元挂钩稳定币穿透到底层的资产多为美国国债。</a:t>
            </a:r>
            <a:endParaRPr sz="14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sz="1200" dirty="0">
              <a:latin typeface="Arial" panose="020B0604020202020204" pitchFamily="34" charset="0"/>
              <a:ea typeface="Arial" panose="020B0604020202020204" pitchFamily="34" charset="0"/>
              <a:cs typeface="Arial" panose="020B0604020202020204" pitchFamily="34" charset="0"/>
            </a:endParaRPr>
          </a:p>
          <a:p>
            <a:pPr marL="127635" algn="l" rtl="0" eaLnBrk="0">
              <a:lnSpc>
                <a:spcPct val="89000"/>
              </a:lnSpc>
              <a:spcBef>
                <a:spcPts val="0"/>
              </a:spcBef>
            </a:pPr>
            <a:r>
              <a:rPr sz="1400" b="1" kern="0" spc="-10" dirty="0">
                <a:solidFill>
                  <a:srgbClr val="000000">
                    <a:alpha val="100000"/>
                  </a:srgbClr>
                </a:solidFill>
                <a:highlight>
                  <a:srgbClr val="FFFF00"/>
                </a:highlight>
                <a:latin typeface="微软雅黑" panose="020B0503020204020204" charset="-122"/>
                <a:ea typeface="微软雅黑" panose="020B0503020204020204" charset="-122"/>
                <a:cs typeface="微软雅黑" panose="020B0503020204020204" charset="-122"/>
              </a:rPr>
              <a:t>图：目前市值TOP10的稳定币（截至2025年7月8日）            </a:t>
            </a:r>
            <a:r>
              <a:rPr sz="1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图：</a:t>
            </a:r>
            <a:r>
              <a:rPr sz="1400" b="1" kern="0" spc="-2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目前支持链数TOP10的稳定币（</a:t>
            </a:r>
            <a:r>
              <a:rPr sz="14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截至2025年7月8日）</a:t>
            </a:r>
            <a:endParaRPr sz="1400" dirty="0">
              <a:latin typeface="微软雅黑" panose="020B0503020204020204" charset="-122"/>
              <a:ea typeface="微软雅黑" panose="020B0503020204020204" charset="-122"/>
              <a:cs typeface="微软雅黑" panose="020B0503020204020204" charset="-122"/>
            </a:endParaRPr>
          </a:p>
        </p:txBody>
      </p:sp>
      <p:pic>
        <p:nvPicPr>
          <p:cNvPr id="118" name="picture 118"/>
          <p:cNvPicPr>
            <a:picLocks noChangeAspect="1"/>
          </p:cNvPicPr>
          <p:nvPr/>
        </p:nvPicPr>
        <p:blipFill>
          <a:blip r:embed="rId1"/>
          <a:stretch>
            <a:fillRect/>
          </a:stretch>
        </p:blipFill>
        <p:spPr>
          <a:xfrm rot="21600000">
            <a:off x="464557" y="2335842"/>
            <a:ext cx="143894" cy="130878"/>
          </a:xfrm>
          <a:prstGeom prst="rect">
            <a:avLst/>
          </a:prstGeom>
        </p:spPr>
      </p:pic>
      <p:pic>
        <p:nvPicPr>
          <p:cNvPr id="120" name="picture 120"/>
          <p:cNvPicPr>
            <a:picLocks noChangeAspect="1"/>
          </p:cNvPicPr>
          <p:nvPr/>
        </p:nvPicPr>
        <p:blipFill>
          <a:blip r:embed="rId1"/>
          <a:stretch>
            <a:fillRect/>
          </a:stretch>
        </p:blipFill>
        <p:spPr>
          <a:xfrm rot="21600000">
            <a:off x="464557" y="1375469"/>
            <a:ext cx="143894" cy="130878"/>
          </a:xfrm>
          <a:prstGeom prst="rect">
            <a:avLst/>
          </a:prstGeom>
        </p:spPr>
      </p:pic>
      <p:grpSp>
        <p:nvGrpSpPr>
          <p:cNvPr id="4" name="group 4"/>
          <p:cNvGrpSpPr/>
          <p:nvPr/>
        </p:nvGrpSpPr>
        <p:grpSpPr>
          <a:xfrm rot="21600000">
            <a:off x="6816471" y="3482340"/>
            <a:ext cx="4178045" cy="1820735"/>
            <a:chOff x="0" y="0"/>
            <a:chExt cx="4178045" cy="1820735"/>
          </a:xfrm>
        </p:grpSpPr>
        <p:pic>
          <p:nvPicPr>
            <p:cNvPr id="122" name="picture 122"/>
            <p:cNvPicPr>
              <a:picLocks noChangeAspect="1"/>
            </p:cNvPicPr>
            <p:nvPr/>
          </p:nvPicPr>
          <p:blipFill>
            <a:blip r:embed="rId2"/>
            <a:stretch>
              <a:fillRect/>
            </a:stretch>
          </p:blipFill>
          <p:spPr>
            <a:xfrm rot="21600000">
              <a:off x="143636" y="0"/>
              <a:ext cx="3890772" cy="1815972"/>
            </a:xfrm>
            <a:prstGeom prst="rect">
              <a:avLst/>
            </a:prstGeom>
          </p:spPr>
        </p:pic>
        <p:sp>
          <p:nvSpPr>
            <p:cNvPr id="124" name="textbox 124"/>
            <p:cNvSpPr/>
            <p:nvPr/>
          </p:nvSpPr>
          <p:spPr>
            <a:xfrm>
              <a:off x="535101" y="95808"/>
              <a:ext cx="3532504" cy="144843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78000"/>
                </a:lnSpc>
              </a:pPr>
              <a:r>
                <a:rPr sz="1200" kern="0" spc="-20" dirty="0">
                  <a:solidFill>
                    <a:srgbClr val="404040">
                      <a:alpha val="100000"/>
                    </a:srgbClr>
                  </a:solidFill>
                  <a:latin typeface="Arial" panose="020B0604020202020204" pitchFamily="34" charset="0"/>
                  <a:ea typeface="Arial" panose="020B0604020202020204" pitchFamily="34" charset="0"/>
                  <a:cs typeface="Arial" panose="020B0604020202020204" pitchFamily="34" charset="0"/>
                </a:rPr>
                <a:t>98</a:t>
              </a:r>
              <a:endParaRPr sz="1200" dirty="0">
                <a:latin typeface="Arial" panose="020B0604020202020204" pitchFamily="34" charset="0"/>
                <a:ea typeface="Arial" panose="020B0604020202020204" pitchFamily="34" charset="0"/>
                <a:cs typeface="Arial" panose="020B0604020202020204" pitchFamily="34" charset="0"/>
              </a:endParaRPr>
            </a:p>
            <a:p>
              <a:pPr algn="l" rtl="0" eaLnBrk="0">
                <a:lnSpc>
                  <a:spcPct val="123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2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24000"/>
                </a:lnSpc>
              </a:pPr>
              <a:endParaRPr sz="1000" dirty="0">
                <a:latin typeface="Arial" panose="020B0604020202020204" pitchFamily="34" charset="0"/>
                <a:ea typeface="Arial" panose="020B0604020202020204" pitchFamily="34" charset="0"/>
                <a:cs typeface="Arial" panose="020B0604020202020204" pitchFamily="34" charset="0"/>
              </a:endParaRPr>
            </a:p>
            <a:p>
              <a:pPr marL="426085" algn="l" rtl="0" eaLnBrk="0">
                <a:lnSpc>
                  <a:spcPct val="78000"/>
                </a:lnSpc>
                <a:spcBef>
                  <a:spcPts val="365"/>
                </a:spcBef>
              </a:pPr>
              <a:r>
                <a:rPr sz="1200" kern="0" spc="-10" dirty="0">
                  <a:solidFill>
                    <a:srgbClr val="404040">
                      <a:alpha val="100000"/>
                    </a:srgbClr>
                  </a:solidFill>
                  <a:latin typeface="Arial" panose="020B0604020202020204" pitchFamily="34" charset="0"/>
                  <a:ea typeface="Arial" panose="020B0604020202020204" pitchFamily="34" charset="0"/>
                  <a:cs typeface="Arial" panose="020B0604020202020204" pitchFamily="34" charset="0"/>
                </a:rPr>
                <a:t>49</a:t>
              </a:r>
              <a:endParaRPr sz="1200" dirty="0">
                <a:latin typeface="Arial" panose="020B0604020202020204" pitchFamily="34" charset="0"/>
                <a:ea typeface="Arial" panose="020B0604020202020204" pitchFamily="34" charset="0"/>
                <a:cs typeface="Arial" panose="020B0604020202020204" pitchFamily="34" charset="0"/>
              </a:endParaRPr>
            </a:p>
            <a:p>
              <a:pPr marL="848360" algn="l" rtl="0" eaLnBrk="0">
                <a:lnSpc>
                  <a:spcPct val="78000"/>
                </a:lnSpc>
                <a:spcBef>
                  <a:spcPts val="695"/>
                </a:spcBef>
              </a:pPr>
              <a:r>
                <a:rPr sz="1200" kern="0" spc="-20" dirty="0">
                  <a:solidFill>
                    <a:srgbClr val="404040">
                      <a:alpha val="100000"/>
                    </a:srgbClr>
                  </a:solidFill>
                  <a:latin typeface="Arial" panose="020B0604020202020204" pitchFamily="34" charset="0"/>
                  <a:ea typeface="Arial" panose="020B0604020202020204" pitchFamily="34" charset="0"/>
                  <a:cs typeface="Arial" panose="020B0604020202020204" pitchFamily="34" charset="0"/>
                </a:rPr>
                <a:t>34</a:t>
              </a:r>
              <a:endParaRPr sz="1200" dirty="0">
                <a:latin typeface="Arial" panose="020B0604020202020204" pitchFamily="34" charset="0"/>
                <a:ea typeface="Arial" panose="020B0604020202020204" pitchFamily="34" charset="0"/>
                <a:cs typeface="Arial" panose="020B0604020202020204" pitchFamily="34" charset="0"/>
              </a:endParaRPr>
            </a:p>
            <a:p>
              <a:pPr marL="1264285" algn="l" rtl="0" eaLnBrk="0">
                <a:lnSpc>
                  <a:spcPct val="68000"/>
                </a:lnSpc>
                <a:spcBef>
                  <a:spcPts val="215"/>
                </a:spcBef>
              </a:pPr>
              <a:r>
                <a:rPr sz="1200" kern="0" spc="-20" dirty="0">
                  <a:solidFill>
                    <a:srgbClr val="404040">
                      <a:alpha val="100000"/>
                    </a:srgbClr>
                  </a:solidFill>
                  <a:latin typeface="Arial" panose="020B0604020202020204" pitchFamily="34" charset="0"/>
                  <a:ea typeface="Arial" panose="020B0604020202020204" pitchFamily="34" charset="0"/>
                  <a:cs typeface="Arial" panose="020B0604020202020204" pitchFamily="34" charset="0"/>
                </a:rPr>
                <a:t>23</a:t>
              </a:r>
              <a:r>
                <a:rPr sz="1200" kern="0" spc="60" dirty="0">
                  <a:solidFill>
                    <a:srgbClr val="404040">
                      <a:alpha val="100000"/>
                    </a:srgbClr>
                  </a:solidFill>
                  <a:latin typeface="Arial" panose="020B0604020202020204" pitchFamily="34" charset="0"/>
                  <a:ea typeface="Arial" panose="020B0604020202020204" pitchFamily="34" charset="0"/>
                  <a:cs typeface="Arial" panose="020B0604020202020204" pitchFamily="34" charset="0"/>
                </a:rPr>
                <a:t>     </a:t>
              </a:r>
              <a:r>
                <a:rPr sz="1200" kern="0" spc="-20" dirty="0">
                  <a:solidFill>
                    <a:srgbClr val="404040">
                      <a:alpha val="100000"/>
                    </a:srgbClr>
                  </a:solidFill>
                  <a:latin typeface="Arial" panose="020B0604020202020204" pitchFamily="34" charset="0"/>
                  <a:ea typeface="Arial" panose="020B0604020202020204" pitchFamily="34" charset="0"/>
                  <a:cs typeface="Arial" panose="020B0604020202020204" pitchFamily="34" charset="0"/>
                </a:rPr>
                <a:t>23</a:t>
              </a:r>
              <a:endParaRPr sz="1200" dirty="0">
                <a:latin typeface="Arial" panose="020B0604020202020204" pitchFamily="34" charset="0"/>
                <a:ea typeface="Arial" panose="020B0604020202020204" pitchFamily="34" charset="0"/>
                <a:cs typeface="Arial" panose="020B0604020202020204" pitchFamily="34" charset="0"/>
              </a:endParaRPr>
            </a:p>
            <a:p>
              <a:pPr algn="r" rtl="0" eaLnBrk="0">
                <a:lnSpc>
                  <a:spcPct val="80000"/>
                </a:lnSpc>
              </a:pPr>
              <a:r>
                <a:rPr sz="1800" kern="0" spc="-50" baseline="3000" dirty="0">
                  <a:solidFill>
                    <a:srgbClr val="404040">
                      <a:alpha val="100000"/>
                    </a:srgbClr>
                  </a:solidFill>
                  <a:latin typeface="Arial" panose="020B0604020202020204" pitchFamily="34" charset="0"/>
                  <a:ea typeface="Arial" panose="020B0604020202020204" pitchFamily="34" charset="0"/>
                  <a:cs typeface="Arial" panose="020B0604020202020204" pitchFamily="34" charset="0"/>
                </a:rPr>
                <a:t>16</a:t>
              </a:r>
              <a:r>
                <a:rPr sz="1100" kern="0" spc="50" dirty="0">
                  <a:solidFill>
                    <a:srgbClr val="404040">
                      <a:alpha val="100000"/>
                    </a:srgbClr>
                  </a:solidFill>
                  <a:latin typeface="Arial" panose="020B0604020202020204" pitchFamily="34" charset="0"/>
                  <a:ea typeface="Arial" panose="020B0604020202020204" pitchFamily="34" charset="0"/>
                  <a:cs typeface="Arial" panose="020B0604020202020204" pitchFamily="34" charset="0"/>
                </a:rPr>
                <a:t>      </a:t>
              </a:r>
              <a:r>
                <a:rPr sz="1800" kern="0" spc="-50" baseline="3000" dirty="0">
                  <a:solidFill>
                    <a:srgbClr val="404040">
                      <a:alpha val="100000"/>
                    </a:srgbClr>
                  </a:solidFill>
                  <a:latin typeface="Arial" panose="020B0604020202020204" pitchFamily="34" charset="0"/>
                  <a:ea typeface="Arial" panose="020B0604020202020204" pitchFamily="34" charset="0"/>
                  <a:cs typeface="Arial" panose="020B0604020202020204" pitchFamily="34" charset="0"/>
                </a:rPr>
                <a:t>16</a:t>
              </a:r>
              <a:r>
                <a:rPr sz="1100" kern="0" spc="40" dirty="0">
                  <a:solidFill>
                    <a:srgbClr val="404040">
                      <a:alpha val="100000"/>
                    </a:srgbClr>
                  </a:solidFill>
                  <a:latin typeface="Arial" panose="020B0604020202020204" pitchFamily="34" charset="0"/>
                  <a:ea typeface="Arial" panose="020B0604020202020204" pitchFamily="34" charset="0"/>
                  <a:cs typeface="Arial" panose="020B0604020202020204" pitchFamily="34" charset="0"/>
                </a:rPr>
                <a:t>      </a:t>
              </a:r>
              <a:r>
                <a:rPr sz="1800" kern="0" spc="-50" baseline="-3000" dirty="0">
                  <a:solidFill>
                    <a:srgbClr val="404040">
                      <a:alpha val="100000"/>
                    </a:srgbClr>
                  </a:solidFill>
                  <a:latin typeface="Arial" panose="020B0604020202020204" pitchFamily="34" charset="0"/>
                  <a:ea typeface="Arial" panose="020B0604020202020204" pitchFamily="34" charset="0"/>
                  <a:cs typeface="Arial" panose="020B0604020202020204" pitchFamily="34" charset="0"/>
                </a:rPr>
                <a:t>15</a:t>
              </a:r>
              <a:r>
                <a:rPr sz="1100" kern="0" spc="40" dirty="0">
                  <a:solidFill>
                    <a:srgbClr val="404040">
                      <a:alpha val="100000"/>
                    </a:srgbClr>
                  </a:solidFill>
                  <a:latin typeface="Arial" panose="020B0604020202020204" pitchFamily="34" charset="0"/>
                  <a:ea typeface="Arial" panose="020B0604020202020204" pitchFamily="34" charset="0"/>
                  <a:cs typeface="Arial" panose="020B0604020202020204" pitchFamily="34" charset="0"/>
                </a:rPr>
                <a:t>      </a:t>
              </a:r>
              <a:r>
                <a:rPr sz="1800" kern="0" spc="-50" baseline="-3000" dirty="0">
                  <a:solidFill>
                    <a:srgbClr val="404040">
                      <a:alpha val="100000"/>
                    </a:srgbClr>
                  </a:solidFill>
                  <a:latin typeface="Arial" panose="020B0604020202020204" pitchFamily="34" charset="0"/>
                  <a:ea typeface="Arial" panose="020B0604020202020204" pitchFamily="34" charset="0"/>
                  <a:cs typeface="Arial" panose="020B0604020202020204" pitchFamily="34" charset="0"/>
                </a:rPr>
                <a:t>15</a:t>
              </a:r>
              <a:endParaRPr sz="1800" baseline="-3000" dirty="0">
                <a:latin typeface="Arial" panose="020B0604020202020204" pitchFamily="34" charset="0"/>
                <a:ea typeface="Arial" panose="020B0604020202020204" pitchFamily="34" charset="0"/>
                <a:cs typeface="Arial" panose="020B0604020202020204" pitchFamily="34" charset="0"/>
              </a:endParaRPr>
            </a:p>
          </p:txBody>
        </p:sp>
        <p:sp>
          <p:nvSpPr>
            <p:cNvPr id="126" name="path 126"/>
            <p:cNvSpPr/>
            <p:nvPr/>
          </p:nvSpPr>
          <p:spPr>
            <a:xfrm>
              <a:off x="0" y="1811210"/>
              <a:ext cx="4178045" cy="9525"/>
            </a:xfrm>
            <a:custGeom>
              <a:avLst/>
              <a:gdLst/>
              <a:ahLst/>
              <a:cxnLst/>
              <a:rect l="0" t="0" r="0" b="0"/>
              <a:pathLst>
                <a:path w="6579" h="15">
                  <a:moveTo>
                    <a:pt x="0" y="7"/>
                  </a:moveTo>
                  <a:lnTo>
                    <a:pt x="6579" y="7"/>
                  </a:lnTo>
                </a:path>
              </a:pathLst>
            </a:custGeom>
            <a:noFill/>
            <a:ln w="9525" cap="flat">
              <a:solidFill>
                <a:srgbClr val="D9D9D9"/>
              </a:solidFill>
              <a:prstDash val="solid"/>
              <a:round/>
            </a:ln>
          </p:spPr>
          <p:txBody>
            <a:bodyPr rtlCol="0"/>
            <a:lstStyle/>
            <a:p>
              <a:pPr algn="ctr"/>
              <a:endParaRPr lang="zh-CN" altLang="en-US"/>
            </a:p>
          </p:txBody>
        </p:sp>
      </p:grpSp>
      <p:sp>
        <p:nvSpPr>
          <p:cNvPr id="128" name="textbox 128"/>
          <p:cNvSpPr/>
          <p:nvPr/>
        </p:nvSpPr>
        <p:spPr>
          <a:xfrm>
            <a:off x="1868892" y="4374724"/>
            <a:ext cx="3730625" cy="941069"/>
          </a:xfrm>
          <a:prstGeom prst="rect">
            <a:avLst/>
          </a:prstGeom>
          <a:noFill/>
          <a:ln w="0" cap="flat">
            <a:noFill/>
            <a:prstDash val="solid"/>
            <a:miter lim="0"/>
          </a:ln>
        </p:spPr>
        <p:txBody>
          <a:bodyPr vert="horz" wrap="square" lIns="0" tIns="0" rIns="0" bIns="0"/>
          <a:lstStyle/>
          <a:p>
            <a:pPr algn="l" rtl="0" eaLnBrk="0">
              <a:lnSpc>
                <a:spcPct val="87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78000"/>
              </a:lnSpc>
            </a:pPr>
            <a:r>
              <a:rPr sz="1200" kern="0" spc="-10" dirty="0">
                <a:solidFill>
                  <a:srgbClr val="404040">
                    <a:alpha val="100000"/>
                  </a:srgbClr>
                </a:solidFill>
                <a:latin typeface="Arial" panose="020B0604020202020204" pitchFamily="34" charset="0"/>
                <a:ea typeface="Arial" panose="020B0604020202020204" pitchFamily="34" charset="0"/>
                <a:cs typeface="Arial" panose="020B0604020202020204" pitchFamily="34" charset="0"/>
              </a:rPr>
              <a:t>616.8</a:t>
            </a:r>
            <a:endParaRPr sz="1200" dirty="0">
              <a:latin typeface="Arial" panose="020B0604020202020204" pitchFamily="34" charset="0"/>
              <a:ea typeface="Arial" panose="020B0604020202020204" pitchFamily="34" charset="0"/>
              <a:cs typeface="Arial" panose="020B0604020202020204" pitchFamily="34" charset="0"/>
            </a:endParaRPr>
          </a:p>
          <a:p>
            <a:pPr algn="l" rtl="0" eaLnBrk="0">
              <a:lnSpc>
                <a:spcPct val="11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1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1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300" dirty="0">
              <a:latin typeface="Arial" panose="020B0604020202020204" pitchFamily="34" charset="0"/>
              <a:ea typeface="Arial" panose="020B0604020202020204" pitchFamily="34" charset="0"/>
              <a:cs typeface="Arial" panose="020B0604020202020204" pitchFamily="34" charset="0"/>
            </a:endParaRPr>
          </a:p>
          <a:p>
            <a:pPr algn="r" rtl="0" eaLnBrk="0">
              <a:lnSpc>
                <a:spcPts val="1565"/>
              </a:lnSpc>
              <a:spcBef>
                <a:spcPts val="0"/>
              </a:spcBef>
            </a:pPr>
            <a:r>
              <a:rPr sz="1800" kern="0" spc="10" baseline="15000" dirty="0">
                <a:solidFill>
                  <a:srgbClr val="404040">
                    <a:alpha val="100000"/>
                  </a:srgbClr>
                </a:solidFill>
                <a:latin typeface="Arial" panose="020B0604020202020204" pitchFamily="34" charset="0"/>
                <a:ea typeface="Arial" panose="020B0604020202020204" pitchFamily="34" charset="0"/>
                <a:cs typeface="Arial" panose="020B0604020202020204" pitchFamily="34" charset="0"/>
              </a:rPr>
              <a:t>53.1</a:t>
            </a:r>
            <a:r>
              <a:rPr sz="1100" kern="0" spc="10" dirty="0">
                <a:solidFill>
                  <a:srgbClr val="404040">
                    <a:alpha val="100000"/>
                  </a:srgbClr>
                </a:solidFill>
                <a:latin typeface="Arial" panose="020B0604020202020204" pitchFamily="34" charset="0"/>
                <a:ea typeface="Arial" panose="020B0604020202020204" pitchFamily="34" charset="0"/>
                <a:cs typeface="Arial" panose="020B0604020202020204" pitchFamily="34" charset="0"/>
              </a:rPr>
              <a:t>   </a:t>
            </a:r>
            <a:r>
              <a:rPr sz="1800" kern="0" spc="10" baseline="12000" dirty="0">
                <a:solidFill>
                  <a:srgbClr val="404040">
                    <a:alpha val="100000"/>
                  </a:srgbClr>
                </a:solidFill>
                <a:latin typeface="Arial" panose="020B0604020202020204" pitchFamily="34" charset="0"/>
                <a:ea typeface="Arial" panose="020B0604020202020204" pitchFamily="34" charset="0"/>
                <a:cs typeface="Arial" panose="020B0604020202020204" pitchFamily="34" charset="0"/>
              </a:rPr>
              <a:t>45.9</a:t>
            </a:r>
            <a:r>
              <a:rPr sz="1100" kern="0" spc="30" dirty="0">
                <a:solidFill>
                  <a:srgbClr val="404040">
                    <a:alpha val="100000"/>
                  </a:srgbClr>
                </a:solidFill>
                <a:latin typeface="Arial" panose="020B0604020202020204" pitchFamily="34" charset="0"/>
                <a:ea typeface="Arial" panose="020B0604020202020204" pitchFamily="34" charset="0"/>
                <a:cs typeface="Arial" panose="020B0604020202020204" pitchFamily="34" charset="0"/>
              </a:rPr>
              <a:t>   </a:t>
            </a:r>
            <a:r>
              <a:rPr sz="1800" kern="0" spc="10" baseline="9000" dirty="0">
                <a:solidFill>
                  <a:srgbClr val="404040">
                    <a:alpha val="100000"/>
                  </a:srgbClr>
                </a:solidFill>
                <a:latin typeface="Arial" panose="020B0604020202020204" pitchFamily="34" charset="0"/>
                <a:ea typeface="Arial" panose="020B0604020202020204" pitchFamily="34" charset="0"/>
                <a:cs typeface="Arial" panose="020B0604020202020204" pitchFamily="34" charset="0"/>
              </a:rPr>
              <a:t>43.0</a:t>
            </a:r>
            <a:r>
              <a:rPr sz="1100" kern="0" spc="50" dirty="0">
                <a:solidFill>
                  <a:srgbClr val="404040">
                    <a:alpha val="100000"/>
                  </a:srgbClr>
                </a:solidFill>
                <a:latin typeface="Arial" panose="020B0604020202020204" pitchFamily="34" charset="0"/>
                <a:ea typeface="Arial" panose="020B0604020202020204" pitchFamily="34" charset="0"/>
                <a:cs typeface="Arial" panose="020B0604020202020204" pitchFamily="34" charset="0"/>
              </a:rPr>
              <a:t>   </a:t>
            </a:r>
            <a:r>
              <a:rPr sz="1200" kern="0" spc="10" dirty="0">
                <a:solidFill>
                  <a:srgbClr val="404040">
                    <a:alpha val="100000"/>
                  </a:srgbClr>
                </a:solidFill>
                <a:latin typeface="Arial" panose="020B0604020202020204" pitchFamily="34" charset="0"/>
                <a:ea typeface="Arial" panose="020B0604020202020204" pitchFamily="34" charset="0"/>
                <a:cs typeface="Arial" panose="020B0604020202020204" pitchFamily="34" charset="0"/>
              </a:rPr>
              <a:t>28.</a:t>
            </a:r>
            <a:r>
              <a:rPr sz="1200" kern="0" spc="0" dirty="0">
                <a:solidFill>
                  <a:srgbClr val="404040">
                    <a:alpha val="100000"/>
                  </a:srgbClr>
                </a:solidFill>
                <a:latin typeface="Arial" panose="020B0604020202020204" pitchFamily="34" charset="0"/>
                <a:ea typeface="Arial" panose="020B0604020202020204" pitchFamily="34" charset="0"/>
                <a:cs typeface="Arial" panose="020B0604020202020204" pitchFamily="34" charset="0"/>
              </a:rPr>
              <a:t>1   </a:t>
            </a:r>
            <a:r>
              <a:rPr sz="1800" kern="0" spc="0" baseline="1000" dirty="0">
                <a:solidFill>
                  <a:srgbClr val="404040">
                    <a:alpha val="100000"/>
                  </a:srgbClr>
                </a:solidFill>
                <a:latin typeface="Arial" panose="020B0604020202020204" pitchFamily="34" charset="0"/>
                <a:ea typeface="Arial" panose="020B0604020202020204" pitchFamily="34" charset="0"/>
                <a:cs typeface="Arial" panose="020B0604020202020204" pitchFamily="34" charset="0"/>
              </a:rPr>
              <a:t>22.0</a:t>
            </a:r>
            <a:r>
              <a:rPr sz="1100" kern="0" spc="0" dirty="0">
                <a:solidFill>
                  <a:srgbClr val="404040">
                    <a:alpha val="100000"/>
                  </a:srgbClr>
                </a:solidFill>
                <a:latin typeface="Arial" panose="020B0604020202020204" pitchFamily="34" charset="0"/>
                <a:ea typeface="Arial" panose="020B0604020202020204" pitchFamily="34" charset="0"/>
                <a:cs typeface="Arial" panose="020B0604020202020204" pitchFamily="34" charset="0"/>
              </a:rPr>
              <a:t>    </a:t>
            </a:r>
            <a:r>
              <a:rPr sz="1800" kern="0" spc="0" baseline="-3000" dirty="0">
                <a:solidFill>
                  <a:srgbClr val="404040">
                    <a:alpha val="100000"/>
                  </a:srgbClr>
                </a:solidFill>
                <a:latin typeface="Arial" panose="020B0604020202020204" pitchFamily="34" charset="0"/>
                <a:ea typeface="Arial" panose="020B0604020202020204" pitchFamily="34" charset="0"/>
                <a:cs typeface="Arial" panose="020B0604020202020204" pitchFamily="34" charset="0"/>
              </a:rPr>
              <a:t>14.6</a:t>
            </a:r>
            <a:r>
              <a:rPr sz="1100" kern="0" spc="0" dirty="0">
                <a:solidFill>
                  <a:srgbClr val="404040">
                    <a:alpha val="100000"/>
                  </a:srgbClr>
                </a:solidFill>
                <a:latin typeface="Arial" panose="020B0604020202020204" pitchFamily="34" charset="0"/>
                <a:ea typeface="Arial" panose="020B0604020202020204" pitchFamily="34" charset="0"/>
                <a:cs typeface="Arial" panose="020B0604020202020204" pitchFamily="34" charset="0"/>
              </a:rPr>
              <a:t>    </a:t>
            </a:r>
            <a:r>
              <a:rPr sz="1800" kern="0" spc="0" baseline="-5000" dirty="0">
                <a:solidFill>
                  <a:srgbClr val="404040">
                    <a:alpha val="100000"/>
                  </a:srgbClr>
                </a:solidFill>
                <a:latin typeface="Arial" panose="020B0604020202020204" pitchFamily="34" charset="0"/>
                <a:ea typeface="Arial" panose="020B0604020202020204" pitchFamily="34" charset="0"/>
                <a:cs typeface="Arial" panose="020B0604020202020204" pitchFamily="34" charset="0"/>
              </a:rPr>
              <a:t>12.0</a:t>
            </a:r>
            <a:r>
              <a:rPr sz="1100" kern="0" spc="0" dirty="0">
                <a:solidFill>
                  <a:srgbClr val="404040">
                    <a:alpha val="100000"/>
                  </a:srgbClr>
                </a:solidFill>
                <a:latin typeface="Arial" panose="020B0604020202020204" pitchFamily="34" charset="0"/>
                <a:ea typeface="Arial" panose="020B0604020202020204" pitchFamily="34" charset="0"/>
                <a:cs typeface="Arial" panose="020B0604020202020204" pitchFamily="34" charset="0"/>
              </a:rPr>
              <a:t>    </a:t>
            </a:r>
            <a:r>
              <a:rPr sz="1800" kern="0" spc="0" baseline="-8000" dirty="0">
                <a:solidFill>
                  <a:srgbClr val="404040">
                    <a:alpha val="100000"/>
                  </a:srgbClr>
                </a:solidFill>
                <a:latin typeface="Arial" panose="020B0604020202020204" pitchFamily="34" charset="0"/>
                <a:ea typeface="Arial" panose="020B0604020202020204" pitchFamily="34" charset="0"/>
                <a:cs typeface="Arial" panose="020B0604020202020204" pitchFamily="34" charset="0"/>
              </a:rPr>
              <a:t>8.9</a:t>
            </a:r>
            <a:endParaRPr sz="1800" baseline="-8000" dirty="0">
              <a:latin typeface="Arial" panose="020B0604020202020204" pitchFamily="34" charset="0"/>
              <a:ea typeface="Arial" panose="020B0604020202020204" pitchFamily="34" charset="0"/>
              <a:cs typeface="Arial" panose="020B0604020202020204" pitchFamily="34" charset="0"/>
            </a:endParaRPr>
          </a:p>
        </p:txBody>
      </p:sp>
      <p:sp>
        <p:nvSpPr>
          <p:cNvPr id="130" name="textbox 130"/>
          <p:cNvSpPr/>
          <p:nvPr/>
        </p:nvSpPr>
        <p:spPr>
          <a:xfrm>
            <a:off x="394810" y="264042"/>
            <a:ext cx="7542530" cy="453390"/>
          </a:xfrm>
          <a:prstGeom prst="rect">
            <a:avLst/>
          </a:prstGeom>
          <a:noFill/>
          <a:ln w="0" cap="flat">
            <a:noFill/>
            <a:prstDash val="solid"/>
            <a:miter lim="0"/>
          </a:ln>
        </p:spPr>
        <p:txBody>
          <a:bodyPr vert="horz" wrap="square" lIns="0" tIns="0" rIns="0" bIns="0"/>
          <a:lstStyle/>
          <a:p>
            <a:pPr algn="l" rtl="0" eaLnBrk="0">
              <a:lnSpc>
                <a:spcPct val="105000"/>
              </a:lnSpc>
            </a:pPr>
            <a:endParaRPr sz="400" dirty="0">
              <a:latin typeface="Arial" panose="020B0604020202020204" pitchFamily="34" charset="0"/>
              <a:ea typeface="Arial" panose="020B0604020202020204" pitchFamily="34" charset="0"/>
              <a:cs typeface="Arial" panose="020B0604020202020204" pitchFamily="34" charset="0"/>
            </a:endParaRPr>
          </a:p>
          <a:p>
            <a:pPr marL="695960" algn="l" defTabSz="0" rtl="0" eaLnBrk="0">
              <a:lnSpc>
                <a:spcPct val="89000"/>
              </a:lnSpc>
              <a:tabLst>
                <a:tab pos="940435" algn="l"/>
              </a:tabLst>
            </a:pPr>
            <a:r>
              <a:rPr sz="2400" b="1"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0" dirty="0">
                <a:solidFill>
                  <a:srgbClr val="000000">
                    <a:alpha val="100000"/>
                  </a:srgbClr>
                </a:solidFill>
                <a:latin typeface="楷体" panose="02010609060101010101" charset="-122"/>
                <a:ea typeface="楷体" panose="02010609060101010101" charset="-122"/>
                <a:cs typeface="楷体" panose="02010609060101010101" charset="-122"/>
              </a:rPr>
              <a:t>市场格局：千亿美元规模</a:t>
            </a:r>
            <a:r>
              <a:rPr sz="2400" b="1" kern="0" spc="-10" dirty="0">
                <a:solidFill>
                  <a:srgbClr val="000000">
                    <a:alpha val="100000"/>
                  </a:srgbClr>
                </a:solidFill>
                <a:latin typeface="楷体" panose="02010609060101010101" charset="-122"/>
                <a:ea typeface="楷体" panose="02010609060101010101" charset="-122"/>
                <a:cs typeface="楷体" panose="02010609060101010101" charset="-122"/>
              </a:rPr>
              <a:t>，以挂钩美元为主流</a:t>
            </a:r>
            <a:endParaRPr sz="2400" dirty="0">
              <a:latin typeface="楷体" panose="02010609060101010101" charset="-122"/>
              <a:ea typeface="楷体" panose="02010609060101010101" charset="-122"/>
              <a:cs typeface="楷体" panose="02010609060101010101" charset="-122"/>
            </a:endParaRPr>
          </a:p>
        </p:txBody>
      </p:sp>
      <p:pic>
        <p:nvPicPr>
          <p:cNvPr id="132" name="picture 132"/>
          <p:cNvPicPr>
            <a:picLocks noChangeAspect="1"/>
          </p:cNvPicPr>
          <p:nvPr/>
        </p:nvPicPr>
        <p:blipFill>
          <a:blip r:embed="rId3"/>
          <a:stretch>
            <a:fillRect/>
          </a:stretch>
        </p:blipFill>
        <p:spPr>
          <a:xfrm rot="21600000">
            <a:off x="407510" y="276742"/>
            <a:ext cx="683414" cy="427691"/>
          </a:xfrm>
          <a:prstGeom prst="rect">
            <a:avLst/>
          </a:prstGeom>
        </p:spPr>
      </p:pic>
      <p:sp>
        <p:nvSpPr>
          <p:cNvPr id="136" name="textbox 136"/>
          <p:cNvSpPr/>
          <p:nvPr/>
        </p:nvSpPr>
        <p:spPr>
          <a:xfrm>
            <a:off x="877163" y="3010585"/>
            <a:ext cx="391159" cy="2454910"/>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78000"/>
              </a:lnSpc>
            </a:pPr>
            <a:r>
              <a:rPr sz="1200" kern="0" spc="-30" dirty="0">
                <a:solidFill>
                  <a:srgbClr val="595959">
                    <a:alpha val="100000"/>
                  </a:srgbClr>
                </a:solidFill>
                <a:latin typeface="Arial" panose="020B0604020202020204" pitchFamily="34" charset="0"/>
                <a:ea typeface="Arial" panose="020B0604020202020204" pitchFamily="34" charset="0"/>
                <a:cs typeface="Arial" panose="020B0604020202020204" pitchFamily="34" charset="0"/>
              </a:rPr>
              <a:t>1,800</a:t>
            </a:r>
            <a:endParaRPr sz="12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78000"/>
              </a:lnSpc>
              <a:spcBef>
                <a:spcPts val="875"/>
              </a:spcBef>
            </a:pPr>
            <a:r>
              <a:rPr sz="1200" kern="0" spc="-30" dirty="0">
                <a:solidFill>
                  <a:srgbClr val="595959">
                    <a:alpha val="100000"/>
                  </a:srgbClr>
                </a:solidFill>
                <a:latin typeface="Arial" panose="020B0604020202020204" pitchFamily="34" charset="0"/>
                <a:ea typeface="Arial" panose="020B0604020202020204" pitchFamily="34" charset="0"/>
                <a:cs typeface="Arial" panose="020B0604020202020204" pitchFamily="34" charset="0"/>
              </a:rPr>
              <a:t>1,600</a:t>
            </a:r>
            <a:endParaRPr sz="12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78000"/>
              </a:lnSpc>
              <a:spcBef>
                <a:spcPts val="880"/>
              </a:spcBef>
            </a:pPr>
            <a:r>
              <a:rPr sz="1200" kern="0" spc="-30" dirty="0">
                <a:solidFill>
                  <a:srgbClr val="595959">
                    <a:alpha val="100000"/>
                  </a:srgbClr>
                </a:solidFill>
                <a:latin typeface="Arial" panose="020B0604020202020204" pitchFamily="34" charset="0"/>
                <a:ea typeface="Arial" panose="020B0604020202020204" pitchFamily="34" charset="0"/>
                <a:cs typeface="Arial" panose="020B0604020202020204" pitchFamily="34" charset="0"/>
              </a:rPr>
              <a:t>1,400</a:t>
            </a:r>
            <a:endParaRPr sz="12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78000"/>
              </a:lnSpc>
              <a:spcBef>
                <a:spcPts val="875"/>
              </a:spcBef>
            </a:pPr>
            <a:r>
              <a:rPr sz="1200" kern="0" spc="-30" dirty="0">
                <a:solidFill>
                  <a:srgbClr val="595959">
                    <a:alpha val="100000"/>
                  </a:srgbClr>
                </a:solidFill>
                <a:latin typeface="Arial" panose="020B0604020202020204" pitchFamily="34" charset="0"/>
                <a:ea typeface="Arial" panose="020B0604020202020204" pitchFamily="34" charset="0"/>
                <a:cs typeface="Arial" panose="020B0604020202020204" pitchFamily="34" charset="0"/>
              </a:rPr>
              <a:t>1,200</a:t>
            </a:r>
            <a:endParaRPr sz="12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78000"/>
              </a:lnSpc>
              <a:spcBef>
                <a:spcPts val="875"/>
              </a:spcBef>
            </a:pPr>
            <a:r>
              <a:rPr sz="1200" kern="0" spc="-30" dirty="0">
                <a:solidFill>
                  <a:srgbClr val="595959">
                    <a:alpha val="100000"/>
                  </a:srgbClr>
                </a:solidFill>
                <a:latin typeface="Arial" panose="020B0604020202020204" pitchFamily="34" charset="0"/>
                <a:ea typeface="Arial" panose="020B0604020202020204" pitchFamily="34" charset="0"/>
                <a:cs typeface="Arial" panose="020B0604020202020204" pitchFamily="34" charset="0"/>
              </a:rPr>
              <a:t>1,000</a:t>
            </a:r>
            <a:endParaRPr sz="1200" dirty="0">
              <a:latin typeface="Arial" panose="020B0604020202020204" pitchFamily="34" charset="0"/>
              <a:ea typeface="Arial" panose="020B0604020202020204" pitchFamily="34" charset="0"/>
              <a:cs typeface="Arial" panose="020B0604020202020204" pitchFamily="34" charset="0"/>
            </a:endParaRPr>
          </a:p>
          <a:p>
            <a:pPr marL="128905" algn="l" rtl="0" eaLnBrk="0">
              <a:lnSpc>
                <a:spcPct val="78000"/>
              </a:lnSpc>
              <a:spcBef>
                <a:spcPts val="880"/>
              </a:spcBef>
            </a:pPr>
            <a:r>
              <a:rPr sz="1200" kern="0" spc="-20" dirty="0">
                <a:solidFill>
                  <a:srgbClr val="595959">
                    <a:alpha val="100000"/>
                  </a:srgbClr>
                </a:solidFill>
                <a:latin typeface="Arial" panose="020B0604020202020204" pitchFamily="34" charset="0"/>
                <a:ea typeface="Arial" panose="020B0604020202020204" pitchFamily="34" charset="0"/>
                <a:cs typeface="Arial" panose="020B0604020202020204" pitchFamily="34" charset="0"/>
              </a:rPr>
              <a:t>800</a:t>
            </a:r>
            <a:endParaRPr sz="1200" dirty="0">
              <a:latin typeface="Arial" panose="020B0604020202020204" pitchFamily="34" charset="0"/>
              <a:ea typeface="Arial" panose="020B0604020202020204" pitchFamily="34" charset="0"/>
              <a:cs typeface="Arial" panose="020B0604020202020204" pitchFamily="34" charset="0"/>
            </a:endParaRPr>
          </a:p>
          <a:p>
            <a:pPr marL="128905" algn="l" rtl="0" eaLnBrk="0">
              <a:lnSpc>
                <a:spcPct val="78000"/>
              </a:lnSpc>
              <a:spcBef>
                <a:spcPts val="875"/>
              </a:spcBef>
            </a:pPr>
            <a:r>
              <a:rPr sz="1200" kern="0" spc="-20" dirty="0">
                <a:solidFill>
                  <a:srgbClr val="595959">
                    <a:alpha val="100000"/>
                  </a:srgbClr>
                </a:solidFill>
                <a:latin typeface="Arial" panose="020B0604020202020204" pitchFamily="34" charset="0"/>
                <a:ea typeface="Arial" panose="020B0604020202020204" pitchFamily="34" charset="0"/>
                <a:cs typeface="Arial" panose="020B0604020202020204" pitchFamily="34" charset="0"/>
              </a:rPr>
              <a:t>600</a:t>
            </a:r>
            <a:endParaRPr sz="1200" dirty="0">
              <a:latin typeface="Arial" panose="020B0604020202020204" pitchFamily="34" charset="0"/>
              <a:ea typeface="Arial" panose="020B0604020202020204" pitchFamily="34" charset="0"/>
              <a:cs typeface="Arial" panose="020B0604020202020204" pitchFamily="34" charset="0"/>
            </a:endParaRPr>
          </a:p>
          <a:p>
            <a:pPr marL="125095" algn="l" rtl="0" eaLnBrk="0">
              <a:lnSpc>
                <a:spcPct val="78000"/>
              </a:lnSpc>
              <a:spcBef>
                <a:spcPts val="880"/>
              </a:spcBef>
            </a:pPr>
            <a:r>
              <a:rPr sz="1200" kern="0" spc="-10" dirty="0">
                <a:solidFill>
                  <a:srgbClr val="595959">
                    <a:alpha val="100000"/>
                  </a:srgbClr>
                </a:solidFill>
                <a:latin typeface="Arial" panose="020B0604020202020204" pitchFamily="34" charset="0"/>
                <a:ea typeface="Arial" panose="020B0604020202020204" pitchFamily="34" charset="0"/>
                <a:cs typeface="Arial" panose="020B0604020202020204" pitchFamily="34" charset="0"/>
              </a:rPr>
              <a:t>400</a:t>
            </a:r>
            <a:endParaRPr sz="1200" dirty="0">
              <a:latin typeface="Arial" panose="020B0604020202020204" pitchFamily="34" charset="0"/>
              <a:ea typeface="Arial" panose="020B0604020202020204" pitchFamily="34" charset="0"/>
              <a:cs typeface="Arial" panose="020B0604020202020204" pitchFamily="34" charset="0"/>
            </a:endParaRPr>
          </a:p>
          <a:p>
            <a:pPr marL="127000" algn="l" rtl="0" eaLnBrk="0">
              <a:lnSpc>
                <a:spcPct val="78000"/>
              </a:lnSpc>
              <a:spcBef>
                <a:spcPts val="875"/>
              </a:spcBef>
            </a:pPr>
            <a:r>
              <a:rPr sz="1200" kern="0" spc="-20" dirty="0">
                <a:solidFill>
                  <a:srgbClr val="595959">
                    <a:alpha val="100000"/>
                  </a:srgbClr>
                </a:solidFill>
                <a:latin typeface="Arial" panose="020B0604020202020204" pitchFamily="34" charset="0"/>
                <a:ea typeface="Arial" panose="020B0604020202020204" pitchFamily="34" charset="0"/>
                <a:cs typeface="Arial" panose="020B0604020202020204" pitchFamily="34" charset="0"/>
              </a:rPr>
              <a:t>200</a:t>
            </a:r>
            <a:endParaRPr sz="12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4000"/>
              </a:lnSpc>
            </a:pPr>
            <a:endParaRPr sz="700" dirty="0">
              <a:latin typeface="Arial" panose="020B0604020202020204" pitchFamily="34" charset="0"/>
              <a:ea typeface="Arial" panose="020B0604020202020204" pitchFamily="34" charset="0"/>
              <a:cs typeface="Arial" panose="020B0604020202020204" pitchFamily="34" charset="0"/>
            </a:endParaRPr>
          </a:p>
          <a:p>
            <a:pPr algn="r" rtl="0" eaLnBrk="0">
              <a:lnSpc>
                <a:spcPct val="78000"/>
              </a:lnSpc>
              <a:spcBef>
                <a:spcPts val="5"/>
              </a:spcBef>
            </a:pPr>
            <a:r>
              <a:rPr sz="1200" kern="0" spc="-10" dirty="0">
                <a:solidFill>
                  <a:srgbClr val="595959">
                    <a:alpha val="100000"/>
                  </a:srgbClr>
                </a:solidFill>
                <a:latin typeface="Arial" panose="020B0604020202020204" pitchFamily="34" charset="0"/>
                <a:ea typeface="Arial" panose="020B0604020202020204" pitchFamily="34" charset="0"/>
                <a:cs typeface="Arial" panose="020B0604020202020204" pitchFamily="34" charset="0"/>
              </a:rPr>
              <a:t>0</a:t>
            </a:r>
            <a:endParaRPr sz="1200" dirty="0">
              <a:latin typeface="Arial" panose="020B0604020202020204" pitchFamily="34" charset="0"/>
              <a:ea typeface="Arial" panose="020B0604020202020204" pitchFamily="34" charset="0"/>
              <a:cs typeface="Arial" panose="020B0604020202020204" pitchFamily="34" charset="0"/>
            </a:endParaRPr>
          </a:p>
        </p:txBody>
      </p:sp>
      <p:pic>
        <p:nvPicPr>
          <p:cNvPr id="138" name="picture 138"/>
          <p:cNvPicPr>
            <a:picLocks noChangeAspect="1"/>
          </p:cNvPicPr>
          <p:nvPr/>
        </p:nvPicPr>
        <p:blipFill>
          <a:blip r:embed="rId4"/>
          <a:stretch>
            <a:fillRect/>
          </a:stretch>
        </p:blipFill>
        <p:spPr>
          <a:xfrm rot="21600000">
            <a:off x="3882898" y="5502655"/>
            <a:ext cx="1611121" cy="420484"/>
          </a:xfrm>
          <a:prstGeom prst="rect">
            <a:avLst/>
          </a:prstGeom>
        </p:spPr>
      </p:pic>
      <p:pic>
        <p:nvPicPr>
          <p:cNvPr id="140" name="picture 140"/>
          <p:cNvPicPr>
            <a:picLocks noChangeAspect="1"/>
          </p:cNvPicPr>
          <p:nvPr/>
        </p:nvPicPr>
        <p:blipFill>
          <a:blip r:embed="rId5"/>
          <a:stretch>
            <a:fillRect/>
          </a:stretch>
        </p:blipFill>
        <p:spPr>
          <a:xfrm rot="21600000">
            <a:off x="8796527" y="5414009"/>
            <a:ext cx="1167003" cy="508596"/>
          </a:xfrm>
          <a:prstGeom prst="rect">
            <a:avLst/>
          </a:prstGeom>
        </p:spPr>
      </p:pic>
      <p:sp>
        <p:nvSpPr>
          <p:cNvPr id="142" name="textbox 142"/>
          <p:cNvSpPr/>
          <p:nvPr/>
        </p:nvSpPr>
        <p:spPr>
          <a:xfrm>
            <a:off x="6435826" y="3070021"/>
            <a:ext cx="264159" cy="2323464"/>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78000"/>
              </a:lnSpc>
            </a:pPr>
            <a:r>
              <a:rPr sz="1200" kern="0" spc="-50" dirty="0">
                <a:solidFill>
                  <a:srgbClr val="595959">
                    <a:alpha val="100000"/>
                  </a:srgbClr>
                </a:solidFill>
                <a:latin typeface="Arial" panose="020B0604020202020204" pitchFamily="34" charset="0"/>
                <a:ea typeface="Arial" panose="020B0604020202020204" pitchFamily="34" charset="0"/>
                <a:cs typeface="Arial" panose="020B0604020202020204" pitchFamily="34" charset="0"/>
              </a:rPr>
              <a:t>140</a:t>
            </a:r>
            <a:endParaRPr sz="12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78000"/>
              </a:lnSpc>
              <a:spcBef>
                <a:spcPts val="1300"/>
              </a:spcBef>
            </a:pPr>
            <a:r>
              <a:rPr sz="1200" kern="0" spc="-50" dirty="0">
                <a:solidFill>
                  <a:srgbClr val="595959">
                    <a:alpha val="100000"/>
                  </a:srgbClr>
                </a:solidFill>
                <a:latin typeface="Arial" panose="020B0604020202020204" pitchFamily="34" charset="0"/>
                <a:ea typeface="Arial" panose="020B0604020202020204" pitchFamily="34" charset="0"/>
                <a:cs typeface="Arial" panose="020B0604020202020204" pitchFamily="34" charset="0"/>
              </a:rPr>
              <a:t>120</a:t>
            </a:r>
            <a:endParaRPr sz="12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78000"/>
              </a:lnSpc>
              <a:spcBef>
                <a:spcPts val="1300"/>
              </a:spcBef>
            </a:pPr>
            <a:r>
              <a:rPr sz="1200" kern="0" spc="-50" dirty="0">
                <a:solidFill>
                  <a:srgbClr val="595959">
                    <a:alpha val="100000"/>
                  </a:srgbClr>
                </a:solidFill>
                <a:latin typeface="Arial" panose="020B0604020202020204" pitchFamily="34" charset="0"/>
                <a:ea typeface="Arial" panose="020B0604020202020204" pitchFamily="34" charset="0"/>
                <a:cs typeface="Arial" panose="020B0604020202020204" pitchFamily="34" charset="0"/>
              </a:rPr>
              <a:t>100</a:t>
            </a:r>
            <a:endParaRPr sz="1200" dirty="0">
              <a:latin typeface="Arial" panose="020B0604020202020204" pitchFamily="34" charset="0"/>
              <a:ea typeface="Arial" panose="020B0604020202020204" pitchFamily="34" charset="0"/>
              <a:cs typeface="Arial" panose="020B0604020202020204" pitchFamily="34" charset="0"/>
            </a:endParaRPr>
          </a:p>
          <a:p>
            <a:pPr algn="r" rtl="0" eaLnBrk="0">
              <a:lnSpc>
                <a:spcPct val="78000"/>
              </a:lnSpc>
              <a:spcBef>
                <a:spcPts val="1300"/>
              </a:spcBef>
            </a:pPr>
            <a:r>
              <a:rPr sz="1200" kern="0" spc="-20" dirty="0">
                <a:solidFill>
                  <a:srgbClr val="595959">
                    <a:alpha val="100000"/>
                  </a:srgbClr>
                </a:solidFill>
                <a:latin typeface="Arial" panose="020B0604020202020204" pitchFamily="34" charset="0"/>
                <a:ea typeface="Arial" panose="020B0604020202020204" pitchFamily="34" charset="0"/>
                <a:cs typeface="Arial" panose="020B0604020202020204" pitchFamily="34" charset="0"/>
              </a:rPr>
              <a:t>80</a:t>
            </a:r>
            <a:endParaRPr sz="1200" dirty="0">
              <a:latin typeface="Arial" panose="020B0604020202020204" pitchFamily="34" charset="0"/>
              <a:ea typeface="Arial" panose="020B0604020202020204" pitchFamily="34" charset="0"/>
              <a:cs typeface="Arial" panose="020B0604020202020204" pitchFamily="34" charset="0"/>
            </a:endParaRPr>
          </a:p>
          <a:p>
            <a:pPr algn="r" rtl="0" eaLnBrk="0">
              <a:lnSpc>
                <a:spcPct val="78000"/>
              </a:lnSpc>
              <a:spcBef>
                <a:spcPts val="1300"/>
              </a:spcBef>
            </a:pPr>
            <a:r>
              <a:rPr sz="1200" kern="0" spc="-20" dirty="0">
                <a:solidFill>
                  <a:srgbClr val="595959">
                    <a:alpha val="100000"/>
                  </a:srgbClr>
                </a:solidFill>
                <a:latin typeface="Arial" panose="020B0604020202020204" pitchFamily="34" charset="0"/>
                <a:ea typeface="Arial" panose="020B0604020202020204" pitchFamily="34" charset="0"/>
                <a:cs typeface="Arial" panose="020B0604020202020204" pitchFamily="34" charset="0"/>
              </a:rPr>
              <a:t>60</a:t>
            </a:r>
            <a:endParaRPr sz="1200" dirty="0">
              <a:latin typeface="Arial" panose="020B0604020202020204" pitchFamily="34" charset="0"/>
              <a:ea typeface="Arial" panose="020B0604020202020204" pitchFamily="34" charset="0"/>
              <a:cs typeface="Arial" panose="020B0604020202020204" pitchFamily="34" charset="0"/>
            </a:endParaRPr>
          </a:p>
          <a:p>
            <a:pPr algn="r" rtl="0" eaLnBrk="0">
              <a:lnSpc>
                <a:spcPct val="78000"/>
              </a:lnSpc>
              <a:spcBef>
                <a:spcPts val="1300"/>
              </a:spcBef>
            </a:pPr>
            <a:r>
              <a:rPr sz="1200" kern="0" spc="-10" dirty="0">
                <a:solidFill>
                  <a:srgbClr val="595959">
                    <a:alpha val="100000"/>
                  </a:srgbClr>
                </a:solidFill>
                <a:latin typeface="Arial" panose="020B0604020202020204" pitchFamily="34" charset="0"/>
                <a:ea typeface="Arial" panose="020B0604020202020204" pitchFamily="34" charset="0"/>
                <a:cs typeface="Arial" panose="020B0604020202020204" pitchFamily="34" charset="0"/>
              </a:rPr>
              <a:t>40</a:t>
            </a:r>
            <a:endParaRPr sz="1200" dirty="0">
              <a:latin typeface="Arial" panose="020B0604020202020204" pitchFamily="34" charset="0"/>
              <a:ea typeface="Arial" panose="020B0604020202020204" pitchFamily="34" charset="0"/>
              <a:cs typeface="Arial" panose="020B0604020202020204" pitchFamily="34" charset="0"/>
            </a:endParaRPr>
          </a:p>
          <a:p>
            <a:pPr algn="r" rtl="0" eaLnBrk="0">
              <a:lnSpc>
                <a:spcPct val="78000"/>
              </a:lnSpc>
              <a:spcBef>
                <a:spcPts val="1300"/>
              </a:spcBef>
            </a:pPr>
            <a:r>
              <a:rPr sz="1200" kern="0" spc="-20" dirty="0">
                <a:solidFill>
                  <a:srgbClr val="595959">
                    <a:alpha val="100000"/>
                  </a:srgbClr>
                </a:solidFill>
                <a:latin typeface="Arial" panose="020B0604020202020204" pitchFamily="34" charset="0"/>
                <a:ea typeface="Arial" panose="020B0604020202020204" pitchFamily="34" charset="0"/>
                <a:cs typeface="Arial" panose="020B0604020202020204" pitchFamily="34" charset="0"/>
              </a:rPr>
              <a:t>20</a:t>
            </a:r>
            <a:endParaRPr sz="12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8000"/>
              </a:lnSpc>
            </a:pPr>
            <a:endParaRPr sz="1000" dirty="0">
              <a:latin typeface="Arial" panose="020B0604020202020204" pitchFamily="34" charset="0"/>
              <a:ea typeface="Arial" panose="020B0604020202020204" pitchFamily="34" charset="0"/>
              <a:cs typeface="Arial" panose="020B0604020202020204" pitchFamily="34" charset="0"/>
            </a:endParaRPr>
          </a:p>
          <a:p>
            <a:pPr algn="r" rtl="0" eaLnBrk="0">
              <a:lnSpc>
                <a:spcPct val="78000"/>
              </a:lnSpc>
              <a:spcBef>
                <a:spcPts val="5"/>
              </a:spcBef>
            </a:pPr>
            <a:r>
              <a:rPr sz="1200" kern="0" spc="-10" dirty="0">
                <a:solidFill>
                  <a:srgbClr val="595959">
                    <a:alpha val="100000"/>
                  </a:srgbClr>
                </a:solidFill>
                <a:latin typeface="Arial" panose="020B0604020202020204" pitchFamily="34" charset="0"/>
                <a:ea typeface="Arial" panose="020B0604020202020204" pitchFamily="34" charset="0"/>
                <a:cs typeface="Arial" panose="020B0604020202020204" pitchFamily="34" charset="0"/>
              </a:rPr>
              <a:t>0</a:t>
            </a:r>
            <a:endParaRPr sz="1200" dirty="0">
              <a:latin typeface="Arial" panose="020B0604020202020204" pitchFamily="34" charset="0"/>
              <a:ea typeface="Arial" panose="020B0604020202020204" pitchFamily="34" charset="0"/>
              <a:cs typeface="Arial" panose="020B0604020202020204" pitchFamily="34" charset="0"/>
            </a:endParaRPr>
          </a:p>
        </p:txBody>
      </p:sp>
      <p:sp>
        <p:nvSpPr>
          <p:cNvPr id="144" name="rect 144"/>
          <p:cNvSpPr/>
          <p:nvPr/>
        </p:nvSpPr>
        <p:spPr>
          <a:xfrm>
            <a:off x="1574291" y="3345179"/>
            <a:ext cx="137287" cy="2024888"/>
          </a:xfrm>
          <a:prstGeom prst="rect">
            <a:avLst/>
          </a:prstGeom>
          <a:solidFill>
            <a:srgbClr val="C30F1B">
              <a:alpha val="100000"/>
            </a:srgbClr>
          </a:solidFill>
          <a:ln w="0" cap="flat">
            <a:noFill/>
            <a:prstDash val="solid"/>
            <a:miter lim="0"/>
          </a:ln>
        </p:spPr>
        <p:txBody>
          <a:bodyPr rtlCol="0"/>
          <a:lstStyle/>
          <a:p>
            <a:pPr algn="ctr"/>
            <a:endParaRPr lang="zh-CN" altLang="en-US"/>
          </a:p>
        </p:txBody>
      </p:sp>
      <p:sp>
        <p:nvSpPr>
          <p:cNvPr id="146" name="rect 146"/>
          <p:cNvSpPr/>
          <p:nvPr/>
        </p:nvSpPr>
        <p:spPr>
          <a:xfrm>
            <a:off x="1997836" y="4584065"/>
            <a:ext cx="140462" cy="786003"/>
          </a:xfrm>
          <a:prstGeom prst="rect">
            <a:avLst/>
          </a:prstGeom>
          <a:solidFill>
            <a:srgbClr val="C30F1B">
              <a:alpha val="100000"/>
            </a:srgbClr>
          </a:solidFill>
          <a:ln w="0" cap="flat">
            <a:noFill/>
            <a:prstDash val="solid"/>
            <a:miter lim="0"/>
          </a:ln>
        </p:spPr>
        <p:txBody>
          <a:bodyPr rtlCol="0"/>
          <a:lstStyle/>
          <a:p>
            <a:pPr algn="ctr"/>
            <a:endParaRPr lang="zh-CN" altLang="en-US"/>
          </a:p>
        </p:txBody>
      </p:sp>
      <p:pic>
        <p:nvPicPr>
          <p:cNvPr id="148" name="picture 148"/>
          <p:cNvPicPr>
            <a:picLocks noChangeAspect="1"/>
          </p:cNvPicPr>
          <p:nvPr/>
        </p:nvPicPr>
        <p:blipFill>
          <a:blip r:embed="rId6"/>
          <a:stretch>
            <a:fillRect/>
          </a:stretch>
        </p:blipFill>
        <p:spPr>
          <a:xfrm rot="21600000">
            <a:off x="1428115" y="5298821"/>
            <a:ext cx="4266183" cy="76009"/>
          </a:xfrm>
          <a:prstGeom prst="rect">
            <a:avLst/>
          </a:prstGeom>
        </p:spPr>
      </p:pic>
      <p:pic>
        <p:nvPicPr>
          <p:cNvPr id="150" name="picture 150"/>
          <p:cNvPicPr>
            <a:picLocks noChangeAspect="1"/>
          </p:cNvPicPr>
          <p:nvPr/>
        </p:nvPicPr>
        <p:blipFill>
          <a:blip r:embed="rId7"/>
          <a:stretch>
            <a:fillRect/>
          </a:stretch>
        </p:blipFill>
        <p:spPr>
          <a:xfrm rot="21600000">
            <a:off x="3137280" y="5492622"/>
            <a:ext cx="671321" cy="377050"/>
          </a:xfrm>
          <a:prstGeom prst="rect">
            <a:avLst/>
          </a:prstGeom>
        </p:spPr>
      </p:pic>
      <p:pic>
        <p:nvPicPr>
          <p:cNvPr id="152" name="picture 152"/>
          <p:cNvPicPr>
            <a:picLocks noChangeAspect="1"/>
          </p:cNvPicPr>
          <p:nvPr/>
        </p:nvPicPr>
        <p:blipFill>
          <a:blip r:embed="rId8"/>
          <a:stretch>
            <a:fillRect/>
          </a:stretch>
        </p:blipFill>
        <p:spPr>
          <a:xfrm rot="21600000">
            <a:off x="7650353" y="5420867"/>
            <a:ext cx="642239" cy="359054"/>
          </a:xfrm>
          <a:prstGeom prst="rect">
            <a:avLst/>
          </a:prstGeom>
        </p:spPr>
      </p:pic>
      <p:sp>
        <p:nvSpPr>
          <p:cNvPr id="154" name="path 154"/>
          <p:cNvSpPr/>
          <p:nvPr/>
        </p:nvSpPr>
        <p:spPr>
          <a:xfrm>
            <a:off x="359397" y="984157"/>
            <a:ext cx="11473180" cy="17999"/>
          </a:xfrm>
          <a:custGeom>
            <a:avLst/>
            <a:gdLst/>
            <a:ahLst/>
            <a:cxnLst/>
            <a:rect l="0" t="0" r="0" b="0"/>
            <a:pathLst>
              <a:path w="18068" h="28">
                <a:moveTo>
                  <a:pt x="0" y="28"/>
                </a:moveTo>
                <a:lnTo>
                  <a:pt x="18068" y="28"/>
                </a:lnTo>
                <a:lnTo>
                  <a:pt x="18068" y="0"/>
                </a:lnTo>
                <a:lnTo>
                  <a:pt x="0" y="0"/>
                </a:lnTo>
                <a:lnTo>
                  <a:pt x="0" y="28"/>
                </a:lnTo>
                <a:close/>
              </a:path>
            </a:pathLst>
          </a:custGeom>
          <a:solidFill>
            <a:srgbClr val="C30F1B">
              <a:alpha val="100000"/>
            </a:srgbClr>
          </a:solidFill>
          <a:ln w="0" cap="flat">
            <a:noFill/>
            <a:prstDash val="solid"/>
            <a:miter lim="0"/>
          </a:ln>
        </p:spPr>
        <p:txBody>
          <a:bodyPr rtlCol="0"/>
          <a:lstStyle/>
          <a:p>
            <a:pPr algn="ctr"/>
            <a:endParaRPr lang="zh-CN" altLang="en-US"/>
          </a:p>
        </p:txBody>
      </p:sp>
      <p:sp>
        <p:nvSpPr>
          <p:cNvPr id="156" name="textbox 156"/>
          <p:cNvSpPr/>
          <p:nvPr/>
        </p:nvSpPr>
        <p:spPr>
          <a:xfrm rot="16200000">
            <a:off x="201802" y="4139907"/>
            <a:ext cx="1069339" cy="184150"/>
          </a:xfrm>
          <a:prstGeom prst="rect">
            <a:avLst/>
          </a:prstGeom>
          <a:noFill/>
          <a:ln w="0" cap="flat">
            <a:noFill/>
            <a:prstDash val="solid"/>
            <a:miter lim="0"/>
          </a:ln>
        </p:spPr>
        <p:txBody>
          <a:bodyPr vert="horz" wrap="square" lIns="0" tIns="0" rIns="0" bIns="0"/>
          <a:lstStyle/>
          <a:p>
            <a:pPr algn="l" rtl="0" eaLnBrk="0">
              <a:lnSpc>
                <a:spcPct val="101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85000"/>
              </a:lnSpc>
              <a:spcBef>
                <a:spcPts val="0"/>
              </a:spcBef>
            </a:pPr>
            <a:r>
              <a:rPr sz="1200" kern="0" spc="-100" dirty="0">
                <a:solidFill>
                  <a:srgbClr val="595959">
                    <a:alpha val="100000"/>
                  </a:srgbClr>
                </a:solidFill>
                <a:latin typeface="楷体" panose="02010609060101010101" charset="-122"/>
                <a:ea typeface="楷体" panose="02010609060101010101" charset="-122"/>
                <a:cs typeface="楷体" panose="02010609060101010101" charset="-122"/>
              </a:rPr>
              <a:t>市值（亿美元）</a:t>
            </a:r>
            <a:endParaRPr sz="1200" dirty="0">
              <a:latin typeface="楷体" panose="02010609060101010101" charset="-122"/>
              <a:ea typeface="楷体" panose="02010609060101010101" charset="-122"/>
              <a:cs typeface="楷体" panose="02010609060101010101" charset="-122"/>
            </a:endParaRPr>
          </a:p>
        </p:txBody>
      </p:sp>
      <p:sp>
        <p:nvSpPr>
          <p:cNvPr id="158" name="textbox 158"/>
          <p:cNvSpPr/>
          <p:nvPr/>
        </p:nvSpPr>
        <p:spPr>
          <a:xfrm rot="16200000">
            <a:off x="5763361" y="4130574"/>
            <a:ext cx="1062355" cy="185420"/>
          </a:xfrm>
          <a:prstGeom prst="rect">
            <a:avLst/>
          </a:prstGeom>
          <a:noFill/>
          <a:ln w="0" cap="flat">
            <a:noFill/>
            <a:prstDash val="solid"/>
            <a:miter lim="0"/>
          </a:ln>
        </p:spPr>
        <p:txBody>
          <a:bodyPr vert="horz" wrap="square" lIns="0" tIns="0" rIns="0" bIns="0"/>
          <a:lstStyle/>
          <a:p>
            <a:pPr algn="l" rtl="0" eaLnBrk="0">
              <a:lnSpc>
                <a:spcPct val="10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85000"/>
              </a:lnSpc>
              <a:spcBef>
                <a:spcPts val="0"/>
              </a:spcBef>
            </a:pPr>
            <a:r>
              <a:rPr sz="1200" kern="0" spc="-110" dirty="0">
                <a:solidFill>
                  <a:srgbClr val="595959">
                    <a:alpha val="100000"/>
                  </a:srgbClr>
                </a:solidFill>
                <a:latin typeface="楷体" panose="02010609060101010101" charset="-122"/>
                <a:ea typeface="楷体" panose="02010609060101010101" charset="-122"/>
                <a:cs typeface="楷体" panose="02010609060101010101" charset="-122"/>
              </a:rPr>
              <a:t>支持链数（条）</a:t>
            </a:r>
            <a:endParaRPr sz="1200" dirty="0">
              <a:latin typeface="楷体" panose="02010609060101010101" charset="-122"/>
              <a:ea typeface="楷体" panose="02010609060101010101" charset="-122"/>
              <a:cs typeface="楷体" panose="02010609060101010101" charset="-122"/>
            </a:endParaRPr>
          </a:p>
        </p:txBody>
      </p:sp>
      <p:pic>
        <p:nvPicPr>
          <p:cNvPr id="160" name="picture 160"/>
          <p:cNvPicPr>
            <a:picLocks noChangeAspect="1"/>
          </p:cNvPicPr>
          <p:nvPr/>
        </p:nvPicPr>
        <p:blipFill>
          <a:blip r:embed="rId9"/>
          <a:stretch>
            <a:fillRect/>
          </a:stretch>
        </p:blipFill>
        <p:spPr>
          <a:xfrm rot="21600000">
            <a:off x="6689217" y="5431154"/>
            <a:ext cx="353948" cy="341007"/>
          </a:xfrm>
          <a:prstGeom prst="rect">
            <a:avLst/>
          </a:prstGeom>
        </p:spPr>
      </p:pic>
      <p:pic>
        <p:nvPicPr>
          <p:cNvPr id="162" name="picture 162"/>
          <p:cNvPicPr>
            <a:picLocks noChangeAspect="1"/>
          </p:cNvPicPr>
          <p:nvPr/>
        </p:nvPicPr>
        <p:blipFill>
          <a:blip r:embed="rId10"/>
          <a:stretch>
            <a:fillRect/>
          </a:stretch>
        </p:blipFill>
        <p:spPr>
          <a:xfrm rot="21600000">
            <a:off x="1731899" y="5502909"/>
            <a:ext cx="353948" cy="341007"/>
          </a:xfrm>
          <a:prstGeom prst="rect">
            <a:avLst/>
          </a:prstGeom>
        </p:spPr>
      </p:pic>
      <p:pic>
        <p:nvPicPr>
          <p:cNvPr id="164" name="picture 164"/>
          <p:cNvPicPr>
            <a:picLocks noChangeAspect="1"/>
          </p:cNvPicPr>
          <p:nvPr/>
        </p:nvPicPr>
        <p:blipFill>
          <a:blip r:embed="rId11"/>
          <a:stretch>
            <a:fillRect/>
          </a:stretch>
        </p:blipFill>
        <p:spPr>
          <a:xfrm rot="21600000">
            <a:off x="2591054" y="5503291"/>
            <a:ext cx="349885" cy="334695"/>
          </a:xfrm>
          <a:prstGeom prst="rect">
            <a:avLst/>
          </a:prstGeom>
        </p:spPr>
      </p:pic>
      <p:pic>
        <p:nvPicPr>
          <p:cNvPr id="166" name="picture 166"/>
          <p:cNvPicPr>
            <a:picLocks noChangeAspect="1"/>
          </p:cNvPicPr>
          <p:nvPr/>
        </p:nvPicPr>
        <p:blipFill>
          <a:blip r:embed="rId12"/>
          <a:stretch>
            <a:fillRect/>
          </a:stretch>
        </p:blipFill>
        <p:spPr>
          <a:xfrm rot="21600000">
            <a:off x="1317370" y="5485257"/>
            <a:ext cx="334136" cy="346671"/>
          </a:xfrm>
          <a:prstGeom prst="rect">
            <a:avLst/>
          </a:prstGeom>
        </p:spPr>
      </p:pic>
      <p:pic>
        <p:nvPicPr>
          <p:cNvPr id="168" name="picture 168"/>
          <p:cNvPicPr>
            <a:picLocks noChangeAspect="1"/>
          </p:cNvPicPr>
          <p:nvPr/>
        </p:nvPicPr>
        <p:blipFill>
          <a:blip r:embed="rId13"/>
          <a:stretch>
            <a:fillRect/>
          </a:stretch>
        </p:blipFill>
        <p:spPr>
          <a:xfrm rot="21600000">
            <a:off x="7118984" y="5413502"/>
            <a:ext cx="334136" cy="346671"/>
          </a:xfrm>
          <a:prstGeom prst="rect">
            <a:avLst/>
          </a:prstGeom>
        </p:spPr>
      </p:pic>
      <p:pic>
        <p:nvPicPr>
          <p:cNvPr id="170" name="picture 170"/>
          <p:cNvPicPr>
            <a:picLocks noChangeAspect="1"/>
          </p:cNvPicPr>
          <p:nvPr/>
        </p:nvPicPr>
        <p:blipFill>
          <a:blip r:embed="rId14"/>
          <a:stretch>
            <a:fillRect/>
          </a:stretch>
        </p:blipFill>
        <p:spPr>
          <a:xfrm rot="21600000">
            <a:off x="2176399" y="5521959"/>
            <a:ext cx="340232" cy="304088"/>
          </a:xfrm>
          <a:prstGeom prst="rect">
            <a:avLst/>
          </a:prstGeom>
        </p:spPr>
      </p:pic>
      <p:pic>
        <p:nvPicPr>
          <p:cNvPr id="172" name="picture 172"/>
          <p:cNvPicPr>
            <a:picLocks noChangeAspect="1"/>
          </p:cNvPicPr>
          <p:nvPr/>
        </p:nvPicPr>
        <p:blipFill>
          <a:blip r:embed="rId15"/>
          <a:stretch>
            <a:fillRect/>
          </a:stretch>
        </p:blipFill>
        <p:spPr>
          <a:xfrm rot="21600000">
            <a:off x="8378317" y="5450204"/>
            <a:ext cx="340106" cy="304088"/>
          </a:xfrm>
          <a:prstGeom prst="rect">
            <a:avLst/>
          </a:prstGeom>
        </p:spPr>
      </p:pic>
      <p:pic>
        <p:nvPicPr>
          <p:cNvPr id="174" name="picture 174"/>
          <p:cNvPicPr>
            <a:picLocks noChangeAspect="1"/>
          </p:cNvPicPr>
          <p:nvPr/>
        </p:nvPicPr>
        <p:blipFill>
          <a:blip r:embed="rId16"/>
          <a:stretch>
            <a:fillRect/>
          </a:stretch>
        </p:blipFill>
        <p:spPr>
          <a:xfrm rot="21600000">
            <a:off x="10120884" y="5415153"/>
            <a:ext cx="282192" cy="280885"/>
          </a:xfrm>
          <a:prstGeom prst="rect">
            <a:avLst/>
          </a:prstGeom>
        </p:spPr>
      </p:pic>
      <p:pic>
        <p:nvPicPr>
          <p:cNvPr id="176" name="picture 176"/>
          <p:cNvPicPr>
            <a:picLocks noChangeAspect="1"/>
          </p:cNvPicPr>
          <p:nvPr/>
        </p:nvPicPr>
        <p:blipFill>
          <a:blip r:embed="rId17"/>
          <a:stretch>
            <a:fillRect/>
          </a:stretch>
        </p:blipFill>
        <p:spPr>
          <a:xfrm rot="21600000">
            <a:off x="10544809" y="5419471"/>
            <a:ext cx="270383" cy="270408"/>
          </a:xfrm>
          <a:prstGeom prst="rect">
            <a:avLst/>
          </a:prstGeom>
        </p:spPr>
      </p:pic>
      <p:sp>
        <p:nvSpPr>
          <p:cNvPr id="178" name="path 178"/>
          <p:cNvSpPr/>
          <p:nvPr/>
        </p:nvSpPr>
        <p:spPr>
          <a:xfrm>
            <a:off x="359397" y="6450596"/>
            <a:ext cx="11473192" cy="6350"/>
          </a:xfrm>
          <a:custGeom>
            <a:avLst/>
            <a:gdLst/>
            <a:ahLst/>
            <a:cxnLst/>
            <a:rect l="0" t="0" r="0" b="0"/>
            <a:pathLst>
              <a:path w="18068" h="10">
                <a:moveTo>
                  <a:pt x="0" y="5"/>
                </a:moveTo>
                <a:lnTo>
                  <a:pt x="18068" y="5"/>
                </a:lnTo>
              </a:path>
            </a:pathLst>
          </a:custGeom>
          <a:noFill/>
          <a:ln w="6350" cap="flat">
            <a:solidFill>
              <a:srgbClr val="000000"/>
            </a:solidFill>
            <a:prstDash val="solid"/>
            <a:miter lim="1000000"/>
          </a:ln>
        </p:spPr>
        <p:txBody>
          <a:bodyPr rtlCol="0"/>
          <a:lstStyle/>
          <a:p>
            <a:pPr algn="ctr"/>
            <a:endParaRPr lang="zh-CN" altLang="en-US"/>
          </a:p>
        </p:txBody>
      </p:sp>
      <p:sp>
        <p:nvSpPr>
          <p:cNvPr id="180" name="textbox 180"/>
          <p:cNvSpPr/>
          <p:nvPr/>
        </p:nvSpPr>
        <p:spPr>
          <a:xfrm>
            <a:off x="1410342" y="3132029"/>
            <a:ext cx="477519" cy="168910"/>
          </a:xfrm>
          <a:prstGeom prst="rect">
            <a:avLst/>
          </a:prstGeom>
          <a:noFill/>
          <a:ln w="0" cap="flat">
            <a:noFill/>
            <a:prstDash val="solid"/>
            <a:miter lim="0"/>
          </a:ln>
        </p:spPr>
        <p:txBody>
          <a:bodyPr vert="horz" wrap="square" lIns="0" tIns="0" rIns="0" bIns="0"/>
          <a:lstStyle/>
          <a:p>
            <a:pPr algn="l" rtl="0" eaLnBrk="0">
              <a:lnSpc>
                <a:spcPct val="87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78000"/>
              </a:lnSpc>
            </a:pPr>
            <a:r>
              <a:rPr sz="1200" kern="0" spc="-20" dirty="0">
                <a:solidFill>
                  <a:srgbClr val="404040">
                    <a:alpha val="100000"/>
                  </a:srgbClr>
                </a:solidFill>
                <a:latin typeface="Arial" panose="020B0604020202020204" pitchFamily="34" charset="0"/>
                <a:ea typeface="Arial" panose="020B0604020202020204" pitchFamily="34" charset="0"/>
                <a:cs typeface="Arial" panose="020B0604020202020204" pitchFamily="34" charset="0"/>
              </a:rPr>
              <a:t>1595.2</a:t>
            </a:r>
            <a:endParaRPr sz="1200" dirty="0">
              <a:latin typeface="Arial" panose="020B0604020202020204" pitchFamily="34" charset="0"/>
              <a:ea typeface="Arial" panose="020B0604020202020204" pitchFamily="34" charset="0"/>
              <a:cs typeface="Arial" panose="020B0604020202020204" pitchFamily="34" charset="0"/>
            </a:endParaRPr>
          </a:p>
        </p:txBody>
      </p:sp>
      <p:sp>
        <p:nvSpPr>
          <p:cNvPr id="182" name="textbox 182"/>
          <p:cNvSpPr/>
          <p:nvPr/>
        </p:nvSpPr>
        <p:spPr>
          <a:xfrm>
            <a:off x="6907377" y="3270300"/>
            <a:ext cx="254000" cy="168910"/>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85000"/>
              </a:lnSpc>
            </a:pPr>
            <a:r>
              <a:rPr sz="1100" kern="0" spc="-20" dirty="0">
                <a:solidFill>
                  <a:srgbClr val="404040">
                    <a:alpha val="100000"/>
                  </a:srgbClr>
                </a:solidFill>
                <a:latin typeface="Arial" panose="020B0604020202020204" pitchFamily="34" charset="0"/>
                <a:ea typeface="Arial" panose="020B0604020202020204" pitchFamily="34" charset="0"/>
                <a:cs typeface="Arial" panose="020B0604020202020204" pitchFamily="34" charset="0"/>
              </a:rPr>
              <a:t>118</a:t>
            </a:r>
            <a:endParaRPr sz="1100" dirty="0">
              <a:latin typeface="Arial" panose="020B0604020202020204" pitchFamily="34" charset="0"/>
              <a:ea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4"/>
          <p:cNvSpPr/>
          <p:nvPr/>
        </p:nvSpPr>
        <p:spPr>
          <a:xfrm>
            <a:off x="521390" y="983702"/>
            <a:ext cx="10869930" cy="4754245"/>
          </a:xfrm>
          <a:prstGeom prst="rect">
            <a:avLst/>
          </a:prstGeom>
          <a:noFill/>
          <a:ln w="0" cap="flat">
            <a:noFill/>
            <a:prstDash val="solid"/>
            <a:miter lim="0"/>
          </a:ln>
        </p:spPr>
        <p:txBody>
          <a:bodyPr vert="horz" wrap="square" lIns="0" tIns="0" rIns="0" bIns="0"/>
          <a:lstStyle/>
          <a:p>
            <a:pPr algn="l" defTabSz="0"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894715" algn="l" defTabSz="0" rtl="0" eaLnBrk="0">
              <a:lnSpc>
                <a:spcPts val="3685"/>
              </a:lnSpc>
            </a:pPr>
            <a:r>
              <a:rPr sz="2700" b="1" kern="0" spc="310" dirty="0">
                <a:solidFill>
                  <a:srgbClr val="003A63">
                    <a:alpha val="100000"/>
                  </a:srgbClr>
                </a:solidFill>
                <a:latin typeface="微软雅黑" panose="020B0503020204020204" charset="-122"/>
                <a:ea typeface="微软雅黑" panose="020B0503020204020204" charset="-122"/>
                <a:cs typeface="微软雅黑" panose="020B0503020204020204" charset="-122"/>
              </a:rPr>
              <a:t>何为稳定币？ 一个立法框架下</a:t>
            </a:r>
            <a:r>
              <a:rPr sz="2700" b="1" kern="0" spc="300" dirty="0">
                <a:solidFill>
                  <a:srgbClr val="003A63">
                    <a:alpha val="100000"/>
                  </a:srgbClr>
                </a:solidFill>
                <a:latin typeface="微软雅黑" panose="020B0503020204020204" charset="-122"/>
                <a:ea typeface="微软雅黑" panose="020B0503020204020204" charset="-122"/>
                <a:cs typeface="微软雅黑" panose="020B0503020204020204" charset="-122"/>
              </a:rPr>
              <a:t>的解释</a:t>
            </a:r>
            <a:endParaRPr sz="2700" dirty="0">
              <a:latin typeface="微软雅黑" panose="020B0503020204020204" charset="-122"/>
              <a:ea typeface="微软雅黑" panose="020B0503020204020204" charset="-122"/>
              <a:cs typeface="微软雅黑" panose="020B0503020204020204" charset="-122"/>
            </a:endParaRPr>
          </a:p>
          <a:p>
            <a:pPr algn="l" defTabSz="0" rtl="0" eaLnBrk="0">
              <a:lnSpc>
                <a:spcPct val="120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20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20000"/>
              </a:lnSpc>
            </a:pPr>
            <a:endParaRPr sz="1000" dirty="0">
              <a:latin typeface="Arial" panose="020B0604020202020204" pitchFamily="34" charset="0"/>
              <a:ea typeface="Arial" panose="020B0604020202020204" pitchFamily="34" charset="0"/>
              <a:cs typeface="Arial" panose="020B0604020202020204" pitchFamily="34" charset="0"/>
            </a:endParaRPr>
          </a:p>
          <a:p>
            <a:pPr marL="26670" indent="-6985" algn="l" defTabSz="0" rtl="0" eaLnBrk="0">
              <a:lnSpc>
                <a:spcPct val="93000"/>
              </a:lnSpc>
              <a:spcBef>
                <a:spcPts val="635"/>
              </a:spcBef>
            </a:pPr>
            <a:r>
              <a:rPr sz="17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美国《Genius》</a:t>
            </a:r>
            <a:r>
              <a:rPr sz="1700" kern="0" spc="-27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17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法案（S.1582号法</a:t>
            </a:r>
            <a:r>
              <a:rPr sz="17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案）</a:t>
            </a:r>
            <a:r>
              <a:rPr sz="1700" kern="0" spc="-31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17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定义了“</a:t>
            </a:r>
            <a:r>
              <a:rPr sz="1700" kern="0" spc="-25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100" b="1"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支付型稳定币</a:t>
            </a:r>
            <a:r>
              <a:rPr sz="2100" kern="0" spc="-37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17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1700" kern="0" spc="-29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17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支付型稳定币</a:t>
            </a:r>
            <a:r>
              <a:rPr sz="1700" kern="0" spc="-28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17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”是一种用于支付或结算的</a:t>
            </a:r>
            <a:r>
              <a:rPr sz="1700" b="1"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数</a:t>
            </a:r>
            <a:r>
              <a:rPr sz="1700" b="1"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字资产</a:t>
            </a:r>
            <a:r>
              <a:rPr sz="17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，并可按预定</a:t>
            </a:r>
            <a:r>
              <a:rPr sz="1700" b="1"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固定金额（如1</a:t>
            </a:r>
            <a:r>
              <a:rPr sz="1700" b="1" kern="0" spc="-30" dirty="0">
                <a:solidFill>
                  <a:srgbClr val="FF0000">
                    <a:alpha val="100000"/>
                  </a:srgbClr>
                </a:solidFill>
                <a:latin typeface="华文仿宋" panose="02010600040101010101" charset="-122"/>
                <a:ea typeface="华文仿宋" panose="02010600040101010101" charset="-122"/>
                <a:cs typeface="华文仿宋" panose="02010600040101010101" charset="-122"/>
              </a:rPr>
              <a:t>美元）</a:t>
            </a:r>
            <a:r>
              <a:rPr sz="1700" kern="0" spc="-32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1700" b="1" kern="0" spc="-30" dirty="0">
                <a:solidFill>
                  <a:srgbClr val="FF0000">
                    <a:alpha val="100000"/>
                  </a:srgbClr>
                </a:solidFill>
                <a:latin typeface="华文仿宋" panose="02010600040101010101" charset="-122"/>
                <a:ea typeface="华文仿宋" panose="02010600040101010101" charset="-122"/>
                <a:cs typeface="华文仿宋" panose="02010600040101010101" charset="-122"/>
              </a:rPr>
              <a:t>赎回</a:t>
            </a:r>
            <a:r>
              <a:rPr sz="1700" b="1"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endParaRPr sz="1700" dirty="0">
              <a:latin typeface="华文仿宋" panose="02010600040101010101" charset="-122"/>
              <a:ea typeface="华文仿宋" panose="02010600040101010101" charset="-122"/>
              <a:cs typeface="华文仿宋" panose="02010600040101010101" charset="-122"/>
            </a:endParaRPr>
          </a:p>
          <a:p>
            <a:pPr algn="l" defTabSz="0" rtl="0" eaLnBrk="0">
              <a:lnSpc>
                <a:spcPct val="136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36000"/>
              </a:lnSpc>
            </a:pPr>
            <a:endParaRPr sz="1000" dirty="0">
              <a:latin typeface="Arial" panose="020B0604020202020204" pitchFamily="34" charset="0"/>
              <a:ea typeface="Arial" panose="020B0604020202020204" pitchFamily="34" charset="0"/>
              <a:cs typeface="Arial" panose="020B0604020202020204" pitchFamily="34" charset="0"/>
            </a:endParaRPr>
          </a:p>
          <a:p>
            <a:pPr marL="12700" indent="1270" algn="l" defTabSz="0" rtl="0" eaLnBrk="0">
              <a:lnSpc>
                <a:spcPct val="86000"/>
              </a:lnSpc>
              <a:spcBef>
                <a:spcPts val="515"/>
              </a:spcBef>
            </a:pPr>
            <a:r>
              <a:rPr sz="17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香港《稳定币条例草案》</a:t>
            </a:r>
            <a:r>
              <a:rPr sz="1700" kern="0" spc="-33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17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定义稳定币：</a:t>
            </a:r>
            <a:r>
              <a:rPr sz="1700" b="1" kern="0" spc="-10" dirty="0">
                <a:solidFill>
                  <a:srgbClr val="FF0000">
                    <a:alpha val="100000"/>
                  </a:srgbClr>
                </a:solidFill>
                <a:latin typeface="华文仿宋" panose="02010600040101010101" charset="-122"/>
                <a:ea typeface="华文仿宋" panose="02010600040101010101" charset="-122"/>
                <a:cs typeface="华文仿宋" panose="02010600040101010101" charset="-122"/>
              </a:rPr>
              <a:t>参照一种或多种</a:t>
            </a:r>
            <a:r>
              <a:rPr sz="1700" b="1"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官方货币</a:t>
            </a:r>
            <a:r>
              <a:rPr sz="17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1700" kern="0" spc="-25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17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或者参照金融管理专员指明的计算单位或经济价</a:t>
            </a:r>
            <a:r>
              <a:rPr sz="17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值的储存形式，</a:t>
            </a:r>
            <a:r>
              <a:rPr sz="1700" kern="0" spc="-12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17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以</a:t>
            </a:r>
            <a:r>
              <a:rPr sz="1700" b="1"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维持稳定价值的</a:t>
            </a:r>
            <a:r>
              <a:rPr sz="1700" b="1" kern="0" spc="-30" dirty="0">
                <a:solidFill>
                  <a:srgbClr val="FF0000">
                    <a:alpha val="100000"/>
                  </a:srgbClr>
                </a:solidFill>
                <a:latin typeface="华文仿宋" panose="02010600040101010101" charset="-122"/>
                <a:ea typeface="华文仿宋" panose="02010600040101010101" charset="-122"/>
                <a:cs typeface="华文仿宋" panose="02010600040101010101" charset="-122"/>
              </a:rPr>
              <a:t>稳定币</a:t>
            </a:r>
            <a:r>
              <a:rPr sz="1700" b="1"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1700" b="1" kern="0" spc="-30" dirty="0">
                <a:solidFill>
                  <a:srgbClr val="FF0000">
                    <a:alpha val="100000"/>
                  </a:srgbClr>
                </a:solidFill>
                <a:latin typeface="华文仿宋" panose="02010600040101010101" charset="-122"/>
                <a:ea typeface="华文仿宋" panose="02010600040101010101" charset="-122"/>
                <a:cs typeface="华文仿宋" panose="02010600040101010101" charset="-122"/>
              </a:rPr>
              <a:t>可快速赎回</a:t>
            </a:r>
            <a:r>
              <a:rPr sz="1700" b="1"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endParaRPr sz="1700" dirty="0">
              <a:latin typeface="华文仿宋" panose="02010600040101010101" charset="-122"/>
              <a:ea typeface="华文仿宋" panose="02010600040101010101" charset="-122"/>
              <a:cs typeface="华文仿宋" panose="02010600040101010101" charset="-122"/>
            </a:endParaRPr>
          </a:p>
          <a:p>
            <a:pPr algn="l" defTabSz="0" rtl="0" eaLnBrk="0">
              <a:lnSpc>
                <a:spcPct val="132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32000"/>
              </a:lnSpc>
            </a:pPr>
            <a:endParaRPr sz="1000" dirty="0">
              <a:latin typeface="Arial" panose="020B0604020202020204" pitchFamily="34" charset="0"/>
              <a:ea typeface="Arial" panose="020B0604020202020204" pitchFamily="34" charset="0"/>
              <a:cs typeface="Arial" panose="020B0604020202020204" pitchFamily="34" charset="0"/>
            </a:endParaRPr>
          </a:p>
          <a:p>
            <a:pPr marL="13335" indent="4445" algn="l" defTabSz="0" rtl="0" eaLnBrk="0">
              <a:lnSpc>
                <a:spcPct val="99000"/>
              </a:lnSpc>
              <a:spcBef>
                <a:spcPts val="520"/>
              </a:spcBef>
            </a:pPr>
            <a:r>
              <a:rPr sz="17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稳定币：可视为法定货币和数字货币的结合体</a:t>
            </a:r>
            <a:r>
              <a:rPr sz="17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1700" kern="0" spc="-28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17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法定货币链下交易支付媒介，</a:t>
            </a:r>
            <a:r>
              <a:rPr sz="1700" kern="0" spc="-29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17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稳定币的可编程性适合于链上（区块</a:t>
            </a:r>
            <a:r>
              <a:rPr sz="17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链）</a:t>
            </a:r>
            <a:r>
              <a:rPr sz="1700" kern="0" spc="-26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17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交易支付媒介</a:t>
            </a:r>
            <a:r>
              <a:rPr sz="1700" kern="0" spc="-20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17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1700" kern="0" spc="-29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1700" b="1"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稳定币是链上链下交易的桥梁货币，</a:t>
            </a:r>
            <a:r>
              <a:rPr sz="1700" kern="0" spc="-29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1700" b="1"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是适应数字资</a:t>
            </a:r>
            <a:r>
              <a:rPr sz="1700" b="1" kern="0" spc="-30" dirty="0">
                <a:solidFill>
                  <a:srgbClr val="FF0000">
                    <a:alpha val="100000"/>
                  </a:srgbClr>
                </a:solidFill>
                <a:latin typeface="华文仿宋" panose="02010600040101010101" charset="-122"/>
                <a:ea typeface="华文仿宋" panose="02010600040101010101" charset="-122"/>
                <a:cs typeface="华文仿宋" panose="02010600040101010101" charset="-122"/>
              </a:rPr>
              <a:t>产大发展和去中心化交易变革的产物。</a:t>
            </a:r>
            <a:endParaRPr sz="1700" dirty="0">
              <a:latin typeface="华文仿宋" panose="02010600040101010101" charset="-122"/>
              <a:ea typeface="华文仿宋" panose="02010600040101010101" charset="-122"/>
              <a:cs typeface="华文仿宋" panose="02010600040101010101" charset="-122"/>
            </a:endParaRPr>
          </a:p>
          <a:p>
            <a:pPr algn="l" defTabSz="0" rtl="0" eaLnBrk="0">
              <a:lnSpc>
                <a:spcPct val="123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23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07000"/>
              </a:lnSpc>
            </a:pPr>
            <a:endParaRPr sz="400" dirty="0">
              <a:latin typeface="Arial" panose="020B0604020202020204" pitchFamily="34" charset="0"/>
              <a:ea typeface="Arial" panose="020B0604020202020204" pitchFamily="34" charset="0"/>
              <a:cs typeface="Arial" panose="020B0604020202020204" pitchFamily="34" charset="0"/>
            </a:endParaRPr>
          </a:p>
          <a:p>
            <a:pPr marL="14605" indent="3175" algn="l" defTabSz="0" rtl="0" eaLnBrk="0">
              <a:lnSpc>
                <a:spcPct val="96000"/>
              </a:lnSpc>
            </a:pPr>
            <a:r>
              <a:rPr sz="1700" b="1" kern="0" spc="-30" dirty="0">
                <a:solidFill>
                  <a:srgbClr val="FF0000">
                    <a:alpha val="100000"/>
                  </a:srgbClr>
                </a:solidFill>
                <a:latin typeface="华文仿宋" panose="02010600040101010101" charset="-122"/>
                <a:ea typeface="华文仿宋" panose="02010600040101010101" charset="-122"/>
                <a:cs typeface="华文仿宋" panose="02010600040101010101" charset="-122"/>
              </a:rPr>
              <a:t>稳定币并不是完整意义上的法币（信用</a:t>
            </a:r>
            <a:r>
              <a:rPr sz="1700" b="1"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货币）</a:t>
            </a:r>
            <a:r>
              <a:rPr sz="1700" kern="0" spc="-20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1700" b="1"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a:t>
            </a:r>
            <a:r>
              <a:rPr sz="1700" kern="0" spc="-29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1700" b="1" kern="0" spc="-40" dirty="0">
                <a:solidFill>
                  <a:srgbClr val="000000">
                    <a:alpha val="100000"/>
                  </a:srgbClr>
                </a:solidFill>
                <a:latin typeface="华文仿宋" panose="02010600040101010101" charset="-122"/>
                <a:ea typeface="华文仿宋" panose="02010600040101010101" charset="-122"/>
                <a:cs typeface="华文仿宋" panose="02010600040101010101" charset="-122"/>
              </a:rPr>
              <a:t>发行需要监管许可</a:t>
            </a:r>
            <a:r>
              <a:rPr sz="1700" kern="0" spc="-25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1700" b="1" kern="0" spc="-40" dirty="0">
                <a:solidFill>
                  <a:srgbClr val="000000">
                    <a:alpha val="100000"/>
                  </a:srgbClr>
                </a:solidFill>
                <a:latin typeface="华文仿宋" panose="02010600040101010101" charset="-122"/>
                <a:ea typeface="华文仿宋" panose="02010600040101010101" charset="-122"/>
                <a:cs typeface="华文仿宋" panose="02010600040101010101" charset="-122"/>
              </a:rPr>
              <a:t>、</a:t>
            </a:r>
            <a:r>
              <a:rPr sz="1700" kern="0" spc="-28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1700" b="1" kern="0" spc="-40" dirty="0">
                <a:solidFill>
                  <a:srgbClr val="000000">
                    <a:alpha val="100000"/>
                  </a:srgbClr>
                </a:solidFill>
                <a:latin typeface="华文仿宋" panose="02010600040101010101" charset="-122"/>
                <a:ea typeface="华文仿宋" panose="02010600040101010101" charset="-122"/>
                <a:cs typeface="华文仿宋" panose="02010600040101010101" charset="-122"/>
              </a:rPr>
              <a:t>无息</a:t>
            </a:r>
            <a:r>
              <a:rPr sz="1700" kern="0" spc="-25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1700" b="1" kern="0" spc="-40" dirty="0">
                <a:solidFill>
                  <a:srgbClr val="000000">
                    <a:alpha val="100000"/>
                  </a:srgbClr>
                </a:solidFill>
                <a:latin typeface="华文仿宋" panose="02010600040101010101" charset="-122"/>
                <a:ea typeface="华文仿宋" panose="02010600040101010101" charset="-122"/>
                <a:cs typeface="华文仿宋" panose="02010600040101010101" charset="-122"/>
              </a:rPr>
              <a:t>、</a:t>
            </a:r>
            <a:r>
              <a:rPr sz="1700" kern="0" spc="-27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1700" b="1" kern="0" spc="-40" dirty="0">
                <a:solidFill>
                  <a:srgbClr val="000000">
                    <a:alpha val="100000"/>
                  </a:srgbClr>
                </a:solidFill>
                <a:latin typeface="华文仿宋" panose="02010600040101010101" charset="-122"/>
                <a:ea typeface="华文仿宋" panose="02010600040101010101" charset="-122"/>
                <a:cs typeface="华文仿宋" panose="02010600040101010101" charset="-122"/>
              </a:rPr>
              <a:t>不享受存款保险</a:t>
            </a:r>
            <a:r>
              <a:rPr sz="1700" kern="0" spc="-25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1700" b="1" kern="0" spc="-40" dirty="0">
                <a:solidFill>
                  <a:srgbClr val="000000">
                    <a:alpha val="100000"/>
                  </a:srgbClr>
                </a:solidFill>
                <a:latin typeface="华文仿宋" panose="02010600040101010101" charset="-122"/>
                <a:ea typeface="华文仿宋" panose="02010600040101010101" charset="-122"/>
                <a:cs typeface="华文仿宋" panose="02010600040101010101" charset="-122"/>
              </a:rPr>
              <a:t>、</a:t>
            </a:r>
            <a:r>
              <a:rPr sz="1700" kern="0" spc="-28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1700" b="1" kern="0" spc="-40" dirty="0">
                <a:solidFill>
                  <a:srgbClr val="000000">
                    <a:alpha val="100000"/>
                  </a:srgbClr>
                </a:solidFill>
                <a:latin typeface="华文仿宋" panose="02010600040101010101" charset="-122"/>
                <a:ea typeface="华文仿宋" panose="02010600040101010101" charset="-122"/>
                <a:cs typeface="华文仿宋" panose="02010600040101010101" charset="-122"/>
              </a:rPr>
              <a:t>无法绝对承诺1：1兑</a:t>
            </a:r>
            <a:r>
              <a:rPr sz="1700" b="1" kern="0" spc="-20" dirty="0">
                <a:solidFill>
                  <a:srgbClr val="000000">
                    <a:alpha val="100000"/>
                  </a:srgbClr>
                </a:solidFill>
                <a:latin typeface="华文仿宋" panose="02010600040101010101" charset="-122"/>
                <a:ea typeface="华文仿宋" panose="02010600040101010101" charset="-122"/>
                <a:cs typeface="华文仿宋" panose="02010600040101010101" charset="-122"/>
              </a:rPr>
              <a:t>换</a:t>
            </a:r>
            <a:r>
              <a:rPr sz="1700" kern="0" spc="-25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1700" b="1" kern="0" spc="-20" dirty="0">
                <a:solidFill>
                  <a:srgbClr val="000000">
                    <a:alpha val="100000"/>
                  </a:srgbClr>
                </a:solidFill>
                <a:latin typeface="华文仿宋" panose="02010600040101010101" charset="-122"/>
                <a:ea typeface="华文仿宋" panose="02010600040101010101" charset="-122"/>
                <a:cs typeface="华文仿宋" panose="02010600040101010101" charset="-122"/>
              </a:rPr>
              <a:t>、</a:t>
            </a:r>
            <a:r>
              <a:rPr sz="1700" kern="0" spc="-32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1700" b="1" kern="0" spc="-20" dirty="0">
                <a:solidFill>
                  <a:srgbClr val="000000">
                    <a:alpha val="100000"/>
                  </a:srgbClr>
                </a:solidFill>
                <a:latin typeface="华文仿宋" panose="02010600040101010101" charset="-122"/>
                <a:ea typeface="华文仿宋" panose="02010600040101010101" charset="-122"/>
                <a:cs typeface="华文仿宋" panose="02010600040101010101" charset="-122"/>
              </a:rPr>
              <a:t>在发行人破产时有优先索取权等性质</a:t>
            </a:r>
            <a:r>
              <a:rPr sz="1700" kern="0" spc="-20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1700" b="1" kern="0" spc="-20" dirty="0">
                <a:solidFill>
                  <a:srgbClr val="000000">
                    <a:alpha val="100000"/>
                  </a:srgbClr>
                </a:solidFill>
                <a:latin typeface="华文仿宋" panose="02010600040101010101" charset="-122"/>
                <a:ea typeface="华文仿宋" panose="02010600040101010101" charset="-122"/>
                <a:cs typeface="华文仿宋" panose="02010600040101010101" charset="-122"/>
              </a:rPr>
              <a:t>。</a:t>
            </a:r>
            <a:r>
              <a:rPr sz="1700" kern="0" spc="-30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1700" b="1" kern="0" spc="-20" dirty="0">
                <a:solidFill>
                  <a:srgbClr val="000000">
                    <a:alpha val="100000"/>
                  </a:srgbClr>
                </a:solidFill>
                <a:latin typeface="华文仿宋" panose="02010600040101010101" charset="-122"/>
                <a:ea typeface="华文仿宋" panose="02010600040101010101" charset="-122"/>
                <a:cs typeface="华文仿宋" panose="02010600040101010101" charset="-122"/>
              </a:rPr>
              <a:t>稳定币是一</a:t>
            </a:r>
            <a:r>
              <a:rPr sz="1700" b="1" kern="0" spc="-30" dirty="0">
                <a:solidFill>
                  <a:srgbClr val="000000">
                    <a:alpha val="100000"/>
                  </a:srgbClr>
                </a:solidFill>
                <a:latin typeface="华文仿宋" panose="02010600040101010101" charset="-122"/>
                <a:ea typeface="华文仿宋" panose="02010600040101010101" charset="-122"/>
                <a:cs typeface="华文仿宋" panose="02010600040101010101" charset="-122"/>
              </a:rPr>
              <a:t>种中心化（法定货币）</a:t>
            </a:r>
            <a:r>
              <a:rPr sz="1700" kern="0" spc="-29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1700" b="1" kern="0" spc="-30" dirty="0">
                <a:solidFill>
                  <a:srgbClr val="000000">
                    <a:alpha val="100000"/>
                  </a:srgbClr>
                </a:solidFill>
                <a:latin typeface="华文仿宋" panose="02010600040101010101" charset="-122"/>
                <a:ea typeface="华文仿宋" panose="02010600040101010101" charset="-122"/>
                <a:cs typeface="华文仿宋" panose="02010600040101010101" charset="-122"/>
              </a:rPr>
              <a:t>和去中心化交易媒介（能否完全去中</a:t>
            </a:r>
            <a:r>
              <a:rPr sz="1700" b="1" kern="0" spc="-10" dirty="0">
                <a:solidFill>
                  <a:srgbClr val="000000">
                    <a:alpha val="100000"/>
                  </a:srgbClr>
                </a:solidFill>
                <a:latin typeface="华文仿宋" panose="02010600040101010101" charset="-122"/>
                <a:ea typeface="华文仿宋" panose="02010600040101010101" charset="-122"/>
                <a:cs typeface="华文仿宋" panose="02010600040101010101" charset="-122"/>
              </a:rPr>
              <a:t>心化要取决于区块链上的运用场景）</a:t>
            </a:r>
            <a:r>
              <a:rPr sz="1700" kern="0" spc="-31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1700" b="1" kern="0" spc="-10" dirty="0">
                <a:solidFill>
                  <a:srgbClr val="000000">
                    <a:alpha val="100000"/>
                  </a:srgbClr>
                </a:solidFill>
                <a:latin typeface="华文仿宋" panose="02010600040101010101" charset="-122"/>
                <a:ea typeface="华文仿宋" panose="02010600040101010101" charset="-122"/>
                <a:cs typeface="华文仿宋" panose="02010600040101010101" charset="-122"/>
              </a:rPr>
              <a:t>之间转换的</a:t>
            </a:r>
            <a:r>
              <a:rPr sz="1700" b="1" kern="0" spc="-20" dirty="0">
                <a:solidFill>
                  <a:srgbClr val="000000">
                    <a:alpha val="100000"/>
                  </a:srgbClr>
                </a:solidFill>
                <a:latin typeface="华文仿宋" panose="02010600040101010101" charset="-122"/>
                <a:ea typeface="华文仿宋" panose="02010600040101010101" charset="-122"/>
                <a:cs typeface="华文仿宋" panose="02010600040101010101" charset="-122"/>
              </a:rPr>
              <a:t>数字金融工具，</a:t>
            </a:r>
            <a:r>
              <a:rPr sz="1700" kern="0" spc="-29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1700" b="1"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是一种以面值承诺为核心的私人信用工具。</a:t>
            </a:r>
            <a:endParaRPr sz="1700" dirty="0">
              <a:latin typeface="华文仿宋" panose="02010600040101010101" charset="-122"/>
              <a:ea typeface="华文仿宋" panose="02010600040101010101" charset="-122"/>
              <a:cs typeface="华文仿宋" panose="02010600040101010101" charset="-122"/>
            </a:endParaRPr>
          </a:p>
        </p:txBody>
      </p:sp>
      <p:sp>
        <p:nvSpPr>
          <p:cNvPr id="36" name="rect 36"/>
          <p:cNvSpPr/>
          <p:nvPr/>
        </p:nvSpPr>
        <p:spPr>
          <a:xfrm>
            <a:off x="0" y="6556247"/>
            <a:ext cx="12192000" cy="301752"/>
          </a:xfrm>
          <a:prstGeom prst="rect">
            <a:avLst/>
          </a:prstGeom>
          <a:solidFill>
            <a:srgbClr val="AE0B2A">
              <a:alpha val="100000"/>
            </a:srgbClr>
          </a:solidFill>
          <a:ln w="0" cap="flat">
            <a:noFill/>
            <a:prstDash val="solid"/>
            <a:miter lim="0"/>
          </a:ln>
        </p:spPr>
        <p:txBody>
          <a:bodyPr rtlCol="0"/>
          <a:lstStyle/>
          <a:p>
            <a:pPr algn="ctr"/>
            <a:endParaRPr lang="zh-CN" altLang="en-US"/>
          </a:p>
        </p:txBody>
      </p:sp>
      <p:pic>
        <p:nvPicPr>
          <p:cNvPr id="40" name="picture 40"/>
          <p:cNvPicPr>
            <a:picLocks noChangeAspect="1"/>
          </p:cNvPicPr>
          <p:nvPr/>
        </p:nvPicPr>
        <p:blipFill>
          <a:blip r:embed="rId1"/>
          <a:stretch>
            <a:fillRect/>
          </a:stretch>
        </p:blipFill>
        <p:spPr>
          <a:xfrm rot="21600000">
            <a:off x="2752725" y="451954"/>
            <a:ext cx="9439275" cy="19050"/>
          </a:xfrm>
          <a:prstGeom prst="rect">
            <a:avLst/>
          </a:prstGeom>
        </p:spPr>
      </p:pic>
      <p:pic>
        <p:nvPicPr>
          <p:cNvPr id="44" name="picture 44"/>
          <p:cNvPicPr>
            <a:picLocks noChangeAspect="1"/>
          </p:cNvPicPr>
          <p:nvPr/>
        </p:nvPicPr>
        <p:blipFill>
          <a:blip r:embed="rId2"/>
          <a:stretch>
            <a:fillRect/>
          </a:stretch>
        </p:blipFill>
        <p:spPr>
          <a:xfrm rot="21600000">
            <a:off x="6083300" y="6781800"/>
            <a:ext cx="25400" cy="254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4"/>
          <p:cNvSpPr/>
          <p:nvPr/>
        </p:nvSpPr>
        <p:spPr>
          <a:xfrm>
            <a:off x="521390" y="983702"/>
            <a:ext cx="10869930" cy="4754245"/>
          </a:xfrm>
          <a:prstGeom prst="rect">
            <a:avLst/>
          </a:prstGeom>
          <a:noFill/>
          <a:ln w="0" cap="flat">
            <a:noFill/>
            <a:prstDash val="solid"/>
            <a:miter lim="0"/>
          </a:ln>
        </p:spPr>
        <p:txBody>
          <a:bodyPr vert="horz" wrap="square" lIns="0" tIns="0" rIns="0" bIns="0"/>
          <a:lstStyle/>
          <a:p>
            <a:pPr algn="l" defTabSz="0"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894715" algn="l" defTabSz="0" rtl="0" eaLnBrk="0">
              <a:lnSpc>
                <a:spcPts val="3685"/>
              </a:lnSpc>
            </a:pPr>
            <a:r>
              <a:rPr sz="2700" b="1" kern="0" spc="310" dirty="0">
                <a:solidFill>
                  <a:srgbClr val="003A63">
                    <a:alpha val="100000"/>
                  </a:srgbClr>
                </a:solidFill>
                <a:latin typeface="微软雅黑" panose="020B0503020204020204" charset="-122"/>
                <a:ea typeface="微软雅黑" panose="020B0503020204020204" charset="-122"/>
                <a:cs typeface="微软雅黑" panose="020B0503020204020204" charset="-122"/>
              </a:rPr>
              <a:t>何为稳定币？ </a:t>
            </a:r>
            <a:endParaRPr sz="2700" b="1" kern="0" spc="310" dirty="0">
              <a:solidFill>
                <a:srgbClr val="003A63">
                  <a:alpha val="100000"/>
                </a:srgbClr>
              </a:solidFill>
              <a:latin typeface="微软雅黑" panose="020B0503020204020204" charset="-122"/>
              <a:ea typeface="微软雅黑" panose="020B0503020204020204" charset="-122"/>
              <a:cs typeface="微软雅黑" panose="020B0503020204020204" charset="-122"/>
            </a:endParaRPr>
          </a:p>
          <a:p>
            <a:pPr marL="894715" algn="l" defTabSz="0" rtl="0" eaLnBrk="0">
              <a:lnSpc>
                <a:spcPts val="3685"/>
              </a:lnSpc>
            </a:pPr>
            <a:r>
              <a:rPr lang="zh-CN" sz="2700" b="1" kern="0" spc="310" dirty="0">
                <a:solidFill>
                  <a:srgbClr val="003A63">
                    <a:alpha val="100000"/>
                  </a:srgbClr>
                </a:solidFill>
                <a:latin typeface="微软雅黑" panose="020B0503020204020204" charset="-122"/>
                <a:ea typeface="微软雅黑" panose="020B0503020204020204" charset="-122"/>
                <a:cs typeface="微软雅黑" panose="020B0503020204020204" charset="-122"/>
              </a:rPr>
              <a:t>有几个问题值得关注</a:t>
            </a:r>
            <a:endParaRPr lang="zh-CN" sz="2700" b="1" kern="0" spc="310" dirty="0">
              <a:solidFill>
                <a:srgbClr val="003A63">
                  <a:alpha val="100000"/>
                </a:srgbClr>
              </a:solidFill>
              <a:latin typeface="微软雅黑" panose="020B0503020204020204" charset="-122"/>
              <a:ea typeface="微软雅黑" panose="020B0503020204020204" charset="-122"/>
              <a:cs typeface="微软雅黑" panose="020B0503020204020204" charset="-122"/>
            </a:endParaRPr>
          </a:p>
          <a:p>
            <a:pPr marL="894715" algn="l" defTabSz="0" rtl="0" eaLnBrk="0">
              <a:lnSpc>
                <a:spcPts val="3685"/>
              </a:lnSpc>
            </a:pPr>
            <a:endParaRPr sz="2700" b="1" kern="0" spc="310" dirty="0">
              <a:solidFill>
                <a:srgbClr val="003A63">
                  <a:alpha val="100000"/>
                </a:srgbClr>
              </a:solidFill>
              <a:latin typeface="微软雅黑" panose="020B0503020204020204" charset="-122"/>
              <a:ea typeface="微软雅黑" panose="020B0503020204020204" charset="-122"/>
              <a:cs typeface="微软雅黑" panose="020B0503020204020204" charset="-122"/>
            </a:endParaRPr>
          </a:p>
          <a:p>
            <a:pPr marL="894715" algn="l" defTabSz="0" rtl="0" eaLnBrk="0">
              <a:lnSpc>
                <a:spcPts val="3685"/>
              </a:lnSpc>
            </a:pPr>
            <a:r>
              <a:rPr lang="zh-CN" altLang="en-US" dirty="0">
                <a:latin typeface="微软雅黑" panose="020B0503020204020204" charset="-122"/>
                <a:ea typeface="微软雅黑" panose="020B0503020204020204" charset="-122"/>
                <a:cs typeface="微软雅黑" panose="020B0503020204020204" charset="-122"/>
              </a:rPr>
              <a:t>（一）数字技术提升支付结算效率，但没有去中心化</a:t>
            </a:r>
            <a:endParaRPr lang="zh-CN" altLang="en-US" dirty="0">
              <a:latin typeface="微软雅黑" panose="020B0503020204020204" charset="-122"/>
              <a:ea typeface="微软雅黑" panose="020B0503020204020204" charset="-122"/>
              <a:cs typeface="微软雅黑" panose="020B0503020204020204" charset="-122"/>
            </a:endParaRPr>
          </a:p>
          <a:p>
            <a:pPr marL="894715" algn="l" defTabSz="0" rtl="0" eaLnBrk="0">
              <a:lnSpc>
                <a:spcPts val="3685"/>
              </a:lnSpc>
            </a:pPr>
            <a:r>
              <a:rPr lang="zh-CN" altLang="en-US" dirty="0">
                <a:latin typeface="微软雅黑" panose="020B0503020204020204" charset="-122"/>
                <a:ea typeface="微软雅黑" panose="020B0503020204020204" charset="-122"/>
                <a:cs typeface="微软雅黑" panose="020B0503020204020204" charset="-122"/>
              </a:rPr>
              <a:t>理论上讲，稳定币运行在区块链的分布式账本上，具有去中心化属性。同时，稳定币可嵌入智能合约，支持去中心化金融（</a:t>
            </a:r>
            <a:r>
              <a:rPr lang="en-US" altLang="zh-CN" dirty="0">
                <a:latin typeface="微软雅黑" panose="020B0503020204020204" charset="-122"/>
                <a:ea typeface="微软雅黑" panose="020B0503020204020204" charset="-122"/>
                <a:cs typeface="微软雅黑" panose="020B0503020204020204" charset="-122"/>
              </a:rPr>
              <a:t>DeFi）</a:t>
            </a:r>
            <a:r>
              <a:rPr lang="zh-CN" altLang="en-US" dirty="0">
                <a:latin typeface="微软雅黑" panose="020B0503020204020204" charset="-122"/>
                <a:ea typeface="微软雅黑" panose="020B0503020204020204" charset="-122"/>
                <a:cs typeface="微软雅黑" panose="020B0503020204020204" charset="-122"/>
              </a:rPr>
              <a:t>中的借贷、交易等应用，无需传统金融中介即可自动执行，实现快速低成本结算。但现实中，稳定币的去中心化特性存在一定限制，</a:t>
            </a:r>
            <a:r>
              <a:rPr lang="zh-CN" altLang="en-US" b="1" dirty="0">
                <a:latin typeface="微软雅黑" panose="020B0503020204020204" charset="-122"/>
                <a:ea typeface="微软雅黑" panose="020B0503020204020204" charset="-122"/>
                <a:cs typeface="微软雅黑" panose="020B0503020204020204" charset="-122"/>
              </a:rPr>
              <a:t>比如</a:t>
            </a:r>
            <a:r>
              <a:rPr lang="en-US" altLang="zh-CN" b="1" dirty="0">
                <a:latin typeface="微软雅黑" panose="020B0503020204020204" charset="-122"/>
                <a:ea typeface="微软雅黑" panose="020B0503020204020204" charset="-122"/>
                <a:cs typeface="微软雅黑" panose="020B0503020204020204" charset="-122"/>
              </a:rPr>
              <a:t>USDT、USDC</a:t>
            </a:r>
            <a:r>
              <a:rPr lang="zh-CN" altLang="en-US" b="1" dirty="0">
                <a:latin typeface="微软雅黑" panose="020B0503020204020204" charset="-122"/>
                <a:ea typeface="微软雅黑" panose="020B0503020204020204" charset="-122"/>
                <a:cs typeface="微软雅黑" panose="020B0503020204020204" charset="-122"/>
              </a:rPr>
              <a:t>的发行公司掌握稳定币的发行、赎回的控制权和对储备资金的管理权</a:t>
            </a:r>
            <a:r>
              <a:rPr lang="zh-CN" altLang="en-US" dirty="0">
                <a:latin typeface="微软雅黑" panose="020B0503020204020204" charset="-122"/>
                <a:ea typeface="微软雅黑" panose="020B0503020204020204" charset="-122"/>
                <a:cs typeface="微软雅黑" panose="020B0503020204020204" charset="-122"/>
              </a:rPr>
              <a:t>，反而呈现一定的中心化特征。</a:t>
            </a:r>
            <a:endParaRPr lang="zh-CN" altLang="en-US" dirty="0">
              <a:latin typeface="微软雅黑" panose="020B0503020204020204" charset="-122"/>
              <a:ea typeface="微软雅黑" panose="020B0503020204020204" charset="-122"/>
              <a:cs typeface="微软雅黑" panose="020B0503020204020204" charset="-122"/>
            </a:endParaRPr>
          </a:p>
          <a:p>
            <a:pPr algn="l" defTabSz="0" rtl="0" eaLnBrk="0">
              <a:lnSpc>
                <a:spcPct val="120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20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20000"/>
              </a:lnSpc>
            </a:pPr>
            <a:endParaRPr sz="1000" dirty="0">
              <a:latin typeface="Arial" panose="020B0604020202020204" pitchFamily="34" charset="0"/>
              <a:ea typeface="Arial" panose="020B0604020202020204" pitchFamily="34" charset="0"/>
              <a:cs typeface="Arial" panose="020B0604020202020204" pitchFamily="34" charset="0"/>
            </a:endParaRPr>
          </a:p>
          <a:p>
            <a:pPr marL="26670" indent="-6985" algn="l" defTabSz="0" rtl="0" eaLnBrk="0">
              <a:lnSpc>
                <a:spcPct val="93000"/>
              </a:lnSpc>
              <a:spcBef>
                <a:spcPts val="635"/>
              </a:spcBef>
            </a:pPr>
            <a:endParaRPr sz="1700" dirty="0">
              <a:latin typeface="华文仿宋" panose="02010600040101010101" charset="-122"/>
              <a:ea typeface="华文仿宋" panose="02010600040101010101" charset="-122"/>
              <a:cs typeface="华文仿宋" panose="02010600040101010101" charset="-122"/>
            </a:endParaRPr>
          </a:p>
        </p:txBody>
      </p:sp>
      <p:sp>
        <p:nvSpPr>
          <p:cNvPr id="36" name="rect 36"/>
          <p:cNvSpPr/>
          <p:nvPr/>
        </p:nvSpPr>
        <p:spPr>
          <a:xfrm>
            <a:off x="0" y="6556247"/>
            <a:ext cx="12192000" cy="301752"/>
          </a:xfrm>
          <a:prstGeom prst="rect">
            <a:avLst/>
          </a:prstGeom>
          <a:solidFill>
            <a:srgbClr val="AE0B2A">
              <a:alpha val="100000"/>
            </a:srgbClr>
          </a:solidFill>
          <a:ln w="0" cap="flat">
            <a:noFill/>
            <a:prstDash val="solid"/>
            <a:miter lim="0"/>
          </a:ln>
        </p:spPr>
        <p:txBody>
          <a:bodyPr rtlCol="0"/>
          <a:lstStyle/>
          <a:p>
            <a:pPr algn="ctr"/>
            <a:endParaRPr lang="zh-CN" altLang="en-US"/>
          </a:p>
        </p:txBody>
      </p:sp>
      <p:pic>
        <p:nvPicPr>
          <p:cNvPr id="40" name="picture 40"/>
          <p:cNvPicPr>
            <a:picLocks noChangeAspect="1"/>
          </p:cNvPicPr>
          <p:nvPr/>
        </p:nvPicPr>
        <p:blipFill>
          <a:blip r:embed="rId1"/>
          <a:stretch>
            <a:fillRect/>
          </a:stretch>
        </p:blipFill>
        <p:spPr>
          <a:xfrm rot="21600000">
            <a:off x="2752725" y="451954"/>
            <a:ext cx="9439275" cy="19050"/>
          </a:xfrm>
          <a:prstGeom prst="rect">
            <a:avLst/>
          </a:prstGeom>
        </p:spPr>
      </p:pic>
      <p:pic>
        <p:nvPicPr>
          <p:cNvPr id="44" name="picture 44"/>
          <p:cNvPicPr>
            <a:picLocks noChangeAspect="1"/>
          </p:cNvPicPr>
          <p:nvPr/>
        </p:nvPicPr>
        <p:blipFill>
          <a:blip r:embed="rId2"/>
          <a:stretch>
            <a:fillRect/>
          </a:stretch>
        </p:blipFill>
        <p:spPr>
          <a:xfrm rot="21600000">
            <a:off x="6083300" y="6781800"/>
            <a:ext cx="25400" cy="254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4"/>
          <p:cNvSpPr/>
          <p:nvPr/>
        </p:nvSpPr>
        <p:spPr>
          <a:xfrm>
            <a:off x="521390" y="983702"/>
            <a:ext cx="10869930" cy="4754245"/>
          </a:xfrm>
          <a:prstGeom prst="rect">
            <a:avLst/>
          </a:prstGeom>
          <a:noFill/>
          <a:ln w="0" cap="flat">
            <a:noFill/>
            <a:prstDash val="solid"/>
            <a:miter lim="0"/>
          </a:ln>
        </p:spPr>
        <p:txBody>
          <a:bodyPr vert="horz" wrap="square" lIns="0" tIns="0" rIns="0" bIns="0"/>
          <a:lstStyle/>
          <a:p>
            <a:pPr algn="l" defTabSz="0"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894715" algn="l" defTabSz="0" rtl="0" eaLnBrk="0">
              <a:lnSpc>
                <a:spcPts val="3685"/>
              </a:lnSpc>
            </a:pPr>
            <a:r>
              <a:rPr sz="2700" b="1" kern="0" spc="310" dirty="0">
                <a:solidFill>
                  <a:srgbClr val="003A63">
                    <a:alpha val="100000"/>
                  </a:srgbClr>
                </a:solidFill>
                <a:latin typeface="微软雅黑" panose="020B0503020204020204" charset="-122"/>
                <a:ea typeface="微软雅黑" panose="020B0503020204020204" charset="-122"/>
                <a:cs typeface="微软雅黑" panose="020B0503020204020204" charset="-122"/>
              </a:rPr>
              <a:t>何为稳定币？ </a:t>
            </a:r>
            <a:endParaRPr sz="2700" b="1" kern="0" spc="310" dirty="0">
              <a:solidFill>
                <a:srgbClr val="003A63">
                  <a:alpha val="100000"/>
                </a:srgbClr>
              </a:solidFill>
              <a:latin typeface="微软雅黑" panose="020B0503020204020204" charset="-122"/>
              <a:ea typeface="微软雅黑" panose="020B0503020204020204" charset="-122"/>
              <a:cs typeface="微软雅黑" panose="020B0503020204020204" charset="-122"/>
            </a:endParaRPr>
          </a:p>
          <a:p>
            <a:pPr marL="894715" algn="l" defTabSz="0" rtl="0" eaLnBrk="0">
              <a:lnSpc>
                <a:spcPts val="3685"/>
              </a:lnSpc>
            </a:pPr>
            <a:r>
              <a:rPr lang="zh-CN" sz="2700" b="1" kern="0" spc="310" dirty="0">
                <a:solidFill>
                  <a:srgbClr val="003A63">
                    <a:alpha val="100000"/>
                  </a:srgbClr>
                </a:solidFill>
                <a:latin typeface="微软雅黑" panose="020B0503020204020204" charset="-122"/>
                <a:ea typeface="微软雅黑" panose="020B0503020204020204" charset="-122"/>
                <a:cs typeface="微软雅黑" panose="020B0503020204020204" charset="-122"/>
              </a:rPr>
              <a:t>有几个问题值得关注</a:t>
            </a:r>
            <a:endParaRPr lang="zh-CN" sz="2700" b="1" kern="0" spc="310" dirty="0">
              <a:solidFill>
                <a:srgbClr val="003A63">
                  <a:alpha val="100000"/>
                </a:srgbClr>
              </a:solidFill>
              <a:latin typeface="微软雅黑" panose="020B0503020204020204" charset="-122"/>
              <a:ea typeface="微软雅黑" panose="020B0503020204020204" charset="-122"/>
              <a:cs typeface="微软雅黑" panose="020B0503020204020204" charset="-122"/>
            </a:endParaRPr>
          </a:p>
          <a:p>
            <a:pPr marL="894715" algn="l" defTabSz="0" rtl="0" eaLnBrk="0">
              <a:lnSpc>
                <a:spcPts val="3685"/>
              </a:lnSpc>
            </a:pPr>
            <a:r>
              <a:rPr lang="zh-CN" altLang="en-US" kern="0" spc="310" dirty="0">
                <a:solidFill>
                  <a:schemeClr val="tx1">
                    <a:alpha val="100000"/>
                  </a:schemeClr>
                </a:solidFill>
                <a:latin typeface="微软雅黑" panose="020B0503020204020204" charset="-122"/>
                <a:ea typeface="微软雅黑" panose="020B0503020204020204" charset="-122"/>
                <a:cs typeface="微软雅黑" panose="020B0503020204020204" charset="-122"/>
              </a:rPr>
              <a:t>（二）从发行人角度看，稳定币模式类似“狭义银行”，不仅是负债</a:t>
            </a:r>
            <a:endParaRPr lang="zh-CN" altLang="en-US" kern="0" spc="310" dirty="0">
              <a:solidFill>
                <a:schemeClr val="tx1">
                  <a:alpha val="100000"/>
                </a:schemeClr>
              </a:solidFill>
              <a:latin typeface="微软雅黑" panose="020B0503020204020204" charset="-122"/>
              <a:ea typeface="微软雅黑" panose="020B0503020204020204" charset="-122"/>
              <a:cs typeface="微软雅黑" panose="020B0503020204020204" charset="-122"/>
            </a:endParaRPr>
          </a:p>
          <a:p>
            <a:pPr marL="894715" algn="l" defTabSz="0" rtl="0" eaLnBrk="0">
              <a:lnSpc>
                <a:spcPts val="3685"/>
              </a:lnSpc>
            </a:pPr>
            <a:r>
              <a:rPr lang="zh-CN" altLang="en-US" kern="0" spc="310" dirty="0">
                <a:solidFill>
                  <a:schemeClr val="tx1">
                    <a:alpha val="100000"/>
                  </a:schemeClr>
                </a:solidFill>
                <a:latin typeface="微软雅黑" panose="020B0503020204020204" charset="-122"/>
                <a:ea typeface="微软雅黑" panose="020B0503020204020204" charset="-122"/>
                <a:cs typeface="微软雅黑" panose="020B0503020204020204" charset="-122"/>
              </a:rPr>
              <a:t>稳定币的运营类似狭义银行（</a:t>
            </a:r>
            <a:r>
              <a:rPr lang="en-US" altLang="zh-CN" kern="0" spc="310" dirty="0">
                <a:solidFill>
                  <a:schemeClr val="tx1">
                    <a:alpha val="100000"/>
                  </a:schemeClr>
                </a:solidFill>
                <a:latin typeface="微软雅黑" panose="020B0503020204020204" charset="-122"/>
                <a:ea typeface="微软雅黑" panose="020B0503020204020204" charset="-122"/>
                <a:cs typeface="微软雅黑" panose="020B0503020204020204" charset="-122"/>
              </a:rPr>
              <a:t>narrow banking）</a:t>
            </a:r>
            <a:r>
              <a:rPr lang="zh-CN" altLang="en-US" kern="0" spc="310" dirty="0">
                <a:solidFill>
                  <a:schemeClr val="tx1">
                    <a:alpha val="100000"/>
                  </a:schemeClr>
                </a:solidFill>
                <a:latin typeface="微软雅黑" panose="020B0503020204020204" charset="-122"/>
                <a:ea typeface="微软雅黑" panose="020B0503020204020204" charset="-122"/>
                <a:cs typeface="微软雅黑" panose="020B0503020204020204" charset="-122"/>
              </a:rPr>
              <a:t>模式。相较之下，稳定币则类似狭义银行的概念，其</a:t>
            </a:r>
            <a:r>
              <a:rPr lang="zh-CN" altLang="en-US" b="1" kern="0" spc="310" dirty="0">
                <a:solidFill>
                  <a:schemeClr val="tx1">
                    <a:alpha val="100000"/>
                  </a:schemeClr>
                </a:solidFill>
                <a:latin typeface="微软雅黑" panose="020B0503020204020204" charset="-122"/>
                <a:ea typeface="微软雅黑" panose="020B0503020204020204" charset="-122"/>
                <a:cs typeface="微软雅黑" panose="020B0503020204020204" charset="-122"/>
              </a:rPr>
              <a:t>核心是严格限制业务范围，仅允许持有低风险、高流动性资产</a:t>
            </a:r>
            <a:r>
              <a:rPr lang="zh-CN" altLang="en-US" kern="0" spc="310" dirty="0">
                <a:solidFill>
                  <a:schemeClr val="tx1">
                    <a:alpha val="100000"/>
                  </a:schemeClr>
                </a:solidFill>
                <a:latin typeface="微软雅黑" panose="020B0503020204020204" charset="-122"/>
                <a:ea typeface="微软雅黑" panose="020B0503020204020204" charset="-122"/>
                <a:cs typeface="微软雅黑" panose="020B0503020204020204" charset="-122"/>
              </a:rPr>
              <a:t>，如现金、短期国债。通过维持足量甚至超额的资产，维护其对存款的兑换保证，避免因期限错配、信用风险或过度投机引发危机。在此模式下，货币创造与信贷投放功能分离：在以“芝加哥计划”为代表的部分理论设想中，狭义银行仅作为“货币仓库”，负责安全保管存款并提供支付服务；而企业贷款等信贷投放则由其他非银行金融机构</a:t>
            </a:r>
            <a:endParaRPr lang="zh-CN" altLang="en-US" kern="0" spc="310" dirty="0">
              <a:solidFill>
                <a:schemeClr val="tx1">
                  <a:alpha val="100000"/>
                </a:schemeClr>
              </a:solidFill>
              <a:latin typeface="微软雅黑" panose="020B0503020204020204" charset="-122"/>
              <a:ea typeface="微软雅黑" panose="020B0503020204020204" charset="-122"/>
              <a:cs typeface="微软雅黑" panose="020B0503020204020204" charset="-122"/>
            </a:endParaRPr>
          </a:p>
          <a:p>
            <a:pPr marL="894715" algn="l" defTabSz="0" rtl="0" eaLnBrk="0">
              <a:lnSpc>
                <a:spcPts val="3685"/>
              </a:lnSpc>
            </a:pPr>
            <a:r>
              <a:rPr lang="zh-CN" altLang="en-US" kern="0" spc="310" dirty="0">
                <a:solidFill>
                  <a:schemeClr val="tx1">
                    <a:alpha val="100000"/>
                  </a:schemeClr>
                </a:solidFill>
                <a:latin typeface="微软雅黑" panose="020B0503020204020204" charset="-122"/>
                <a:ea typeface="微软雅黑" panose="020B0503020204020204" charset="-122"/>
                <a:cs typeface="微软雅黑" panose="020B0503020204020204" charset="-122"/>
              </a:rPr>
              <a:t>（如专业贷款机构）完成，两者在法律和财务上严格隔离。</a:t>
            </a:r>
            <a:endParaRPr lang="zh-CN" altLang="en-US" kern="0" spc="310" dirty="0">
              <a:solidFill>
                <a:schemeClr val="tx1">
                  <a:alpha val="100000"/>
                </a:schemeClr>
              </a:solidFill>
              <a:latin typeface="微软雅黑" panose="020B0503020204020204" charset="-122"/>
              <a:ea typeface="微软雅黑" panose="020B0503020204020204" charset="-122"/>
              <a:cs typeface="微软雅黑" panose="020B0503020204020204" charset="-122"/>
            </a:endParaRPr>
          </a:p>
          <a:p>
            <a:pPr algn="l" defTabSz="0" rtl="0" eaLnBrk="0">
              <a:lnSpc>
                <a:spcPct val="120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20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20000"/>
              </a:lnSpc>
            </a:pPr>
            <a:endParaRPr sz="1000" dirty="0">
              <a:latin typeface="Arial" panose="020B0604020202020204" pitchFamily="34" charset="0"/>
              <a:ea typeface="Arial" panose="020B0604020202020204" pitchFamily="34" charset="0"/>
              <a:cs typeface="Arial" panose="020B0604020202020204" pitchFamily="34" charset="0"/>
            </a:endParaRPr>
          </a:p>
          <a:p>
            <a:pPr marL="26670" indent="-6985" algn="l" defTabSz="0" rtl="0" eaLnBrk="0">
              <a:lnSpc>
                <a:spcPct val="93000"/>
              </a:lnSpc>
              <a:spcBef>
                <a:spcPts val="635"/>
              </a:spcBef>
            </a:pPr>
            <a:endParaRPr sz="1700" dirty="0">
              <a:latin typeface="华文仿宋" panose="02010600040101010101" charset="-122"/>
              <a:ea typeface="华文仿宋" panose="02010600040101010101" charset="-122"/>
              <a:cs typeface="华文仿宋" panose="02010600040101010101" charset="-122"/>
            </a:endParaRPr>
          </a:p>
        </p:txBody>
      </p:sp>
      <p:sp>
        <p:nvSpPr>
          <p:cNvPr id="36" name="rect 36"/>
          <p:cNvSpPr/>
          <p:nvPr/>
        </p:nvSpPr>
        <p:spPr>
          <a:xfrm>
            <a:off x="0" y="6556247"/>
            <a:ext cx="12192000" cy="301752"/>
          </a:xfrm>
          <a:prstGeom prst="rect">
            <a:avLst/>
          </a:prstGeom>
          <a:solidFill>
            <a:srgbClr val="AE0B2A">
              <a:alpha val="100000"/>
            </a:srgbClr>
          </a:solidFill>
          <a:ln w="0" cap="flat">
            <a:noFill/>
            <a:prstDash val="solid"/>
            <a:miter lim="0"/>
          </a:ln>
        </p:spPr>
        <p:txBody>
          <a:bodyPr rtlCol="0"/>
          <a:lstStyle/>
          <a:p>
            <a:pPr algn="ctr"/>
            <a:endParaRPr lang="zh-CN" altLang="en-US"/>
          </a:p>
        </p:txBody>
      </p:sp>
      <p:pic>
        <p:nvPicPr>
          <p:cNvPr id="40" name="picture 40"/>
          <p:cNvPicPr>
            <a:picLocks noChangeAspect="1"/>
          </p:cNvPicPr>
          <p:nvPr/>
        </p:nvPicPr>
        <p:blipFill>
          <a:blip r:embed="rId1"/>
          <a:stretch>
            <a:fillRect/>
          </a:stretch>
        </p:blipFill>
        <p:spPr>
          <a:xfrm rot="21600000">
            <a:off x="2752725" y="451954"/>
            <a:ext cx="9439275" cy="19050"/>
          </a:xfrm>
          <a:prstGeom prst="rect">
            <a:avLst/>
          </a:prstGeom>
        </p:spPr>
      </p:pic>
      <p:pic>
        <p:nvPicPr>
          <p:cNvPr id="44" name="picture 44"/>
          <p:cNvPicPr>
            <a:picLocks noChangeAspect="1"/>
          </p:cNvPicPr>
          <p:nvPr/>
        </p:nvPicPr>
        <p:blipFill>
          <a:blip r:embed="rId2"/>
          <a:stretch>
            <a:fillRect/>
          </a:stretch>
        </p:blipFill>
        <p:spPr>
          <a:xfrm rot="21600000">
            <a:off x="6083300" y="6781800"/>
            <a:ext cx="25400" cy="254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46"/>
          <p:cNvSpPr/>
          <p:nvPr/>
        </p:nvSpPr>
        <p:spPr>
          <a:xfrm>
            <a:off x="933263" y="983702"/>
            <a:ext cx="10897869" cy="5260340"/>
          </a:xfrm>
          <a:prstGeom prst="rect">
            <a:avLst/>
          </a:prstGeom>
          <a:noFill/>
          <a:ln w="0" cap="flat">
            <a:noFill/>
            <a:prstDash val="solid"/>
            <a:miter lim="0"/>
          </a:ln>
        </p:spPr>
        <p:txBody>
          <a:bodyPr vert="horz" wrap="square" lIns="0" tIns="0" rIns="0" bIns="0"/>
          <a:lstStyle/>
          <a:p>
            <a:pPr algn="l" defTabSz="0" rtl="0" eaLnBrk="0">
              <a:lnSpc>
                <a:spcPct val="83000"/>
              </a:lnSpc>
            </a:pPr>
            <a:r>
              <a:rPr sz="2700" b="1" kern="0" spc="310" dirty="0">
                <a:solidFill>
                  <a:srgbClr val="003A63">
                    <a:alpha val="100000"/>
                  </a:srgbClr>
                </a:solidFill>
                <a:latin typeface="微软雅黑" panose="020B0503020204020204" charset="-122"/>
                <a:ea typeface="微软雅黑" panose="020B0503020204020204" charset="-122"/>
                <a:cs typeface="微软雅黑" panose="020B0503020204020204" charset="-122"/>
              </a:rPr>
              <a:t>何为稳定币？ 一个立法框架下</a:t>
            </a:r>
            <a:r>
              <a:rPr sz="2700" b="1" kern="0" spc="300" dirty="0">
                <a:solidFill>
                  <a:srgbClr val="003A63">
                    <a:alpha val="100000"/>
                  </a:srgbClr>
                </a:solidFill>
                <a:latin typeface="微软雅黑" panose="020B0503020204020204" charset="-122"/>
                <a:ea typeface="微软雅黑" panose="020B0503020204020204" charset="-122"/>
                <a:cs typeface="微软雅黑" panose="020B0503020204020204" charset="-122"/>
              </a:rPr>
              <a:t>的解释</a:t>
            </a:r>
            <a:endParaRPr sz="2700" dirty="0">
              <a:latin typeface="微软雅黑" panose="020B0503020204020204" charset="-122"/>
              <a:ea typeface="微软雅黑" panose="020B0503020204020204" charset="-122"/>
              <a:cs typeface="微软雅黑" panose="020B0503020204020204" charset="-122"/>
            </a:endParaRPr>
          </a:p>
          <a:p>
            <a:pPr marL="24765" algn="l" defTabSz="0" rtl="0" eaLnBrk="0">
              <a:lnSpc>
                <a:spcPct val="81000"/>
              </a:lnSpc>
              <a:spcBef>
                <a:spcPts val="1790"/>
              </a:spcBef>
            </a:pP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稳定币的稳定机制可分为三类：</a:t>
            </a:r>
            <a:endParaRPr sz="2000" dirty="0">
              <a:latin typeface="华文仿宋" panose="02010600040101010101" charset="-122"/>
              <a:ea typeface="华文仿宋" panose="02010600040101010101" charset="-122"/>
              <a:cs typeface="华文仿宋" panose="02010600040101010101" charset="-122"/>
            </a:endParaRPr>
          </a:p>
          <a:p>
            <a:pPr algn="l" defTabSz="0"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marL="163830" algn="l" defTabSz="0" rtl="0" eaLnBrk="0">
              <a:lnSpc>
                <a:spcPts val="2505"/>
              </a:lnSpc>
              <a:spcBef>
                <a:spcPts val="605"/>
              </a:spcBef>
            </a:pPr>
            <a:r>
              <a:rPr sz="2000" b="1" kern="0" spc="-50" dirty="0">
                <a:solidFill>
                  <a:srgbClr val="FF0000">
                    <a:alpha val="100000"/>
                  </a:srgbClr>
                </a:solidFill>
                <a:latin typeface="华文仿宋" panose="02010600040101010101" charset="-122"/>
                <a:ea typeface="华文仿宋" panose="02010600040101010101" charset="-122"/>
                <a:cs typeface="华文仿宋" panose="02010600040101010101" charset="-122"/>
              </a:rPr>
              <a:t>（1）</a:t>
            </a:r>
            <a:r>
              <a:rPr sz="2000" kern="0" spc="-37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FF0000">
                    <a:alpha val="100000"/>
                  </a:srgbClr>
                </a:solidFill>
                <a:latin typeface="华文仿宋" panose="02010600040101010101" charset="-122"/>
                <a:ea typeface="华文仿宋" panose="02010600040101010101" charset="-122"/>
                <a:cs typeface="华文仿宋" panose="02010600040101010101" charset="-122"/>
              </a:rPr>
              <a:t>储备支持型稳定币（asset-backed</a:t>
            </a:r>
            <a:r>
              <a:rPr sz="2000"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FF0000">
                    <a:alpha val="100000"/>
                  </a:srgbClr>
                </a:solidFill>
                <a:latin typeface="华文仿宋" panose="02010600040101010101" charset="-122"/>
                <a:ea typeface="华文仿宋" panose="02010600040101010101" charset="-122"/>
                <a:cs typeface="华文仿宋" panose="02010600040101010101" charset="-122"/>
              </a:rPr>
              <a:t>stablecoi</a:t>
            </a:r>
            <a:r>
              <a:rPr sz="2000" b="1" kern="0" spc="-60" dirty="0">
                <a:solidFill>
                  <a:srgbClr val="FF0000">
                    <a:alpha val="100000"/>
                  </a:srgbClr>
                </a:solidFill>
                <a:latin typeface="华文仿宋" panose="02010600040101010101" charset="-122"/>
                <a:ea typeface="华文仿宋" panose="02010600040101010101" charset="-122"/>
                <a:cs typeface="华文仿宋" panose="02010600040101010101" charset="-122"/>
              </a:rPr>
              <a:t>ns）</a:t>
            </a:r>
            <a:endParaRPr sz="2000" dirty="0">
              <a:latin typeface="华文仿宋" panose="02010600040101010101" charset="-122"/>
              <a:ea typeface="华文仿宋" panose="02010600040101010101" charset="-122"/>
              <a:cs typeface="华文仿宋" panose="02010600040101010101" charset="-122"/>
            </a:endParaRPr>
          </a:p>
          <a:p>
            <a:pPr marL="163195" indent="-142875" algn="l" defTabSz="0" rtl="0" eaLnBrk="0">
              <a:lnSpc>
                <a:spcPct val="104000"/>
              </a:lnSpc>
              <a:spcBef>
                <a:spcPts val="35"/>
              </a:spcBef>
            </a:pPr>
            <a:r>
              <a:rPr sz="2000"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这些稳定币由链下资产（如美元存款、</a:t>
            </a:r>
            <a:r>
              <a:rPr sz="2000" kern="0" spc="-35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短期政府债券）</a:t>
            </a:r>
            <a:r>
              <a:rPr sz="2000" kern="0" spc="-38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提供支撑</a:t>
            </a:r>
            <a:r>
              <a:rPr sz="2000" kern="0" spc="-24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a:t>
            </a:r>
            <a:r>
              <a:rPr sz="2000" kern="0" spc="-34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例如，USDT（Tether）</a:t>
            </a:r>
            <a:r>
              <a:rPr sz="2000" kern="0" spc="-36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和USD</a:t>
            </a:r>
            <a:r>
              <a:rPr sz="2000" kern="0" spc="-30" dirty="0">
                <a:solidFill>
                  <a:srgbClr val="FF0000">
                    <a:alpha val="100000"/>
                  </a:srgbClr>
                </a:solidFill>
                <a:latin typeface="华文仿宋" panose="02010600040101010101" charset="-122"/>
                <a:ea typeface="华文仿宋" panose="02010600040101010101" charset="-122"/>
                <a:cs typeface="华文仿宋" panose="02010600040101010101" charset="-122"/>
              </a:rPr>
              <a:t>C</a:t>
            </a:r>
            <a:r>
              <a:rPr sz="2000" kern="0" spc="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kern="0" spc="-70" dirty="0">
                <a:solidFill>
                  <a:srgbClr val="FF0000">
                    <a:alpha val="100000"/>
                  </a:srgbClr>
                </a:solidFill>
                <a:latin typeface="华文仿宋" panose="02010600040101010101" charset="-122"/>
                <a:ea typeface="华文仿宋" panose="02010600040101010101" charset="-122"/>
                <a:cs typeface="华文仿宋" panose="02010600040101010101" charset="-122"/>
              </a:rPr>
              <a:t>（Circle）</a:t>
            </a:r>
            <a:r>
              <a:rPr sz="2000" kern="0" spc="-37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kern="0" spc="-70" dirty="0">
                <a:solidFill>
                  <a:srgbClr val="FF0000">
                    <a:alpha val="100000"/>
                  </a:srgbClr>
                </a:solidFill>
                <a:latin typeface="华文仿宋" panose="02010600040101010101" charset="-122"/>
                <a:ea typeface="华文仿宋" panose="02010600040101010101" charset="-122"/>
                <a:cs typeface="华文仿宋" panose="02010600040101010101" charset="-122"/>
              </a:rPr>
              <a:t>声称持有等额的美元储备。</a:t>
            </a:r>
            <a:endParaRPr sz="2000" dirty="0">
              <a:latin typeface="华文仿宋" panose="02010600040101010101" charset="-122"/>
              <a:ea typeface="华文仿宋" panose="02010600040101010101" charset="-122"/>
              <a:cs typeface="华文仿宋" panose="02010600040101010101" charset="-122"/>
            </a:endParaRPr>
          </a:p>
          <a:p>
            <a:pPr marL="163830" algn="l" defTabSz="0" rtl="0" eaLnBrk="0">
              <a:lnSpc>
                <a:spcPts val="2610"/>
              </a:lnSpc>
              <a:spcBef>
                <a:spcPts val="670"/>
              </a:spcBef>
            </a:pPr>
            <a:r>
              <a:rPr sz="2000" b="1" kern="0" spc="-60" dirty="0">
                <a:solidFill>
                  <a:srgbClr val="262626">
                    <a:alpha val="100000"/>
                  </a:srgbClr>
                </a:solidFill>
                <a:latin typeface="华文仿宋" panose="02010600040101010101" charset="-122"/>
                <a:ea typeface="华文仿宋" panose="02010600040101010101" charset="-122"/>
                <a:cs typeface="华文仿宋" panose="02010600040101010101" charset="-122"/>
              </a:rPr>
              <a:t>（2）</a:t>
            </a:r>
            <a:r>
              <a:rPr sz="2000" kern="0" spc="-27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60" dirty="0">
                <a:solidFill>
                  <a:srgbClr val="262626">
                    <a:alpha val="100000"/>
                  </a:srgbClr>
                </a:solidFill>
                <a:latin typeface="华文仿宋" panose="02010600040101010101" charset="-122"/>
                <a:ea typeface="华文仿宋" panose="02010600040101010101" charset="-122"/>
                <a:cs typeface="华文仿宋" panose="02010600040101010101" charset="-122"/>
              </a:rPr>
              <a:t>算法稳定币（algorithmic</a:t>
            </a:r>
            <a:r>
              <a:rPr sz="2000" kern="0" spc="12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60" dirty="0">
                <a:solidFill>
                  <a:srgbClr val="262626">
                    <a:alpha val="100000"/>
                  </a:srgbClr>
                </a:solidFill>
                <a:latin typeface="华文仿宋" panose="02010600040101010101" charset="-122"/>
                <a:ea typeface="华文仿宋" panose="02010600040101010101" charset="-122"/>
                <a:cs typeface="华文仿宋" panose="02010600040101010101" charset="-122"/>
              </a:rPr>
              <a:t>stablecoins）</a:t>
            </a:r>
            <a:endParaRPr sz="2000" dirty="0">
              <a:latin typeface="华文仿宋" panose="02010600040101010101" charset="-122"/>
              <a:ea typeface="华文仿宋" panose="02010600040101010101" charset="-122"/>
              <a:cs typeface="华文仿宋" panose="02010600040101010101" charset="-122"/>
            </a:endParaRPr>
          </a:p>
          <a:p>
            <a:pPr marL="20955" indent="1270" algn="l" defTabSz="0" rtl="0" eaLnBrk="0">
              <a:lnSpc>
                <a:spcPct val="93000"/>
              </a:lnSpc>
              <a:spcBef>
                <a:spcPts val="75"/>
              </a:spcBef>
            </a:pP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通过自动化的供需调节机制</a:t>
            </a:r>
            <a:r>
              <a:rPr sz="2000"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维持挂钩，</a:t>
            </a:r>
            <a:r>
              <a:rPr sz="2000" kern="0" spc="-34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30" dirty="0">
                <a:solidFill>
                  <a:srgbClr val="FF0000">
                    <a:alpha val="100000"/>
                  </a:srgbClr>
                </a:solidFill>
                <a:latin typeface="华文仿宋" panose="02010600040101010101" charset="-122"/>
                <a:ea typeface="华文仿宋" panose="02010600040101010101" charset="-122"/>
                <a:cs typeface="华文仿宋" panose="02010600040101010101" charset="-122"/>
              </a:rPr>
              <a:t>不依赖链下储备</a:t>
            </a:r>
            <a:r>
              <a:rPr sz="2000" kern="0" spc="-23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30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此类模型通常更具实验性，</a:t>
            </a:r>
            <a:r>
              <a:rPr sz="2000" kern="0" spc="-35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稳定性较弱，</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在极端情况下会爆发挤兑，</a:t>
            </a:r>
            <a:r>
              <a:rPr sz="2000" kern="0" spc="-33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代表性失败案例包括 TerraUSD。</a:t>
            </a:r>
            <a:endParaRPr sz="2000" dirty="0">
              <a:latin typeface="华文仿宋" panose="02010600040101010101" charset="-122"/>
              <a:ea typeface="华文仿宋" panose="02010600040101010101" charset="-122"/>
              <a:cs typeface="华文仿宋" panose="02010600040101010101" charset="-122"/>
            </a:endParaRPr>
          </a:p>
          <a:p>
            <a:pPr marL="163830" algn="l" defTabSz="0" rtl="0" eaLnBrk="0">
              <a:lnSpc>
                <a:spcPts val="2505"/>
              </a:lnSpc>
              <a:spcBef>
                <a:spcPts val="1055"/>
              </a:spcBef>
            </a:pPr>
            <a:r>
              <a:rPr sz="1900" b="1" kern="0" spc="-130" dirty="0">
                <a:solidFill>
                  <a:srgbClr val="262626">
                    <a:alpha val="100000"/>
                  </a:srgbClr>
                </a:solidFill>
                <a:latin typeface="华文仿宋" panose="02010600040101010101" charset="-122"/>
                <a:ea typeface="华文仿宋" panose="02010600040101010101" charset="-122"/>
                <a:cs typeface="华文仿宋" panose="02010600040101010101" charset="-122"/>
              </a:rPr>
              <a:t>（3）</a:t>
            </a:r>
            <a:r>
              <a:rPr sz="1900" kern="0" spc="-23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1900" b="1" kern="0" spc="-130" dirty="0">
                <a:solidFill>
                  <a:srgbClr val="262626">
                    <a:alpha val="100000"/>
                  </a:srgbClr>
                </a:solidFill>
                <a:latin typeface="华文仿宋" panose="02010600040101010101" charset="-122"/>
                <a:ea typeface="华文仿宋" panose="02010600040101010101" charset="-122"/>
                <a:cs typeface="华文仿宋" panose="02010600040101010101" charset="-122"/>
              </a:rPr>
              <a:t>混合模式</a:t>
            </a:r>
            <a:endParaRPr sz="1900" dirty="0">
              <a:latin typeface="华文仿宋" panose="02010600040101010101" charset="-122"/>
              <a:ea typeface="华文仿宋" panose="02010600040101010101" charset="-122"/>
              <a:cs typeface="华文仿宋" panose="02010600040101010101" charset="-122"/>
            </a:endParaRPr>
          </a:p>
          <a:p>
            <a:pPr marL="12700" indent="15240" algn="l" defTabSz="0" rtl="0" eaLnBrk="0">
              <a:lnSpc>
                <a:spcPct val="102000"/>
              </a:lnSpc>
              <a:spcBef>
                <a:spcPts val="35"/>
              </a:spcBef>
            </a:pP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某些稳定币结合了算法调节与部分资产储备机制，</a:t>
            </a:r>
            <a:r>
              <a:rPr sz="2000" kern="0" spc="-14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以实现挂钩(美元挂钩的</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部分抵押型稳定币 ——</a:t>
            </a:r>
            <a:r>
              <a:rPr sz="2000" kern="0" spc="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0" dirty="0">
                <a:solidFill>
                  <a:srgbClr val="262626">
                    <a:alpha val="100000"/>
                  </a:srgbClr>
                </a:solidFill>
                <a:latin typeface="华文仿宋" panose="02010600040101010101" charset="-122"/>
                <a:ea typeface="华文仿宋" panose="02010600040101010101" charset="-122"/>
                <a:cs typeface="华文仿宋" panose="02010600040101010101" charset="-122"/>
              </a:rPr>
              <a:t>IRON</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endParaRPr sz="2000" dirty="0">
              <a:latin typeface="华文仿宋" panose="02010600040101010101" charset="-122"/>
              <a:ea typeface="华文仿宋" panose="02010600040101010101" charset="-122"/>
              <a:cs typeface="华文仿宋" panose="02010600040101010101" charset="-122"/>
            </a:endParaRPr>
          </a:p>
          <a:p>
            <a:pPr algn="l" defTabSz="0" rtl="0" eaLnBrk="0">
              <a:lnSpc>
                <a:spcPct val="104000"/>
              </a:lnSpc>
            </a:pPr>
            <a:endParaRPr sz="8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6000"/>
              </a:lnSpc>
            </a:pPr>
            <a:endParaRPr sz="100" dirty="0">
              <a:latin typeface="Arial" panose="020B0604020202020204" pitchFamily="34" charset="0"/>
              <a:ea typeface="Arial" panose="020B0604020202020204" pitchFamily="34" charset="0"/>
              <a:cs typeface="Arial" panose="020B0604020202020204" pitchFamily="34" charset="0"/>
            </a:endParaRPr>
          </a:p>
          <a:p>
            <a:pPr marL="31750" indent="120015" algn="l" defTabSz="0" rtl="0" eaLnBrk="0">
              <a:lnSpc>
                <a:spcPct val="94000"/>
              </a:lnSpc>
            </a:pPr>
            <a:r>
              <a:rPr sz="2000" b="1"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本报告侧重于第一类稳定机制的稳定币，</a:t>
            </a:r>
            <a:r>
              <a:rPr sz="2000" kern="0" spc="-31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也是现有立法框架确定稳定机制的稳定币，</a:t>
            </a:r>
            <a:r>
              <a:rPr sz="2000" kern="0" spc="-31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也是</a:t>
            </a:r>
            <a:r>
              <a:rPr sz="2000" b="1" kern="0" spc="-30" dirty="0">
                <a:solidFill>
                  <a:srgbClr val="FF0000">
                    <a:alpha val="100000"/>
                  </a:srgbClr>
                </a:solidFill>
                <a:latin typeface="华文仿宋" panose="02010600040101010101" charset="-122"/>
                <a:ea typeface="华文仿宋" panose="02010600040101010101" charset="-122"/>
                <a:cs typeface="华文仿宋" panose="02010600040101010101" charset="-122"/>
              </a:rPr>
              <a:t>目前主</a:t>
            </a:r>
            <a:r>
              <a:rPr sz="2000" b="1"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导型的稳定币。</a:t>
            </a:r>
            <a:endParaRPr sz="2000" dirty="0">
              <a:latin typeface="华文仿宋" panose="02010600040101010101" charset="-122"/>
              <a:ea typeface="华文仿宋" panose="02010600040101010101" charset="-122"/>
              <a:cs typeface="华文仿宋" panose="02010600040101010101" charset="-122"/>
            </a:endParaRPr>
          </a:p>
        </p:txBody>
      </p:sp>
      <p:sp>
        <p:nvSpPr>
          <p:cNvPr id="48" name="rect 48"/>
          <p:cNvSpPr/>
          <p:nvPr/>
        </p:nvSpPr>
        <p:spPr>
          <a:xfrm>
            <a:off x="0" y="6556247"/>
            <a:ext cx="12192000" cy="301752"/>
          </a:xfrm>
          <a:prstGeom prst="rect">
            <a:avLst/>
          </a:prstGeom>
          <a:solidFill>
            <a:srgbClr val="AE0B2A">
              <a:alpha val="100000"/>
            </a:srgbClr>
          </a:solidFill>
          <a:ln w="0" cap="flat">
            <a:noFill/>
            <a:prstDash val="solid"/>
            <a:miter lim="0"/>
          </a:ln>
        </p:spPr>
        <p:txBody>
          <a:bodyPr rtlCol="0"/>
          <a:lstStyle/>
          <a:p>
            <a:pPr algn="ctr"/>
            <a:endParaRPr lang="zh-CN" altLang="en-US"/>
          </a:p>
        </p:txBody>
      </p:sp>
      <p:pic>
        <p:nvPicPr>
          <p:cNvPr id="52" name="picture 52"/>
          <p:cNvPicPr>
            <a:picLocks noChangeAspect="1"/>
          </p:cNvPicPr>
          <p:nvPr/>
        </p:nvPicPr>
        <p:blipFill>
          <a:blip r:embed="rId1"/>
          <a:stretch>
            <a:fillRect/>
          </a:stretch>
        </p:blipFill>
        <p:spPr>
          <a:xfrm rot="21600000">
            <a:off x="2752725" y="451954"/>
            <a:ext cx="9439275" cy="190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46"/>
          <p:cNvSpPr/>
          <p:nvPr/>
        </p:nvSpPr>
        <p:spPr>
          <a:xfrm>
            <a:off x="933263" y="983702"/>
            <a:ext cx="10897869" cy="5260340"/>
          </a:xfrm>
          <a:prstGeom prst="rect">
            <a:avLst/>
          </a:prstGeom>
          <a:noFill/>
          <a:ln w="0" cap="flat">
            <a:noFill/>
            <a:prstDash val="solid"/>
            <a:miter lim="0"/>
          </a:ln>
        </p:spPr>
        <p:txBody>
          <a:bodyPr vert="horz" wrap="square" lIns="0" tIns="0" rIns="0" bIns="0"/>
          <a:lstStyle/>
          <a:p>
            <a:pPr algn="l" defTabSz="0"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483235" algn="l" defTabSz="0" rtl="0" eaLnBrk="0">
              <a:lnSpc>
                <a:spcPts val="3685"/>
              </a:lnSpc>
            </a:pPr>
            <a:r>
              <a:rPr sz="2700" b="1" kern="0" spc="310" dirty="0">
                <a:solidFill>
                  <a:srgbClr val="003A63">
                    <a:alpha val="100000"/>
                  </a:srgbClr>
                </a:solidFill>
                <a:latin typeface="微软雅黑" panose="020B0503020204020204" charset="-122"/>
                <a:ea typeface="微软雅黑" panose="020B0503020204020204" charset="-122"/>
                <a:cs typeface="微软雅黑" panose="020B0503020204020204" charset="-122"/>
              </a:rPr>
              <a:t>何为稳定币？</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稳定币的稳定机制可分为三类：</a:t>
            </a:r>
            <a:endParaRPr sz="2000" dirty="0">
              <a:latin typeface="华文仿宋" panose="02010600040101010101" charset="-122"/>
              <a:ea typeface="华文仿宋" panose="02010600040101010101" charset="-122"/>
              <a:cs typeface="华文仿宋" panose="02010600040101010101" charset="-122"/>
            </a:endParaRPr>
          </a:p>
          <a:p>
            <a:pPr algn="l" defTabSz="0"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marL="163830" algn="l" defTabSz="0" rtl="0" eaLnBrk="0">
              <a:lnSpc>
                <a:spcPts val="2505"/>
              </a:lnSpc>
              <a:spcBef>
                <a:spcPts val="605"/>
              </a:spcBef>
            </a:pPr>
            <a:endParaRPr sz="2000" dirty="0">
              <a:latin typeface="华文仿宋" panose="02010600040101010101" charset="-122"/>
              <a:ea typeface="华文仿宋" panose="02010600040101010101" charset="-122"/>
              <a:cs typeface="华文仿宋" panose="02010600040101010101" charset="-122"/>
            </a:endParaRPr>
          </a:p>
        </p:txBody>
      </p:sp>
      <p:sp>
        <p:nvSpPr>
          <p:cNvPr id="48" name="rect 48"/>
          <p:cNvSpPr/>
          <p:nvPr/>
        </p:nvSpPr>
        <p:spPr>
          <a:xfrm>
            <a:off x="0" y="6556247"/>
            <a:ext cx="12192000" cy="301752"/>
          </a:xfrm>
          <a:prstGeom prst="rect">
            <a:avLst/>
          </a:prstGeom>
          <a:solidFill>
            <a:srgbClr val="AE0B2A">
              <a:alpha val="100000"/>
            </a:srgbClr>
          </a:solidFill>
          <a:ln w="0" cap="flat">
            <a:noFill/>
            <a:prstDash val="solid"/>
            <a:miter lim="0"/>
          </a:ln>
        </p:spPr>
        <p:txBody>
          <a:bodyPr rtlCol="0"/>
          <a:lstStyle/>
          <a:p>
            <a:pPr algn="ctr"/>
            <a:endParaRPr lang="zh-CN" altLang="en-US"/>
          </a:p>
        </p:txBody>
      </p:sp>
      <p:pic>
        <p:nvPicPr>
          <p:cNvPr id="52" name="picture 52"/>
          <p:cNvPicPr>
            <a:picLocks noChangeAspect="1"/>
          </p:cNvPicPr>
          <p:nvPr/>
        </p:nvPicPr>
        <p:blipFill>
          <a:blip r:embed="rId1"/>
          <a:stretch>
            <a:fillRect/>
          </a:stretch>
        </p:blipFill>
        <p:spPr>
          <a:xfrm rot="21600000">
            <a:off x="2752725" y="451954"/>
            <a:ext cx="9439275" cy="19050"/>
          </a:xfrm>
          <a:prstGeom prst="rect">
            <a:avLst/>
          </a:prstGeom>
        </p:spPr>
      </p:pic>
      <p:pic>
        <p:nvPicPr>
          <p:cNvPr id="54" name="picture 54"/>
          <p:cNvPicPr>
            <a:picLocks noChangeAspect="1"/>
          </p:cNvPicPr>
          <p:nvPr/>
        </p:nvPicPr>
        <p:blipFill>
          <a:blip r:embed="rId2"/>
          <a:stretch>
            <a:fillRect/>
          </a:stretch>
        </p:blipFill>
        <p:spPr>
          <a:xfrm rot="21600000">
            <a:off x="0" y="451954"/>
            <a:ext cx="901700" cy="19050"/>
          </a:xfrm>
          <a:prstGeom prst="rect">
            <a:avLst/>
          </a:prstGeom>
        </p:spPr>
      </p:pic>
      <p:pic>
        <p:nvPicPr>
          <p:cNvPr id="2" name="图片 1"/>
          <p:cNvPicPr>
            <a:picLocks noChangeAspect="1"/>
          </p:cNvPicPr>
          <p:nvPr/>
        </p:nvPicPr>
        <p:blipFill>
          <a:blip r:embed="rId3"/>
          <a:srcRect t="3124" b="5312"/>
          <a:stretch>
            <a:fillRect/>
          </a:stretch>
        </p:blipFill>
        <p:spPr>
          <a:xfrm>
            <a:off x="128270" y="634365"/>
            <a:ext cx="11585575" cy="53416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textbox 168"/>
          <p:cNvSpPr/>
          <p:nvPr/>
        </p:nvSpPr>
        <p:spPr>
          <a:xfrm>
            <a:off x="901606" y="1058099"/>
            <a:ext cx="9943465" cy="4286884"/>
          </a:xfrm>
          <a:prstGeom prst="rect">
            <a:avLst/>
          </a:prstGeom>
          <a:noFill/>
          <a:ln w="0" cap="flat">
            <a:noFill/>
            <a:prstDash val="solid"/>
            <a:miter lim="0"/>
          </a:ln>
        </p:spPr>
        <p:txBody>
          <a:bodyPr vert="horz" wrap="square" lIns="0" tIns="0" rIns="0" bIns="0"/>
          <a:lstStyle/>
          <a:p>
            <a:pPr algn="l" defTabSz="0" rtl="0" eaLnBrk="0">
              <a:lnSpc>
                <a:spcPct val="87000"/>
              </a:lnSpc>
            </a:pPr>
            <a:endParaRPr sz="100" dirty="0">
              <a:latin typeface="Arial" panose="020B0604020202020204" pitchFamily="34" charset="0"/>
              <a:ea typeface="Arial" panose="020B0604020202020204" pitchFamily="34" charset="0"/>
              <a:cs typeface="Arial" panose="020B0604020202020204" pitchFamily="34" charset="0"/>
            </a:endParaRPr>
          </a:p>
          <a:p>
            <a:pPr marL="26670" algn="l" defTabSz="0" rtl="0" eaLnBrk="0">
              <a:lnSpc>
                <a:spcPct val="82000"/>
              </a:lnSpc>
            </a:pPr>
            <a:r>
              <a:rPr sz="2700" kern="0" spc="-230" dirty="0">
                <a:solidFill>
                  <a:srgbClr val="003963">
                    <a:alpha val="100000"/>
                  </a:srgbClr>
                </a:solidFill>
                <a:latin typeface="华文楷体" panose="02010600040101010101" charset="-122"/>
                <a:ea typeface="华文楷体" panose="02010600040101010101" charset="-122"/>
                <a:cs typeface="华文楷体" panose="02010600040101010101" charset="-122"/>
              </a:rPr>
              <a:t> </a:t>
            </a:r>
            <a:r>
              <a:rPr lang="zh-CN" altLang="en-US" sz="2700" dirty="0">
                <a:latin typeface="华文楷体" panose="02010600040101010101" charset="-122"/>
                <a:ea typeface="华文楷体" panose="02010600040101010101" charset="-122"/>
                <a:cs typeface="华文楷体" panose="02010600040101010101" charset="-122"/>
              </a:rPr>
              <a:t> 稳定币在货币支付体系中的作用</a:t>
            </a:r>
            <a:endParaRPr lang="zh-CN" altLang="en-US" sz="2700" dirty="0">
              <a:latin typeface="华文楷体" panose="02010600040101010101" charset="-122"/>
              <a:ea typeface="华文楷体" panose="02010600040101010101" charset="-122"/>
              <a:cs typeface="华文楷体" panose="02010600040101010101" charset="-122"/>
            </a:endParaRPr>
          </a:p>
          <a:p>
            <a:pPr algn="l" defTabSz="0" rtl="0" eaLnBrk="0">
              <a:lnSpc>
                <a:spcPct val="121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21000"/>
              </a:lnSpc>
            </a:pPr>
            <a:r>
              <a:rPr lang="zh-CN" altLang="en-US" sz="2000" dirty="0">
                <a:latin typeface="华文仿宋" panose="02010600040101010101" charset="-122"/>
                <a:ea typeface="华文仿宋" panose="02010600040101010101" charset="-122"/>
                <a:cs typeface="华文仿宋" panose="02010600040101010101" charset="-122"/>
              </a:rPr>
              <a:t>1）数字性：稳定币首先是一种</a:t>
            </a:r>
            <a:endParaRPr lang="zh-CN" altLang="en-US" sz="2000" dirty="0">
              <a:latin typeface="华文仿宋" panose="02010600040101010101" charset="-122"/>
              <a:ea typeface="华文仿宋" panose="02010600040101010101" charset="-122"/>
              <a:cs typeface="华文仿宋" panose="02010600040101010101" charset="-122"/>
            </a:endParaRPr>
          </a:p>
          <a:p>
            <a:pPr marL="19685" indent="3810" algn="l" defTabSz="0" rtl="0" eaLnBrk="0">
              <a:lnSpc>
                <a:spcPct val="95000"/>
              </a:lnSpc>
              <a:spcBef>
                <a:spcPts val="610"/>
              </a:spcBef>
            </a:pPr>
            <a:r>
              <a:rPr lang="zh-CN" altLang="en-US" sz="2000" dirty="0">
                <a:latin typeface="华文仿宋" panose="02010600040101010101" charset="-122"/>
                <a:ea typeface="华文仿宋" panose="02010600040101010101" charset="-122"/>
                <a:cs typeface="华文仿宋" panose="02010600040101010101" charset="-122"/>
              </a:rPr>
              <a:t>“数字货币”。作为数字货币的一种，稳定币与其他数字货币同样具备：交易效率高、成本低、全球通用等优点，同时也存在：安全性风险高、接受度有限等缺陷；</a:t>
            </a:r>
            <a:endParaRPr lang="zh-CN" altLang="en-US" sz="2000" dirty="0">
              <a:latin typeface="华文仿宋" panose="02010600040101010101" charset="-122"/>
              <a:ea typeface="华文仿宋" panose="02010600040101010101" charset="-122"/>
              <a:cs typeface="华文仿宋" panose="02010600040101010101" charset="-122"/>
            </a:endParaRPr>
          </a:p>
          <a:p>
            <a:pPr marL="19685" indent="3810" algn="l" defTabSz="0" rtl="0" eaLnBrk="0">
              <a:lnSpc>
                <a:spcPct val="95000"/>
              </a:lnSpc>
              <a:spcBef>
                <a:spcPts val="610"/>
              </a:spcBef>
            </a:pPr>
            <a:r>
              <a:rPr lang="zh-CN" altLang="en-US" sz="2000" dirty="0">
                <a:latin typeface="华文仿宋" panose="02010600040101010101" charset="-122"/>
                <a:ea typeface="华文仿宋" panose="02010600040101010101" charset="-122"/>
                <a:cs typeface="华文仿宋" panose="02010600040101010101" charset="-122"/>
              </a:rPr>
              <a:t>2）稳定性：作为“加密货币”的一种，稳定币区别于其他“加密货币”最突出的特征，就在于其具有币值的“相对稳定性”。根据实现“稳定性”的方式不同，稳定币可以大致分类；</a:t>
            </a:r>
            <a:endParaRPr lang="zh-CN" altLang="en-US" sz="2000" dirty="0">
              <a:latin typeface="华文仿宋" panose="02010600040101010101" charset="-122"/>
              <a:ea typeface="华文仿宋" panose="02010600040101010101" charset="-122"/>
              <a:cs typeface="华文仿宋" panose="02010600040101010101" charset="-122"/>
            </a:endParaRPr>
          </a:p>
          <a:p>
            <a:pPr marL="19685" indent="3810" algn="l" defTabSz="0" rtl="0" eaLnBrk="0">
              <a:lnSpc>
                <a:spcPct val="95000"/>
              </a:lnSpc>
              <a:spcBef>
                <a:spcPts val="610"/>
              </a:spcBef>
            </a:pPr>
            <a:r>
              <a:rPr lang="zh-CN" altLang="en-US" sz="2000" dirty="0">
                <a:latin typeface="华文仿宋" panose="02010600040101010101" charset="-122"/>
                <a:ea typeface="华文仿宋" panose="02010600040101010101" charset="-122"/>
                <a:cs typeface="华文仿宋" panose="02010600040101010101" charset="-122"/>
              </a:rPr>
              <a:t>3）货币性：稳定币的核心功能在于“代币”。稳定币的诞生，本质上是加密货币生态对货币性需求演化的必然产物，其核心功能在于填补加密市场“基础货币”的缺失，从而构建可支撑金融活动的价值锚点。</a:t>
            </a:r>
            <a:endParaRPr lang="zh-CN" altLang="en-US" sz="2000" dirty="0">
              <a:latin typeface="华文仿宋" panose="02010600040101010101" charset="-122"/>
              <a:ea typeface="华文仿宋" panose="02010600040101010101" charset="-122"/>
              <a:cs typeface="华文仿宋" panose="02010600040101010101" charset="-122"/>
            </a:endParaRPr>
          </a:p>
        </p:txBody>
      </p:sp>
      <p:sp>
        <p:nvSpPr>
          <p:cNvPr id="170" name="rect 170"/>
          <p:cNvSpPr/>
          <p:nvPr/>
        </p:nvSpPr>
        <p:spPr>
          <a:xfrm>
            <a:off x="0" y="6556247"/>
            <a:ext cx="12192000" cy="301752"/>
          </a:xfrm>
          <a:prstGeom prst="rect">
            <a:avLst/>
          </a:prstGeom>
          <a:solidFill>
            <a:srgbClr val="AE0B2A">
              <a:alpha val="100000"/>
            </a:srgbClr>
          </a:solidFill>
          <a:ln w="0" cap="flat">
            <a:noFill/>
            <a:prstDash val="solid"/>
            <a:miter lim="0"/>
          </a:ln>
        </p:spPr>
        <p:txBody>
          <a:bodyPr rtlCol="0"/>
          <a:lstStyle/>
          <a:p>
            <a:pPr algn="ctr"/>
            <a:endParaRPr lang="zh-CN" altLang="en-US"/>
          </a:p>
        </p:txBody>
      </p:sp>
      <p:pic>
        <p:nvPicPr>
          <p:cNvPr id="174" name="picture 174"/>
          <p:cNvPicPr>
            <a:picLocks noChangeAspect="1"/>
          </p:cNvPicPr>
          <p:nvPr/>
        </p:nvPicPr>
        <p:blipFill>
          <a:blip r:embed="rId1"/>
          <a:stretch>
            <a:fillRect/>
          </a:stretch>
        </p:blipFill>
        <p:spPr>
          <a:xfrm rot="21600000">
            <a:off x="2752725" y="451954"/>
            <a:ext cx="9439275" cy="190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46"/>
          <p:cNvSpPr/>
          <p:nvPr/>
        </p:nvSpPr>
        <p:spPr>
          <a:xfrm>
            <a:off x="111573" y="399502"/>
            <a:ext cx="10897869" cy="5260340"/>
          </a:xfrm>
          <a:prstGeom prst="rect">
            <a:avLst/>
          </a:prstGeom>
          <a:noFill/>
          <a:ln w="0" cap="flat">
            <a:noFill/>
            <a:prstDash val="solid"/>
            <a:miter lim="0"/>
          </a:ln>
        </p:spPr>
        <p:txBody>
          <a:bodyPr vert="horz" wrap="square" lIns="0" tIns="0" rIns="0" bIns="0"/>
          <a:lstStyle/>
          <a:p>
            <a:pPr algn="l" defTabSz="0"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483235" algn="l" defTabSz="0" rtl="0" eaLnBrk="0">
              <a:lnSpc>
                <a:spcPts val="3685"/>
              </a:lnSpc>
            </a:pPr>
            <a:r>
              <a:rPr lang="zh-CN"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稳定币发行和流通过程</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endPar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endParaRPr>
          </a:p>
          <a:p>
            <a:pPr marL="483235" algn="l" defTabSz="0" rtl="0" eaLnBrk="0">
              <a:lnSpc>
                <a:spcPts val="3685"/>
              </a:lnSpc>
            </a:pPr>
            <a:r>
              <a:rPr lang="zh-CN" sz="2000" dirty="0">
                <a:latin typeface="华文仿宋" panose="02010600040101010101" charset="-122"/>
                <a:ea typeface="华文仿宋" panose="02010600040101010101" charset="-122"/>
                <a:cs typeface="华文仿宋" panose="02010600040101010101" charset="-122"/>
              </a:rPr>
              <a:t>交易和流通</a:t>
            </a:r>
            <a:r>
              <a:rPr lang="en-US" altLang="zh-CN" sz="2000" dirty="0">
                <a:latin typeface="华文仿宋" panose="02010600040101010101" charset="-122"/>
                <a:ea typeface="华文仿宋" panose="02010600040101010101" charset="-122"/>
                <a:cs typeface="华文仿宋" panose="02010600040101010101" charset="-122"/>
              </a:rPr>
              <a:t>--</a:t>
            </a:r>
            <a:r>
              <a:rPr lang="zh-CN" altLang="en-US" sz="2000" dirty="0">
                <a:latin typeface="华文仿宋" panose="02010600040101010101" charset="-122"/>
                <a:ea typeface="华文仿宋" panose="02010600040101010101" charset="-122"/>
                <a:cs typeface="华文仿宋" panose="02010600040101010101" charset="-122"/>
              </a:rPr>
              <a:t>基于</a:t>
            </a:r>
            <a:r>
              <a:rPr sz="2000" b="1" kern="0" dirty="0">
                <a:solidFill>
                  <a:schemeClr val="tx1">
                    <a:alpha val="100000"/>
                  </a:schemeClr>
                </a:solidFill>
                <a:latin typeface="楷体" panose="02010609060101010101" charset="-122"/>
                <a:ea typeface="楷体" panose="02010609060101010101" charset="-122"/>
                <a:cs typeface="楷体" panose="02010609060101010101" charset="-122"/>
                <a:sym typeface="+mn-ea"/>
              </a:rPr>
              <a:t>去中心化金融</a:t>
            </a:r>
            <a:r>
              <a:rPr sz="2000" b="1" kern="0" spc="-10" dirty="0">
                <a:solidFill>
                  <a:schemeClr val="tx1">
                    <a:alpha val="100000"/>
                  </a:schemeClr>
                </a:solidFill>
                <a:latin typeface="楷体" panose="02010609060101010101" charset="-122"/>
                <a:ea typeface="楷体" panose="02010609060101010101" charset="-122"/>
                <a:cs typeface="楷体" panose="02010609060101010101" charset="-122"/>
                <a:sym typeface="+mn-ea"/>
              </a:rPr>
              <a:t>生态（</a:t>
            </a:r>
            <a:r>
              <a:rPr sz="2000" b="1" kern="0" spc="-10" dirty="0">
                <a:solidFill>
                  <a:schemeClr val="tx1">
                    <a:alpha val="100000"/>
                  </a:schemeClr>
                </a:solidFill>
                <a:latin typeface="Arial" panose="020B0604020202020204" pitchFamily="34" charset="0"/>
                <a:ea typeface="Arial" panose="020B0604020202020204" pitchFamily="34" charset="0"/>
                <a:cs typeface="Arial" panose="020B0604020202020204" pitchFamily="34" charset="0"/>
                <a:sym typeface="+mn-ea"/>
              </a:rPr>
              <a:t>DeFi</a:t>
            </a:r>
            <a:r>
              <a:rPr sz="2000" b="1" kern="0" spc="-10" dirty="0">
                <a:solidFill>
                  <a:schemeClr val="tx1">
                    <a:alpha val="100000"/>
                  </a:schemeClr>
                </a:solidFill>
                <a:latin typeface="楷体" panose="02010609060101010101" charset="-122"/>
                <a:ea typeface="楷体" panose="02010609060101010101" charset="-122"/>
                <a:cs typeface="楷体" panose="02010609060101010101" charset="-122"/>
                <a:sym typeface="+mn-ea"/>
              </a:rPr>
              <a:t>）</a:t>
            </a:r>
            <a:r>
              <a:rPr sz="2000" b="1" kern="0" spc="-10" dirty="0">
                <a:solidFill>
                  <a:srgbClr val="FFFFFF">
                    <a:alpha val="100000"/>
                  </a:srgbClr>
                </a:solidFill>
                <a:latin typeface="楷体" panose="02010609060101010101" charset="-122"/>
                <a:ea typeface="楷体" panose="02010609060101010101" charset="-122"/>
                <a:cs typeface="楷体" panose="02010609060101010101" charset="-122"/>
                <a:sym typeface="+mn-ea"/>
              </a:rPr>
              <a:t>生态（</a:t>
            </a:r>
            <a:r>
              <a:rPr sz="2000" b="1" kern="0" spc="-10" dirty="0">
                <a:solidFill>
                  <a:srgbClr val="FFFFFF">
                    <a:alpha val="100000"/>
                  </a:srgbClr>
                </a:solidFill>
                <a:latin typeface="Arial" panose="020B0604020202020204" pitchFamily="34" charset="0"/>
                <a:ea typeface="Arial" panose="020B0604020202020204" pitchFamily="34" charset="0"/>
                <a:cs typeface="Arial" panose="020B0604020202020204" pitchFamily="34" charset="0"/>
                <a:sym typeface="+mn-ea"/>
              </a:rPr>
              <a:t>DeFi</a:t>
            </a:r>
            <a:r>
              <a:rPr sz="2000" b="1" kern="0" spc="-10" dirty="0">
                <a:solidFill>
                  <a:srgbClr val="FFFFFF">
                    <a:alpha val="100000"/>
                  </a:srgbClr>
                </a:solidFill>
                <a:latin typeface="楷体" panose="02010609060101010101" charset="-122"/>
                <a:ea typeface="楷体" panose="02010609060101010101" charset="-122"/>
                <a:cs typeface="楷体" panose="02010609060101010101" charset="-122"/>
                <a:sym typeface="+mn-ea"/>
              </a:rPr>
              <a:t>）</a:t>
            </a:r>
            <a:endParaRPr sz="2000" dirty="0">
              <a:latin typeface="华文仿宋" panose="02010600040101010101" charset="-122"/>
              <a:ea typeface="华文仿宋" panose="02010600040101010101" charset="-122"/>
              <a:cs typeface="华文仿宋" panose="02010600040101010101" charset="-122"/>
            </a:endParaRPr>
          </a:p>
          <a:p>
            <a:pPr algn="l" defTabSz="0"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marL="163830" algn="l" defTabSz="0" rtl="0" eaLnBrk="0">
              <a:lnSpc>
                <a:spcPts val="2505"/>
              </a:lnSpc>
              <a:spcBef>
                <a:spcPts val="605"/>
              </a:spcBef>
            </a:pPr>
            <a:endParaRPr sz="2000" dirty="0">
              <a:latin typeface="华文仿宋" panose="02010600040101010101" charset="-122"/>
              <a:ea typeface="华文仿宋" panose="02010600040101010101" charset="-122"/>
              <a:cs typeface="华文仿宋" panose="02010600040101010101" charset="-122"/>
            </a:endParaRPr>
          </a:p>
        </p:txBody>
      </p:sp>
      <p:sp>
        <p:nvSpPr>
          <p:cNvPr id="48" name="rect 48"/>
          <p:cNvSpPr/>
          <p:nvPr/>
        </p:nvSpPr>
        <p:spPr>
          <a:xfrm>
            <a:off x="0" y="6556247"/>
            <a:ext cx="12192000" cy="301752"/>
          </a:xfrm>
          <a:prstGeom prst="rect">
            <a:avLst/>
          </a:prstGeom>
          <a:solidFill>
            <a:srgbClr val="AE0B2A">
              <a:alpha val="100000"/>
            </a:srgbClr>
          </a:solidFill>
          <a:ln w="0" cap="flat">
            <a:noFill/>
            <a:prstDash val="solid"/>
            <a:miter lim="0"/>
          </a:ln>
        </p:spPr>
        <p:txBody>
          <a:bodyPr rtlCol="0"/>
          <a:lstStyle/>
          <a:p>
            <a:pPr algn="ctr"/>
            <a:endParaRPr lang="zh-CN" altLang="en-US"/>
          </a:p>
        </p:txBody>
      </p:sp>
      <p:pic>
        <p:nvPicPr>
          <p:cNvPr id="52" name="picture 52"/>
          <p:cNvPicPr>
            <a:picLocks noChangeAspect="1"/>
          </p:cNvPicPr>
          <p:nvPr/>
        </p:nvPicPr>
        <p:blipFill>
          <a:blip r:embed="rId1"/>
          <a:stretch>
            <a:fillRect/>
          </a:stretch>
        </p:blipFill>
        <p:spPr>
          <a:xfrm rot="21600000">
            <a:off x="2752725" y="451954"/>
            <a:ext cx="9439275" cy="19050"/>
          </a:xfrm>
          <a:prstGeom prst="rect">
            <a:avLst/>
          </a:prstGeom>
        </p:spPr>
      </p:pic>
      <p:pic>
        <p:nvPicPr>
          <p:cNvPr id="54" name="picture 54"/>
          <p:cNvPicPr>
            <a:picLocks noChangeAspect="1"/>
          </p:cNvPicPr>
          <p:nvPr/>
        </p:nvPicPr>
        <p:blipFill>
          <a:blip r:embed="rId2"/>
          <a:stretch>
            <a:fillRect/>
          </a:stretch>
        </p:blipFill>
        <p:spPr>
          <a:xfrm rot="21600000">
            <a:off x="0" y="451954"/>
            <a:ext cx="901700" cy="19050"/>
          </a:xfrm>
          <a:prstGeom prst="rect">
            <a:avLst/>
          </a:prstGeom>
        </p:spPr>
      </p:pic>
      <p:pic>
        <p:nvPicPr>
          <p:cNvPr id="3" name="图片 2"/>
          <p:cNvPicPr>
            <a:picLocks noChangeAspect="1"/>
          </p:cNvPicPr>
          <p:nvPr/>
        </p:nvPicPr>
        <p:blipFill>
          <a:blip r:embed="rId3"/>
          <a:stretch>
            <a:fillRect/>
          </a:stretch>
        </p:blipFill>
        <p:spPr>
          <a:xfrm>
            <a:off x="210185" y="1462405"/>
            <a:ext cx="8369300" cy="4197350"/>
          </a:xfrm>
          <a:prstGeom prst="rect">
            <a:avLst/>
          </a:prstGeom>
        </p:spPr>
      </p:pic>
      <p:pic>
        <p:nvPicPr>
          <p:cNvPr id="186" name="picture 186"/>
          <p:cNvPicPr>
            <a:picLocks noChangeAspect="1"/>
          </p:cNvPicPr>
          <p:nvPr/>
        </p:nvPicPr>
        <p:blipFill>
          <a:blip r:embed="rId4"/>
          <a:stretch>
            <a:fillRect/>
          </a:stretch>
        </p:blipFill>
        <p:spPr>
          <a:xfrm rot="21600000">
            <a:off x="9900031" y="1925180"/>
            <a:ext cx="1319910" cy="370725"/>
          </a:xfrm>
          <a:prstGeom prst="rect">
            <a:avLst/>
          </a:prstGeom>
        </p:spPr>
      </p:pic>
      <p:pic>
        <p:nvPicPr>
          <p:cNvPr id="188" name="picture 188"/>
          <p:cNvPicPr>
            <a:picLocks noChangeAspect="1"/>
          </p:cNvPicPr>
          <p:nvPr/>
        </p:nvPicPr>
        <p:blipFill>
          <a:blip r:embed="rId5"/>
          <a:stretch>
            <a:fillRect/>
          </a:stretch>
        </p:blipFill>
        <p:spPr>
          <a:xfrm rot="21600000">
            <a:off x="9032113" y="1834502"/>
            <a:ext cx="476986" cy="498868"/>
          </a:xfrm>
          <a:prstGeom prst="rect">
            <a:avLst/>
          </a:prstGeom>
        </p:spPr>
      </p:pic>
      <p:pic>
        <p:nvPicPr>
          <p:cNvPr id="192" name="picture 192"/>
          <p:cNvPicPr>
            <a:picLocks noChangeAspect="1"/>
          </p:cNvPicPr>
          <p:nvPr/>
        </p:nvPicPr>
        <p:blipFill>
          <a:blip r:embed="rId6"/>
          <a:stretch>
            <a:fillRect/>
          </a:stretch>
        </p:blipFill>
        <p:spPr>
          <a:xfrm rot="21600000">
            <a:off x="10179340" y="4085488"/>
            <a:ext cx="1251889" cy="353796"/>
          </a:xfrm>
          <a:prstGeom prst="rect">
            <a:avLst/>
          </a:prstGeom>
        </p:spPr>
      </p:pic>
      <p:sp>
        <p:nvSpPr>
          <p:cNvPr id="224" name="textbox 224"/>
          <p:cNvSpPr/>
          <p:nvPr/>
        </p:nvSpPr>
        <p:spPr>
          <a:xfrm>
            <a:off x="8679434" y="5058156"/>
            <a:ext cx="2799714" cy="321309"/>
          </a:xfrm>
          <a:prstGeom prst="roundRect">
            <a:avLst>
              <a:gd name="adj" fmla="val 19837"/>
            </a:avLst>
          </a:prstGeom>
          <a:solidFill>
            <a:srgbClr val="BB9773">
              <a:alpha val="100000"/>
            </a:srgbClr>
          </a:solidFill>
          <a:ln w="12700" cap="flat">
            <a:solidFill>
              <a:srgbClr val="510205"/>
            </a:solidFill>
            <a:prstDash val="solid"/>
            <a:miter lim="0"/>
          </a:ln>
        </p:spPr>
        <p:txBody>
          <a:bodyPr vert="horz" wrap="square" lIns="0" tIns="0" rIns="0" bIns="0"/>
          <a:lstStyle/>
          <a:p>
            <a:pPr algn="l" rtl="0" eaLnBrk="0">
              <a:lnSpc>
                <a:spcPct val="101000"/>
              </a:lnSpc>
            </a:pPr>
            <a:endParaRPr sz="300" dirty="0">
              <a:latin typeface="Arial" panose="020B0604020202020204" pitchFamily="34" charset="0"/>
              <a:ea typeface="Arial" panose="020B0604020202020204" pitchFamily="34" charset="0"/>
              <a:cs typeface="Arial" panose="020B0604020202020204" pitchFamily="34" charset="0"/>
            </a:endParaRPr>
          </a:p>
          <a:p>
            <a:pPr marL="444500" algn="l" rtl="0" eaLnBrk="0">
              <a:lnSpc>
                <a:spcPct val="95000"/>
              </a:lnSpc>
              <a:spcBef>
                <a:spcPts val="0"/>
              </a:spcBef>
            </a:pPr>
            <a:r>
              <a:rPr sz="1500" b="1" kern="0" spc="80" dirty="0">
                <a:solidFill>
                  <a:srgbClr val="FFFFFF">
                    <a:alpha val="100000"/>
                  </a:srgbClr>
                </a:solidFill>
                <a:latin typeface="楷体" panose="02010609060101010101" charset="-122"/>
                <a:ea typeface="楷体" panose="02010609060101010101" charset="-122"/>
                <a:cs typeface="楷体" panose="02010609060101010101" charset="-122"/>
              </a:rPr>
              <a:t>收益聚合器</a:t>
            </a:r>
            <a:r>
              <a:rPr sz="1500" b="1" kern="0" spc="80" dirty="0">
                <a:solidFill>
                  <a:srgbClr val="FFFFFF">
                    <a:alpha val="100000"/>
                  </a:srgbClr>
                </a:solidFill>
                <a:latin typeface="Arial" panose="020B0604020202020204" pitchFamily="34" charset="0"/>
                <a:ea typeface="Arial" panose="020B0604020202020204" pitchFamily="34" charset="0"/>
                <a:cs typeface="Arial" panose="020B0604020202020204" pitchFamily="34" charset="0"/>
              </a:rPr>
              <a:t>/</a:t>
            </a:r>
            <a:r>
              <a:rPr sz="1500" b="1" kern="0" spc="80" dirty="0">
                <a:solidFill>
                  <a:srgbClr val="FFFFFF">
                    <a:alpha val="100000"/>
                  </a:srgbClr>
                </a:solidFill>
                <a:latin typeface="楷体" panose="02010609060101010101" charset="-122"/>
                <a:ea typeface="楷体" panose="02010609060101010101" charset="-122"/>
                <a:cs typeface="楷体" panose="02010609060101010101" charset="-122"/>
              </a:rPr>
              <a:t>策略平台</a:t>
            </a:r>
            <a:endParaRPr sz="1500" dirty="0">
              <a:latin typeface="楷体" panose="02010609060101010101" charset="-122"/>
              <a:ea typeface="楷体" panose="02010609060101010101" charset="-122"/>
              <a:cs typeface="楷体" panose="02010609060101010101" charset="-122"/>
            </a:endParaRPr>
          </a:p>
        </p:txBody>
      </p:sp>
      <p:sp>
        <p:nvSpPr>
          <p:cNvPr id="226" name="textbox 226"/>
          <p:cNvSpPr/>
          <p:nvPr/>
        </p:nvSpPr>
        <p:spPr>
          <a:xfrm>
            <a:off x="8679434" y="3649853"/>
            <a:ext cx="2799714" cy="321309"/>
          </a:xfrm>
          <a:prstGeom prst="roundRect">
            <a:avLst>
              <a:gd name="adj" fmla="val 19839"/>
            </a:avLst>
          </a:prstGeom>
          <a:solidFill>
            <a:srgbClr val="BB9773">
              <a:alpha val="100000"/>
            </a:srgbClr>
          </a:solidFill>
          <a:ln w="12700" cap="flat">
            <a:solidFill>
              <a:srgbClr val="510205"/>
            </a:solidFill>
            <a:prstDash val="solid"/>
            <a:miter lim="0"/>
          </a:ln>
        </p:spPr>
        <p:txBody>
          <a:bodyPr vert="horz" wrap="square" lIns="0" tIns="0" rIns="0" bIns="0"/>
          <a:lstStyle/>
          <a:p>
            <a:pPr algn="l" rtl="0" eaLnBrk="0">
              <a:lnSpc>
                <a:spcPct val="149000"/>
              </a:lnSpc>
            </a:pPr>
            <a:endParaRPr sz="200" dirty="0">
              <a:latin typeface="Arial" panose="020B0604020202020204" pitchFamily="34" charset="0"/>
              <a:ea typeface="Arial" panose="020B0604020202020204" pitchFamily="34" charset="0"/>
              <a:cs typeface="Arial" panose="020B0604020202020204" pitchFamily="34" charset="0"/>
            </a:endParaRPr>
          </a:p>
          <a:p>
            <a:pPr marL="973455" algn="l" rtl="0" eaLnBrk="0">
              <a:lnSpc>
                <a:spcPct val="89000"/>
              </a:lnSpc>
              <a:spcBef>
                <a:spcPts val="0"/>
              </a:spcBef>
            </a:pPr>
            <a:r>
              <a:rPr sz="1500" b="1" kern="0" spc="90" dirty="0">
                <a:solidFill>
                  <a:srgbClr val="FFFFFF">
                    <a:alpha val="100000"/>
                  </a:srgbClr>
                </a:solidFill>
                <a:latin typeface="楷体" panose="02010609060101010101" charset="-122"/>
                <a:ea typeface="楷体" panose="02010609060101010101" charset="-122"/>
                <a:cs typeface="楷体" panose="02010609060101010101" charset="-122"/>
              </a:rPr>
              <a:t>借贷协议</a:t>
            </a:r>
            <a:endParaRPr sz="1500" dirty="0">
              <a:latin typeface="楷体" panose="02010609060101010101" charset="-122"/>
              <a:ea typeface="楷体" panose="02010609060101010101" charset="-122"/>
              <a:cs typeface="楷体" panose="02010609060101010101" charset="-122"/>
            </a:endParaRPr>
          </a:p>
        </p:txBody>
      </p:sp>
      <p:sp>
        <p:nvSpPr>
          <p:cNvPr id="228" name="textbox 228"/>
          <p:cNvSpPr/>
          <p:nvPr/>
        </p:nvSpPr>
        <p:spPr>
          <a:xfrm>
            <a:off x="8687434" y="1479422"/>
            <a:ext cx="2799714" cy="321309"/>
          </a:xfrm>
          <a:prstGeom prst="roundRect">
            <a:avLst>
              <a:gd name="adj" fmla="val 19840"/>
            </a:avLst>
          </a:prstGeom>
          <a:solidFill>
            <a:srgbClr val="BB9773">
              <a:alpha val="100000"/>
            </a:srgbClr>
          </a:solidFill>
          <a:ln w="12700" cap="flat">
            <a:solidFill>
              <a:srgbClr val="510205"/>
            </a:solidFill>
            <a:prstDash val="solid"/>
            <a:miter lim="0"/>
          </a:ln>
        </p:spPr>
        <p:txBody>
          <a:bodyPr vert="horz" wrap="square" lIns="0" tIns="0" rIns="0" bIns="0"/>
          <a:lstStyle/>
          <a:p>
            <a:pPr algn="l" rtl="0" eaLnBrk="0">
              <a:lnSpc>
                <a:spcPct val="148000"/>
              </a:lnSpc>
            </a:pPr>
            <a:endParaRPr sz="200" dirty="0">
              <a:latin typeface="Arial" panose="020B0604020202020204" pitchFamily="34" charset="0"/>
              <a:ea typeface="Arial" panose="020B0604020202020204" pitchFamily="34" charset="0"/>
              <a:cs typeface="Arial" panose="020B0604020202020204" pitchFamily="34" charset="0"/>
            </a:endParaRPr>
          </a:p>
          <a:p>
            <a:pPr marL="258445" algn="l" rtl="0" eaLnBrk="0">
              <a:lnSpc>
                <a:spcPct val="89000"/>
              </a:lnSpc>
            </a:pPr>
            <a:r>
              <a:rPr sz="1500" b="1" kern="0" spc="100" dirty="0">
                <a:solidFill>
                  <a:srgbClr val="FFFFFF">
                    <a:alpha val="100000"/>
                  </a:srgbClr>
                </a:solidFill>
                <a:latin typeface="楷体" panose="02010609060101010101" charset="-122"/>
                <a:ea typeface="楷体" panose="02010609060101010101" charset="-122"/>
                <a:cs typeface="楷体" panose="02010609060101010101" charset="-122"/>
              </a:rPr>
              <a:t>去中心化交易所（</a:t>
            </a:r>
            <a:r>
              <a:rPr sz="1500" b="1" kern="0" spc="0" dirty="0">
                <a:solidFill>
                  <a:srgbClr val="FFFFFF">
                    <a:alpha val="100000"/>
                  </a:srgbClr>
                </a:solidFill>
                <a:latin typeface="Arial" panose="020B0604020202020204" pitchFamily="34" charset="0"/>
                <a:ea typeface="Arial" panose="020B0604020202020204" pitchFamily="34" charset="0"/>
                <a:cs typeface="Arial" panose="020B0604020202020204" pitchFamily="34" charset="0"/>
              </a:rPr>
              <a:t>DEX</a:t>
            </a:r>
            <a:r>
              <a:rPr sz="1500" b="1" kern="0" spc="100" dirty="0">
                <a:solidFill>
                  <a:srgbClr val="FFFFFF">
                    <a:alpha val="100000"/>
                  </a:srgbClr>
                </a:solidFill>
                <a:latin typeface="楷体" panose="02010609060101010101" charset="-122"/>
                <a:ea typeface="楷体" panose="02010609060101010101" charset="-122"/>
                <a:cs typeface="楷体" panose="02010609060101010101" charset="-122"/>
              </a:rPr>
              <a:t>）</a:t>
            </a:r>
            <a:endParaRPr sz="1500" dirty="0">
              <a:latin typeface="楷体" panose="02010609060101010101" charset="-122"/>
              <a:ea typeface="楷体" panose="02010609060101010101" charset="-122"/>
              <a:cs typeface="楷体" panose="02010609060101010101" charset="-122"/>
            </a:endParaRPr>
          </a:p>
        </p:txBody>
      </p:sp>
      <p:graphicFrame>
        <p:nvGraphicFramePr>
          <p:cNvPr id="5" name="table 190"/>
          <p:cNvGraphicFramePr>
            <a:graphicFrameLocks noGrp="1"/>
          </p:cNvGraphicFramePr>
          <p:nvPr/>
        </p:nvGraphicFramePr>
        <p:xfrm>
          <a:off x="8579612" y="1362291"/>
          <a:ext cx="3015615" cy="4694554"/>
        </p:xfrm>
        <a:graphic>
          <a:graphicData uri="http://schemas.openxmlformats.org/drawingml/2006/table">
            <a:tbl>
              <a:tblPr/>
              <a:tblGrid>
                <a:gridCol w="3015614"/>
              </a:tblGrid>
              <a:tr h="509905">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BB9773"/>
                      </a:solidFill>
                      <a:prstDash val="dash"/>
                      <a:round/>
                      <a:headEnd type="none" w="med" len="med"/>
                      <a:tailEnd type="none" w="med" len="med"/>
                    </a:lnL>
                    <a:lnR w="12700" cap="flat" cmpd="sng" algn="ctr">
                      <a:solidFill>
                        <a:srgbClr val="BB9773"/>
                      </a:solidFill>
                      <a:prstDash val="dash"/>
                      <a:round/>
                      <a:headEnd type="none" w="med" len="med"/>
                      <a:tailEnd type="none" w="med" len="med"/>
                    </a:lnR>
                    <a:lnT w="12700" cap="flat" cmpd="sng" algn="ctr">
                      <a:solidFill>
                        <a:srgbClr val="BB9773"/>
                      </a:solidFill>
                      <a:prstDash val="dash"/>
                      <a:round/>
                      <a:headEnd type="none" w="med" len="med"/>
                      <a:tailEnd type="none" w="med" len="med"/>
                    </a:lnT>
                    <a:lnB>
                      <a:noFill/>
                    </a:lnB>
                  </a:tcPr>
                </a:tc>
              </a:tr>
              <a:tr h="1743710">
                <a:tc>
                  <a:txBody>
                    <a:bodyPr/>
                    <a:lstStyle/>
                    <a:p>
                      <a:pPr algn="l" rtl="0" eaLnBrk="0">
                        <a:lnSpc>
                          <a:spcPct val="139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40000"/>
                        </a:lnSpc>
                      </a:pPr>
                      <a:endParaRPr sz="1000" dirty="0">
                        <a:latin typeface="Arial" panose="020B0604020202020204" pitchFamily="34" charset="0"/>
                        <a:ea typeface="Arial" panose="020B0604020202020204" pitchFamily="34" charset="0"/>
                        <a:cs typeface="Arial" panose="020B0604020202020204" pitchFamily="34" charset="0"/>
                      </a:endParaRPr>
                    </a:p>
                    <a:p>
                      <a:pPr marL="356235" algn="l" rtl="0" eaLnBrk="0">
                        <a:lnSpc>
                          <a:spcPts val="3815"/>
                        </a:lnSpc>
                        <a:spcBef>
                          <a:spcPts val="5"/>
                        </a:spcBef>
                      </a:pPr>
                      <a:r>
                        <a:rPr sz="3100" kern="0" spc="-230" dirty="0">
                          <a:solidFill>
                            <a:srgbClr val="D1884F">
                              <a:alpha val="100000"/>
                            </a:srgbClr>
                          </a:solidFill>
                          <a:latin typeface="Arial Unicode MS"/>
                          <a:ea typeface="Arial Unicode MS"/>
                          <a:cs typeface="Arial Unicode MS"/>
                        </a:rPr>
                        <a:t>⃞pancake</a:t>
                      </a:r>
                      <a:r>
                        <a:rPr sz="3100" kern="0" spc="-670" dirty="0">
                          <a:solidFill>
                            <a:srgbClr val="D1884F">
                              <a:alpha val="100000"/>
                            </a:srgbClr>
                          </a:solidFill>
                          <a:latin typeface="Arial Unicode MS"/>
                          <a:ea typeface="Arial Unicode MS"/>
                          <a:cs typeface="Arial Unicode MS"/>
                        </a:rPr>
                        <a:t> </a:t>
                      </a:r>
                      <a:r>
                        <a:rPr sz="3100" kern="0" spc="-230" dirty="0">
                          <a:solidFill>
                            <a:srgbClr val="D1884F">
                              <a:alpha val="100000"/>
                            </a:srgbClr>
                          </a:solidFill>
                          <a:latin typeface="Arial" panose="020B0604020202020204" pitchFamily="34" charset="0"/>
                          <a:ea typeface="Arial" panose="020B0604020202020204" pitchFamily="34" charset="0"/>
                          <a:cs typeface="Arial" panose="020B0604020202020204" pitchFamily="34" charset="0"/>
                        </a:rPr>
                        <a:t>s</a:t>
                      </a:r>
                      <a:r>
                        <a:rPr sz="3100" kern="0" spc="-240" dirty="0">
                          <a:solidFill>
                            <a:srgbClr val="D1884F">
                              <a:alpha val="100000"/>
                            </a:srgbClr>
                          </a:solidFill>
                          <a:latin typeface="Arial" panose="020B0604020202020204" pitchFamily="34" charset="0"/>
                          <a:ea typeface="Arial" panose="020B0604020202020204" pitchFamily="34" charset="0"/>
                          <a:cs typeface="Arial" panose="020B0604020202020204" pitchFamily="34" charset="0"/>
                        </a:rPr>
                        <a:t>wap</a:t>
                      </a:r>
                      <a:endParaRPr sz="3100" dirty="0">
                        <a:latin typeface="Arial" panose="020B0604020202020204" pitchFamily="34" charset="0"/>
                        <a:ea typeface="Arial" panose="020B0604020202020204" pitchFamily="34" charset="0"/>
                        <a:cs typeface="Arial" panose="020B0604020202020204" pitchFamily="34" charset="0"/>
                      </a:endParaRPr>
                    </a:p>
                    <a:p>
                      <a:pPr algn="l" rtl="0" eaLnBrk="0">
                        <a:lnSpc>
                          <a:spcPct val="113000"/>
                        </a:lnSpc>
                      </a:pPr>
                      <a:endParaRPr sz="400" dirty="0">
                        <a:latin typeface="Arial" panose="020B0604020202020204" pitchFamily="34" charset="0"/>
                        <a:ea typeface="Arial" panose="020B0604020202020204" pitchFamily="34" charset="0"/>
                        <a:cs typeface="Arial" panose="020B0604020202020204" pitchFamily="34" charset="0"/>
                      </a:endParaRPr>
                    </a:p>
                    <a:p>
                      <a:pPr marL="133985" indent="10795" algn="l" rtl="0" eaLnBrk="0">
                        <a:lnSpc>
                          <a:spcPct val="104000"/>
                        </a:lnSpc>
                        <a:spcBef>
                          <a:spcPts val="0"/>
                        </a:spcBef>
                      </a:pPr>
                      <a:r>
                        <a:rPr sz="1500" kern="0" spc="80" dirty="0">
                          <a:solidFill>
                            <a:srgbClr val="000000">
                              <a:alpha val="100000"/>
                            </a:srgbClr>
                          </a:solidFill>
                          <a:latin typeface="楷体" panose="02010609060101010101" charset="-122"/>
                          <a:ea typeface="楷体" panose="02010609060101010101" charset="-122"/>
                          <a:cs typeface="楷体" panose="02010609060101010101" charset="-122"/>
                        </a:rPr>
                        <a:t>用户通过稳定币进行代币兑</a:t>
                      </a:r>
                      <a:r>
                        <a:rPr sz="1500" kern="0" spc="70" dirty="0">
                          <a:solidFill>
                            <a:srgbClr val="000000">
                              <a:alpha val="100000"/>
                            </a:srgbClr>
                          </a:solidFill>
                          <a:latin typeface="楷体" panose="02010609060101010101" charset="-122"/>
                          <a:ea typeface="楷体" panose="02010609060101010101" charset="-122"/>
                          <a:cs typeface="楷体" panose="02010609060101010101" charset="-122"/>
                        </a:rPr>
                        <a:t>换，</a:t>
                      </a:r>
                      <a:r>
                        <a:rPr sz="1500" kern="0" spc="90" dirty="0">
                          <a:solidFill>
                            <a:srgbClr val="000000">
                              <a:alpha val="100000"/>
                            </a:srgbClr>
                          </a:solidFill>
                          <a:latin typeface="楷体" panose="02010609060101010101" charset="-122"/>
                          <a:ea typeface="楷体" panose="02010609060101010101" charset="-122"/>
                          <a:cs typeface="楷体" panose="02010609060101010101" charset="-122"/>
                        </a:rPr>
                        <a:t>或将稳定币与其他代币组成流动</a:t>
                      </a:r>
                      <a:r>
                        <a:rPr sz="1500" kern="0" spc="60" dirty="0">
                          <a:solidFill>
                            <a:srgbClr val="000000">
                              <a:alpha val="100000"/>
                            </a:srgbClr>
                          </a:solidFill>
                          <a:latin typeface="楷体" panose="02010609060101010101" charset="-122"/>
                          <a:ea typeface="楷体" panose="02010609060101010101" charset="-122"/>
                          <a:cs typeface="楷体" panose="02010609060101010101" charset="-122"/>
                        </a:rPr>
                        <a:t>性对（</a:t>
                      </a:r>
                      <a:r>
                        <a:rPr sz="15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LP</a:t>
                      </a:r>
                      <a:r>
                        <a:rPr sz="1500" kern="0" spc="60" dirty="0">
                          <a:solidFill>
                            <a:srgbClr val="000000">
                              <a:alpha val="100000"/>
                            </a:srgbClr>
                          </a:solidFill>
                          <a:latin typeface="楷体" panose="02010609060101010101" charset="-122"/>
                          <a:ea typeface="楷体" panose="02010609060101010101" charset="-122"/>
                          <a:cs typeface="楷体" panose="02010609060101010101" charset="-122"/>
                        </a:rPr>
                        <a:t>）</a:t>
                      </a:r>
                      <a:r>
                        <a:rPr sz="1500" kern="0" spc="-360" dirty="0">
                          <a:solidFill>
                            <a:srgbClr val="000000">
                              <a:alpha val="100000"/>
                            </a:srgbClr>
                          </a:solidFill>
                          <a:latin typeface="楷体" panose="02010609060101010101" charset="-122"/>
                          <a:ea typeface="楷体" panose="02010609060101010101" charset="-122"/>
                          <a:cs typeface="楷体" panose="02010609060101010101" charset="-122"/>
                        </a:rPr>
                        <a:t> </a:t>
                      </a:r>
                      <a:r>
                        <a:rPr sz="1500" kern="0" spc="60" dirty="0">
                          <a:solidFill>
                            <a:srgbClr val="000000">
                              <a:alpha val="100000"/>
                            </a:srgbClr>
                          </a:solidFill>
                          <a:latin typeface="楷体" panose="02010609060101010101" charset="-122"/>
                          <a:ea typeface="楷体" panose="02010609060101010101" charset="-122"/>
                          <a:cs typeface="楷体" panose="02010609060101010101" charset="-122"/>
                        </a:rPr>
                        <a:t>以赚取收益</a:t>
                      </a:r>
                      <a:endParaRPr sz="15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BB9773"/>
                      </a:solidFill>
                      <a:prstDash val="dash"/>
                      <a:round/>
                      <a:headEnd type="none" w="med" len="med"/>
                      <a:tailEnd type="none" w="med" len="med"/>
                    </a:lnL>
                    <a:lnR w="12700" cap="flat" cmpd="sng" algn="ctr">
                      <a:solidFill>
                        <a:srgbClr val="BB9773"/>
                      </a:solidFill>
                      <a:prstDash val="dash"/>
                      <a:round/>
                      <a:headEnd type="none" w="med" len="med"/>
                      <a:tailEnd type="none" w="med" len="med"/>
                    </a:lnR>
                    <a:lnT>
                      <a:noFill/>
                    </a:lnT>
                    <a:lnB>
                      <a:noFill/>
                    </a:lnB>
                  </a:tcPr>
                </a:tc>
              </a:tr>
              <a:tr h="2440939">
                <a:tc>
                  <a:txBody>
                    <a:bodyPr/>
                    <a:lstStyle/>
                    <a:p>
                      <a:pPr algn="l" rtl="0" eaLnBrk="0">
                        <a:lnSpc>
                          <a:spcPct val="102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3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3000"/>
                        </a:lnSpc>
                      </a:pPr>
                      <a:endParaRPr sz="1000" dirty="0">
                        <a:latin typeface="Arial" panose="020B0604020202020204" pitchFamily="34" charset="0"/>
                        <a:ea typeface="Arial" panose="020B0604020202020204" pitchFamily="34" charset="0"/>
                        <a:cs typeface="Arial" panose="020B0604020202020204" pitchFamily="34" charset="0"/>
                      </a:endParaRPr>
                    </a:p>
                    <a:p>
                      <a:pPr marL="226695" algn="l" rtl="0" eaLnBrk="0">
                        <a:lnSpc>
                          <a:spcPct val="84000"/>
                        </a:lnSpc>
                        <a:spcBef>
                          <a:spcPts val="5"/>
                        </a:spcBef>
                      </a:pPr>
                      <a:r>
                        <a:rPr sz="3400" kern="0" spc="80" dirty="0">
                          <a:solidFill>
                            <a:srgbClr val="262323">
                              <a:alpha val="100000"/>
                            </a:srgbClr>
                          </a:solidFill>
                          <a:latin typeface="Arial" panose="020B0604020202020204" pitchFamily="34" charset="0"/>
                          <a:ea typeface="Arial" panose="020B0604020202020204" pitchFamily="34" charset="0"/>
                          <a:cs typeface="Arial" panose="020B0604020202020204" pitchFamily="34" charset="0"/>
                        </a:rPr>
                        <a:t>aaa</a:t>
                      </a:r>
                      <a:r>
                        <a:rPr sz="3400" kern="0" spc="-750" dirty="0">
                          <a:solidFill>
                            <a:srgbClr val="262323">
                              <a:alpha val="100000"/>
                            </a:srgbClr>
                          </a:solidFill>
                          <a:latin typeface="Arial" panose="020B0604020202020204" pitchFamily="34" charset="0"/>
                          <a:ea typeface="Arial" panose="020B0604020202020204" pitchFamily="34" charset="0"/>
                          <a:cs typeface="Arial" panose="020B0604020202020204" pitchFamily="34" charset="0"/>
                        </a:rPr>
                        <a:t> </a:t>
                      </a:r>
                      <a:r>
                        <a:rPr sz="3400" kern="0" spc="80" dirty="0">
                          <a:solidFill>
                            <a:srgbClr val="262323">
                              <a:alpha val="100000"/>
                            </a:srgbClr>
                          </a:solidFill>
                          <a:latin typeface="Arial" panose="020B0604020202020204" pitchFamily="34" charset="0"/>
                          <a:ea typeface="Arial" panose="020B0604020202020204" pitchFamily="34" charset="0"/>
                          <a:cs typeface="Arial" panose="020B0604020202020204" pitchFamily="34" charset="0"/>
                        </a:rPr>
                        <a:t>ve</a:t>
                      </a:r>
                      <a:r>
                        <a:rPr sz="3400" kern="0" spc="80" dirty="0">
                          <a:solidFill>
                            <a:srgbClr val="262323">
                              <a:alpha val="100000"/>
                            </a:srgbClr>
                          </a:solidFill>
                          <a:latin typeface="Arial" panose="020B0604020202020204" pitchFamily="34" charset="0"/>
                          <a:ea typeface="Arial" panose="020B0604020202020204" pitchFamily="34" charset="0"/>
                          <a:cs typeface="Arial" panose="020B0604020202020204" pitchFamily="34" charset="0"/>
                        </a:rPr>
                        <a:t> </a:t>
                      </a:r>
                      <a:endParaRPr sz="3400" dirty="0">
                        <a:latin typeface="Arial" panose="020B0604020202020204" pitchFamily="34" charset="0"/>
                        <a:ea typeface="Arial" panose="020B0604020202020204" pitchFamily="34" charset="0"/>
                        <a:cs typeface="Arial" panose="020B0604020202020204" pitchFamily="34" charset="0"/>
                      </a:endParaRPr>
                    </a:p>
                    <a:p>
                      <a:pPr marL="71755" indent="13970" algn="l" rtl="0" eaLnBrk="0">
                        <a:lnSpc>
                          <a:spcPct val="95000"/>
                        </a:lnSpc>
                        <a:spcBef>
                          <a:spcPts val="270"/>
                        </a:spcBef>
                      </a:pPr>
                      <a:r>
                        <a:rPr sz="1500" kern="0" spc="80" dirty="0">
                          <a:solidFill>
                            <a:srgbClr val="000000">
                              <a:alpha val="100000"/>
                            </a:srgbClr>
                          </a:solidFill>
                          <a:latin typeface="楷体" panose="02010609060101010101" charset="-122"/>
                          <a:ea typeface="楷体" panose="02010609060101010101" charset="-122"/>
                          <a:cs typeface="楷体" panose="02010609060101010101" charset="-122"/>
                        </a:rPr>
                        <a:t>用户存入稳定币赚取利息，或抵</a:t>
                      </a:r>
                      <a:r>
                        <a:rPr sz="1500" kern="0" spc="90" dirty="0">
                          <a:solidFill>
                            <a:srgbClr val="000000">
                              <a:alpha val="100000"/>
                            </a:srgbClr>
                          </a:solidFill>
                          <a:latin typeface="楷体" panose="02010609060101010101" charset="-122"/>
                          <a:ea typeface="楷体" panose="02010609060101010101" charset="-122"/>
                          <a:cs typeface="楷体" panose="02010609060101010101" charset="-122"/>
                        </a:rPr>
                        <a:t>押其他加密资产借出稳定币</a:t>
                      </a:r>
                      <a:endParaRPr sz="1500" dirty="0">
                        <a:latin typeface="楷体" panose="02010609060101010101" charset="-122"/>
                        <a:ea typeface="楷体" panose="02010609060101010101" charset="-122"/>
                        <a:cs typeface="楷体" panose="02010609060101010101" charset="-122"/>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28000"/>
                        </a:lnSpc>
                      </a:pPr>
                      <a:endParaRPr sz="300" dirty="0">
                        <a:latin typeface="Arial" panose="020B0604020202020204" pitchFamily="34" charset="0"/>
                        <a:ea typeface="Arial" panose="020B0604020202020204" pitchFamily="34" charset="0"/>
                        <a:cs typeface="Arial" panose="020B0604020202020204" pitchFamily="34" charset="0"/>
                      </a:endParaRPr>
                    </a:p>
                    <a:p>
                      <a:pPr marL="91440" indent="1270" algn="l" rtl="0" eaLnBrk="0">
                        <a:lnSpc>
                          <a:spcPct val="99000"/>
                        </a:lnSpc>
                      </a:pPr>
                      <a:r>
                        <a:rPr sz="1500" kern="0" spc="110" dirty="0">
                          <a:solidFill>
                            <a:srgbClr val="000000">
                              <a:alpha val="100000"/>
                            </a:srgbClr>
                          </a:solidFill>
                          <a:latin typeface="楷体" panose="02010609060101010101" charset="-122"/>
                          <a:ea typeface="楷体" panose="02010609060101010101" charset="-122"/>
                          <a:cs typeface="楷体" panose="02010609060101010101" charset="-122"/>
                        </a:rPr>
                        <a:t>帮用户将稳定币投到</a:t>
                      </a:r>
                      <a:r>
                        <a:rPr sz="1500" kern="0" spc="100" dirty="0">
                          <a:solidFill>
                            <a:srgbClr val="000000">
                              <a:alpha val="100000"/>
                            </a:srgbClr>
                          </a:solidFill>
                          <a:latin typeface="楷体" panose="02010609060101010101" charset="-122"/>
                          <a:ea typeface="楷体" panose="02010609060101010101" charset="-122"/>
                          <a:cs typeface="楷体" panose="02010609060101010101" charset="-122"/>
                        </a:rPr>
                        <a:t>各种</a:t>
                      </a:r>
                      <a:r>
                        <a:rPr sz="15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DeFi  </a:t>
                      </a:r>
                      <a:r>
                        <a:rPr sz="1500" kern="0" spc="80" dirty="0">
                          <a:solidFill>
                            <a:srgbClr val="000000">
                              <a:alpha val="100000"/>
                            </a:srgbClr>
                          </a:solidFill>
                          <a:latin typeface="楷体" panose="02010609060101010101" charset="-122"/>
                          <a:ea typeface="楷体" panose="02010609060101010101" charset="-122"/>
                          <a:cs typeface="楷体" panose="02010609060101010101" charset="-122"/>
                        </a:rPr>
                        <a:t>协议中寻求最佳收益</a:t>
                      </a:r>
                      <a:endParaRPr sz="15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BB9773"/>
                      </a:solidFill>
                      <a:prstDash val="dash"/>
                      <a:round/>
                      <a:headEnd type="none" w="med" len="med"/>
                      <a:tailEnd type="none" w="med" len="med"/>
                    </a:lnL>
                    <a:lnR w="12700" cap="flat" cmpd="sng" algn="ctr">
                      <a:solidFill>
                        <a:srgbClr val="BB9773"/>
                      </a:solidFill>
                      <a:prstDash val="dash"/>
                      <a:round/>
                      <a:headEnd type="none" w="med" len="med"/>
                      <a:tailEnd type="none" w="med" len="med"/>
                    </a:lnR>
                    <a:lnT>
                      <a:noFill/>
                    </a:lnT>
                    <a:lnB w="12700" cap="flat" cmpd="sng" algn="ctr">
                      <a:solidFill>
                        <a:srgbClr val="BB9773"/>
                      </a:solidFill>
                      <a:prstDash val="dash"/>
                      <a:round/>
                      <a:headEnd type="none" w="med" len="med"/>
                      <a:tailEnd type="none" w="med" len="me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837565" y="1266825"/>
            <a:ext cx="9266555" cy="1568450"/>
          </a:xfrm>
          <a:prstGeom prst="rect">
            <a:avLst/>
          </a:prstGeom>
        </p:spPr>
        <p:txBody>
          <a:bodyPr wrap="square">
            <a:spAutoFit/>
          </a:bodyPr>
          <a:p>
            <a:r>
              <a:rPr lang="zh-CN" altLang="en-US" sz="1600"/>
              <a:t>加密货币实际上分两套交易路径：</a:t>
            </a:r>
            <a:endParaRPr lang="zh-CN" altLang="en-US" sz="1600"/>
          </a:p>
          <a:p>
            <a:r>
              <a:rPr lang="zh-CN" altLang="en-US" sz="1600" b="1"/>
              <a:t>第一种是链上交易（比如</a:t>
            </a:r>
            <a:r>
              <a:rPr lang="en-US" altLang="zh-CN" sz="1600" b="1">
                <a:hlinkClick r:id="rId1"/>
              </a:rPr>
              <a:t>Uniswap</a:t>
            </a:r>
            <a:r>
              <a:rPr lang="zh-CN" altLang="en-US" sz="1600" b="1"/>
              <a:t>、</a:t>
            </a:r>
            <a:r>
              <a:rPr lang="en-US" altLang="zh-CN" sz="1600" b="1"/>
              <a:t>DEX</a:t>
            </a:r>
            <a:r>
              <a:rPr lang="zh-CN" altLang="en-US" sz="1600" b="1"/>
              <a:t>）：</a:t>
            </a:r>
            <a:r>
              <a:rPr lang="zh-CN" altLang="en-US" sz="1600"/>
              <a:t>交易成交即链上清算，清算</a:t>
            </a:r>
            <a:r>
              <a:rPr lang="en-US" altLang="zh-CN" sz="1600"/>
              <a:t>=</a:t>
            </a:r>
            <a:r>
              <a:rPr lang="zh-CN" altLang="en-US" sz="1600"/>
              <a:t>共识确认，不需要任何清算中介，也</a:t>
            </a:r>
            <a:r>
              <a:rPr lang="zh-CN" altLang="en-US" sz="1600" b="1"/>
              <a:t>不涉及清算周期</a:t>
            </a:r>
            <a:r>
              <a:rPr lang="zh-CN" altLang="en-US" sz="1600"/>
              <a:t>。</a:t>
            </a:r>
            <a:endParaRPr lang="zh-CN" altLang="en-US" sz="1600"/>
          </a:p>
          <a:p>
            <a:r>
              <a:rPr lang="zh-CN" altLang="en-US" sz="1600" b="1"/>
              <a:t>第二种是链下交易（比如</a:t>
            </a:r>
            <a:r>
              <a:rPr lang="en-US" altLang="zh-CN" sz="1600" b="1">
                <a:hlinkClick r:id="rId2"/>
              </a:rPr>
              <a:t>Coinbase</a:t>
            </a:r>
            <a:r>
              <a:rPr lang="zh-CN" altLang="en-US" sz="1600" b="1"/>
              <a:t>、</a:t>
            </a:r>
            <a:r>
              <a:rPr lang="en-US" altLang="zh-CN" sz="1600" b="1"/>
              <a:t>Binance</a:t>
            </a:r>
            <a:r>
              <a:rPr lang="zh-CN" altLang="en-US" sz="1600" b="1"/>
              <a:t>）：</a:t>
            </a:r>
            <a:r>
              <a:rPr lang="zh-CN" altLang="en-US" sz="1600"/>
              <a:t>你充值法币或</a:t>
            </a:r>
            <a:r>
              <a:rPr lang="en-US" altLang="zh-CN" sz="1600"/>
              <a:t>USDT/USDC</a:t>
            </a:r>
            <a:r>
              <a:rPr lang="zh-CN" altLang="en-US" sz="1600"/>
              <a:t>后在交易所撮合成交，这时候交易清算就不走链上，</a:t>
            </a:r>
            <a:r>
              <a:rPr lang="zh-CN" altLang="en-US" sz="1600" b="1"/>
              <a:t>而是走交易所的内部账本。</a:t>
            </a:r>
            <a:endParaRPr lang="zh-CN" altLang="en-US" sz="1600" b="1"/>
          </a:p>
          <a:p>
            <a:endParaRPr lang="zh-CN" altLang="en-US" sz="16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extbox 56"/>
          <p:cNvSpPr/>
          <p:nvPr/>
        </p:nvSpPr>
        <p:spPr>
          <a:xfrm>
            <a:off x="591414" y="658672"/>
            <a:ext cx="11299190" cy="5318759"/>
          </a:xfrm>
          <a:prstGeom prst="rect">
            <a:avLst/>
          </a:prstGeom>
          <a:noFill/>
          <a:ln w="0" cap="flat">
            <a:noFill/>
            <a:prstDash val="solid"/>
            <a:miter lim="0"/>
          </a:ln>
        </p:spPr>
        <p:txBody>
          <a:bodyPr vert="horz" wrap="square" lIns="0" tIns="0" rIns="0" bIns="0"/>
          <a:lstStyle/>
          <a:p>
            <a:pPr algn="l" defTabSz="0" rtl="0" eaLnBrk="0">
              <a:lnSpc>
                <a:spcPct val="94000"/>
              </a:lnSpc>
            </a:pPr>
            <a:endParaRPr sz="100" dirty="0">
              <a:latin typeface="Arial" panose="020B0604020202020204" pitchFamily="34" charset="0"/>
              <a:ea typeface="Arial" panose="020B0604020202020204" pitchFamily="34" charset="0"/>
              <a:cs typeface="Arial" panose="020B0604020202020204" pitchFamily="34" charset="0"/>
            </a:endParaRPr>
          </a:p>
          <a:p>
            <a:pPr marL="1290955" algn="l" defTabSz="0" rtl="0" eaLnBrk="0">
              <a:lnSpc>
                <a:spcPct val="89000"/>
              </a:lnSpc>
            </a:pPr>
            <a:r>
              <a:rPr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一</a:t>
            </a:r>
            <a:r>
              <a:rPr sz="2700"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a:t>
            </a:r>
            <a:r>
              <a:rPr sz="2700" kern="0" spc="-13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从野</a:t>
            </a:r>
            <a:r>
              <a:rPr sz="2700" kern="0" spc="17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生</a:t>
            </a:r>
            <a:r>
              <a:rPr sz="2700"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到</a:t>
            </a:r>
            <a:r>
              <a:rPr sz="2700" kern="0" spc="-21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合法</a:t>
            </a:r>
            <a:r>
              <a:rPr sz="2700" kern="0" spc="-33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a:t>
            </a:r>
            <a:r>
              <a:rPr sz="2700"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稳定币</a:t>
            </a:r>
            <a:r>
              <a:rPr sz="2700"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大热背</a:t>
            </a:r>
            <a:r>
              <a:rPr sz="2700" kern="0" spc="-15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50" dirty="0">
                <a:solidFill>
                  <a:srgbClr val="003963">
                    <a:alpha val="100000"/>
                  </a:srgbClr>
                </a:solidFill>
                <a:latin typeface="华文新魏" panose="02010800040101010101" charset="-122"/>
                <a:ea typeface="华文新魏" panose="02010800040101010101" charset="-122"/>
                <a:cs typeface="华文新魏" panose="02010800040101010101" charset="-122"/>
              </a:rPr>
              <a:t>后的争议</a:t>
            </a:r>
            <a:endParaRPr sz="2700" dirty="0">
              <a:latin typeface="华文新魏" panose="02010800040101010101" charset="-122"/>
              <a:ea typeface="华文新魏" panose="02010800040101010101" charset="-122"/>
              <a:cs typeface="华文新魏" panose="02010800040101010101" charset="-122"/>
            </a:endParaRPr>
          </a:p>
          <a:p>
            <a:pPr algn="l" defTabSz="0" rtl="0" eaLnBrk="0">
              <a:lnSpc>
                <a:spcPct val="117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18000"/>
              </a:lnSpc>
            </a:pPr>
            <a:endParaRPr sz="1000" dirty="0">
              <a:latin typeface="Arial" panose="020B0604020202020204" pitchFamily="34" charset="0"/>
              <a:ea typeface="Arial" panose="020B0604020202020204" pitchFamily="34" charset="0"/>
              <a:cs typeface="Arial" panose="020B0604020202020204" pitchFamily="34" charset="0"/>
            </a:endParaRPr>
          </a:p>
          <a:p>
            <a:pPr marL="195580" algn="l" defTabSz="0" rtl="0" eaLnBrk="0">
              <a:lnSpc>
                <a:spcPts val="3120"/>
              </a:lnSpc>
              <a:spcBef>
                <a:spcPts val="690"/>
              </a:spcBef>
            </a:pPr>
            <a:r>
              <a:rPr sz="2300" b="1" kern="0" spc="10" dirty="0">
                <a:solidFill>
                  <a:srgbClr val="000000">
                    <a:alpha val="100000"/>
                  </a:srgbClr>
                </a:solidFill>
                <a:latin typeface="华文楷体" panose="02010600040101010101" charset="-122"/>
                <a:ea typeface="华文楷体" panose="02010600040101010101" charset="-122"/>
                <a:cs typeface="华文楷体" panose="02010600040101010101" charset="-122"/>
              </a:rPr>
              <a:t>（一）</a:t>
            </a:r>
            <a:r>
              <a:rPr sz="2300" kern="0" spc="190" dirty="0">
                <a:solidFill>
                  <a:srgbClr val="000000">
                    <a:alpha val="100000"/>
                  </a:srgbClr>
                </a:solidFill>
                <a:latin typeface="华文楷体" panose="02010600040101010101" charset="-122"/>
                <a:ea typeface="华文楷体" panose="02010600040101010101" charset="-122"/>
                <a:cs typeface="华文楷体" panose="02010600040101010101" charset="-122"/>
              </a:rPr>
              <a:t> </a:t>
            </a:r>
            <a:r>
              <a:rPr sz="2300" b="1" kern="0" spc="10" dirty="0">
                <a:solidFill>
                  <a:srgbClr val="000000">
                    <a:alpha val="100000"/>
                  </a:srgbClr>
                </a:solidFill>
                <a:latin typeface="华文楷体" panose="02010600040101010101" charset="-122"/>
                <a:ea typeface="华文楷体" panose="02010600040101010101" charset="-122"/>
                <a:cs typeface="华文楷体" panose="02010600040101010101" charset="-122"/>
              </a:rPr>
              <a:t>2025年立法：稳定币</a:t>
            </a:r>
            <a:r>
              <a:rPr sz="2300" b="1" kern="0" spc="0" dirty="0">
                <a:solidFill>
                  <a:srgbClr val="000000">
                    <a:alpha val="100000"/>
                  </a:srgbClr>
                </a:solidFill>
                <a:latin typeface="华文楷体" panose="02010600040101010101" charset="-122"/>
                <a:ea typeface="华文楷体" panose="02010600040101010101" charset="-122"/>
                <a:cs typeface="华文楷体" panose="02010600040101010101" charset="-122"/>
              </a:rPr>
              <a:t>发展的历史性时刻</a:t>
            </a:r>
            <a:endParaRPr sz="2300" dirty="0">
              <a:latin typeface="华文楷体" panose="02010600040101010101" charset="-122"/>
              <a:ea typeface="华文楷体" panose="02010600040101010101" charset="-122"/>
              <a:cs typeface="华文楷体" panose="02010600040101010101" charset="-122"/>
            </a:endParaRPr>
          </a:p>
          <a:p>
            <a:pPr marL="36830" indent="-24130" algn="l" defTabSz="0" rtl="0" eaLnBrk="0">
              <a:lnSpc>
                <a:spcPct val="102000"/>
              </a:lnSpc>
              <a:spcBef>
                <a:spcPts val="755"/>
              </a:spcBef>
            </a:pPr>
            <a:r>
              <a:rPr sz="2000" b="1" kern="0" spc="-30" dirty="0">
                <a:solidFill>
                  <a:srgbClr val="C00000">
                    <a:alpha val="100000"/>
                  </a:srgbClr>
                </a:solidFill>
                <a:latin typeface="华文仿宋" panose="02010600040101010101" charset="-122"/>
                <a:ea typeface="华文仿宋" panose="02010600040101010101" charset="-122"/>
                <a:cs typeface="华文仿宋" panose="02010600040101010101" charset="-122"/>
              </a:rPr>
              <a:t>2025年6月17</a:t>
            </a:r>
            <a:r>
              <a:rPr sz="2000" kern="0" spc="-30" dirty="0">
                <a:solidFill>
                  <a:srgbClr val="C00000">
                    <a:alpha val="100000"/>
                  </a:srgbClr>
                </a:solidFill>
                <a:latin typeface="华文仿宋" panose="02010600040101010101" charset="-122"/>
                <a:ea typeface="华文仿宋" panose="02010600040101010101" charset="-122"/>
                <a:cs typeface="华文仿宋" panose="02010600040101010101" charset="-122"/>
              </a:rPr>
              <a:t> </a:t>
            </a:r>
            <a:r>
              <a:rPr sz="2000" b="1" kern="0" spc="-30" dirty="0">
                <a:solidFill>
                  <a:srgbClr val="C00000">
                    <a:alpha val="100000"/>
                  </a:srgbClr>
                </a:solidFill>
                <a:latin typeface="华文仿宋" panose="02010600040101010101" charset="-122"/>
                <a:ea typeface="华文仿宋" panose="02010600040101010101" charset="-122"/>
                <a:cs typeface="华文仿宋" panose="02010600040101010101" charset="-122"/>
              </a:rPr>
              <a:t>日</a:t>
            </a:r>
            <a:r>
              <a:rPr sz="2000" b="1"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34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美国参议院通过《指导与建立美国稳定币国家创新法案》（</a:t>
            </a:r>
            <a:r>
              <a:rPr sz="2000" kern="0" spc="34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rPr>
              <a:t>GENIUS法案</a:t>
            </a:r>
            <a:r>
              <a:rPr sz="20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34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rPr>
              <a:t>为稳定</a:t>
            </a:r>
            <a:r>
              <a:rPr sz="2000" b="1" kern="0" spc="-80" dirty="0">
                <a:solidFill>
                  <a:srgbClr val="262626">
                    <a:alpha val="100000"/>
                  </a:srgbClr>
                </a:solidFill>
                <a:latin typeface="华文仿宋" panose="02010600040101010101" charset="-122"/>
                <a:ea typeface="华文仿宋" panose="02010600040101010101" charset="-122"/>
                <a:cs typeface="华文仿宋" panose="02010600040101010101" charset="-122"/>
              </a:rPr>
              <a:t>币立法。</a:t>
            </a:r>
            <a:endParaRPr sz="2000" dirty="0">
              <a:latin typeface="华文仿宋" panose="02010600040101010101" charset="-122"/>
              <a:ea typeface="华文仿宋" panose="02010600040101010101" charset="-122"/>
              <a:cs typeface="华文仿宋" panose="02010600040101010101" charset="-122"/>
            </a:endParaRPr>
          </a:p>
          <a:p>
            <a:pPr marL="12700" algn="l" defTabSz="0" rtl="0" eaLnBrk="0">
              <a:lnSpc>
                <a:spcPct val="82000"/>
              </a:lnSpc>
              <a:spcBef>
                <a:spcPts val="1335"/>
              </a:spcBef>
            </a:pPr>
            <a:r>
              <a:rPr sz="2000" b="1" kern="0" spc="-20" dirty="0">
                <a:solidFill>
                  <a:srgbClr val="C00000">
                    <a:alpha val="100000"/>
                  </a:srgbClr>
                </a:solidFill>
                <a:latin typeface="华文仿宋" panose="02010600040101010101" charset="-122"/>
                <a:ea typeface="华文仿宋" panose="02010600040101010101" charset="-122"/>
                <a:cs typeface="华文仿宋" panose="02010600040101010101" charset="-122"/>
              </a:rPr>
              <a:t>2025年5月21</a:t>
            </a:r>
            <a:r>
              <a:rPr sz="2000" kern="0" spc="-30" dirty="0">
                <a:solidFill>
                  <a:srgbClr val="C00000">
                    <a:alpha val="100000"/>
                  </a:srgbClr>
                </a:solidFill>
                <a:latin typeface="华文仿宋" panose="02010600040101010101" charset="-122"/>
                <a:ea typeface="华文仿宋" panose="02010600040101010101" charset="-122"/>
                <a:cs typeface="华文仿宋" panose="02010600040101010101" charset="-122"/>
              </a:rPr>
              <a:t> </a:t>
            </a:r>
            <a:r>
              <a:rPr sz="2000" b="1" kern="0" spc="-30" dirty="0">
                <a:solidFill>
                  <a:srgbClr val="C00000">
                    <a:alpha val="100000"/>
                  </a:srgbClr>
                </a:solidFill>
                <a:latin typeface="华文仿宋" panose="02010600040101010101" charset="-122"/>
                <a:ea typeface="华文仿宋" panose="02010600040101010101" charset="-122"/>
                <a:cs typeface="华文仿宋" panose="02010600040101010101" charset="-122"/>
              </a:rPr>
              <a:t>日</a:t>
            </a:r>
            <a:r>
              <a:rPr sz="2000" b="1"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39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香港特别行政区立法会通过《稳定币条例草案》。</a:t>
            </a:r>
            <a:endParaRPr sz="2000" dirty="0">
              <a:latin typeface="华文仿宋" panose="02010600040101010101" charset="-122"/>
              <a:ea typeface="华文仿宋" panose="02010600040101010101" charset="-122"/>
              <a:cs typeface="华文仿宋" panose="02010600040101010101" charset="-122"/>
            </a:endParaRPr>
          </a:p>
          <a:p>
            <a:pPr algn="l" defTabSz="0"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08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08000"/>
              </a:lnSpc>
            </a:pPr>
            <a:endParaRPr sz="1000" dirty="0">
              <a:latin typeface="Arial" panose="020B0604020202020204" pitchFamily="34" charset="0"/>
              <a:ea typeface="Arial" panose="020B0604020202020204" pitchFamily="34" charset="0"/>
              <a:cs typeface="Arial" panose="020B0604020202020204" pitchFamily="34" charset="0"/>
            </a:endParaRPr>
          </a:p>
          <a:p>
            <a:pPr marL="22225" indent="53975" algn="l" defTabSz="0" rtl="0" eaLnBrk="0">
              <a:lnSpc>
                <a:spcPct val="99000"/>
              </a:lnSpc>
              <a:spcBef>
                <a:spcPts val="600"/>
              </a:spcBef>
            </a:pP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2014年稳定币是由Tether公司推出的泰达币（USDT</a:t>
            </a:r>
            <a:r>
              <a:rPr sz="20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35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本为币值稳定，</a:t>
            </a:r>
            <a:r>
              <a:rPr sz="2000" kern="0" spc="-36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但其储备资产不够透明</a:t>
            </a:r>
            <a:r>
              <a:rPr sz="2000" kern="0" spc="-23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。2025</a:t>
            </a:r>
            <a:r>
              <a:rPr sz="2000" b="1"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年6月5</a:t>
            </a:r>
            <a:r>
              <a:rPr sz="2000"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日，2013年成立的稳定币发行商Circle由于</a:t>
            </a:r>
            <a:r>
              <a:rPr sz="2000" b="1" kern="0" spc="-30" dirty="0">
                <a:solidFill>
                  <a:srgbClr val="FF0000">
                    <a:alpha val="100000"/>
                  </a:srgbClr>
                </a:solidFill>
                <a:latin typeface="华文仿宋" panose="02010600040101010101" charset="-122"/>
                <a:ea typeface="华文仿宋" panose="02010600040101010101" charset="-122"/>
                <a:cs typeface="华文仿宋" panose="02010600040101010101" charset="-122"/>
              </a:rPr>
              <a:t>“合规</a:t>
            </a:r>
            <a:r>
              <a:rPr sz="2000" kern="0" spc="-33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30" dirty="0">
                <a:solidFill>
                  <a:srgbClr val="FF0000">
                    <a:alpha val="100000"/>
                  </a:srgbClr>
                </a:solidFill>
                <a:latin typeface="华文仿宋" panose="02010600040101010101" charset="-122"/>
                <a:ea typeface="华文仿宋" panose="02010600040101010101" charset="-122"/>
                <a:cs typeface="华文仿宋" panose="02010600040101010101" charset="-122"/>
              </a:rPr>
              <a:t>”，</a:t>
            </a:r>
            <a:r>
              <a:rPr sz="2000" kern="0" spc="-30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正式在纽交所上市（</a:t>
            </a:r>
            <a:r>
              <a:rPr sz="2000" b="1"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rPr>
              <a:t>USDC</a:t>
            </a:r>
            <a:r>
              <a:rPr sz="20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29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rPr>
              <a:t>成为稳定</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币领域的首个IPO，</a:t>
            </a:r>
            <a:r>
              <a:rPr sz="2000" kern="0" spc="-29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至今股价暴涨数倍</a:t>
            </a:r>
            <a:r>
              <a:rPr sz="2000" kern="0" spc="-23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35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政府立法背书的稳定</a:t>
            </a:r>
            <a:r>
              <a:rPr sz="2000" b="1"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币获得市场的追捧，</a:t>
            </a:r>
            <a:r>
              <a:rPr sz="2000" b="1" kern="0" spc="-30" dirty="0">
                <a:solidFill>
                  <a:srgbClr val="FF0000">
                    <a:alpha val="100000"/>
                  </a:srgbClr>
                </a:solidFill>
                <a:latin typeface="华文仿宋" panose="02010600040101010101" charset="-122"/>
                <a:ea typeface="华文仿宋" panose="02010600040101010101" charset="-122"/>
                <a:cs typeface="华文仿宋" panose="02010600040101010101" charset="-122"/>
              </a:rPr>
              <a:t>2025年是稳定币大</a:t>
            </a:r>
            <a:r>
              <a:rPr sz="2000" b="1" kern="0" spc="-50" dirty="0">
                <a:solidFill>
                  <a:srgbClr val="FF0000">
                    <a:alpha val="100000"/>
                  </a:srgbClr>
                </a:solidFill>
                <a:latin typeface="华文仿宋" panose="02010600040101010101" charset="-122"/>
                <a:ea typeface="华文仿宋" panose="02010600040101010101" charset="-122"/>
                <a:cs typeface="华文仿宋" panose="02010600040101010101" charset="-122"/>
              </a:rPr>
              <a:t>热之年</a:t>
            </a:r>
            <a:r>
              <a:rPr sz="2000" b="1" kern="0" spc="-5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endParaRPr sz="2000" dirty="0">
              <a:latin typeface="华文仿宋" panose="02010600040101010101" charset="-122"/>
              <a:ea typeface="华文仿宋" panose="02010600040101010101" charset="-122"/>
              <a:cs typeface="华文仿宋" panose="02010600040101010101" charset="-122"/>
            </a:endParaRPr>
          </a:p>
          <a:p>
            <a:pPr algn="l" defTabSz="0" rtl="0" eaLnBrk="0">
              <a:lnSpc>
                <a:spcPct val="116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16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17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01000"/>
              </a:lnSpc>
            </a:pPr>
            <a:endParaRPr sz="500" dirty="0">
              <a:latin typeface="Arial" panose="020B0604020202020204" pitchFamily="34" charset="0"/>
              <a:ea typeface="Arial" panose="020B0604020202020204" pitchFamily="34" charset="0"/>
              <a:cs typeface="Arial" panose="020B0604020202020204" pitchFamily="34" charset="0"/>
            </a:endParaRPr>
          </a:p>
          <a:p>
            <a:pPr marL="163195" indent="-130810" algn="l" defTabSz="0" rtl="0" eaLnBrk="0">
              <a:lnSpc>
                <a:spcPct val="92000"/>
              </a:lnSpc>
              <a:spcBef>
                <a:spcPts val="5"/>
              </a:spcBef>
            </a:pP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十来年时间，</a:t>
            </a:r>
            <a:r>
              <a:rPr sz="2000" kern="0" spc="-36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稳定币完成了从野生到合法的蜕变，</a:t>
            </a:r>
            <a:r>
              <a:rPr sz="2000" kern="0" spc="-31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市场对技术进步效率的</a:t>
            </a:r>
            <a:r>
              <a:rPr sz="2000" b="1"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追逐，</a:t>
            </a:r>
            <a:r>
              <a:rPr sz="2000" kern="0" spc="-38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迫使立法监管者妥协</a:t>
            </a:r>
            <a:r>
              <a:rPr sz="2000" b="1" kern="0" spc="-80" dirty="0">
                <a:solidFill>
                  <a:srgbClr val="262626">
                    <a:alpha val="100000"/>
                  </a:srgbClr>
                </a:solidFill>
                <a:latin typeface="华文仿宋" panose="02010600040101010101" charset="-122"/>
                <a:ea typeface="华文仿宋" panose="02010600040101010101" charset="-122"/>
                <a:cs typeface="华文仿宋" panose="02010600040101010101" charset="-122"/>
              </a:rPr>
              <a:t>“招安</a:t>
            </a:r>
            <a:r>
              <a:rPr sz="2000" kern="0" spc="-30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8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29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80" dirty="0">
                <a:solidFill>
                  <a:srgbClr val="262626">
                    <a:alpha val="100000"/>
                  </a:srgbClr>
                </a:solidFill>
                <a:latin typeface="华文仿宋" panose="02010600040101010101" charset="-122"/>
                <a:ea typeface="华文仿宋" panose="02010600040101010101" charset="-122"/>
                <a:cs typeface="华文仿宋" panose="02010600040101010101" charset="-122"/>
              </a:rPr>
              <a:t>成为</a:t>
            </a:r>
            <a:r>
              <a:rPr sz="2000" b="1" kern="0" spc="-80" dirty="0">
                <a:solidFill>
                  <a:srgbClr val="FF0000">
                    <a:alpha val="100000"/>
                  </a:srgbClr>
                </a:solidFill>
                <a:latin typeface="华文仿宋" panose="02010600040101010101" charset="-122"/>
                <a:ea typeface="华文仿宋" panose="02010600040101010101" charset="-122"/>
                <a:cs typeface="华文仿宋" panose="02010600040101010101" charset="-122"/>
              </a:rPr>
              <a:t>数字时代货币金融体系的基础设施。</a:t>
            </a:r>
            <a:endParaRPr sz="2000" dirty="0">
              <a:latin typeface="华文仿宋" panose="02010600040101010101" charset="-122"/>
              <a:ea typeface="华文仿宋" panose="02010600040101010101" charset="-122"/>
              <a:cs typeface="华文仿宋" panose="02010600040101010101" charset="-122"/>
            </a:endParaRPr>
          </a:p>
        </p:txBody>
      </p:sp>
      <p:sp>
        <p:nvSpPr>
          <p:cNvPr id="58" name="rect 58"/>
          <p:cNvSpPr/>
          <p:nvPr/>
        </p:nvSpPr>
        <p:spPr>
          <a:xfrm>
            <a:off x="0" y="6556247"/>
            <a:ext cx="12192000" cy="301752"/>
          </a:xfrm>
          <a:prstGeom prst="rect">
            <a:avLst/>
          </a:prstGeom>
          <a:solidFill>
            <a:srgbClr val="AE0B2A">
              <a:alpha val="100000"/>
            </a:srgbClr>
          </a:solidFill>
          <a:ln w="0" cap="flat">
            <a:noFill/>
            <a:prstDash val="solid"/>
            <a:miter lim="0"/>
          </a:ln>
        </p:spPr>
        <p:txBody>
          <a:bodyPr rtlCol="0"/>
          <a:lstStyle/>
          <a:p>
            <a:pPr algn="ctr"/>
            <a:endParaRPr lang="zh-CN" altLang="en-US"/>
          </a:p>
        </p:txBody>
      </p:sp>
      <p:pic>
        <p:nvPicPr>
          <p:cNvPr id="62" name="picture 62"/>
          <p:cNvPicPr>
            <a:picLocks noChangeAspect="1"/>
          </p:cNvPicPr>
          <p:nvPr/>
        </p:nvPicPr>
        <p:blipFill>
          <a:blip r:embed="rId1"/>
          <a:stretch>
            <a:fillRect/>
          </a:stretch>
        </p:blipFill>
        <p:spPr>
          <a:xfrm rot="21600000">
            <a:off x="2752725" y="451954"/>
            <a:ext cx="9439275" cy="190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66"/>
          <p:cNvSpPr/>
          <p:nvPr/>
        </p:nvSpPr>
        <p:spPr>
          <a:xfrm>
            <a:off x="591414" y="658672"/>
            <a:ext cx="10887075" cy="4646929"/>
          </a:xfrm>
          <a:prstGeom prst="rect">
            <a:avLst/>
          </a:prstGeom>
          <a:noFill/>
          <a:ln w="0" cap="flat">
            <a:noFill/>
            <a:prstDash val="solid"/>
            <a:miter lim="0"/>
          </a:ln>
        </p:spPr>
        <p:txBody>
          <a:bodyPr vert="horz" wrap="square" lIns="0" tIns="0" rIns="0" bIns="0"/>
          <a:lstStyle/>
          <a:p>
            <a:pPr algn="l" defTabSz="0" rtl="0" eaLnBrk="0">
              <a:lnSpc>
                <a:spcPct val="94000"/>
              </a:lnSpc>
            </a:pPr>
            <a:endParaRPr sz="100" dirty="0">
              <a:latin typeface="Arial" panose="020B0604020202020204" pitchFamily="34" charset="0"/>
              <a:ea typeface="Arial" panose="020B0604020202020204" pitchFamily="34" charset="0"/>
              <a:cs typeface="Arial" panose="020B0604020202020204" pitchFamily="34" charset="0"/>
            </a:endParaRPr>
          </a:p>
          <a:p>
            <a:pPr marL="1290955" algn="l" defTabSz="0" rtl="0" eaLnBrk="0">
              <a:lnSpc>
                <a:spcPct val="89000"/>
              </a:lnSpc>
            </a:pPr>
            <a:r>
              <a:rPr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一</a:t>
            </a:r>
            <a:r>
              <a:rPr sz="2700"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a:t>
            </a:r>
            <a:r>
              <a:rPr sz="2700" kern="0" spc="-13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从野</a:t>
            </a:r>
            <a:r>
              <a:rPr sz="2700" kern="0" spc="17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生</a:t>
            </a:r>
            <a:r>
              <a:rPr sz="2700"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到</a:t>
            </a:r>
            <a:r>
              <a:rPr sz="2700" kern="0" spc="-21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合法</a:t>
            </a:r>
            <a:r>
              <a:rPr sz="2700" kern="0" spc="-33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a:t>
            </a:r>
            <a:r>
              <a:rPr sz="2700"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稳定</a:t>
            </a:r>
            <a:r>
              <a:rPr sz="2700" kern="0" spc="32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币</a:t>
            </a:r>
            <a:r>
              <a:rPr sz="2700"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大热背</a:t>
            </a:r>
            <a:r>
              <a:rPr sz="2700" kern="0" spc="-15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50" dirty="0">
                <a:solidFill>
                  <a:srgbClr val="003963">
                    <a:alpha val="100000"/>
                  </a:srgbClr>
                </a:solidFill>
                <a:latin typeface="华文新魏" panose="02010800040101010101" charset="-122"/>
                <a:ea typeface="华文新魏" panose="02010800040101010101" charset="-122"/>
                <a:cs typeface="华文新魏" panose="02010800040101010101" charset="-122"/>
              </a:rPr>
              <a:t>后</a:t>
            </a:r>
            <a:r>
              <a:rPr sz="2700" kern="0" spc="-5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50" dirty="0">
                <a:solidFill>
                  <a:srgbClr val="003963">
                    <a:alpha val="100000"/>
                  </a:srgbClr>
                </a:solidFill>
                <a:latin typeface="华文新魏" panose="02010800040101010101" charset="-122"/>
                <a:ea typeface="华文新魏" panose="02010800040101010101" charset="-122"/>
                <a:cs typeface="华文新魏" panose="02010800040101010101" charset="-122"/>
              </a:rPr>
              <a:t>的</a:t>
            </a:r>
            <a:r>
              <a:rPr sz="2700" kern="0" spc="17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50" dirty="0">
                <a:solidFill>
                  <a:srgbClr val="003963">
                    <a:alpha val="100000"/>
                  </a:srgbClr>
                </a:solidFill>
                <a:latin typeface="华文新魏" panose="02010800040101010101" charset="-122"/>
                <a:ea typeface="华文新魏" panose="02010800040101010101" charset="-122"/>
                <a:cs typeface="华文新魏" panose="02010800040101010101" charset="-122"/>
              </a:rPr>
              <a:t>争议</a:t>
            </a:r>
            <a:endParaRPr sz="2700" dirty="0">
              <a:latin typeface="华文新魏" panose="02010800040101010101" charset="-122"/>
              <a:ea typeface="华文新魏" panose="02010800040101010101" charset="-122"/>
              <a:cs typeface="华文新魏" panose="02010800040101010101" charset="-122"/>
            </a:endParaRPr>
          </a:p>
          <a:p>
            <a:pPr algn="l" defTabSz="0" rtl="0" eaLnBrk="0">
              <a:lnSpc>
                <a:spcPct val="119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20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20000"/>
              </a:lnSpc>
            </a:pPr>
            <a:endParaRPr sz="1000" dirty="0">
              <a:latin typeface="Arial" panose="020B0604020202020204" pitchFamily="34" charset="0"/>
              <a:ea typeface="Arial" panose="020B0604020202020204" pitchFamily="34" charset="0"/>
              <a:cs typeface="Arial" panose="020B0604020202020204" pitchFamily="34" charset="0"/>
            </a:endParaRPr>
          </a:p>
          <a:p>
            <a:pPr marL="195580" algn="l" defTabSz="0" rtl="0" eaLnBrk="0">
              <a:lnSpc>
                <a:spcPts val="3120"/>
              </a:lnSpc>
              <a:spcBef>
                <a:spcPts val="700"/>
              </a:spcBef>
            </a:pPr>
            <a:r>
              <a:rPr sz="2300" b="1" kern="0" spc="-140" dirty="0">
                <a:solidFill>
                  <a:srgbClr val="000000">
                    <a:alpha val="100000"/>
                  </a:srgbClr>
                </a:solidFill>
                <a:latin typeface="华文楷体" panose="02010600040101010101" charset="-122"/>
                <a:ea typeface="华文楷体" panose="02010600040101010101" charset="-122"/>
                <a:cs typeface="华文楷体" panose="02010600040101010101" charset="-122"/>
              </a:rPr>
              <a:t>（二）</a:t>
            </a:r>
            <a:r>
              <a:rPr sz="2300" kern="0" spc="-210" dirty="0">
                <a:solidFill>
                  <a:srgbClr val="000000">
                    <a:alpha val="100000"/>
                  </a:srgbClr>
                </a:solidFill>
                <a:latin typeface="华文楷体" panose="02010600040101010101" charset="-122"/>
                <a:ea typeface="华文楷体" panose="02010600040101010101" charset="-122"/>
                <a:cs typeface="华文楷体" panose="02010600040101010101" charset="-122"/>
              </a:rPr>
              <a:t> </a:t>
            </a:r>
            <a:r>
              <a:rPr sz="2300" b="1" kern="0" spc="-140" dirty="0">
                <a:solidFill>
                  <a:srgbClr val="000000">
                    <a:alpha val="100000"/>
                  </a:srgbClr>
                </a:solidFill>
                <a:latin typeface="华文楷体" panose="02010600040101010101" charset="-122"/>
                <a:ea typeface="华文楷体" panose="02010600040101010101" charset="-122"/>
                <a:cs typeface="华文楷体" panose="02010600040101010101" charset="-122"/>
              </a:rPr>
              <a:t>争议与质疑</a:t>
            </a:r>
            <a:endParaRPr sz="2300" dirty="0">
              <a:latin typeface="华文楷体" panose="02010600040101010101" charset="-122"/>
              <a:ea typeface="华文楷体" panose="02010600040101010101" charset="-122"/>
              <a:cs typeface="华文楷体" panose="02010600040101010101" charset="-122"/>
            </a:endParaRPr>
          </a:p>
          <a:p>
            <a:pPr algn="l" defTabSz="0"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02000"/>
              </a:lnSpc>
            </a:pPr>
            <a:endParaRPr sz="10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100000"/>
              </a:lnSpc>
              <a:spcBef>
                <a:spcPts val="605"/>
              </a:spcBef>
            </a:pPr>
            <a:r>
              <a:rPr sz="2000" b="1" kern="0" spc="-20" dirty="0">
                <a:solidFill>
                  <a:srgbClr val="C00000">
                    <a:alpha val="100000"/>
                  </a:srgbClr>
                </a:solidFill>
                <a:latin typeface="华文仿宋" panose="02010600040101010101" charset="-122"/>
                <a:ea typeface="华文仿宋" panose="02010600040101010101" charset="-122"/>
                <a:cs typeface="华文仿宋" panose="02010600040101010101" charset="-122"/>
              </a:rPr>
              <a:t>2025年6月23</a:t>
            </a:r>
            <a:r>
              <a:rPr sz="2000" kern="0" spc="-20" dirty="0">
                <a:solidFill>
                  <a:srgbClr val="C00000">
                    <a:alpha val="100000"/>
                  </a:srgbClr>
                </a:solidFill>
                <a:latin typeface="华文仿宋" panose="02010600040101010101" charset="-122"/>
                <a:ea typeface="华文仿宋" panose="02010600040101010101" charset="-122"/>
                <a:cs typeface="华文仿宋" panose="02010600040101010101" charset="-122"/>
              </a:rPr>
              <a:t> </a:t>
            </a:r>
            <a:r>
              <a:rPr sz="2000" b="1" kern="0" spc="-20" dirty="0">
                <a:solidFill>
                  <a:srgbClr val="C00000">
                    <a:alpha val="100000"/>
                  </a:srgbClr>
                </a:solidFill>
                <a:latin typeface="华文仿宋" panose="02010600040101010101" charset="-122"/>
                <a:ea typeface="华文仿宋" panose="02010600040101010101" charset="-122"/>
                <a:cs typeface="华文仿宋" panose="02010600040101010101" charset="-122"/>
              </a:rPr>
              <a:t>日</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21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欧洲央行行长Christine</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Lagarde在欧洲议会发表演讲（Hearing</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of</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the</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Committee</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on</a:t>
            </a:r>
            <a:r>
              <a:rPr sz="2000" kern="0" spc="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Economic</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and</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Mon</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etary</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Affairs</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of</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the</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European</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Parliament）</a:t>
            </a:r>
            <a:r>
              <a:rPr sz="2000" kern="0" spc="-38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抨击稳定币</a:t>
            </a:r>
            <a:r>
              <a:rPr sz="2000" kern="0" spc="-23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35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稳定币是</a:t>
            </a:r>
            <a:r>
              <a:rPr sz="2000" b="1"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私人发行</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的，</a:t>
            </a:r>
            <a:r>
              <a:rPr sz="2000" kern="0" spc="-37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对</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货币政策和金融稳定构成明显风险</a:t>
            </a:r>
            <a:r>
              <a:rPr sz="2000" kern="0" spc="-24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38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这些资产并不总是能够保持其固定价值，</a:t>
            </a:r>
            <a:r>
              <a:rPr sz="2000" kern="0" spc="-36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从而</a:t>
            </a:r>
            <a:r>
              <a:rPr sz="2000" b="1"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损害了其作为</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支付手段和价值储存手段</a:t>
            </a:r>
            <a:r>
              <a:rPr sz="2000" b="1"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的有用性</a:t>
            </a:r>
            <a:r>
              <a:rPr sz="2000" kern="0" spc="-24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29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此外，</a:t>
            </a:r>
            <a:r>
              <a:rPr sz="2000" kern="0" spc="-34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用于支付和储蓄的存款可能从银行转向稳定币，</a:t>
            </a:r>
            <a:r>
              <a:rPr sz="2000" kern="0" spc="-36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30" dirty="0">
                <a:solidFill>
                  <a:srgbClr val="FF0000">
                    <a:alpha val="100000"/>
                  </a:srgbClr>
                </a:solidFill>
                <a:latin typeface="华文仿宋" panose="02010600040101010101" charset="-122"/>
                <a:ea typeface="华文仿宋" panose="02010600040101010101" charset="-122"/>
                <a:cs typeface="华文仿宋" panose="02010600040101010101" charset="-122"/>
              </a:rPr>
              <a:t>存款</a:t>
            </a:r>
            <a:r>
              <a:rPr sz="2000" b="1" kern="0" spc="-10" dirty="0">
                <a:solidFill>
                  <a:srgbClr val="FF0000">
                    <a:alpha val="100000"/>
                  </a:srgbClr>
                </a:solidFill>
                <a:latin typeface="华文仿宋" panose="02010600040101010101" charset="-122"/>
                <a:ea typeface="华文仿宋" panose="02010600040101010101" charset="-122"/>
                <a:cs typeface="华文仿宋" panose="02010600040101010101" charset="-122"/>
              </a:rPr>
              <a:t>转移</a:t>
            </a:r>
            <a:r>
              <a:rPr sz="20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可能会对货币政策通过银行的传导产生不利影响</a:t>
            </a:r>
            <a:r>
              <a:rPr sz="2000" kern="0" spc="-34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endParaRPr sz="2000" dirty="0">
              <a:latin typeface="华文仿宋" panose="02010600040101010101" charset="-122"/>
              <a:ea typeface="华文仿宋" panose="02010600040101010101" charset="-122"/>
              <a:cs typeface="华文仿宋" panose="02010600040101010101" charset="-122"/>
            </a:endParaRPr>
          </a:p>
          <a:p>
            <a:pPr algn="l" defTabSz="0" rtl="0" eaLnBrk="0">
              <a:lnSpc>
                <a:spcPct val="111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11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11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00000"/>
              </a:lnSpc>
            </a:pPr>
            <a:endParaRPr sz="500" dirty="0">
              <a:latin typeface="Arial" panose="020B0604020202020204" pitchFamily="34" charset="0"/>
              <a:ea typeface="Arial" panose="020B0604020202020204" pitchFamily="34" charset="0"/>
              <a:cs typeface="Arial" panose="020B0604020202020204" pitchFamily="34" charset="0"/>
            </a:endParaRPr>
          </a:p>
          <a:p>
            <a:pPr marL="27305" indent="-14605" algn="l" defTabSz="0" rtl="0" eaLnBrk="0">
              <a:lnSpc>
                <a:spcPct val="94000"/>
              </a:lnSpc>
              <a:spcBef>
                <a:spcPts val="5"/>
              </a:spcBef>
            </a:pPr>
            <a:r>
              <a:rPr sz="2000" b="1" kern="0" spc="-30" dirty="0">
                <a:solidFill>
                  <a:srgbClr val="FF0000">
                    <a:alpha val="100000"/>
                  </a:srgbClr>
                </a:solidFill>
                <a:latin typeface="华文仿宋" panose="02010600040101010101" charset="-122"/>
                <a:ea typeface="华文仿宋" panose="02010600040101010101" charset="-122"/>
                <a:cs typeface="华文仿宋" panose="02010600040101010101" charset="-122"/>
              </a:rPr>
              <a:t>2025年6月25</a:t>
            </a:r>
            <a:r>
              <a:rPr sz="2000" kern="0" spc="-3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日</a:t>
            </a:r>
            <a:r>
              <a:rPr sz="2000" b="1"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34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rPr>
              <a:t>美联储主席鲍威尔表示，</a:t>
            </a:r>
            <a:r>
              <a:rPr sz="2000" kern="0" spc="12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rPr>
              <a:t>过去几年中，</a:t>
            </a:r>
            <a:r>
              <a:rPr sz="2000" kern="0" spc="-34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rPr>
              <a:t>稳定币行业已逐步成熟，</a:t>
            </a:r>
            <a:r>
              <a:rPr sz="2000" kern="0" spc="-33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rPr>
              <a:t>更加成为主流</a:t>
            </a:r>
            <a:r>
              <a:rPr sz="2000" kern="0" spc="-24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美联储开始着手审查并撤回之前有关稳定</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币的某些不恰当的监管。</a:t>
            </a:r>
            <a:endParaRPr sz="2000" dirty="0">
              <a:latin typeface="华文仿宋" panose="02010600040101010101" charset="-122"/>
              <a:ea typeface="华文仿宋" panose="02010600040101010101" charset="-122"/>
              <a:cs typeface="华文仿宋" panose="02010600040101010101" charset="-122"/>
            </a:endParaRPr>
          </a:p>
        </p:txBody>
      </p:sp>
      <p:sp>
        <p:nvSpPr>
          <p:cNvPr id="68" name="rect 68"/>
          <p:cNvSpPr/>
          <p:nvPr/>
        </p:nvSpPr>
        <p:spPr>
          <a:xfrm>
            <a:off x="0" y="6556247"/>
            <a:ext cx="12192000" cy="301752"/>
          </a:xfrm>
          <a:prstGeom prst="rect">
            <a:avLst/>
          </a:prstGeom>
          <a:solidFill>
            <a:srgbClr val="AE0B2A">
              <a:alpha val="100000"/>
            </a:srgbClr>
          </a:solidFill>
          <a:ln w="0" cap="flat">
            <a:noFill/>
            <a:prstDash val="solid"/>
            <a:miter lim="0"/>
          </a:ln>
        </p:spPr>
        <p:txBody>
          <a:bodyPr rtlCol="0"/>
          <a:lstStyle/>
          <a:p>
            <a:pPr algn="ctr"/>
            <a:endParaRPr lang="zh-CN" altLang="en-US"/>
          </a:p>
        </p:txBody>
      </p:sp>
      <p:pic>
        <p:nvPicPr>
          <p:cNvPr id="72" name="picture 72"/>
          <p:cNvPicPr>
            <a:picLocks noChangeAspect="1"/>
          </p:cNvPicPr>
          <p:nvPr/>
        </p:nvPicPr>
        <p:blipFill>
          <a:blip r:embed="rId1"/>
          <a:stretch>
            <a:fillRect/>
          </a:stretch>
        </p:blipFill>
        <p:spPr>
          <a:xfrm rot="21600000">
            <a:off x="2752725" y="451954"/>
            <a:ext cx="9439275" cy="190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76" name="table 576"/>
          <p:cNvGraphicFramePr>
            <a:graphicFrameLocks noGrp="1"/>
          </p:cNvGraphicFramePr>
          <p:nvPr/>
        </p:nvGraphicFramePr>
        <p:xfrm>
          <a:off x="471258" y="3004692"/>
          <a:ext cx="11108689" cy="3014345"/>
        </p:xfrm>
        <a:graphic>
          <a:graphicData uri="http://schemas.openxmlformats.org/drawingml/2006/table">
            <a:tbl>
              <a:tblPr/>
              <a:tblGrid>
                <a:gridCol w="1750695"/>
                <a:gridCol w="4678679"/>
                <a:gridCol w="4679314"/>
              </a:tblGrid>
              <a:tr h="416559">
                <a:tc>
                  <a:txBody>
                    <a:bodyPr/>
                    <a:lstStyle/>
                    <a:p>
                      <a:pPr algn="l" rtl="0" eaLnBrk="0">
                        <a:lnSpc>
                          <a:spcPct val="148000"/>
                        </a:lnSpc>
                      </a:pPr>
                      <a:endParaRPr sz="200" dirty="0">
                        <a:latin typeface="Arial" panose="020B0604020202020204" pitchFamily="34" charset="0"/>
                        <a:ea typeface="Arial" panose="020B0604020202020204" pitchFamily="34" charset="0"/>
                        <a:cs typeface="Arial" panose="020B0604020202020204" pitchFamily="34" charset="0"/>
                      </a:endParaRPr>
                    </a:p>
                    <a:p>
                      <a:pPr marL="426720" algn="l" rtl="0" eaLnBrk="0">
                        <a:lnSpc>
                          <a:spcPct val="83000"/>
                        </a:lnSpc>
                        <a:spcBef>
                          <a:spcPts val="0"/>
                        </a:spcBef>
                      </a:pPr>
                      <a:r>
                        <a:rPr sz="1200" b="1" kern="0" spc="-20" dirty="0">
                          <a:solidFill>
                            <a:srgbClr val="FFFFFF">
                              <a:alpha val="100000"/>
                            </a:srgbClr>
                          </a:solidFill>
                          <a:latin typeface="楷体" panose="02010609060101010101" charset="-122"/>
                          <a:ea typeface="楷体" panose="02010609060101010101" charset="-122"/>
                          <a:cs typeface="楷体" panose="02010609060101010101" charset="-122"/>
                        </a:rPr>
                        <a:t>货币体系支柱</a:t>
                      </a:r>
                      <a:endParaRPr sz="1200" dirty="0">
                        <a:latin typeface="楷体" panose="02010609060101010101" charset="-122"/>
                        <a:ea typeface="楷体" panose="02010609060101010101" charset="-122"/>
                        <a:cs typeface="楷体" panose="02010609060101010101" charset="-122"/>
                      </a:endParaRPr>
                    </a:p>
                    <a:p>
                      <a:pPr marL="506095" algn="l" rtl="0" eaLnBrk="0">
                        <a:lnSpc>
                          <a:spcPts val="1620"/>
                        </a:lnSpc>
                      </a:pPr>
                      <a:r>
                        <a:rPr sz="1200" b="1" kern="0" spc="-30" dirty="0">
                          <a:solidFill>
                            <a:srgbClr val="FFFFFF">
                              <a:alpha val="100000"/>
                            </a:srgbClr>
                          </a:solidFill>
                          <a:latin typeface="楷体" panose="02010609060101010101" charset="-122"/>
                          <a:ea typeface="楷体" panose="02010609060101010101" charset="-122"/>
                          <a:cs typeface="楷体" panose="02010609060101010101" charset="-122"/>
                        </a:rPr>
                        <a:t>可行性检验</a:t>
                      </a:r>
                      <a:endParaRPr sz="1200" dirty="0">
                        <a:latin typeface="楷体" panose="02010609060101010101" charset="-122"/>
                        <a:ea typeface="楷体" panose="02010609060101010101" charset="-122"/>
                        <a:cs typeface="楷体" panose="02010609060101010101" charset="-122"/>
                      </a:endParaRPr>
                    </a:p>
                  </a:txBody>
                  <a:tcPr marL="0" marR="0" marT="0" marB="0" vert="horz">
                    <a:lnL>
                      <a:noFill/>
                    </a:lnL>
                    <a:lnR>
                      <a:noFill/>
                    </a:lnR>
                    <a:lnT>
                      <a:noFill/>
                    </a:lnT>
                    <a:lnB>
                      <a:noFill/>
                    </a:lnB>
                    <a:solidFill>
                      <a:srgbClr val="C00000"/>
                    </a:solidFill>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051050" algn="l" rtl="0" eaLnBrk="0">
                        <a:lnSpc>
                          <a:spcPct val="85000"/>
                        </a:lnSpc>
                        <a:spcBef>
                          <a:spcPts val="0"/>
                        </a:spcBef>
                      </a:pPr>
                      <a:r>
                        <a:rPr sz="1200" b="1" kern="0" spc="-40" dirty="0">
                          <a:solidFill>
                            <a:srgbClr val="FFFFFF">
                              <a:alpha val="100000"/>
                            </a:srgbClr>
                          </a:solidFill>
                          <a:latin typeface="楷体" panose="02010609060101010101" charset="-122"/>
                          <a:ea typeface="楷体" panose="02010609060101010101" charset="-122"/>
                          <a:cs typeface="楷体" panose="02010609060101010101" charset="-122"/>
                        </a:rPr>
                        <a:t>法币体系</a:t>
                      </a:r>
                      <a:endParaRPr sz="1200" dirty="0">
                        <a:latin typeface="楷体" panose="02010609060101010101" charset="-122"/>
                        <a:ea typeface="楷体" panose="02010609060101010101" charset="-122"/>
                        <a:cs typeface="楷体" panose="02010609060101010101" charset="-122"/>
                      </a:endParaRPr>
                    </a:p>
                  </a:txBody>
                  <a:tcPr marL="0" marR="0" marT="0" marB="0" vert="horz">
                    <a:lnL>
                      <a:noFill/>
                    </a:lnL>
                    <a:lnR>
                      <a:noFill/>
                    </a:lnR>
                    <a:lnT>
                      <a:noFill/>
                    </a:lnT>
                    <a:lnB>
                      <a:noFill/>
                    </a:lnB>
                    <a:solidFill>
                      <a:srgbClr val="C00000"/>
                    </a:solidFill>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1963420" algn="l" rtl="0" eaLnBrk="0">
                        <a:lnSpc>
                          <a:spcPct val="85000"/>
                        </a:lnSpc>
                        <a:spcBef>
                          <a:spcPts val="0"/>
                        </a:spcBef>
                      </a:pPr>
                      <a:r>
                        <a:rPr sz="1200" b="1" kern="0" spc="-20" dirty="0">
                          <a:solidFill>
                            <a:srgbClr val="FFFFFF">
                              <a:alpha val="100000"/>
                            </a:srgbClr>
                          </a:solidFill>
                          <a:latin typeface="楷体" panose="02010609060101010101" charset="-122"/>
                          <a:ea typeface="楷体" panose="02010609060101010101" charset="-122"/>
                          <a:cs typeface="楷体" panose="02010609060101010101" charset="-122"/>
                        </a:rPr>
                        <a:t>稳定币体系</a:t>
                      </a:r>
                      <a:endParaRPr sz="1200" dirty="0">
                        <a:latin typeface="楷体" panose="02010609060101010101" charset="-122"/>
                        <a:ea typeface="楷体" panose="02010609060101010101" charset="-122"/>
                        <a:cs typeface="楷体" panose="02010609060101010101" charset="-122"/>
                      </a:endParaRPr>
                    </a:p>
                  </a:txBody>
                  <a:tcPr marL="0" marR="0" marT="0" marB="0" vert="horz">
                    <a:lnL>
                      <a:noFill/>
                    </a:lnL>
                    <a:lnR>
                      <a:noFill/>
                    </a:lnR>
                    <a:lnT>
                      <a:noFill/>
                    </a:lnT>
                    <a:lnB>
                      <a:noFill/>
                    </a:lnB>
                    <a:solidFill>
                      <a:srgbClr val="C00000"/>
                    </a:solidFill>
                  </a:tcPr>
                </a:tc>
              </a:tr>
              <a:tr h="925830">
                <a:tc>
                  <a:txBody>
                    <a:bodyPr/>
                    <a:lstStyle/>
                    <a:p>
                      <a:pPr algn="l" rtl="0" eaLnBrk="0">
                        <a:lnSpc>
                          <a:spcPct val="197000"/>
                        </a:lnSpc>
                      </a:pPr>
                      <a:endParaRPr sz="1000" dirty="0">
                        <a:latin typeface="Arial" panose="020B0604020202020204" pitchFamily="34" charset="0"/>
                        <a:ea typeface="Arial" panose="020B0604020202020204" pitchFamily="34" charset="0"/>
                        <a:cs typeface="Arial" panose="020B0604020202020204" pitchFamily="34" charset="0"/>
                      </a:endParaRPr>
                    </a:p>
                    <a:p>
                      <a:pPr marL="503555" algn="l" rtl="0" eaLnBrk="0">
                        <a:lnSpc>
                          <a:spcPct val="83000"/>
                        </a:lnSpc>
                      </a:pPr>
                      <a:r>
                        <a:rPr sz="1200" kern="0" spc="-20" dirty="0">
                          <a:solidFill>
                            <a:srgbClr val="000000">
                              <a:alpha val="100000"/>
                            </a:srgbClr>
                          </a:solidFill>
                          <a:latin typeface="楷体" panose="02010609060101010101" charset="-122"/>
                          <a:ea typeface="楷体" panose="02010609060101010101" charset="-122"/>
                          <a:cs typeface="楷体" panose="02010609060101010101" charset="-122"/>
                        </a:rPr>
                        <a:t>单一性检验</a:t>
                      </a:r>
                      <a:endParaRPr sz="1200" dirty="0">
                        <a:latin typeface="楷体" panose="02010609060101010101" charset="-122"/>
                        <a:ea typeface="楷体" panose="02010609060101010101" charset="-122"/>
                        <a:cs typeface="楷体" panose="02010609060101010101" charset="-122"/>
                      </a:endParaRPr>
                    </a:p>
                    <a:p>
                      <a:pPr marL="441960" algn="l" rtl="0" eaLnBrk="0">
                        <a:lnSpc>
                          <a:spcPts val="1510"/>
                        </a:lnSpc>
                      </a:pPr>
                      <a:r>
                        <a:rPr sz="1200" kern="0" spc="-60" dirty="0">
                          <a:solidFill>
                            <a:srgbClr val="000000">
                              <a:alpha val="100000"/>
                            </a:srgbClr>
                          </a:solidFill>
                          <a:latin typeface="楷体" panose="02010609060101010101" charset="-122"/>
                          <a:ea typeface="楷体" panose="02010609060101010101" charset="-122"/>
                          <a:cs typeface="楷体" panose="02010609060101010101" charset="-122"/>
                        </a:rPr>
                        <a:t>（</a:t>
                      </a:r>
                      <a:r>
                        <a:rPr sz="1200" kern="0" spc="-6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Singleness</a:t>
                      </a:r>
                      <a:r>
                        <a:rPr sz="1200" kern="0" spc="-60" dirty="0">
                          <a:solidFill>
                            <a:srgbClr val="000000">
                              <a:alpha val="100000"/>
                            </a:srgbClr>
                          </a:solidFill>
                          <a:latin typeface="楷体" panose="02010609060101010101" charset="-122"/>
                          <a:ea typeface="楷体" panose="02010609060101010101" charset="-122"/>
                          <a:cs typeface="楷体" panose="02010609060101010101" charset="-122"/>
                        </a:rPr>
                        <a:t>）</a:t>
                      </a:r>
                      <a:endParaRPr sz="1200" dirty="0">
                        <a:latin typeface="楷体" panose="02010609060101010101" charset="-122"/>
                        <a:ea typeface="楷体" panose="02010609060101010101" charset="-122"/>
                        <a:cs typeface="楷体" panose="02010609060101010101" charset="-122"/>
                      </a:endParaRPr>
                    </a:p>
                  </a:txBody>
                  <a:tcPr marL="0" marR="0" marT="0" marB="0" vert="horz">
                    <a:lnL>
                      <a:noFill/>
                    </a:lnL>
                    <a:lnR>
                      <a:noFill/>
                    </a:lnR>
                    <a:lnT>
                      <a:noFill/>
                    </a:lnT>
                    <a:lnB w="6350" cap="flat" cmpd="sng" algn="ctr">
                      <a:solidFill>
                        <a:srgbClr val="000000"/>
                      </a:solidFill>
                      <a:prstDash val="solid"/>
                      <a:round/>
                      <a:headEnd type="none" w="med" len="med"/>
                      <a:tailEnd type="none" w="med" len="med"/>
                    </a:lnB>
                  </a:tcPr>
                </a:tc>
                <a:tc>
                  <a:txBody>
                    <a:bodyPr/>
                    <a:lstStyle/>
                    <a:p>
                      <a:pPr algn="l" rtl="0" eaLnBrk="0">
                        <a:lnSpc>
                          <a:spcPct val="13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6000"/>
                        </a:lnSpc>
                      </a:pPr>
                      <a:endParaRPr sz="100" dirty="0">
                        <a:latin typeface="Arial" panose="020B0604020202020204" pitchFamily="34" charset="0"/>
                        <a:ea typeface="Arial" panose="020B0604020202020204" pitchFamily="34" charset="0"/>
                        <a:cs typeface="Arial" panose="020B0604020202020204" pitchFamily="34" charset="0"/>
                      </a:endParaRPr>
                    </a:p>
                    <a:p>
                      <a:pPr marL="10160" indent="12700" algn="l" rtl="0" eaLnBrk="0">
                        <a:lnSpc>
                          <a:spcPct val="95000"/>
                        </a:lnSpc>
                      </a:pPr>
                      <a:r>
                        <a:rPr sz="1200" b="1"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货币可以由</a:t>
                      </a:r>
                      <a:r>
                        <a:rPr sz="1200" b="1"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不同的银行发行，</a:t>
                      </a:r>
                      <a:r>
                        <a:rPr sz="1200" kern="0" spc="-32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 </a:t>
                      </a:r>
                      <a:r>
                        <a:rPr sz="1200" b="1"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并被所有人毫不犹豫地接受</a:t>
                      </a:r>
                      <a:r>
                        <a:rPr sz="1200" kern="0" spc="-24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 </a:t>
                      </a:r>
                      <a:r>
                        <a:rPr sz="1200" b="1"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a:t>
                      </a:r>
                      <a:r>
                        <a:rPr sz="1200" kern="0" spc="-34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 </a:t>
                      </a:r>
                      <a:r>
                        <a:rPr sz="1200" b="1"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央行提供的共同安全资产（中央银行储备）</a:t>
                      </a:r>
                      <a:r>
                        <a:rPr sz="1200" kern="0" spc="-33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 </a:t>
                      </a:r>
                      <a:r>
                        <a:rPr sz="1200" b="1"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按面值结算，</a:t>
                      </a:r>
                      <a:r>
                        <a:rPr sz="1200" kern="0" spc="-11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 </a:t>
                      </a:r>
                      <a:r>
                        <a:rPr sz="1200" b="1"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中央银行有法定义务为公众利益行事</a:t>
                      </a:r>
                      <a:r>
                        <a:rPr sz="1200" kern="0" spc="-23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 </a:t>
                      </a:r>
                      <a:r>
                        <a:rPr sz="1200" b="1"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a:t>
                      </a:r>
                      <a:r>
                        <a:rPr sz="1200" kern="0" spc="-27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 </a:t>
                      </a:r>
                      <a:r>
                        <a:rPr sz="1200" b="1"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sym typeface="+mn-ea"/>
                        </a:rPr>
                        <a:t>强调央行唯一铸币权</a:t>
                      </a:r>
                      <a:r>
                        <a:rPr sz="1200" b="1"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a:t>
                      </a:r>
                      <a:endParaRPr sz="1200" dirty="0">
                        <a:latin typeface="楷体" panose="02010609060101010101" charset="-122"/>
                        <a:ea typeface="楷体" panose="02010609060101010101" charset="-122"/>
                        <a:cs typeface="楷体" panose="02010609060101010101" charset="-122"/>
                      </a:endParaRPr>
                    </a:p>
                  </a:txBody>
                  <a:tcPr marL="0" marR="0" marT="0" marB="0" vert="horz">
                    <a:lnL>
                      <a:noFill/>
                    </a:lnL>
                    <a:lnR>
                      <a:noFill/>
                    </a:lnR>
                    <a:lnT>
                      <a:noFill/>
                    </a:lnT>
                    <a:lnB w="6350" cap="flat" cmpd="sng" algn="ctr">
                      <a:solidFill>
                        <a:srgbClr val="000000"/>
                      </a:solidFill>
                      <a:prstDash val="solid"/>
                      <a:round/>
                      <a:headEnd type="none" w="med" len="med"/>
                      <a:tailEnd type="none" w="med" len="med"/>
                    </a:lnB>
                  </a:tcPr>
                </a:tc>
                <a:tc>
                  <a:txBody>
                    <a:bodyPr/>
                    <a:lstStyle/>
                    <a:p>
                      <a:pPr algn="l" rtl="0" eaLnBrk="0">
                        <a:lnSpc>
                          <a:spcPct val="101000"/>
                        </a:lnSpc>
                      </a:pPr>
                      <a:endParaRPr sz="700" dirty="0">
                        <a:latin typeface="Arial" panose="020B0604020202020204" pitchFamily="34" charset="0"/>
                        <a:ea typeface="Arial" panose="020B0604020202020204" pitchFamily="34" charset="0"/>
                        <a:cs typeface="Arial" panose="020B0604020202020204" pitchFamily="34" charset="0"/>
                      </a:endParaRPr>
                    </a:p>
                    <a:p>
                      <a:pPr marL="10160" indent="1905" algn="l" rtl="0" eaLnBrk="0">
                        <a:lnSpc>
                          <a:spcPct val="97000"/>
                        </a:lnSpc>
                        <a:spcBef>
                          <a:spcPts val="5"/>
                        </a:spcBef>
                      </a:pPr>
                      <a:r>
                        <a:rPr sz="1200" kern="0" spc="0" dirty="0">
                          <a:solidFill>
                            <a:srgbClr val="000000">
                              <a:alpha val="100000"/>
                            </a:srgbClr>
                          </a:solidFill>
                          <a:latin typeface="楷体" panose="02010609060101010101" charset="-122"/>
                          <a:ea typeface="楷体" panose="02010609060101010101" charset="-122"/>
                          <a:cs typeface="楷体" panose="02010609060101010101" charset="-122"/>
                        </a:rPr>
                        <a:t>稳定币虽由储备资产支持发行，但根本上为数字无记名票据，属性上</a:t>
                      </a:r>
                      <a:r>
                        <a:rPr sz="1200" kern="0" spc="0" dirty="0">
                          <a:solidFill>
                            <a:srgbClr val="000000">
                              <a:alpha val="100000"/>
                            </a:srgbClr>
                          </a:solidFill>
                          <a:latin typeface="楷体" panose="02010609060101010101" charset="-122"/>
                          <a:ea typeface="楷体" panose="02010609060101010101" charset="-122"/>
                          <a:cs typeface="楷体" panose="02010609060101010101" charset="-122"/>
                        </a:rPr>
                        <a:t>更接近金融资产而非货币。此外，稳定币结算往往受交易“汇率”的</a:t>
                      </a:r>
                      <a:r>
                        <a:rPr sz="1200" kern="0" spc="0" dirty="0">
                          <a:solidFill>
                            <a:srgbClr val="000000">
                              <a:alpha val="100000"/>
                            </a:srgbClr>
                          </a:solidFill>
                          <a:latin typeface="楷体" panose="02010609060101010101" charset="-122"/>
                          <a:ea typeface="楷体" panose="02010609060101010101" charset="-122"/>
                          <a:cs typeface="楷体" panose="02010609060101010101" charset="-122"/>
                        </a:rPr>
                        <a:t>偏差影响，且结算不涉及央行资产负债表，</a:t>
                      </a:r>
                      <a:r>
                        <a:rPr sz="1200" b="1" kern="0" spc="0" dirty="0">
                          <a:solidFill>
                            <a:srgbClr val="000000">
                              <a:alpha val="100000"/>
                            </a:srgbClr>
                          </a:solidFill>
                          <a:latin typeface="楷体" panose="02010609060101010101" charset="-122"/>
                          <a:ea typeface="楷体" panose="02010609060101010101" charset="-122"/>
                          <a:cs typeface="楷体" panose="02010609060101010101" charset="-122"/>
                        </a:rPr>
                        <a:t>因此</a:t>
                      </a:r>
                      <a:r>
                        <a:rPr sz="1200" b="1" kern="0" spc="-10" dirty="0">
                          <a:solidFill>
                            <a:srgbClr val="000000">
                              <a:alpha val="100000"/>
                            </a:srgbClr>
                          </a:solidFill>
                          <a:latin typeface="楷体" panose="02010609060101010101" charset="-122"/>
                          <a:ea typeface="楷体" panose="02010609060101010101" charset="-122"/>
                          <a:cs typeface="楷体" panose="02010609060101010101" charset="-122"/>
                        </a:rPr>
                        <a:t>无法作为统一的价值</a:t>
                      </a:r>
                      <a:r>
                        <a:rPr sz="1200" b="1" kern="0" spc="-10" dirty="0">
                          <a:solidFill>
                            <a:srgbClr val="000000">
                              <a:alpha val="100000"/>
                            </a:srgbClr>
                          </a:solidFill>
                          <a:latin typeface="楷体" panose="02010609060101010101" charset="-122"/>
                          <a:ea typeface="楷体" panose="02010609060101010101" charset="-122"/>
                          <a:cs typeface="楷体" panose="02010609060101010101" charset="-122"/>
                        </a:rPr>
                        <a:t>尺度被市场普遍接受</a:t>
                      </a:r>
                      <a:r>
                        <a:rPr sz="1200" kern="0" spc="-10" dirty="0">
                          <a:solidFill>
                            <a:srgbClr val="000000">
                              <a:alpha val="100000"/>
                            </a:srgbClr>
                          </a:solidFill>
                          <a:latin typeface="楷体" panose="02010609060101010101" charset="-122"/>
                          <a:ea typeface="楷体" panose="02010609060101010101" charset="-122"/>
                          <a:cs typeface="楷体" panose="02010609060101010101" charset="-122"/>
                        </a:rPr>
                        <a:t>。</a:t>
                      </a:r>
                      <a:endParaRPr sz="1200" dirty="0">
                        <a:latin typeface="楷体" panose="02010609060101010101" charset="-122"/>
                        <a:ea typeface="楷体" panose="02010609060101010101" charset="-122"/>
                        <a:cs typeface="楷体" panose="02010609060101010101" charset="-122"/>
                      </a:endParaRPr>
                    </a:p>
                  </a:txBody>
                  <a:tcPr marL="0" marR="0" marT="0" marB="0" vert="horz">
                    <a:lnL>
                      <a:noFill/>
                    </a:lnL>
                    <a:lnR>
                      <a:noFill/>
                    </a:lnR>
                    <a:lnT>
                      <a:noFill/>
                    </a:lnT>
                    <a:lnB w="6350" cap="flat" cmpd="sng" algn="ctr">
                      <a:solidFill>
                        <a:srgbClr val="000000"/>
                      </a:solidFill>
                      <a:prstDash val="solid"/>
                      <a:round/>
                      <a:headEnd type="none" w="med" len="med"/>
                      <a:tailEnd type="none" w="med" len="med"/>
                    </a:lnB>
                  </a:tcPr>
                </a:tc>
              </a:tr>
              <a:tr h="725169">
                <a:tc>
                  <a:txBody>
                    <a:bodyPr/>
                    <a:lstStyle/>
                    <a:p>
                      <a:pPr algn="l" rtl="0" eaLnBrk="0">
                        <a:lnSpc>
                          <a:spcPct val="131000"/>
                        </a:lnSpc>
                      </a:pPr>
                      <a:endParaRPr sz="1000" dirty="0">
                        <a:latin typeface="Arial" panose="020B0604020202020204" pitchFamily="34" charset="0"/>
                        <a:ea typeface="Arial" panose="020B0604020202020204" pitchFamily="34" charset="0"/>
                        <a:cs typeface="Arial" panose="020B0604020202020204" pitchFamily="34" charset="0"/>
                      </a:endParaRPr>
                    </a:p>
                    <a:p>
                      <a:pPr marL="584835" algn="l" rtl="0" eaLnBrk="0">
                        <a:lnSpc>
                          <a:spcPct val="83000"/>
                        </a:lnSpc>
                        <a:spcBef>
                          <a:spcPts val="5"/>
                        </a:spcBef>
                      </a:pPr>
                      <a:r>
                        <a:rPr sz="1200" kern="0" spc="-30" dirty="0">
                          <a:solidFill>
                            <a:srgbClr val="000000">
                              <a:alpha val="100000"/>
                            </a:srgbClr>
                          </a:solidFill>
                          <a:latin typeface="楷体" panose="02010609060101010101" charset="-122"/>
                          <a:ea typeface="楷体" panose="02010609060101010101" charset="-122"/>
                          <a:cs typeface="楷体" panose="02010609060101010101" charset="-122"/>
                        </a:rPr>
                        <a:t>弹性检验</a:t>
                      </a:r>
                      <a:endParaRPr sz="1200" dirty="0">
                        <a:latin typeface="楷体" panose="02010609060101010101" charset="-122"/>
                        <a:ea typeface="楷体" panose="02010609060101010101" charset="-122"/>
                        <a:cs typeface="楷体" panose="02010609060101010101" charset="-122"/>
                      </a:endParaRPr>
                    </a:p>
                    <a:p>
                      <a:pPr marL="497840" algn="l" rtl="0" eaLnBrk="0">
                        <a:lnSpc>
                          <a:spcPts val="1510"/>
                        </a:lnSpc>
                      </a:pPr>
                      <a:r>
                        <a:rPr sz="1100" kern="0" spc="-10" dirty="0">
                          <a:solidFill>
                            <a:srgbClr val="000000">
                              <a:alpha val="100000"/>
                            </a:srgbClr>
                          </a:solidFill>
                          <a:latin typeface="楷体" panose="02010609060101010101" charset="-122"/>
                          <a:ea typeface="楷体" panose="02010609060101010101" charset="-122"/>
                          <a:cs typeface="楷体" panose="02010609060101010101" charset="-122"/>
                        </a:rPr>
                        <a:t>（</a:t>
                      </a:r>
                      <a:r>
                        <a:rPr sz="11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Elasiticit</a:t>
                      </a:r>
                      <a:r>
                        <a:rPr sz="1100" kern="0" spc="-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y</a:t>
                      </a:r>
                      <a:r>
                        <a:rPr sz="1100" kern="0" spc="-20" dirty="0">
                          <a:solidFill>
                            <a:srgbClr val="000000">
                              <a:alpha val="100000"/>
                            </a:srgbClr>
                          </a:solidFill>
                          <a:latin typeface="楷体" panose="02010609060101010101" charset="-122"/>
                          <a:ea typeface="楷体" panose="02010609060101010101" charset="-122"/>
                          <a:cs typeface="楷体" panose="02010609060101010101" charset="-122"/>
                        </a:rPr>
                        <a:t>）</a:t>
                      </a:r>
                      <a:endParaRPr sz="1100" dirty="0">
                        <a:latin typeface="楷体" panose="02010609060101010101" charset="-122"/>
                        <a:ea typeface="楷体" panose="02010609060101010101" charset="-122"/>
                        <a:cs typeface="楷体" panose="02010609060101010101" charset="-122"/>
                      </a:endParaRPr>
                    </a:p>
                  </a:txBody>
                  <a:tcPr marL="0" marR="0" marT="0" marB="0" vert="horz">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09000"/>
                        </a:lnSpc>
                      </a:pPr>
                      <a:endParaRPr sz="600" dirty="0">
                        <a:latin typeface="Arial" panose="020B0604020202020204" pitchFamily="34" charset="0"/>
                        <a:ea typeface="Arial" panose="020B0604020202020204" pitchFamily="34" charset="0"/>
                        <a:cs typeface="Arial" panose="020B0604020202020204" pitchFamily="34" charset="0"/>
                      </a:endParaRPr>
                    </a:p>
                    <a:p>
                      <a:pPr marL="14605" indent="-5715" algn="l" rtl="0" eaLnBrk="0">
                        <a:lnSpc>
                          <a:spcPct val="96000"/>
                        </a:lnSpc>
                        <a:spcBef>
                          <a:spcPts val="0"/>
                        </a:spcBef>
                      </a:pPr>
                      <a:r>
                        <a:rPr sz="1200" kern="0" spc="0" dirty="0">
                          <a:solidFill>
                            <a:srgbClr val="000000">
                              <a:alpha val="100000"/>
                            </a:srgbClr>
                          </a:solidFill>
                          <a:latin typeface="楷体" panose="02010609060101010101" charset="-122"/>
                          <a:ea typeface="楷体" panose="02010609060101010101" charset="-122"/>
                          <a:cs typeface="楷体" panose="02010609060101010101" charset="-122"/>
                        </a:rPr>
                        <a:t>在双层银行体系下，一般而言法币供应量具备弹性，</a:t>
                      </a:r>
                      <a:r>
                        <a:rPr sz="1200" b="1" kern="0" spc="-10" dirty="0">
                          <a:solidFill>
                            <a:srgbClr val="000000">
                              <a:alpha val="100000"/>
                            </a:srgbClr>
                          </a:solidFill>
                          <a:latin typeface="楷体" panose="02010609060101010101" charset="-122"/>
                          <a:ea typeface="楷体" panose="02010609060101010101" charset="-122"/>
                          <a:cs typeface="楷体" panose="02010609060101010101" charset="-122"/>
                        </a:rPr>
                        <a:t>能够灵活地满足</a:t>
                      </a:r>
                      <a:r>
                        <a:rPr sz="1200" b="1" kern="0" spc="0" dirty="0">
                          <a:solidFill>
                            <a:srgbClr val="000000">
                              <a:alpha val="100000"/>
                            </a:srgbClr>
                          </a:solidFill>
                          <a:latin typeface="楷体" panose="02010609060101010101" charset="-122"/>
                          <a:ea typeface="楷体" panose="02010609060101010101" charset="-122"/>
                          <a:cs typeface="楷体" panose="02010609060101010101" charset="-122"/>
                        </a:rPr>
                        <a:t>经济中大额支付的需求</a:t>
                      </a:r>
                      <a:r>
                        <a:rPr sz="1200" kern="0" spc="0" dirty="0">
                          <a:solidFill>
                            <a:srgbClr val="000000">
                              <a:alpha val="100000"/>
                            </a:srgbClr>
                          </a:solidFill>
                          <a:latin typeface="楷体" panose="02010609060101010101" charset="-122"/>
                          <a:ea typeface="楷体" panose="02010609060101010101" charset="-122"/>
                          <a:cs typeface="楷体" panose="02010609060101010101" charset="-122"/>
                        </a:rPr>
                        <a:t>。此外</a:t>
                      </a:r>
                      <a:r>
                        <a:rPr sz="1200" kern="0" spc="-10" dirty="0">
                          <a:solidFill>
                            <a:srgbClr val="000000">
                              <a:alpha val="100000"/>
                            </a:srgbClr>
                          </a:solidFill>
                          <a:latin typeface="楷体" panose="02010609060101010101" charset="-122"/>
                          <a:ea typeface="楷体" panose="02010609060101010101" charset="-122"/>
                          <a:cs typeface="楷体" panose="02010609060101010101" charset="-122"/>
                        </a:rPr>
                        <a:t>，银行体系能以无全额储备的情况下发</a:t>
                      </a:r>
                      <a:r>
                        <a:rPr sz="1200" kern="0" spc="-10" dirty="0">
                          <a:solidFill>
                            <a:srgbClr val="000000">
                              <a:alpha val="100000"/>
                            </a:srgbClr>
                          </a:solidFill>
                          <a:latin typeface="楷体" panose="02010609060101010101" charset="-122"/>
                          <a:ea typeface="楷体" panose="02010609060101010101" charset="-122"/>
                          <a:cs typeface="楷体" panose="02010609060101010101" charset="-122"/>
                        </a:rPr>
                        <a:t>行法币，并通过信贷满足</a:t>
                      </a:r>
                      <a:r>
                        <a:rPr sz="1200" kern="0" spc="-20" dirty="0">
                          <a:solidFill>
                            <a:srgbClr val="000000">
                              <a:alpha val="100000"/>
                            </a:srgbClr>
                          </a:solidFill>
                          <a:latin typeface="楷体" panose="02010609060101010101" charset="-122"/>
                          <a:ea typeface="楷体" panose="02010609060101010101" charset="-122"/>
                          <a:cs typeface="楷体" panose="02010609060101010101" charset="-122"/>
                        </a:rPr>
                        <a:t>流动性。</a:t>
                      </a:r>
                      <a:endParaRPr sz="1200" dirty="0">
                        <a:latin typeface="楷体" panose="02010609060101010101" charset="-122"/>
                        <a:ea typeface="楷体" panose="02010609060101010101" charset="-122"/>
                        <a:cs typeface="楷体" panose="02010609060101010101" charset="-122"/>
                      </a:endParaRPr>
                    </a:p>
                  </a:txBody>
                  <a:tcPr marL="0" marR="0" marT="0" marB="0" vert="horz">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2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9000"/>
                        </a:lnSpc>
                      </a:pPr>
                      <a:endParaRPr sz="100" dirty="0">
                        <a:latin typeface="Arial" panose="020B0604020202020204" pitchFamily="34" charset="0"/>
                        <a:ea typeface="Arial" panose="020B0604020202020204" pitchFamily="34" charset="0"/>
                        <a:cs typeface="Arial" panose="020B0604020202020204" pitchFamily="34" charset="0"/>
                      </a:endParaRPr>
                    </a:p>
                    <a:p>
                      <a:pPr marL="8890" indent="3175" algn="l" rtl="0" eaLnBrk="0">
                        <a:lnSpc>
                          <a:spcPct val="93000"/>
                        </a:lnSpc>
                      </a:pPr>
                      <a:r>
                        <a:rPr sz="1200" kern="0" spc="0" dirty="0">
                          <a:solidFill>
                            <a:srgbClr val="000000">
                              <a:alpha val="100000"/>
                            </a:srgbClr>
                          </a:solidFill>
                          <a:latin typeface="楷体" panose="02010609060101010101" charset="-122"/>
                          <a:ea typeface="楷体" panose="02010609060101010101" charset="-122"/>
                          <a:cs typeface="楷体" panose="02010609060101010101" charset="-122"/>
                        </a:rPr>
                        <a:t>稳定币发行人的资产负债表缺乏弹性，</a:t>
                      </a:r>
                      <a:r>
                        <a:rPr sz="1200" b="1" kern="0" spc="0" dirty="0">
                          <a:solidFill>
                            <a:srgbClr val="000000">
                              <a:alpha val="100000"/>
                            </a:srgbClr>
                          </a:solidFill>
                          <a:latin typeface="楷体" panose="02010609060101010101" charset="-122"/>
                          <a:ea typeface="楷体" panose="02010609060101010101" charset="-122"/>
                          <a:cs typeface="楷体" panose="02010609060101010101" charset="-122"/>
                        </a:rPr>
                        <a:t>其</a:t>
                      </a:r>
                      <a:r>
                        <a:rPr sz="1200" b="1" kern="0" spc="-10" dirty="0">
                          <a:solidFill>
                            <a:srgbClr val="000000">
                              <a:alpha val="100000"/>
                            </a:srgbClr>
                          </a:solidFill>
                          <a:latin typeface="楷体" panose="02010609060101010101" charset="-122"/>
                          <a:ea typeface="楷体" panose="02010609060101010101" charset="-122"/>
                          <a:cs typeface="楷体" panose="02010609060101010101" charset="-122"/>
                        </a:rPr>
                        <a:t>新发稳定币的前提为具备足</a:t>
                      </a:r>
                      <a:r>
                        <a:rPr sz="1200" b="1" kern="0" spc="0" dirty="0">
                          <a:solidFill>
                            <a:srgbClr val="000000">
                              <a:alpha val="100000"/>
                            </a:srgbClr>
                          </a:solidFill>
                          <a:latin typeface="楷体" panose="02010609060101010101" charset="-122"/>
                          <a:ea typeface="楷体" panose="02010609060101010101" charset="-122"/>
                          <a:cs typeface="楷体" panose="02010609060101010101" charset="-122"/>
                        </a:rPr>
                        <a:t>额的储备资产</a:t>
                      </a:r>
                      <a:r>
                        <a:rPr sz="1200" kern="0" spc="0" dirty="0">
                          <a:solidFill>
                            <a:srgbClr val="000000">
                              <a:alpha val="100000"/>
                            </a:srgbClr>
                          </a:solidFill>
                          <a:latin typeface="楷体" panose="02010609060101010101" charset="-122"/>
                          <a:ea typeface="楷体" panose="02010609060101010101" charset="-122"/>
                          <a:cs typeface="楷体" panose="02010609060101010101" charset="-122"/>
                        </a:rPr>
                        <a:t>，这一限</a:t>
                      </a:r>
                      <a:r>
                        <a:rPr sz="1200" kern="0" spc="-10" dirty="0">
                          <a:solidFill>
                            <a:srgbClr val="000000">
                              <a:alpha val="100000"/>
                            </a:srgbClr>
                          </a:solidFill>
                          <a:latin typeface="楷体" panose="02010609060101010101" charset="-122"/>
                          <a:ea typeface="楷体" panose="02010609060101010101" charset="-122"/>
                          <a:cs typeface="楷体" panose="02010609060101010101" charset="-122"/>
                        </a:rPr>
                        <a:t>制导致其面临流动性短缺时不具备杠杆空间。</a:t>
                      </a:r>
                      <a:endParaRPr sz="1200" dirty="0">
                        <a:latin typeface="楷体" panose="02010609060101010101" charset="-122"/>
                        <a:ea typeface="楷体" panose="02010609060101010101" charset="-122"/>
                        <a:cs typeface="楷体" panose="02010609060101010101" charset="-122"/>
                      </a:endParaRPr>
                    </a:p>
                  </a:txBody>
                  <a:tcPr marL="0" marR="0" marT="0" marB="0" vert="horz">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946785">
                <a:tc>
                  <a:txBody>
                    <a:bodyPr/>
                    <a:lstStyle/>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marL="508000" algn="l" rtl="0" eaLnBrk="0">
                        <a:lnSpc>
                          <a:spcPct val="83000"/>
                        </a:lnSpc>
                        <a:spcBef>
                          <a:spcPts val="5"/>
                        </a:spcBef>
                      </a:pPr>
                      <a:r>
                        <a:rPr sz="1200" kern="0" spc="-20" dirty="0">
                          <a:solidFill>
                            <a:srgbClr val="000000">
                              <a:alpha val="100000"/>
                            </a:srgbClr>
                          </a:solidFill>
                          <a:latin typeface="楷体" panose="02010609060101010101" charset="-122"/>
                          <a:ea typeface="楷体" panose="02010609060101010101" charset="-122"/>
                          <a:cs typeface="楷体" panose="02010609060101010101" charset="-122"/>
                        </a:rPr>
                        <a:t>完整性检验</a:t>
                      </a:r>
                      <a:endParaRPr sz="1200" dirty="0">
                        <a:latin typeface="楷体" panose="02010609060101010101" charset="-122"/>
                        <a:ea typeface="楷体" panose="02010609060101010101" charset="-122"/>
                        <a:cs typeface="楷体" panose="02010609060101010101" charset="-122"/>
                      </a:endParaRPr>
                    </a:p>
                    <a:p>
                      <a:pPr marL="543560" algn="l" rtl="0" eaLnBrk="0">
                        <a:lnSpc>
                          <a:spcPts val="1510"/>
                        </a:lnSpc>
                      </a:pPr>
                      <a:r>
                        <a:rPr sz="1100" kern="0" spc="-20" dirty="0">
                          <a:solidFill>
                            <a:srgbClr val="000000">
                              <a:alpha val="100000"/>
                            </a:srgbClr>
                          </a:solidFill>
                          <a:latin typeface="楷体" panose="02010609060101010101" charset="-122"/>
                          <a:ea typeface="楷体" panose="02010609060101010101" charset="-122"/>
                          <a:cs typeface="楷体" panose="02010609060101010101" charset="-122"/>
                        </a:rPr>
                        <a:t>（</a:t>
                      </a:r>
                      <a:r>
                        <a:rPr sz="1100" kern="0" spc="-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Integrity</a:t>
                      </a:r>
                      <a:r>
                        <a:rPr sz="1100" kern="0" spc="-20" dirty="0">
                          <a:solidFill>
                            <a:srgbClr val="000000">
                              <a:alpha val="100000"/>
                            </a:srgbClr>
                          </a:solidFill>
                          <a:latin typeface="楷体" panose="02010609060101010101" charset="-122"/>
                          <a:ea typeface="楷体" panose="02010609060101010101" charset="-122"/>
                          <a:cs typeface="楷体" panose="02010609060101010101" charset="-122"/>
                        </a:rPr>
                        <a:t>）</a:t>
                      </a:r>
                      <a:endParaRPr sz="1100" dirty="0">
                        <a:latin typeface="楷体" panose="02010609060101010101" charset="-122"/>
                        <a:ea typeface="楷体" panose="02010609060101010101" charset="-122"/>
                        <a:cs typeface="楷体" panose="02010609060101010101" charset="-122"/>
                      </a:endParaRPr>
                    </a:p>
                  </a:txBody>
                  <a:tcPr marL="0" marR="0" marT="0" marB="0" vert="horz">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39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9000"/>
                        </a:lnSpc>
                      </a:pPr>
                      <a:endParaRPr sz="100" dirty="0">
                        <a:latin typeface="Arial" panose="020B0604020202020204" pitchFamily="34" charset="0"/>
                        <a:ea typeface="Arial" panose="020B0604020202020204" pitchFamily="34" charset="0"/>
                        <a:cs typeface="Arial" panose="020B0604020202020204" pitchFamily="34" charset="0"/>
                      </a:endParaRPr>
                    </a:p>
                    <a:p>
                      <a:pPr marL="6985" algn="l" rtl="0" eaLnBrk="0">
                        <a:lnSpc>
                          <a:spcPct val="95000"/>
                        </a:lnSpc>
                      </a:pPr>
                      <a:r>
                        <a:rPr sz="1200" kern="0" spc="0" dirty="0">
                          <a:solidFill>
                            <a:srgbClr val="000000">
                              <a:alpha val="100000"/>
                            </a:srgbClr>
                          </a:solidFill>
                          <a:latin typeface="楷体" panose="02010609060101010101" charset="-122"/>
                          <a:ea typeface="楷体" panose="02010609060101010101" charset="-122"/>
                          <a:cs typeface="楷体" panose="02010609060101010101" charset="-122"/>
                        </a:rPr>
                        <a:t>反洗钱和打击恐怖主义融资（</a:t>
                      </a:r>
                      <a:r>
                        <a:rPr sz="12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AML/CFT</a:t>
                      </a:r>
                      <a:r>
                        <a:rPr sz="1200" kern="0" spc="0" dirty="0">
                          <a:solidFill>
                            <a:srgbClr val="000000">
                              <a:alpha val="100000"/>
                            </a:srgbClr>
                          </a:solidFill>
                          <a:latin typeface="楷体" panose="02010609060101010101" charset="-122"/>
                          <a:ea typeface="楷体" panose="02010609060101010101" charset="-122"/>
                          <a:cs typeface="楷体" panose="02010609060101010101" charset="-122"/>
                        </a:rPr>
                        <a:t>）等法规要求银行等</a:t>
                      </a:r>
                      <a:r>
                        <a:rPr sz="1200" kern="0" spc="-10" dirty="0">
                          <a:solidFill>
                            <a:srgbClr val="000000">
                              <a:alpha val="100000"/>
                            </a:srgbClr>
                          </a:solidFill>
                          <a:latin typeface="楷体" panose="02010609060101010101" charset="-122"/>
                          <a:ea typeface="楷体" panose="02010609060101010101" charset="-122"/>
                          <a:cs typeface="楷体" panose="02010609060101010101" charset="-122"/>
                        </a:rPr>
                        <a:t>中心化机</a:t>
                      </a:r>
                      <a:r>
                        <a:rPr sz="1200" kern="0" spc="0" dirty="0">
                          <a:solidFill>
                            <a:srgbClr val="000000">
                              <a:alpha val="100000"/>
                            </a:srgbClr>
                          </a:solidFill>
                          <a:latin typeface="楷体" panose="02010609060101010101" charset="-122"/>
                          <a:ea typeface="楷体" panose="02010609060101010101" charset="-122"/>
                          <a:cs typeface="楷体" panose="02010609060101010101" charset="-122"/>
                        </a:rPr>
                        <a:t>构遵守“了解你的客户”（</a:t>
                      </a:r>
                      <a:r>
                        <a:rPr sz="12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KYC</a:t>
                      </a:r>
                      <a:r>
                        <a:rPr sz="1200" kern="0" spc="0" dirty="0">
                          <a:solidFill>
                            <a:srgbClr val="000000">
                              <a:alpha val="100000"/>
                            </a:srgbClr>
                          </a:solidFill>
                          <a:latin typeface="楷体" panose="02010609060101010101" charset="-122"/>
                          <a:ea typeface="楷体" panose="02010609060101010101" charset="-122"/>
                          <a:cs typeface="楷体" panose="02010609060101010101" charset="-122"/>
                        </a:rPr>
                        <a:t>）规则，并具备阻止付款能力，</a:t>
                      </a:r>
                      <a:r>
                        <a:rPr sz="1200" b="1" kern="0" spc="-10" dirty="0">
                          <a:solidFill>
                            <a:srgbClr val="000000">
                              <a:alpha val="100000"/>
                            </a:srgbClr>
                          </a:solidFill>
                          <a:latin typeface="楷体" panose="02010609060101010101" charset="-122"/>
                          <a:ea typeface="楷体" panose="02010609060101010101" charset="-122"/>
                          <a:cs typeface="楷体" panose="02010609060101010101" charset="-122"/>
                        </a:rPr>
                        <a:t>一定</a:t>
                      </a:r>
                      <a:r>
                        <a:rPr sz="1200" b="1" kern="0" spc="-10" dirty="0">
                          <a:solidFill>
                            <a:srgbClr val="000000">
                              <a:alpha val="100000"/>
                            </a:srgbClr>
                          </a:solidFill>
                          <a:latin typeface="楷体" panose="02010609060101010101" charset="-122"/>
                          <a:ea typeface="楷体" panose="02010609060101010101" charset="-122"/>
                          <a:cs typeface="楷体" panose="02010609060101010101" charset="-122"/>
                        </a:rPr>
                        <a:t>程度上降低了金融系统风险</a:t>
                      </a:r>
                      <a:r>
                        <a:rPr sz="1200" kern="0" spc="-10" dirty="0">
                          <a:solidFill>
                            <a:srgbClr val="000000">
                              <a:alpha val="100000"/>
                            </a:srgbClr>
                          </a:solidFill>
                          <a:latin typeface="楷体" panose="02010609060101010101" charset="-122"/>
                          <a:ea typeface="楷体" panose="02010609060101010101" charset="-122"/>
                          <a:cs typeface="楷体" panose="02010609060101010101" charset="-122"/>
                        </a:rPr>
                        <a:t>。</a:t>
                      </a:r>
                      <a:endParaRPr sz="1200" dirty="0">
                        <a:latin typeface="楷体" panose="02010609060101010101" charset="-122"/>
                        <a:ea typeface="楷体" panose="02010609060101010101" charset="-122"/>
                        <a:cs typeface="楷体" panose="02010609060101010101" charset="-122"/>
                      </a:endParaRPr>
                    </a:p>
                  </a:txBody>
                  <a:tcPr marL="0" marR="0" marT="0" marB="0" vert="horz">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800" dirty="0">
                        <a:latin typeface="Arial" panose="020B0604020202020204" pitchFamily="34" charset="0"/>
                        <a:ea typeface="Arial" panose="020B0604020202020204" pitchFamily="34" charset="0"/>
                        <a:cs typeface="Arial" panose="020B0604020202020204" pitchFamily="34" charset="0"/>
                      </a:endParaRPr>
                    </a:p>
                    <a:p>
                      <a:pPr marL="15875" indent="-3175" algn="l" rtl="0" eaLnBrk="0">
                        <a:lnSpc>
                          <a:spcPct val="96000"/>
                        </a:lnSpc>
                        <a:spcBef>
                          <a:spcPts val="5"/>
                        </a:spcBef>
                      </a:pPr>
                      <a:r>
                        <a:rPr sz="1200" kern="0" spc="0" dirty="0">
                          <a:solidFill>
                            <a:srgbClr val="000000">
                              <a:alpha val="100000"/>
                            </a:srgbClr>
                          </a:solidFill>
                          <a:latin typeface="楷体" panose="02010609060101010101" charset="-122"/>
                          <a:ea typeface="楷体" panose="02010609060101010101" charset="-122"/>
                          <a:cs typeface="楷体" panose="02010609060101010101" charset="-122"/>
                        </a:rPr>
                        <a:t>稳定币为无记名数字工具，能够自由跨境流通，监管对其追索难度较</a:t>
                      </a:r>
                      <a:r>
                        <a:rPr sz="1200" kern="0" spc="0" dirty="0">
                          <a:solidFill>
                            <a:srgbClr val="000000">
                              <a:alpha val="100000"/>
                            </a:srgbClr>
                          </a:solidFill>
                          <a:latin typeface="楷体" panose="02010609060101010101" charset="-122"/>
                          <a:ea typeface="楷体" panose="02010609060101010101" charset="-122"/>
                          <a:cs typeface="楷体" panose="02010609060101010101" charset="-122"/>
                        </a:rPr>
                        <a:t>大，易在</a:t>
                      </a:r>
                      <a:r>
                        <a:rPr sz="12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KYC</a:t>
                      </a:r>
                      <a:r>
                        <a:rPr sz="1200" kern="0" spc="0" dirty="0">
                          <a:solidFill>
                            <a:srgbClr val="000000">
                              <a:alpha val="100000"/>
                            </a:srgbClr>
                          </a:solidFill>
                          <a:latin typeface="楷体" panose="02010609060101010101" charset="-122"/>
                          <a:ea typeface="楷体" panose="02010609060101010101" charset="-122"/>
                          <a:cs typeface="楷体" panose="02010609060101010101" charset="-122"/>
                        </a:rPr>
                        <a:t>合规方面存在漏洞。此外，链上“</a:t>
                      </a:r>
                      <a:r>
                        <a:rPr sz="1200" kern="0" spc="-10" dirty="0">
                          <a:solidFill>
                            <a:srgbClr val="000000">
                              <a:alpha val="100000"/>
                            </a:srgbClr>
                          </a:solidFill>
                          <a:latin typeface="楷体" panose="02010609060101010101" charset="-122"/>
                          <a:ea typeface="楷体" panose="02010609060101010101" charset="-122"/>
                          <a:cs typeface="楷体" panose="02010609060101010101" charset="-122"/>
                        </a:rPr>
                        <a:t>洗币服务”等工具</a:t>
                      </a:r>
                      <a:r>
                        <a:rPr sz="1200" b="1" kern="0" spc="-10" dirty="0">
                          <a:solidFill>
                            <a:srgbClr val="000000">
                              <a:alpha val="100000"/>
                            </a:srgbClr>
                          </a:solidFill>
                          <a:latin typeface="楷体" panose="02010609060101010101" charset="-122"/>
                          <a:ea typeface="楷体" panose="02010609060101010101" charset="-122"/>
                          <a:cs typeface="楷体" panose="02010609060101010101" charset="-122"/>
                        </a:rPr>
                        <a:t>导</a:t>
                      </a:r>
                      <a:r>
                        <a:rPr sz="1200" b="1" kern="0" spc="0" dirty="0">
                          <a:solidFill>
                            <a:srgbClr val="000000">
                              <a:alpha val="100000"/>
                            </a:srgbClr>
                          </a:solidFill>
                          <a:latin typeface="楷体" panose="02010609060101010101" charset="-122"/>
                          <a:ea typeface="楷体" panose="02010609060101010101" charset="-122"/>
                          <a:cs typeface="楷体" panose="02010609060101010101" charset="-122"/>
                        </a:rPr>
                        <a:t>致稳定币在反洗钱</a:t>
                      </a:r>
                      <a:r>
                        <a:rPr sz="1200" b="1"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1200" b="1" kern="0" spc="0" dirty="0">
                          <a:solidFill>
                            <a:srgbClr val="000000">
                              <a:alpha val="100000"/>
                            </a:srgbClr>
                          </a:solidFill>
                          <a:latin typeface="楷体" panose="02010609060101010101" charset="-122"/>
                          <a:ea typeface="楷体" panose="02010609060101010101" charset="-122"/>
                          <a:cs typeface="楷体" panose="02010609060101010101" charset="-122"/>
                        </a:rPr>
                        <a:t>反恐</a:t>
                      </a:r>
                      <a:r>
                        <a:rPr sz="1200" b="1" kern="0" spc="-10" dirty="0">
                          <a:solidFill>
                            <a:srgbClr val="000000">
                              <a:alpha val="100000"/>
                            </a:srgbClr>
                          </a:solidFill>
                          <a:latin typeface="楷体" panose="02010609060101010101" charset="-122"/>
                          <a:ea typeface="楷体" panose="02010609060101010101" charset="-122"/>
                          <a:cs typeface="楷体" panose="02010609060101010101" charset="-122"/>
                        </a:rPr>
                        <a:t>怖主义融资领域的日常、全方位监测无法有效</a:t>
                      </a:r>
                      <a:r>
                        <a:rPr sz="1200" b="1" kern="0" spc="-10" dirty="0">
                          <a:solidFill>
                            <a:srgbClr val="000000">
                              <a:alpha val="100000"/>
                            </a:srgbClr>
                          </a:solidFill>
                          <a:latin typeface="楷体" panose="02010609060101010101" charset="-122"/>
                          <a:ea typeface="楷体" panose="02010609060101010101" charset="-122"/>
                          <a:cs typeface="楷体" panose="02010609060101010101" charset="-122"/>
                        </a:rPr>
                        <a:t>落地，增加金融犯罪风险</a:t>
                      </a:r>
                      <a:r>
                        <a:rPr sz="1200" kern="0" spc="-10" dirty="0">
                          <a:solidFill>
                            <a:srgbClr val="000000">
                              <a:alpha val="100000"/>
                            </a:srgbClr>
                          </a:solidFill>
                          <a:latin typeface="楷体" panose="02010609060101010101" charset="-122"/>
                          <a:ea typeface="楷体" panose="02010609060101010101" charset="-122"/>
                          <a:cs typeface="楷体" panose="02010609060101010101" charset="-122"/>
                        </a:rPr>
                        <a:t>。</a:t>
                      </a:r>
                      <a:endParaRPr sz="1200" dirty="0">
                        <a:latin typeface="楷体" panose="02010609060101010101" charset="-122"/>
                        <a:ea typeface="楷体" panose="02010609060101010101" charset="-122"/>
                        <a:cs typeface="楷体" panose="02010609060101010101" charset="-122"/>
                      </a:endParaRPr>
                    </a:p>
                  </a:txBody>
                  <a:tcPr marL="0" marR="0" marT="0" marB="0" vert="horz">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78" name="textbox 578"/>
          <p:cNvSpPr/>
          <p:nvPr/>
        </p:nvSpPr>
        <p:spPr>
          <a:xfrm>
            <a:off x="384497" y="1185792"/>
            <a:ext cx="11513184" cy="1206500"/>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pitchFamily="34" charset="0"/>
              <a:ea typeface="Arial" panose="020B0604020202020204" pitchFamily="34" charset="0"/>
              <a:cs typeface="Arial" panose="020B0604020202020204" pitchFamily="34" charset="0"/>
            </a:endParaRPr>
          </a:p>
          <a:p>
            <a:pPr marL="284480" indent="12065" algn="l" rtl="0" eaLnBrk="0">
              <a:lnSpc>
                <a:spcPct val="152000"/>
              </a:lnSpc>
              <a:spcBef>
                <a:spcPts val="45"/>
              </a:spcBef>
            </a:pPr>
            <a:r>
              <a:rPr lang="zh-CN" altLang="en-US" sz="2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（二） 争议与质疑</a:t>
            </a:r>
            <a:endParaRPr lang="zh-CN" altLang="en-US" sz="20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284480" indent="12065" algn="l" rtl="0" eaLnBrk="0">
              <a:lnSpc>
                <a:spcPct val="152000"/>
              </a:lnSpc>
              <a:spcBef>
                <a:spcPts val="45"/>
              </a:spcBef>
            </a:pPr>
            <a:r>
              <a:rPr sz="1400" b="1" kern="0" spc="100" dirty="0">
                <a:solidFill>
                  <a:srgbClr val="000000">
                    <a:alpha val="100000"/>
                  </a:srgbClr>
                </a:solidFill>
                <a:highlight>
                  <a:srgbClr val="FFFF00"/>
                </a:highlight>
                <a:latin typeface="微软雅黑" panose="020B0503020204020204" charset="-122"/>
                <a:ea typeface="微软雅黑" panose="020B0503020204020204" charset="-122"/>
                <a:cs typeface="微软雅黑" panose="020B0503020204020204" charset="-122"/>
              </a:rPr>
              <a:t> </a:t>
            </a:r>
            <a:r>
              <a:rPr sz="1400" b="1" kern="0" spc="0" dirty="0">
                <a:solidFill>
                  <a:srgbClr val="000000">
                    <a:alpha val="100000"/>
                  </a:srgbClr>
                </a:solidFill>
                <a:highlight>
                  <a:srgbClr val="FFFF00"/>
                </a:highlight>
                <a:latin typeface="微软雅黑" panose="020B0503020204020204" charset="-122"/>
                <a:ea typeface="微软雅黑" panose="020B0503020204020204" charset="-122"/>
                <a:cs typeface="微软雅黑" panose="020B0503020204020204" charset="-122"/>
              </a:rPr>
              <a:t>稳定币尚不能完全履行货币职能</a:t>
            </a:r>
            <a:r>
              <a:rPr sz="1400" b="1" kern="0" spc="-220" dirty="0">
                <a:solidFill>
                  <a:srgbClr val="000000">
                    <a:alpha val="100000"/>
                  </a:srgbClr>
                </a:solidFill>
                <a:highlight>
                  <a:srgbClr val="FFFF00"/>
                </a:highlight>
                <a:latin typeface="微软雅黑" panose="020B0503020204020204" charset="-122"/>
                <a:ea typeface="微软雅黑" panose="020B0503020204020204" charset="-122"/>
                <a:cs typeface="微软雅黑" panose="020B0503020204020204" charset="-122"/>
              </a:rPr>
              <a:t> </a:t>
            </a:r>
            <a:r>
              <a:rPr sz="1400" b="1" kern="0" spc="0" dirty="0">
                <a:solidFill>
                  <a:srgbClr val="000000">
                    <a:alpha val="100000"/>
                  </a:srgbClr>
                </a:solidFill>
                <a:highlight>
                  <a:srgbClr val="FFFF00"/>
                </a:highlight>
                <a:latin typeface="微软雅黑" panose="020B0503020204020204" charset="-122"/>
                <a:ea typeface="微软雅黑" panose="020B0503020204020204" charset="-122"/>
                <a:cs typeface="微软雅黑" panose="020B0503020204020204" charset="-122"/>
              </a:rPr>
              <a:t>，未来定位仍待明确。</a:t>
            </a:r>
            <a:r>
              <a:rPr lang="zh-CN" altLang="en-US" sz="1400" kern="0" spc="-10" dirty="0">
                <a:solidFill>
                  <a:srgbClr val="000000">
                    <a:alpha val="100000"/>
                  </a:srgbClr>
                </a:solidFill>
                <a:highlight>
                  <a:srgbClr val="FFFF00"/>
                </a:highlight>
                <a:latin typeface="微软雅黑" panose="020B0503020204020204" charset="-122"/>
                <a:ea typeface="微软雅黑" panose="020B0503020204020204" charset="-122"/>
                <a:cs typeface="微软雅黑" panose="020B0503020204020204" charset="-122"/>
                <a:sym typeface="+mn-ea"/>
              </a:rPr>
              <a:t>2025年6月24日，</a:t>
            </a:r>
            <a:r>
              <a:rPr sz="1400" kern="0" spc="-10" dirty="0">
                <a:solidFill>
                  <a:srgbClr val="000000">
                    <a:alpha val="100000"/>
                  </a:srgbClr>
                </a:solidFill>
                <a:highlight>
                  <a:srgbClr val="FFFF00"/>
                </a:highlight>
                <a:latin typeface="微软雅黑" panose="020B0503020204020204" charset="-122"/>
                <a:ea typeface="微软雅黑" panose="020B0503020204020204" charset="-122"/>
                <a:cs typeface="微软雅黑" panose="020B0503020204020204" charset="-122"/>
              </a:rPr>
              <a:t>根据</a:t>
            </a:r>
            <a:r>
              <a:rPr sz="1400" kern="0" spc="0" dirty="0">
                <a:solidFill>
                  <a:srgbClr val="000000">
                    <a:alpha val="100000"/>
                  </a:srgbClr>
                </a:solidFill>
                <a:highlight>
                  <a:srgbClr val="FFFF00"/>
                </a:highlight>
                <a:latin typeface="微软雅黑" panose="020B0503020204020204" charset="-122"/>
                <a:ea typeface="微软雅黑" panose="020B0503020204020204" charset="-122"/>
                <a:cs typeface="微软雅黑" panose="020B0503020204020204" charset="-122"/>
              </a:rPr>
              <a:t>国际清算银行报告</a:t>
            </a:r>
            <a:r>
              <a:rPr sz="1400" kern="0" spc="-200" dirty="0">
                <a:solidFill>
                  <a:srgbClr val="000000">
                    <a:alpha val="100000"/>
                  </a:srgbClr>
                </a:solidFill>
                <a:highlight>
                  <a:srgbClr val="FFFF00"/>
                </a:highlight>
                <a:latin typeface="微软雅黑" panose="020B0503020204020204" charset="-122"/>
                <a:ea typeface="微软雅黑" panose="020B0503020204020204" charset="-122"/>
                <a:cs typeface="微软雅黑" panose="020B0503020204020204" charset="-122"/>
              </a:rPr>
              <a:t> </a:t>
            </a:r>
            <a:r>
              <a:rPr sz="1400" kern="0" spc="0" dirty="0">
                <a:solidFill>
                  <a:srgbClr val="000000">
                    <a:alpha val="100000"/>
                  </a:srgbClr>
                </a:solidFill>
                <a:highlight>
                  <a:srgbClr val="FFFF00"/>
                </a:highlight>
                <a:latin typeface="微软雅黑" panose="020B0503020204020204" charset="-122"/>
                <a:ea typeface="微软雅黑" panose="020B0503020204020204" charset="-122"/>
                <a:cs typeface="微软雅黑" panose="020B0503020204020204" charset="-122"/>
              </a:rPr>
              <a:t>，稳定币在货币体系作为货币体系支柱的</a:t>
            </a:r>
            <a:r>
              <a:rPr sz="1400" kern="0" spc="-10" dirty="0">
                <a:solidFill>
                  <a:srgbClr val="000000">
                    <a:alpha val="100000"/>
                  </a:srgbClr>
                </a:solidFill>
                <a:highlight>
                  <a:srgbClr val="FFFF00"/>
                </a:highlight>
                <a:latin typeface="微软雅黑" panose="020B0503020204020204" charset="-122"/>
                <a:ea typeface="微软雅黑" panose="020B0503020204020204" charset="-122"/>
                <a:cs typeface="微软雅黑" panose="020B0503020204020204" charset="-122"/>
              </a:rPr>
              <a:t>三项可行性检验中表现不佳。</a:t>
            </a:r>
            <a:endParaRPr sz="1400" kern="0" spc="-10" dirty="0">
              <a:solidFill>
                <a:srgbClr val="000000">
                  <a:alpha val="100000"/>
                </a:srgbClr>
              </a:solidFill>
              <a:highlight>
                <a:srgbClr val="FFFF00"/>
              </a:highlight>
              <a:latin typeface="微软雅黑" panose="020B0503020204020204" charset="-122"/>
              <a:ea typeface="微软雅黑" panose="020B0503020204020204" charset="-122"/>
              <a:cs typeface="微软雅黑" panose="020B0503020204020204" charset="-122"/>
            </a:endParaRPr>
          </a:p>
          <a:p>
            <a:pPr marL="284480" indent="12065" algn="l" rtl="0" eaLnBrk="0">
              <a:lnSpc>
                <a:spcPct val="152000"/>
              </a:lnSpc>
              <a:spcBef>
                <a:spcPts val="45"/>
              </a:spcBef>
            </a:pPr>
            <a:endParaRPr lang="zh-CN" altLang="en-US"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marL="284480" indent="12065" algn="l" rtl="0" eaLnBrk="0">
              <a:lnSpc>
                <a:spcPct val="152000"/>
              </a:lnSpc>
              <a:spcBef>
                <a:spcPts val="45"/>
              </a:spcBef>
            </a:pPr>
            <a:endParaRPr sz="1400" dirty="0">
              <a:latin typeface="微软雅黑" panose="020B0503020204020204" charset="-122"/>
              <a:ea typeface="微软雅黑" panose="020B0503020204020204" charset="-122"/>
              <a:cs typeface="微软雅黑" panose="020B0503020204020204" charset="-122"/>
            </a:endParaRPr>
          </a:p>
        </p:txBody>
      </p:sp>
      <p:pic>
        <p:nvPicPr>
          <p:cNvPr id="580" name="picture 580"/>
          <p:cNvPicPr>
            <a:picLocks noChangeAspect="1"/>
          </p:cNvPicPr>
          <p:nvPr/>
        </p:nvPicPr>
        <p:blipFill>
          <a:blip r:embed="rId1"/>
          <a:stretch>
            <a:fillRect/>
          </a:stretch>
        </p:blipFill>
        <p:spPr>
          <a:xfrm rot="21600000">
            <a:off x="397197" y="1212400"/>
            <a:ext cx="143894" cy="130878"/>
          </a:xfrm>
          <a:prstGeom prst="rect">
            <a:avLst/>
          </a:prstGeom>
        </p:spPr>
      </p:pic>
      <p:sp>
        <p:nvSpPr>
          <p:cNvPr id="582" name="textbox 582"/>
          <p:cNvSpPr/>
          <p:nvPr/>
        </p:nvSpPr>
        <p:spPr>
          <a:xfrm>
            <a:off x="394970" y="264160"/>
            <a:ext cx="9323070" cy="453390"/>
          </a:xfrm>
          <a:prstGeom prst="rect">
            <a:avLst/>
          </a:prstGeom>
          <a:noFill/>
          <a:ln w="0" cap="flat">
            <a:noFill/>
            <a:prstDash val="solid"/>
            <a:miter lim="0"/>
          </a:ln>
        </p:spPr>
        <p:txBody>
          <a:bodyPr vert="horz" wrap="square" lIns="0" tIns="0" rIns="0" bIns="0"/>
          <a:lstStyle/>
          <a:p>
            <a:pPr algn="l" rtl="0" eaLnBrk="0">
              <a:lnSpc>
                <a:spcPct val="105000"/>
              </a:lnSpc>
            </a:pPr>
            <a:endParaRPr sz="400" dirty="0">
              <a:latin typeface="Arial" panose="020B0604020202020204" pitchFamily="34" charset="0"/>
              <a:ea typeface="Arial" panose="020B0604020202020204" pitchFamily="34" charset="0"/>
              <a:cs typeface="Arial" panose="020B0604020202020204" pitchFamily="34" charset="0"/>
            </a:endParaRPr>
          </a:p>
          <a:p>
            <a:pPr marL="1464945" algn="l" defTabSz="0" rtl="0" eaLnBrk="0">
              <a:lnSpc>
                <a:spcPct val="89000"/>
              </a:lnSpc>
            </a:pPr>
            <a:r>
              <a:rPr sz="2400" b="1"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sym typeface="+mn-ea"/>
              </a:rPr>
              <a:t>一</a:t>
            </a:r>
            <a:r>
              <a:rPr sz="2400"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sym typeface="+mn-ea"/>
              </a:rPr>
              <a:t> </a:t>
            </a:r>
            <a:r>
              <a:rPr sz="24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sym typeface="+mn-ea"/>
              </a:rPr>
              <a:t>、</a:t>
            </a:r>
            <a:r>
              <a:rPr sz="2400" kern="0" spc="-130" dirty="0">
                <a:solidFill>
                  <a:srgbClr val="003963">
                    <a:alpha val="100000"/>
                  </a:srgbClr>
                </a:solidFill>
                <a:latin typeface="华文新魏" panose="02010800040101010101" charset="-122"/>
                <a:ea typeface="华文新魏" panose="02010800040101010101" charset="-122"/>
                <a:cs typeface="华文新魏" panose="02010800040101010101" charset="-122"/>
                <a:sym typeface="+mn-ea"/>
              </a:rPr>
              <a:t> </a:t>
            </a:r>
            <a:r>
              <a:rPr sz="24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sym typeface="+mn-ea"/>
              </a:rPr>
              <a:t>从野生</a:t>
            </a:r>
            <a:r>
              <a:rPr sz="2400"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sym typeface="+mn-ea"/>
              </a:rPr>
              <a:t> </a:t>
            </a:r>
            <a:r>
              <a:rPr sz="24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sym typeface="+mn-ea"/>
              </a:rPr>
              <a:t>到</a:t>
            </a:r>
            <a:r>
              <a:rPr sz="2400" kern="0" spc="-210" dirty="0">
                <a:solidFill>
                  <a:srgbClr val="003963">
                    <a:alpha val="100000"/>
                  </a:srgbClr>
                </a:solidFill>
                <a:latin typeface="华文新魏" panose="02010800040101010101" charset="-122"/>
                <a:ea typeface="华文新魏" panose="02010800040101010101" charset="-122"/>
                <a:cs typeface="华文新魏" panose="02010800040101010101" charset="-122"/>
                <a:sym typeface="+mn-ea"/>
              </a:rPr>
              <a:t> </a:t>
            </a:r>
            <a:r>
              <a:rPr sz="24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sym typeface="+mn-ea"/>
              </a:rPr>
              <a:t>合法</a:t>
            </a:r>
            <a:r>
              <a:rPr sz="2400" kern="0" spc="-330" dirty="0">
                <a:solidFill>
                  <a:srgbClr val="003963">
                    <a:alpha val="100000"/>
                  </a:srgbClr>
                </a:solidFill>
                <a:latin typeface="华文新魏" panose="02010800040101010101" charset="-122"/>
                <a:ea typeface="华文新魏" panose="02010800040101010101" charset="-122"/>
                <a:cs typeface="华文新魏" panose="02010800040101010101" charset="-122"/>
                <a:sym typeface="+mn-ea"/>
              </a:rPr>
              <a:t> </a:t>
            </a:r>
            <a:r>
              <a:rPr sz="24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sym typeface="+mn-ea"/>
              </a:rPr>
              <a:t>：</a:t>
            </a:r>
            <a:r>
              <a:rPr sz="2400"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sym typeface="+mn-ea"/>
              </a:rPr>
              <a:t> </a:t>
            </a:r>
            <a:r>
              <a:rPr sz="24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sym typeface="+mn-ea"/>
              </a:rPr>
              <a:t>稳定币</a:t>
            </a:r>
            <a:r>
              <a:rPr sz="2400"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sym typeface="+mn-ea"/>
              </a:rPr>
              <a:t> </a:t>
            </a:r>
            <a:r>
              <a:rPr sz="24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sym typeface="+mn-ea"/>
              </a:rPr>
              <a:t>大热背</a:t>
            </a:r>
            <a:r>
              <a:rPr sz="2400" kern="0" spc="-150" dirty="0">
                <a:solidFill>
                  <a:srgbClr val="003963">
                    <a:alpha val="100000"/>
                  </a:srgbClr>
                </a:solidFill>
                <a:latin typeface="华文新魏" panose="02010800040101010101" charset="-122"/>
                <a:ea typeface="华文新魏" panose="02010800040101010101" charset="-122"/>
                <a:cs typeface="华文新魏" panose="02010800040101010101" charset="-122"/>
                <a:sym typeface="+mn-ea"/>
              </a:rPr>
              <a:t> </a:t>
            </a:r>
            <a:r>
              <a:rPr sz="2400" b="1" kern="0" spc="-50" dirty="0">
                <a:solidFill>
                  <a:srgbClr val="003963">
                    <a:alpha val="100000"/>
                  </a:srgbClr>
                </a:solidFill>
                <a:latin typeface="华文新魏" panose="02010800040101010101" charset="-122"/>
                <a:ea typeface="华文新魏" panose="02010800040101010101" charset="-122"/>
                <a:cs typeface="华文新魏" panose="02010800040101010101" charset="-122"/>
                <a:sym typeface="+mn-ea"/>
              </a:rPr>
              <a:t>后</a:t>
            </a:r>
            <a:r>
              <a:rPr sz="2400" kern="0" spc="-50" dirty="0">
                <a:solidFill>
                  <a:srgbClr val="003963">
                    <a:alpha val="100000"/>
                  </a:srgbClr>
                </a:solidFill>
                <a:latin typeface="华文新魏" panose="02010800040101010101" charset="-122"/>
                <a:ea typeface="华文新魏" panose="02010800040101010101" charset="-122"/>
                <a:cs typeface="华文新魏" panose="02010800040101010101" charset="-122"/>
                <a:sym typeface="+mn-ea"/>
              </a:rPr>
              <a:t> </a:t>
            </a:r>
            <a:r>
              <a:rPr sz="2400" b="1" kern="0" spc="-50" dirty="0">
                <a:solidFill>
                  <a:srgbClr val="003963">
                    <a:alpha val="100000"/>
                  </a:srgbClr>
                </a:solidFill>
                <a:latin typeface="华文新魏" panose="02010800040101010101" charset="-122"/>
                <a:ea typeface="华文新魏" panose="02010800040101010101" charset="-122"/>
                <a:cs typeface="华文新魏" panose="02010800040101010101" charset="-122"/>
                <a:sym typeface="+mn-ea"/>
              </a:rPr>
              <a:t>的争议</a:t>
            </a:r>
            <a:endParaRPr sz="2400" dirty="0">
              <a:latin typeface="楷体" panose="02010609060101010101" charset="-122"/>
              <a:ea typeface="楷体" panose="02010609060101010101" charset="-122"/>
              <a:cs typeface="楷体" panose="02010609060101010101" charset="-122"/>
            </a:endParaRPr>
          </a:p>
        </p:txBody>
      </p:sp>
      <p:pic>
        <p:nvPicPr>
          <p:cNvPr id="584" name="picture 584"/>
          <p:cNvPicPr>
            <a:picLocks noChangeAspect="1"/>
          </p:cNvPicPr>
          <p:nvPr/>
        </p:nvPicPr>
        <p:blipFill>
          <a:blip r:embed="rId2"/>
          <a:stretch>
            <a:fillRect/>
          </a:stretch>
        </p:blipFill>
        <p:spPr>
          <a:xfrm rot="21600000">
            <a:off x="407510" y="276742"/>
            <a:ext cx="683414" cy="427691"/>
          </a:xfrm>
          <a:prstGeom prst="rect">
            <a:avLst/>
          </a:prstGeom>
        </p:spPr>
      </p:pic>
      <p:sp>
        <p:nvSpPr>
          <p:cNvPr id="588" name="textbox 588"/>
          <p:cNvSpPr/>
          <p:nvPr/>
        </p:nvSpPr>
        <p:spPr>
          <a:xfrm>
            <a:off x="438841" y="2719191"/>
            <a:ext cx="5698490" cy="215900"/>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89000"/>
              </a:lnSpc>
            </a:pPr>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表：货币体系作为货币体系支柱可行性检验：法币体系 vs 稳定币体</a:t>
            </a:r>
            <a:r>
              <a:rPr sz="1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系</a:t>
            </a:r>
            <a:endParaRPr sz="1400" dirty="0">
              <a:latin typeface="微软雅黑" panose="020B0503020204020204" charset="-122"/>
              <a:ea typeface="微软雅黑" panose="020B0503020204020204" charset="-122"/>
              <a:cs typeface="微软雅黑" panose="020B0503020204020204" charset="-122"/>
            </a:endParaRPr>
          </a:p>
        </p:txBody>
      </p:sp>
      <p:sp>
        <p:nvSpPr>
          <p:cNvPr id="590" name="path 590"/>
          <p:cNvSpPr/>
          <p:nvPr/>
        </p:nvSpPr>
        <p:spPr>
          <a:xfrm>
            <a:off x="359397" y="984157"/>
            <a:ext cx="11473180" cy="17999"/>
          </a:xfrm>
          <a:custGeom>
            <a:avLst/>
            <a:gdLst/>
            <a:ahLst/>
            <a:cxnLst/>
            <a:rect l="0" t="0" r="0" b="0"/>
            <a:pathLst>
              <a:path w="18068" h="28">
                <a:moveTo>
                  <a:pt x="0" y="28"/>
                </a:moveTo>
                <a:lnTo>
                  <a:pt x="18068" y="28"/>
                </a:lnTo>
                <a:lnTo>
                  <a:pt x="18068" y="0"/>
                </a:lnTo>
                <a:lnTo>
                  <a:pt x="0" y="0"/>
                </a:lnTo>
                <a:lnTo>
                  <a:pt x="0" y="28"/>
                </a:lnTo>
                <a:close/>
              </a:path>
            </a:pathLst>
          </a:custGeom>
          <a:solidFill>
            <a:srgbClr val="C30F1B">
              <a:alpha val="100000"/>
            </a:srgbClr>
          </a:solidFill>
          <a:ln w="0" cap="flat">
            <a:noFill/>
            <a:prstDash val="solid"/>
            <a:miter lim="0"/>
          </a:ln>
        </p:spPr>
        <p:txBody>
          <a:bodyPr rtlCol="0"/>
          <a:lstStyle/>
          <a:p>
            <a:pPr algn="ctr"/>
            <a:endParaRPr lang="zh-CN" altLang="en-US"/>
          </a:p>
        </p:txBody>
      </p:sp>
      <p:sp>
        <p:nvSpPr>
          <p:cNvPr id="592" name="path 592"/>
          <p:cNvSpPr/>
          <p:nvPr/>
        </p:nvSpPr>
        <p:spPr>
          <a:xfrm>
            <a:off x="359397" y="6450596"/>
            <a:ext cx="11473192" cy="6350"/>
          </a:xfrm>
          <a:custGeom>
            <a:avLst/>
            <a:gdLst/>
            <a:ahLst/>
            <a:cxnLst/>
            <a:rect l="0" t="0" r="0" b="0"/>
            <a:pathLst>
              <a:path w="18068" h="10">
                <a:moveTo>
                  <a:pt x="0" y="5"/>
                </a:moveTo>
                <a:lnTo>
                  <a:pt x="18068" y="5"/>
                </a:lnTo>
              </a:path>
            </a:pathLst>
          </a:custGeom>
          <a:noFill/>
          <a:ln w="6350" cap="flat">
            <a:solidFill>
              <a:srgbClr val="000000"/>
            </a:solidFill>
            <a:prstDash val="solid"/>
            <a:miter lim="1000000"/>
          </a:ln>
        </p:spPr>
        <p:txBody>
          <a:bodyPr rtlCol="0"/>
          <a:lstStyle/>
          <a:p>
            <a:pPr algn="ct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textbox 86"/>
          <p:cNvSpPr/>
          <p:nvPr/>
        </p:nvSpPr>
        <p:spPr>
          <a:xfrm>
            <a:off x="192125" y="658672"/>
            <a:ext cx="11706225" cy="5113020"/>
          </a:xfrm>
          <a:prstGeom prst="rect">
            <a:avLst/>
          </a:prstGeom>
          <a:noFill/>
          <a:ln w="0" cap="flat">
            <a:noFill/>
            <a:prstDash val="solid"/>
            <a:miter lim="0"/>
          </a:ln>
        </p:spPr>
        <p:txBody>
          <a:bodyPr vert="horz" wrap="square" lIns="0" tIns="0" rIns="0" bIns="0"/>
          <a:lstStyle/>
          <a:p>
            <a:pPr algn="l" defTabSz="0" rtl="0" eaLnBrk="0">
              <a:lnSpc>
                <a:spcPct val="94000"/>
              </a:lnSpc>
            </a:pPr>
            <a:endParaRPr sz="100" dirty="0">
              <a:latin typeface="Arial" panose="020B0604020202020204" pitchFamily="34" charset="0"/>
              <a:ea typeface="Arial" panose="020B0604020202020204" pitchFamily="34" charset="0"/>
              <a:cs typeface="Arial" panose="020B0604020202020204" pitchFamily="34" charset="0"/>
            </a:endParaRPr>
          </a:p>
          <a:p>
            <a:pPr marL="1689735" algn="l" defTabSz="0" rtl="0" eaLnBrk="0">
              <a:lnSpc>
                <a:spcPct val="89000"/>
              </a:lnSpc>
            </a:pPr>
            <a:r>
              <a:rPr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一</a:t>
            </a:r>
            <a:r>
              <a:rPr sz="2700"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a:t>
            </a:r>
            <a:r>
              <a:rPr sz="2700" kern="0" spc="-13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从野</a:t>
            </a:r>
            <a:r>
              <a:rPr sz="2700" kern="0" spc="17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生</a:t>
            </a:r>
            <a:r>
              <a:rPr sz="2700"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到</a:t>
            </a:r>
            <a:r>
              <a:rPr sz="2700" kern="0" spc="-21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合法</a:t>
            </a:r>
            <a:r>
              <a:rPr sz="2700" kern="0" spc="-33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a:t>
            </a:r>
            <a:r>
              <a:rPr sz="2700"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稳定</a:t>
            </a:r>
            <a:r>
              <a:rPr sz="2700" kern="0" spc="32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币</a:t>
            </a:r>
            <a:r>
              <a:rPr sz="2700"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大热背</a:t>
            </a:r>
            <a:r>
              <a:rPr sz="2700" kern="0" spc="-15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50" dirty="0">
                <a:solidFill>
                  <a:srgbClr val="003963">
                    <a:alpha val="100000"/>
                  </a:srgbClr>
                </a:solidFill>
                <a:latin typeface="华文新魏" panose="02010800040101010101" charset="-122"/>
                <a:ea typeface="华文新魏" panose="02010800040101010101" charset="-122"/>
                <a:cs typeface="华文新魏" panose="02010800040101010101" charset="-122"/>
              </a:rPr>
              <a:t>后</a:t>
            </a:r>
            <a:r>
              <a:rPr sz="2700" kern="0" spc="-5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50" dirty="0">
                <a:solidFill>
                  <a:srgbClr val="003963">
                    <a:alpha val="100000"/>
                  </a:srgbClr>
                </a:solidFill>
                <a:latin typeface="华文新魏" panose="02010800040101010101" charset="-122"/>
                <a:ea typeface="华文新魏" panose="02010800040101010101" charset="-122"/>
                <a:cs typeface="华文新魏" panose="02010800040101010101" charset="-122"/>
              </a:rPr>
              <a:t>的</a:t>
            </a:r>
            <a:r>
              <a:rPr sz="2700" kern="0" spc="17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50" dirty="0">
                <a:solidFill>
                  <a:srgbClr val="003963">
                    <a:alpha val="100000"/>
                  </a:srgbClr>
                </a:solidFill>
                <a:latin typeface="华文新魏" panose="02010800040101010101" charset="-122"/>
                <a:ea typeface="华文新魏" panose="02010800040101010101" charset="-122"/>
                <a:cs typeface="华文新魏" panose="02010800040101010101" charset="-122"/>
              </a:rPr>
              <a:t>争议</a:t>
            </a:r>
            <a:endParaRPr sz="2700" dirty="0">
              <a:latin typeface="华文新魏" panose="02010800040101010101" charset="-122"/>
              <a:ea typeface="华文新魏" panose="02010800040101010101" charset="-122"/>
              <a:cs typeface="华文新魏" panose="02010800040101010101" charset="-122"/>
            </a:endParaRPr>
          </a:p>
          <a:p>
            <a:pPr marL="194945" algn="l" defTabSz="0" rtl="0" eaLnBrk="0">
              <a:lnSpc>
                <a:spcPts val="3120"/>
              </a:lnSpc>
              <a:spcBef>
                <a:spcPts val="1875"/>
              </a:spcBef>
            </a:pPr>
            <a:r>
              <a:rPr sz="2300" b="1" kern="0" spc="0" dirty="0">
                <a:solidFill>
                  <a:srgbClr val="000000">
                    <a:alpha val="100000"/>
                  </a:srgbClr>
                </a:solidFill>
                <a:latin typeface="华文楷体" panose="02010600040101010101" charset="-122"/>
                <a:ea typeface="华文楷体" panose="02010600040101010101" charset="-122"/>
                <a:cs typeface="华文楷体" panose="02010600040101010101" charset="-122"/>
              </a:rPr>
              <a:t>（三）</a:t>
            </a:r>
            <a:r>
              <a:rPr sz="2300" kern="0" spc="-410" dirty="0">
                <a:solidFill>
                  <a:srgbClr val="000000">
                    <a:alpha val="100000"/>
                  </a:srgbClr>
                </a:solidFill>
                <a:latin typeface="华文楷体" panose="02010600040101010101" charset="-122"/>
                <a:ea typeface="华文楷体" panose="02010600040101010101" charset="-122"/>
                <a:cs typeface="华文楷体" panose="02010600040101010101" charset="-122"/>
              </a:rPr>
              <a:t> </a:t>
            </a:r>
            <a:r>
              <a:rPr sz="2300" b="1" kern="0" spc="0" dirty="0">
                <a:solidFill>
                  <a:srgbClr val="000000">
                    <a:alpha val="100000"/>
                  </a:srgbClr>
                </a:solidFill>
                <a:latin typeface="华文楷体" panose="02010600040101010101" charset="-122"/>
                <a:ea typeface="华文楷体" panose="02010600040101010101" charset="-122"/>
                <a:cs typeface="华文楷体" panose="02010600040101010101" charset="-122"/>
              </a:rPr>
              <a:t>稳定币大热背后争议的原因是</a:t>
            </a:r>
            <a:r>
              <a:rPr sz="2300" b="1" kern="0" spc="-10" dirty="0">
                <a:solidFill>
                  <a:srgbClr val="000000">
                    <a:alpha val="100000"/>
                  </a:srgbClr>
                </a:solidFill>
                <a:latin typeface="华文楷体" panose="02010600040101010101" charset="-122"/>
                <a:ea typeface="华文楷体" panose="02010600040101010101" charset="-122"/>
                <a:cs typeface="华文楷体" panose="02010600040101010101" charset="-122"/>
              </a:rPr>
              <a:t>什么？</a:t>
            </a:r>
            <a:endParaRPr sz="2300" dirty="0">
              <a:latin typeface="华文楷体" panose="02010600040101010101" charset="-122"/>
              <a:ea typeface="华文楷体" panose="02010600040101010101" charset="-122"/>
              <a:cs typeface="华文楷体" panose="02010600040101010101" charset="-122"/>
            </a:endParaRPr>
          </a:p>
          <a:p>
            <a:pPr marL="28575" algn="l" defTabSz="0" rtl="0" eaLnBrk="0">
              <a:lnSpc>
                <a:spcPct val="82000"/>
              </a:lnSpc>
              <a:spcBef>
                <a:spcPts val="1250"/>
              </a:spcBef>
            </a:pPr>
            <a:r>
              <a:rPr sz="2300" b="1" kern="0" spc="50" dirty="0">
                <a:solidFill>
                  <a:srgbClr val="FF0000">
                    <a:alpha val="100000"/>
                  </a:srgbClr>
                </a:solidFill>
                <a:latin typeface="华文楷体" panose="02010600040101010101" charset="-122"/>
                <a:ea typeface="华文楷体" panose="02010600040101010101" charset="-122"/>
                <a:cs typeface="华文楷体" panose="02010600040101010101" charset="-122"/>
              </a:rPr>
              <a:t>1.行业利益之争</a:t>
            </a:r>
            <a:endParaRPr sz="2300" dirty="0">
              <a:latin typeface="华文楷体" panose="02010600040101010101" charset="-122"/>
              <a:ea typeface="华文楷体" panose="02010600040101010101" charset="-122"/>
              <a:cs typeface="华文楷体" panose="02010600040101010101" charset="-122"/>
            </a:endParaRPr>
          </a:p>
          <a:p>
            <a:pPr marL="31115" indent="235585" algn="l" defTabSz="0" rtl="0" eaLnBrk="0">
              <a:lnSpc>
                <a:spcPct val="97000"/>
              </a:lnSpc>
              <a:spcBef>
                <a:spcPts val="1585"/>
              </a:spcBef>
            </a:pPr>
            <a:r>
              <a:rPr sz="2000" kern="0" spc="0" dirty="0">
                <a:solidFill>
                  <a:srgbClr val="000000">
                    <a:alpha val="100000"/>
                  </a:srgbClr>
                </a:solidFill>
                <a:latin typeface="华文楷体" panose="02010600040101010101" charset="-122"/>
                <a:ea typeface="华文楷体" panose="02010600040101010101" charset="-122"/>
                <a:cs typeface="华文楷体" panose="02010600040101010101" charset="-122"/>
              </a:rPr>
              <a:t>稳定币出现在</a:t>
            </a:r>
            <a:r>
              <a:rPr sz="2000" kern="0" spc="0" dirty="0">
                <a:solidFill>
                  <a:srgbClr val="FF0000">
                    <a:alpha val="100000"/>
                  </a:srgbClr>
                </a:solidFill>
                <a:latin typeface="华文楷体" panose="02010600040101010101" charset="-122"/>
                <a:ea typeface="华文楷体" panose="02010600040101010101" charset="-122"/>
                <a:cs typeface="华文楷体" panose="02010600040101010101" charset="-122"/>
              </a:rPr>
              <a:t>以市场为主导</a:t>
            </a:r>
            <a:r>
              <a:rPr sz="2000" kern="0" spc="-10" dirty="0">
                <a:solidFill>
                  <a:srgbClr val="FF0000">
                    <a:alpha val="100000"/>
                  </a:srgbClr>
                </a:solidFill>
                <a:latin typeface="华文楷体" panose="02010600040101010101" charset="-122"/>
                <a:ea typeface="华文楷体" panose="02010600040101010101" charset="-122"/>
                <a:cs typeface="华文楷体" panose="02010600040101010101" charset="-122"/>
              </a:rPr>
              <a:t>的金融体系</a:t>
            </a:r>
            <a:r>
              <a:rPr sz="2000" kern="0" spc="-10" dirty="0">
                <a:solidFill>
                  <a:srgbClr val="000000">
                    <a:alpha val="100000"/>
                  </a:srgbClr>
                </a:solidFill>
                <a:latin typeface="华文楷体" panose="02010600040101010101" charset="-122"/>
                <a:ea typeface="华文楷体" panose="02010600040101010101" charset="-122"/>
                <a:cs typeface="华文楷体" panose="02010600040101010101" charset="-122"/>
              </a:rPr>
              <a:t>中，</a:t>
            </a:r>
            <a:r>
              <a:rPr sz="2000" kern="0" spc="-240" dirty="0">
                <a:solidFill>
                  <a:srgbClr val="000000">
                    <a:alpha val="100000"/>
                  </a:srgbClr>
                </a:solidFill>
                <a:latin typeface="华文楷体" panose="02010600040101010101" charset="-122"/>
                <a:ea typeface="华文楷体" panose="02010600040101010101" charset="-122"/>
                <a:cs typeface="华文楷体" panose="02010600040101010101" charset="-122"/>
              </a:rPr>
              <a:t> </a:t>
            </a:r>
            <a:r>
              <a:rPr sz="2000" kern="0" spc="-10" dirty="0">
                <a:solidFill>
                  <a:srgbClr val="000000">
                    <a:alpha val="100000"/>
                  </a:srgbClr>
                </a:solidFill>
                <a:latin typeface="华文楷体" panose="02010600040101010101" charset="-122"/>
                <a:ea typeface="华文楷体" panose="02010600040101010101" charset="-122"/>
                <a:cs typeface="华文楷体" panose="02010600040101010101" charset="-122"/>
              </a:rPr>
              <a:t>欧洲央行和BIS均是以银行为主导金融体系利益的代表，稳</a:t>
            </a:r>
            <a:r>
              <a:rPr sz="2000" kern="0" spc="-20" dirty="0">
                <a:solidFill>
                  <a:srgbClr val="000000">
                    <a:alpha val="100000"/>
                  </a:srgbClr>
                </a:solidFill>
                <a:latin typeface="华文楷体" panose="02010600040101010101" charset="-122"/>
                <a:ea typeface="华文楷体" panose="02010600040101010101" charset="-122"/>
                <a:cs typeface="华文楷体" panose="02010600040101010101" charset="-122"/>
              </a:rPr>
              <a:t>定币对银行体系最重要的冲击是不需要</a:t>
            </a:r>
            <a:r>
              <a:rPr sz="2000" kern="0" spc="-30" dirty="0">
                <a:solidFill>
                  <a:srgbClr val="000000">
                    <a:alpha val="100000"/>
                  </a:srgbClr>
                </a:solidFill>
                <a:latin typeface="华文楷体" panose="02010600040101010101" charset="-122"/>
                <a:ea typeface="华文楷体" panose="02010600040101010101" charset="-122"/>
                <a:cs typeface="华文楷体" panose="02010600040101010101" charset="-122"/>
              </a:rPr>
              <a:t>银行账户，</a:t>
            </a:r>
            <a:r>
              <a:rPr sz="2000" kern="0" spc="-380" dirty="0">
                <a:solidFill>
                  <a:srgbClr val="000000">
                    <a:alpha val="100000"/>
                  </a:srgbClr>
                </a:solidFill>
                <a:latin typeface="华文楷体" panose="02010600040101010101" charset="-122"/>
                <a:ea typeface="华文楷体" panose="02010600040101010101" charset="-122"/>
                <a:cs typeface="华文楷体" panose="02010600040101010101" charset="-122"/>
              </a:rPr>
              <a:t> </a:t>
            </a:r>
            <a:r>
              <a:rPr sz="2000" kern="0" spc="-30" dirty="0">
                <a:solidFill>
                  <a:srgbClr val="000000">
                    <a:alpha val="100000"/>
                  </a:srgbClr>
                </a:solidFill>
                <a:latin typeface="华文楷体" panose="02010600040101010101" charset="-122"/>
                <a:ea typeface="华文楷体" panose="02010600040101010101" charset="-122"/>
                <a:cs typeface="华文楷体" panose="02010600040101010101" charset="-122"/>
              </a:rPr>
              <a:t>产生的</a:t>
            </a:r>
            <a:r>
              <a:rPr sz="2000" b="1" kern="0" spc="-30" dirty="0">
                <a:solidFill>
                  <a:srgbClr val="FF0000">
                    <a:alpha val="100000"/>
                  </a:srgbClr>
                </a:solidFill>
                <a:latin typeface="华文楷体" panose="02010600040101010101" charset="-122"/>
                <a:ea typeface="华文楷体" panose="02010600040101010101" charset="-122"/>
                <a:cs typeface="华文楷体" panose="02010600040101010101" charset="-122"/>
              </a:rPr>
              <a:t>“</a:t>
            </a:r>
            <a:r>
              <a:rPr sz="2000" kern="0" spc="-350" dirty="0">
                <a:solidFill>
                  <a:srgbClr val="FF0000">
                    <a:alpha val="100000"/>
                  </a:srgbClr>
                </a:solidFill>
                <a:latin typeface="华文楷体" panose="02010600040101010101" charset="-122"/>
                <a:ea typeface="华文楷体" panose="02010600040101010101" charset="-122"/>
                <a:cs typeface="华文楷体" panose="02010600040101010101" charset="-122"/>
              </a:rPr>
              <a:t> </a:t>
            </a:r>
            <a:r>
              <a:rPr sz="2000" b="1" kern="0" spc="-30" dirty="0">
                <a:solidFill>
                  <a:srgbClr val="FF0000">
                    <a:alpha val="100000"/>
                  </a:srgbClr>
                </a:solidFill>
                <a:latin typeface="华文楷体" panose="02010600040101010101" charset="-122"/>
                <a:ea typeface="华文楷体" panose="02010600040101010101" charset="-122"/>
                <a:cs typeface="华文楷体" panose="02010600040101010101" charset="-122"/>
              </a:rPr>
              <a:t>脱媒</a:t>
            </a:r>
            <a:r>
              <a:rPr sz="2000" kern="0" spc="-330" dirty="0">
                <a:solidFill>
                  <a:srgbClr val="FF0000">
                    <a:alpha val="100000"/>
                  </a:srgbClr>
                </a:solidFill>
                <a:latin typeface="华文楷体" panose="02010600040101010101" charset="-122"/>
                <a:ea typeface="华文楷体" panose="02010600040101010101" charset="-122"/>
                <a:cs typeface="华文楷体" panose="02010600040101010101" charset="-122"/>
              </a:rPr>
              <a:t> </a:t>
            </a:r>
            <a:r>
              <a:rPr sz="2000" b="1" kern="0" spc="-30" dirty="0">
                <a:solidFill>
                  <a:srgbClr val="FF0000">
                    <a:alpha val="100000"/>
                  </a:srgbClr>
                </a:solidFill>
                <a:latin typeface="华文楷体" panose="02010600040101010101" charset="-122"/>
                <a:ea typeface="华文楷体" panose="02010600040101010101" charset="-122"/>
                <a:cs typeface="华文楷体" panose="02010600040101010101" charset="-122"/>
              </a:rPr>
              <a:t>”</a:t>
            </a:r>
            <a:r>
              <a:rPr sz="2000" kern="0" spc="-30" dirty="0">
                <a:solidFill>
                  <a:srgbClr val="000000">
                    <a:alpha val="100000"/>
                  </a:srgbClr>
                </a:solidFill>
                <a:latin typeface="华文楷体" panose="02010600040101010101" charset="-122"/>
                <a:ea typeface="华文楷体" panose="02010600040101010101" charset="-122"/>
                <a:cs typeface="华文楷体" panose="02010600040101010101" charset="-122"/>
              </a:rPr>
              <a:t>现象，</a:t>
            </a:r>
            <a:r>
              <a:rPr sz="2000" kern="0" spc="-340" dirty="0">
                <a:solidFill>
                  <a:srgbClr val="000000">
                    <a:alpha val="100000"/>
                  </a:srgbClr>
                </a:solidFill>
                <a:latin typeface="华文楷体" panose="02010600040101010101" charset="-122"/>
                <a:ea typeface="华文楷体" panose="02010600040101010101" charset="-122"/>
                <a:cs typeface="华文楷体" panose="02010600040101010101" charset="-122"/>
              </a:rPr>
              <a:t> </a:t>
            </a:r>
            <a:r>
              <a:rPr sz="2000" kern="0" spc="-30" dirty="0">
                <a:solidFill>
                  <a:srgbClr val="000000">
                    <a:alpha val="100000"/>
                  </a:srgbClr>
                </a:solidFill>
                <a:latin typeface="华文楷体" panose="02010600040101010101" charset="-122"/>
                <a:ea typeface="华文楷体" panose="02010600040101010101" charset="-122"/>
                <a:cs typeface="华文楷体" panose="02010600040101010101" charset="-122"/>
              </a:rPr>
              <a:t>对稳定币的质疑在所难免</a:t>
            </a:r>
            <a:r>
              <a:rPr sz="2000" kern="0" spc="-240" dirty="0">
                <a:solidFill>
                  <a:srgbClr val="000000">
                    <a:alpha val="100000"/>
                  </a:srgbClr>
                </a:solidFill>
                <a:latin typeface="华文楷体" panose="02010600040101010101" charset="-122"/>
                <a:ea typeface="华文楷体" panose="02010600040101010101" charset="-122"/>
                <a:cs typeface="华文楷体" panose="02010600040101010101" charset="-122"/>
              </a:rPr>
              <a:t> </a:t>
            </a:r>
            <a:r>
              <a:rPr sz="2000" kern="0" spc="-30" dirty="0">
                <a:solidFill>
                  <a:srgbClr val="000000">
                    <a:alpha val="100000"/>
                  </a:srgbClr>
                </a:solidFill>
                <a:latin typeface="华文楷体" panose="02010600040101010101" charset="-122"/>
                <a:ea typeface="华文楷体" panose="02010600040101010101" charset="-122"/>
                <a:cs typeface="华文楷体" panose="02010600040101010101" charset="-122"/>
              </a:rPr>
              <a:t>。</a:t>
            </a:r>
            <a:r>
              <a:rPr sz="2000" kern="0" spc="-390" dirty="0">
                <a:solidFill>
                  <a:srgbClr val="000000">
                    <a:alpha val="100000"/>
                  </a:srgbClr>
                </a:solidFill>
                <a:latin typeface="华文楷体" panose="02010600040101010101" charset="-122"/>
                <a:ea typeface="华文楷体" panose="02010600040101010101" charset="-122"/>
                <a:cs typeface="华文楷体" panose="02010600040101010101" charset="-122"/>
              </a:rPr>
              <a:t> </a:t>
            </a:r>
            <a:r>
              <a:rPr sz="2000" kern="0" spc="-30" dirty="0">
                <a:solidFill>
                  <a:srgbClr val="000000">
                    <a:alpha val="100000"/>
                  </a:srgbClr>
                </a:solidFill>
                <a:latin typeface="华文楷体" panose="02010600040101010101" charset="-122"/>
                <a:ea typeface="华文楷体" panose="02010600040101010101" charset="-122"/>
                <a:cs typeface="华文楷体" panose="02010600040101010101" charset="-122"/>
              </a:rPr>
              <a:t>行业</a:t>
            </a:r>
            <a:r>
              <a:rPr sz="2000" kern="0" spc="0" dirty="0">
                <a:solidFill>
                  <a:srgbClr val="000000">
                    <a:alpha val="100000"/>
                  </a:srgbClr>
                </a:solidFill>
                <a:latin typeface="华文楷体" panose="02010600040101010101" charset="-122"/>
                <a:ea typeface="华文楷体" panose="02010600040101010101" charset="-122"/>
                <a:cs typeface="华文楷体" panose="02010600040101010101" charset="-122"/>
              </a:rPr>
              <a:t>利益之争的背后是</a:t>
            </a:r>
            <a:r>
              <a:rPr sz="2000" kern="0" spc="0" dirty="0">
                <a:solidFill>
                  <a:srgbClr val="FF0000">
                    <a:alpha val="100000"/>
                  </a:srgbClr>
                </a:solidFill>
                <a:latin typeface="华文楷体" panose="02010600040101010101" charset="-122"/>
                <a:ea typeface="华文楷体" panose="02010600040101010101" charset="-122"/>
                <a:cs typeface="华文楷体" panose="02010600040101010101" charset="-122"/>
              </a:rPr>
              <a:t>金融系统</a:t>
            </a:r>
            <a:r>
              <a:rPr sz="2000" kern="0" spc="-10" dirty="0">
                <a:solidFill>
                  <a:srgbClr val="FF0000">
                    <a:alpha val="100000"/>
                  </a:srgbClr>
                </a:solidFill>
                <a:latin typeface="华文楷体" panose="02010600040101010101" charset="-122"/>
                <a:ea typeface="华文楷体" panose="02010600040101010101" charset="-122"/>
                <a:cs typeface="华文楷体" panose="02010600040101010101" charset="-122"/>
              </a:rPr>
              <a:t>发展模式之争</a:t>
            </a:r>
            <a:r>
              <a:rPr sz="2000" kern="0" spc="-10" dirty="0">
                <a:solidFill>
                  <a:srgbClr val="000000">
                    <a:alpha val="100000"/>
                  </a:srgbClr>
                </a:solidFill>
                <a:latin typeface="华文楷体" panose="02010600040101010101" charset="-122"/>
                <a:ea typeface="华文楷体" panose="02010600040101010101" charset="-122"/>
                <a:cs typeface="华文楷体" panose="02010600040101010101" charset="-122"/>
              </a:rPr>
              <a:t>（市场主导还是银行中介主导）。</a:t>
            </a:r>
            <a:endParaRPr sz="2000" dirty="0">
              <a:latin typeface="华文楷体" panose="02010600040101010101" charset="-122"/>
              <a:ea typeface="华文楷体" panose="02010600040101010101" charset="-122"/>
              <a:cs typeface="华文楷体" panose="02010600040101010101" charset="-122"/>
            </a:endParaRPr>
          </a:p>
          <a:p>
            <a:pPr marL="12700" algn="l" defTabSz="0" rtl="0" eaLnBrk="0">
              <a:lnSpc>
                <a:spcPct val="82000"/>
              </a:lnSpc>
              <a:spcBef>
                <a:spcPts val="1260"/>
              </a:spcBef>
            </a:pPr>
            <a:r>
              <a:rPr sz="2300" b="1" kern="0" spc="60" dirty="0">
                <a:solidFill>
                  <a:srgbClr val="FF0000">
                    <a:alpha val="100000"/>
                  </a:srgbClr>
                </a:solidFill>
                <a:latin typeface="华文楷体" panose="02010600040101010101" charset="-122"/>
                <a:ea typeface="华文楷体" panose="02010600040101010101" charset="-122"/>
                <a:cs typeface="华文楷体" panose="02010600040101010101" charset="-122"/>
              </a:rPr>
              <a:t>2.创新与安全之争</a:t>
            </a:r>
            <a:endParaRPr sz="2300" dirty="0">
              <a:latin typeface="华文楷体" panose="02010600040101010101" charset="-122"/>
              <a:ea typeface="华文楷体" panose="02010600040101010101" charset="-122"/>
              <a:cs typeface="华文楷体" panose="02010600040101010101" charset="-122"/>
            </a:endParaRPr>
          </a:p>
          <a:p>
            <a:pPr marL="28575" indent="136525" algn="l" defTabSz="0" rtl="0" eaLnBrk="0">
              <a:lnSpc>
                <a:spcPct val="109000"/>
              </a:lnSpc>
              <a:spcBef>
                <a:spcPts val="1490"/>
              </a:spcBef>
            </a:pPr>
            <a:r>
              <a:rPr sz="2000" kern="0" spc="-40" dirty="0">
                <a:solidFill>
                  <a:srgbClr val="000000">
                    <a:alpha val="100000"/>
                  </a:srgbClr>
                </a:solidFill>
                <a:latin typeface="华文楷体" panose="02010600040101010101" charset="-122"/>
                <a:ea typeface="华文楷体" panose="02010600040101010101" charset="-122"/>
                <a:cs typeface="华文楷体" panose="02010600040101010101" charset="-122"/>
              </a:rPr>
              <a:t>稳定币并不“</a:t>
            </a:r>
            <a:r>
              <a:rPr sz="2000" kern="0" spc="-260" dirty="0">
                <a:solidFill>
                  <a:srgbClr val="000000">
                    <a:alpha val="100000"/>
                  </a:srgbClr>
                </a:solidFill>
                <a:latin typeface="华文楷体" panose="02010600040101010101" charset="-122"/>
                <a:ea typeface="华文楷体" panose="02010600040101010101" charset="-122"/>
                <a:cs typeface="华文楷体" panose="02010600040101010101" charset="-122"/>
              </a:rPr>
              <a:t> </a:t>
            </a:r>
            <a:r>
              <a:rPr sz="2000" kern="0" spc="-40" dirty="0">
                <a:solidFill>
                  <a:srgbClr val="000000">
                    <a:alpha val="100000"/>
                  </a:srgbClr>
                </a:solidFill>
                <a:latin typeface="华文楷体" panose="02010600040101010101" charset="-122"/>
                <a:ea typeface="华文楷体" panose="02010600040101010101" charset="-122"/>
                <a:cs typeface="华文楷体" panose="02010600040101010101" charset="-122"/>
              </a:rPr>
              <a:t>完美</a:t>
            </a:r>
            <a:r>
              <a:rPr sz="2000" kern="0" spc="-330" dirty="0">
                <a:solidFill>
                  <a:srgbClr val="000000">
                    <a:alpha val="100000"/>
                  </a:srgbClr>
                </a:solidFill>
                <a:latin typeface="华文楷体" panose="02010600040101010101" charset="-122"/>
                <a:ea typeface="华文楷体" panose="02010600040101010101" charset="-122"/>
                <a:cs typeface="华文楷体" panose="02010600040101010101" charset="-122"/>
              </a:rPr>
              <a:t> </a:t>
            </a:r>
            <a:r>
              <a:rPr sz="2000" kern="0" spc="-40" dirty="0">
                <a:solidFill>
                  <a:srgbClr val="000000">
                    <a:alpha val="100000"/>
                  </a:srgbClr>
                </a:solidFill>
                <a:latin typeface="华文楷体" panose="02010600040101010101" charset="-122"/>
                <a:ea typeface="华文楷体" panose="02010600040101010101" charset="-122"/>
                <a:cs typeface="华文楷体" panose="02010600040101010101" charset="-122"/>
              </a:rPr>
              <a:t>”，</a:t>
            </a:r>
            <a:r>
              <a:rPr sz="2000" kern="0" spc="-390" dirty="0">
                <a:solidFill>
                  <a:srgbClr val="000000">
                    <a:alpha val="100000"/>
                  </a:srgbClr>
                </a:solidFill>
                <a:latin typeface="华文楷体" panose="02010600040101010101" charset="-122"/>
                <a:ea typeface="华文楷体" panose="02010600040101010101" charset="-122"/>
                <a:cs typeface="华文楷体" panose="02010600040101010101" charset="-122"/>
              </a:rPr>
              <a:t> </a:t>
            </a:r>
            <a:r>
              <a:rPr sz="2000" kern="0" spc="-40" dirty="0">
                <a:solidFill>
                  <a:srgbClr val="000000">
                    <a:alpha val="100000"/>
                  </a:srgbClr>
                </a:solidFill>
                <a:latin typeface="华文楷体" panose="02010600040101010101" charset="-122"/>
                <a:ea typeface="华文楷体" panose="02010600040101010101" charset="-122"/>
                <a:cs typeface="华文楷体" panose="02010600040101010101" charset="-122"/>
              </a:rPr>
              <a:t>存在一些风险性</a:t>
            </a:r>
            <a:r>
              <a:rPr sz="2000" kern="0" spc="-230" dirty="0">
                <a:solidFill>
                  <a:srgbClr val="000000">
                    <a:alpha val="100000"/>
                  </a:srgbClr>
                </a:solidFill>
                <a:latin typeface="华文楷体" panose="02010600040101010101" charset="-122"/>
                <a:ea typeface="华文楷体" panose="02010600040101010101" charset="-122"/>
                <a:cs typeface="华文楷体" panose="02010600040101010101" charset="-122"/>
              </a:rPr>
              <a:t> </a:t>
            </a:r>
            <a:r>
              <a:rPr sz="2000" kern="0" spc="-40" dirty="0">
                <a:solidFill>
                  <a:srgbClr val="000000">
                    <a:alpha val="100000"/>
                  </a:srgbClr>
                </a:solidFill>
                <a:latin typeface="华文楷体" panose="02010600040101010101" charset="-122"/>
                <a:ea typeface="华文楷体" panose="02010600040101010101" charset="-122"/>
                <a:cs typeface="华文楷体" panose="02010600040101010101" charset="-122"/>
              </a:rPr>
              <a:t>。</a:t>
            </a:r>
            <a:r>
              <a:rPr sz="2000" kern="0" spc="-140" dirty="0">
                <a:solidFill>
                  <a:srgbClr val="000000">
                    <a:alpha val="100000"/>
                  </a:srgbClr>
                </a:solidFill>
                <a:latin typeface="华文楷体" panose="02010600040101010101" charset="-122"/>
                <a:ea typeface="华文楷体" panose="02010600040101010101" charset="-122"/>
                <a:cs typeface="华文楷体" panose="02010600040101010101" charset="-122"/>
              </a:rPr>
              <a:t> </a:t>
            </a:r>
            <a:r>
              <a:rPr sz="2000" kern="0" spc="-40" dirty="0">
                <a:solidFill>
                  <a:srgbClr val="000000">
                    <a:alpha val="100000"/>
                  </a:srgbClr>
                </a:solidFill>
                <a:latin typeface="华文楷体" panose="02010600040101010101" charset="-122"/>
                <a:ea typeface="华文楷体" panose="02010600040101010101" charset="-122"/>
                <a:cs typeface="华文楷体" panose="02010600040101010101" charset="-122"/>
              </a:rPr>
              <a:t>包括链上链下“</a:t>
            </a:r>
            <a:r>
              <a:rPr sz="2000" kern="0" spc="-310" dirty="0">
                <a:solidFill>
                  <a:srgbClr val="000000">
                    <a:alpha val="100000"/>
                  </a:srgbClr>
                </a:solidFill>
                <a:latin typeface="华文楷体" panose="02010600040101010101" charset="-122"/>
                <a:ea typeface="华文楷体" panose="02010600040101010101" charset="-122"/>
                <a:cs typeface="华文楷体" panose="02010600040101010101" charset="-122"/>
              </a:rPr>
              <a:t> </a:t>
            </a:r>
            <a:r>
              <a:rPr sz="2000" kern="0" spc="-40" dirty="0">
                <a:solidFill>
                  <a:srgbClr val="000000">
                    <a:alpha val="100000"/>
                  </a:srgbClr>
                </a:solidFill>
                <a:latin typeface="华文楷体" panose="02010600040101010101" charset="-122"/>
                <a:ea typeface="华文楷体" panose="02010600040101010101" charset="-122"/>
                <a:cs typeface="华文楷体" panose="02010600040101010101" charset="-122"/>
              </a:rPr>
              <a:t>平价</a:t>
            </a:r>
            <a:r>
              <a:rPr sz="2000" kern="0" spc="-330" dirty="0">
                <a:solidFill>
                  <a:srgbClr val="000000">
                    <a:alpha val="100000"/>
                  </a:srgbClr>
                </a:solidFill>
                <a:latin typeface="华文楷体" panose="02010600040101010101" charset="-122"/>
                <a:ea typeface="华文楷体" panose="02010600040101010101" charset="-122"/>
                <a:cs typeface="华文楷体" panose="02010600040101010101" charset="-122"/>
              </a:rPr>
              <a:t> </a:t>
            </a:r>
            <a:r>
              <a:rPr sz="2000" kern="0" spc="-40" dirty="0">
                <a:solidFill>
                  <a:srgbClr val="000000">
                    <a:alpha val="100000"/>
                  </a:srgbClr>
                </a:solidFill>
                <a:latin typeface="华文楷体" panose="02010600040101010101" charset="-122"/>
                <a:ea typeface="华文楷体" panose="02010600040101010101" charset="-122"/>
                <a:cs typeface="华文楷体" panose="02010600040101010101" charset="-122"/>
              </a:rPr>
              <a:t>”</a:t>
            </a:r>
            <a:r>
              <a:rPr sz="2000" kern="0" spc="-370" dirty="0">
                <a:solidFill>
                  <a:srgbClr val="000000">
                    <a:alpha val="100000"/>
                  </a:srgbClr>
                </a:solidFill>
                <a:latin typeface="华文楷体" panose="02010600040101010101" charset="-122"/>
                <a:ea typeface="华文楷体" panose="02010600040101010101" charset="-122"/>
                <a:cs typeface="华文楷体" panose="02010600040101010101" charset="-122"/>
              </a:rPr>
              <a:t> </a:t>
            </a:r>
            <a:r>
              <a:rPr sz="2000" kern="0" spc="-40" dirty="0">
                <a:solidFill>
                  <a:srgbClr val="000000">
                    <a:alpha val="100000"/>
                  </a:srgbClr>
                </a:solidFill>
                <a:latin typeface="华文楷体" panose="02010600040101010101" charset="-122"/>
                <a:ea typeface="华文楷体" panose="02010600040101010101" charset="-122"/>
                <a:cs typeface="华文楷体" panose="02010600040101010101" charset="-122"/>
              </a:rPr>
              <a:t>关</a:t>
            </a:r>
            <a:r>
              <a:rPr sz="2000" kern="0" spc="-50" dirty="0">
                <a:solidFill>
                  <a:srgbClr val="000000">
                    <a:alpha val="100000"/>
                  </a:srgbClr>
                </a:solidFill>
                <a:latin typeface="华文楷体" panose="02010600040101010101" charset="-122"/>
                <a:ea typeface="华文楷体" panose="02010600040101010101" charset="-122"/>
                <a:cs typeface="华文楷体" panose="02010600040101010101" charset="-122"/>
              </a:rPr>
              <a:t>系的维护；信任（中心化背书）</a:t>
            </a:r>
            <a:r>
              <a:rPr sz="2000" kern="0" spc="-250" dirty="0">
                <a:solidFill>
                  <a:srgbClr val="000000">
                    <a:alpha val="100000"/>
                  </a:srgbClr>
                </a:solidFill>
                <a:latin typeface="华文楷体" panose="02010600040101010101" charset="-122"/>
                <a:ea typeface="华文楷体" panose="02010600040101010101" charset="-122"/>
                <a:cs typeface="华文楷体" panose="02010600040101010101" charset="-122"/>
              </a:rPr>
              <a:t> </a:t>
            </a:r>
            <a:r>
              <a:rPr sz="2000" kern="0" spc="-50" dirty="0">
                <a:solidFill>
                  <a:srgbClr val="000000">
                    <a:alpha val="100000"/>
                  </a:srgbClr>
                </a:solidFill>
                <a:latin typeface="华文楷体" panose="02010600040101010101" charset="-122"/>
                <a:ea typeface="华文楷体" panose="02010600040101010101" charset="-122"/>
                <a:cs typeface="华文楷体" panose="02010600040101010101" charset="-122"/>
              </a:rPr>
              <a:t>与隐</a:t>
            </a:r>
            <a:r>
              <a:rPr sz="2000" kern="0" spc="-30" dirty="0">
                <a:solidFill>
                  <a:srgbClr val="000000">
                    <a:alpha val="100000"/>
                  </a:srgbClr>
                </a:solidFill>
                <a:latin typeface="华文楷体" panose="02010600040101010101" charset="-122"/>
                <a:ea typeface="华文楷体" panose="02010600040101010101" charset="-122"/>
                <a:cs typeface="华文楷体" panose="02010600040101010101" charset="-122"/>
              </a:rPr>
              <a:t>私（去中心化</a:t>
            </a:r>
            <a:r>
              <a:rPr sz="2000" kern="0" spc="0" dirty="0">
                <a:solidFill>
                  <a:srgbClr val="000000">
                    <a:alpha val="100000"/>
                  </a:srgbClr>
                </a:solidFill>
                <a:latin typeface="华文楷体" panose="02010600040101010101" charset="-122"/>
                <a:ea typeface="华文楷体" panose="02010600040101010101" charset="-122"/>
                <a:cs typeface="华文楷体" panose="02010600040101010101" charset="-122"/>
              </a:rPr>
              <a:t>）；</a:t>
            </a:r>
            <a:r>
              <a:rPr sz="2000" kern="0" spc="-280" dirty="0">
                <a:solidFill>
                  <a:srgbClr val="000000">
                    <a:alpha val="100000"/>
                  </a:srgbClr>
                </a:solidFill>
                <a:latin typeface="华文楷体" panose="02010600040101010101" charset="-122"/>
                <a:ea typeface="华文楷体" panose="02010600040101010101" charset="-122"/>
                <a:cs typeface="华文楷体" panose="02010600040101010101" charset="-122"/>
              </a:rPr>
              <a:t> </a:t>
            </a:r>
            <a:r>
              <a:rPr sz="2000" kern="0" spc="-30" dirty="0">
                <a:solidFill>
                  <a:srgbClr val="000000">
                    <a:alpha val="100000"/>
                  </a:srgbClr>
                </a:solidFill>
                <a:latin typeface="华文楷体" panose="02010600040101010101" charset="-122"/>
                <a:ea typeface="华文楷体" panose="02010600040101010101" charset="-122"/>
                <a:cs typeface="华文楷体" panose="02010600040101010101" charset="-122"/>
              </a:rPr>
              <a:t>合规与非法等等。</a:t>
            </a:r>
            <a:endParaRPr sz="2000" dirty="0">
              <a:latin typeface="华文楷体" panose="02010600040101010101" charset="-122"/>
              <a:ea typeface="华文楷体" panose="02010600040101010101" charset="-122"/>
              <a:cs typeface="华文楷体" panose="02010600040101010101" charset="-122"/>
            </a:endParaRPr>
          </a:p>
          <a:p>
            <a:pPr marL="20320" algn="l" defTabSz="0" rtl="0" eaLnBrk="0">
              <a:lnSpc>
                <a:spcPct val="84000"/>
              </a:lnSpc>
              <a:spcBef>
                <a:spcPts val="1180"/>
              </a:spcBef>
            </a:pPr>
            <a:r>
              <a:rPr sz="2300" b="1" kern="0" spc="50" dirty="0">
                <a:solidFill>
                  <a:srgbClr val="FF0000">
                    <a:alpha val="100000"/>
                  </a:srgbClr>
                </a:solidFill>
                <a:latin typeface="华文楷体" panose="02010600040101010101" charset="-122"/>
                <a:ea typeface="华文楷体" panose="02010600040101010101" charset="-122"/>
                <a:cs typeface="华文楷体" panose="02010600040101010101" charset="-122"/>
              </a:rPr>
              <a:t>3.货币主权之争</a:t>
            </a:r>
            <a:endParaRPr sz="2300" dirty="0">
              <a:latin typeface="华文楷体" panose="02010600040101010101" charset="-122"/>
              <a:ea typeface="华文楷体" panose="02010600040101010101" charset="-122"/>
              <a:cs typeface="华文楷体" panose="02010600040101010101" charset="-122"/>
            </a:endParaRPr>
          </a:p>
          <a:p>
            <a:pPr algn="l" defTabSz="0" rtl="0" eaLnBrk="0">
              <a:lnSpc>
                <a:spcPct val="101000"/>
              </a:lnSpc>
            </a:pPr>
            <a:endParaRPr sz="1300" dirty="0">
              <a:latin typeface="Arial" panose="020B0604020202020204" pitchFamily="34" charset="0"/>
              <a:ea typeface="Arial" panose="020B0604020202020204" pitchFamily="34" charset="0"/>
              <a:cs typeface="Arial" panose="020B0604020202020204" pitchFamily="34" charset="0"/>
            </a:endParaRPr>
          </a:p>
          <a:p>
            <a:pPr marL="26035" indent="154305" algn="l" defTabSz="0" rtl="0" eaLnBrk="0">
              <a:lnSpc>
                <a:spcPct val="99000"/>
              </a:lnSpc>
              <a:spcBef>
                <a:spcPts val="5"/>
              </a:spcBef>
            </a:pPr>
            <a:r>
              <a:rPr sz="2000" kern="0" spc="-10" dirty="0">
                <a:solidFill>
                  <a:srgbClr val="000000">
                    <a:alpha val="100000"/>
                  </a:srgbClr>
                </a:solidFill>
                <a:latin typeface="华文楷体" panose="02010600040101010101" charset="-122"/>
                <a:ea typeface="华文楷体" panose="02010600040101010101" charset="-122"/>
                <a:cs typeface="华文楷体" panose="02010600040101010101" charset="-122"/>
              </a:rPr>
              <a:t>私人发行稳定币，作为链上数字资产以及部分链下活动的交易支付媒介，</a:t>
            </a:r>
            <a:r>
              <a:rPr sz="2000" kern="0" spc="-220" dirty="0">
                <a:solidFill>
                  <a:srgbClr val="000000">
                    <a:alpha val="100000"/>
                  </a:srgbClr>
                </a:solidFill>
                <a:latin typeface="华文楷体" panose="02010600040101010101" charset="-122"/>
                <a:ea typeface="华文楷体" panose="02010600040101010101" charset="-122"/>
                <a:cs typeface="华文楷体" panose="02010600040101010101" charset="-122"/>
              </a:rPr>
              <a:t> </a:t>
            </a:r>
            <a:r>
              <a:rPr sz="2000" kern="0" spc="-10" dirty="0">
                <a:solidFill>
                  <a:srgbClr val="000000">
                    <a:alpha val="100000"/>
                  </a:srgbClr>
                </a:solidFill>
                <a:latin typeface="华文楷体" panose="02010600040101010101" charset="-122"/>
                <a:ea typeface="华文楷体" panose="02010600040101010101" charset="-122"/>
                <a:cs typeface="华文楷体" panose="02010600040101010101" charset="-122"/>
              </a:rPr>
              <a:t>冲击了现有货币体系的</a:t>
            </a:r>
            <a:r>
              <a:rPr sz="2000" kern="0" spc="-20" dirty="0">
                <a:solidFill>
                  <a:srgbClr val="000000">
                    <a:alpha val="100000"/>
                  </a:srgbClr>
                </a:solidFill>
                <a:latin typeface="华文楷体" panose="02010600040101010101" charset="-122"/>
                <a:ea typeface="华文楷体" panose="02010600040101010101" charset="-122"/>
                <a:cs typeface="华文楷体" panose="02010600040101010101" charset="-122"/>
              </a:rPr>
              <a:t>铸币权</a:t>
            </a:r>
            <a:r>
              <a:rPr sz="2000" kern="0" spc="-20" dirty="0">
                <a:solidFill>
                  <a:srgbClr val="000000">
                    <a:alpha val="100000"/>
                  </a:srgbClr>
                </a:solidFill>
                <a:latin typeface="华文楷体" panose="02010600040101010101" charset="-122"/>
                <a:ea typeface="华文楷体" panose="02010600040101010101" charset="-122"/>
                <a:cs typeface="华文楷体" panose="02010600040101010101" charset="-122"/>
              </a:rPr>
              <a:t>和货币政策传递效率</a:t>
            </a:r>
            <a:r>
              <a:rPr sz="2000" kern="0" spc="-250" dirty="0">
                <a:solidFill>
                  <a:srgbClr val="000000">
                    <a:alpha val="100000"/>
                  </a:srgbClr>
                </a:solidFill>
                <a:latin typeface="华文楷体" panose="02010600040101010101" charset="-122"/>
                <a:ea typeface="华文楷体" panose="02010600040101010101" charset="-122"/>
                <a:cs typeface="华文楷体" panose="02010600040101010101" charset="-122"/>
              </a:rPr>
              <a:t> </a:t>
            </a:r>
            <a:r>
              <a:rPr sz="2000" kern="0" spc="-20" dirty="0">
                <a:solidFill>
                  <a:srgbClr val="000000">
                    <a:alpha val="100000"/>
                  </a:srgbClr>
                </a:solidFill>
                <a:latin typeface="华文楷体" panose="02010600040101010101" charset="-122"/>
                <a:ea typeface="华文楷体" panose="02010600040101010101" charset="-122"/>
                <a:cs typeface="华文楷体" panose="02010600040101010101" charset="-122"/>
              </a:rPr>
              <a:t>。</a:t>
            </a:r>
            <a:r>
              <a:rPr sz="2000" kern="0" spc="-340" dirty="0">
                <a:solidFill>
                  <a:srgbClr val="000000">
                    <a:alpha val="100000"/>
                  </a:srgbClr>
                </a:solidFill>
                <a:latin typeface="华文楷体" panose="02010600040101010101" charset="-122"/>
                <a:ea typeface="华文楷体" panose="02010600040101010101" charset="-122"/>
                <a:cs typeface="华文楷体" panose="02010600040101010101" charset="-122"/>
              </a:rPr>
              <a:t> </a:t>
            </a:r>
            <a:r>
              <a:rPr sz="2000" kern="0" spc="-20" dirty="0">
                <a:solidFill>
                  <a:srgbClr val="000000">
                    <a:alpha val="100000"/>
                  </a:srgbClr>
                </a:solidFill>
                <a:latin typeface="华文楷体" panose="02010600040101010101" charset="-122"/>
                <a:ea typeface="华文楷体" panose="02010600040101010101" charset="-122"/>
                <a:cs typeface="华文楷体" panose="02010600040101010101" charset="-122"/>
              </a:rPr>
              <a:t>对于弱势货币来说，</a:t>
            </a:r>
            <a:r>
              <a:rPr sz="2000" kern="0" spc="-330" dirty="0">
                <a:solidFill>
                  <a:srgbClr val="000000">
                    <a:alpha val="100000"/>
                  </a:srgbClr>
                </a:solidFill>
                <a:latin typeface="华文楷体" panose="02010600040101010101" charset="-122"/>
                <a:ea typeface="华文楷体" panose="02010600040101010101" charset="-122"/>
                <a:cs typeface="华文楷体" panose="02010600040101010101" charset="-122"/>
              </a:rPr>
              <a:t> </a:t>
            </a:r>
            <a:r>
              <a:rPr sz="2000" kern="0" spc="-20" dirty="0">
                <a:solidFill>
                  <a:srgbClr val="000000">
                    <a:alpha val="100000"/>
                  </a:srgbClr>
                </a:solidFill>
                <a:latin typeface="华文楷体" panose="02010600040101010101" charset="-122"/>
                <a:ea typeface="华文楷体" panose="02010600040101010101" charset="-122"/>
                <a:cs typeface="华文楷体" panose="02010600040101010101" charset="-122"/>
              </a:rPr>
              <a:t>货</a:t>
            </a:r>
            <a:r>
              <a:rPr sz="2000" kern="0" spc="-30" dirty="0">
                <a:solidFill>
                  <a:srgbClr val="000000">
                    <a:alpha val="100000"/>
                  </a:srgbClr>
                </a:solidFill>
                <a:latin typeface="华文楷体" panose="02010600040101010101" charset="-122"/>
                <a:ea typeface="华文楷体" panose="02010600040101010101" charset="-122"/>
                <a:cs typeface="华文楷体" panose="02010600040101010101" charset="-122"/>
              </a:rPr>
              <a:t>币主权冲击可能更为严重。</a:t>
            </a:r>
            <a:endParaRPr sz="2000" dirty="0">
              <a:latin typeface="华文楷体" panose="02010600040101010101" charset="-122"/>
              <a:ea typeface="华文楷体" panose="02010600040101010101" charset="-122"/>
              <a:cs typeface="华文楷体" panose="02010600040101010101" charset="-122"/>
            </a:endParaRPr>
          </a:p>
        </p:txBody>
      </p:sp>
      <p:sp>
        <p:nvSpPr>
          <p:cNvPr id="88" name="rect 88"/>
          <p:cNvSpPr/>
          <p:nvPr/>
        </p:nvSpPr>
        <p:spPr>
          <a:xfrm>
            <a:off x="0" y="6556247"/>
            <a:ext cx="12192000" cy="301752"/>
          </a:xfrm>
          <a:prstGeom prst="rect">
            <a:avLst/>
          </a:prstGeom>
          <a:solidFill>
            <a:srgbClr val="AE0B2A">
              <a:alpha val="100000"/>
            </a:srgbClr>
          </a:solidFill>
          <a:ln w="0" cap="flat">
            <a:noFill/>
            <a:prstDash val="solid"/>
            <a:miter lim="0"/>
          </a:ln>
        </p:spPr>
        <p:txBody>
          <a:bodyPr rtlCol="0"/>
          <a:lstStyle/>
          <a:p>
            <a:pPr algn="ctr"/>
            <a:endParaRPr lang="zh-CN" altLang="en-US"/>
          </a:p>
        </p:txBody>
      </p:sp>
      <p:sp>
        <p:nvSpPr>
          <p:cNvPr id="92" name="textbox 92"/>
          <p:cNvSpPr/>
          <p:nvPr/>
        </p:nvSpPr>
        <p:spPr>
          <a:xfrm>
            <a:off x="9038780" y="6781863"/>
            <a:ext cx="3166110" cy="91439"/>
          </a:xfrm>
          <a:prstGeom prst="rect">
            <a:avLst/>
          </a:prstGeom>
          <a:noFill/>
          <a:ln w="0" cap="flat">
            <a:noFill/>
            <a:prstDash val="solid"/>
            <a:miter lim="0"/>
          </a:ln>
        </p:spPr>
        <p:txBody>
          <a:bodyPr vert="horz" wrap="square" lIns="0" tIns="0" rIns="0" bIns="0"/>
          <a:lstStyle/>
          <a:p>
            <a:pPr algn="l" defTabSz="0" rtl="0" eaLnBrk="0">
              <a:lnSpc>
                <a:spcPct val="84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86000"/>
              </a:lnSpc>
            </a:pPr>
            <a:r>
              <a:rPr sz="500" kern="0" spc="0" dirty="0">
                <a:solidFill>
                  <a:srgbClr val="808080">
                    <a:alpha val="5098"/>
                  </a:srgbClr>
                </a:solidFill>
                <a:latin typeface="宋体" panose="02010600030101010101" pitchFamily="2" charset="-122"/>
                <a:ea typeface="宋体" panose="02010600030101010101" pitchFamily="2" charset="-122"/>
                <a:cs typeface="宋体" panose="02010600030101010101" pitchFamily="2" charset="-122"/>
              </a:rPr>
              <a:t>本报告来源于三个皮匠报告站（</a:t>
            </a:r>
            <a:r>
              <a:rPr sz="500" kern="0" spc="0" dirty="0">
                <a:solidFill>
                  <a:srgbClr val="808080">
                    <a:alpha val="5098"/>
                  </a:srgbClr>
                </a:solidFill>
                <a:latin typeface="宋体" panose="02010600030101010101" pitchFamily="2" charset="-122"/>
                <a:ea typeface="宋体" panose="02010600030101010101" pitchFamily="2" charset="-122"/>
                <a:cs typeface="宋体" panose="02010600030101010101" pitchFamily="2" charset="-122"/>
                <a:hlinkClick r:id="rId1"/>
              </a:rPr>
              <a:t>www.sgpjbg.com</a:t>
            </a:r>
            <a:r>
              <a:rPr sz="500" kern="0" spc="0" dirty="0">
                <a:solidFill>
                  <a:srgbClr val="808080">
                    <a:alpha val="5098"/>
                  </a:srgbClr>
                </a:solidFill>
                <a:latin typeface="宋体" panose="02010600030101010101" pitchFamily="2" charset="-122"/>
                <a:ea typeface="宋体" panose="02010600030101010101" pitchFamily="2" charset="-122"/>
                <a:cs typeface="宋体" panose="02010600030101010101" pitchFamily="2" charset="-122"/>
              </a:rPr>
              <a:t>）,由用户Id:1215372下载,文档Id:910826,下载日期:2025-1</a:t>
            </a:r>
            <a:r>
              <a:rPr sz="500" kern="0" spc="-10" dirty="0">
                <a:solidFill>
                  <a:srgbClr val="808080">
                    <a:alpha val="5098"/>
                  </a:srgbClr>
                </a:solidFill>
                <a:latin typeface="宋体" panose="02010600030101010101" pitchFamily="2" charset="-122"/>
                <a:ea typeface="宋体" panose="02010600030101010101" pitchFamily="2" charset="-122"/>
                <a:cs typeface="宋体" panose="02010600030101010101" pitchFamily="2" charset="-122"/>
              </a:rPr>
              <a:t>2-03</a:t>
            </a:r>
            <a:endParaRPr sz="500" dirty="0">
              <a:latin typeface="宋体" panose="02010600030101010101" pitchFamily="2" charset="-122"/>
              <a:ea typeface="宋体" panose="02010600030101010101" pitchFamily="2" charset="-122"/>
              <a:cs typeface="宋体" panose="02010600030101010101" pitchFamily="2" charset="-122"/>
            </a:endParaRPr>
          </a:p>
        </p:txBody>
      </p:sp>
      <p:pic>
        <p:nvPicPr>
          <p:cNvPr id="94" name="picture 94"/>
          <p:cNvPicPr>
            <a:picLocks noChangeAspect="1"/>
          </p:cNvPicPr>
          <p:nvPr/>
        </p:nvPicPr>
        <p:blipFill>
          <a:blip r:embed="rId2"/>
          <a:stretch>
            <a:fillRect/>
          </a:stretch>
        </p:blipFill>
        <p:spPr>
          <a:xfrm rot="21600000">
            <a:off x="2752725" y="451954"/>
            <a:ext cx="9439275" cy="1905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textbox 98"/>
          <p:cNvSpPr/>
          <p:nvPr/>
        </p:nvSpPr>
        <p:spPr>
          <a:xfrm>
            <a:off x="427241" y="650354"/>
            <a:ext cx="11228069" cy="5556250"/>
          </a:xfrm>
          <a:prstGeom prst="rect">
            <a:avLst/>
          </a:prstGeom>
          <a:noFill/>
          <a:ln w="0" cap="flat">
            <a:noFill/>
            <a:prstDash val="solid"/>
            <a:miter lim="0"/>
          </a:ln>
        </p:spPr>
        <p:txBody>
          <a:bodyPr vert="horz" wrap="square" lIns="0" tIns="0" rIns="0" bIns="0"/>
          <a:lstStyle/>
          <a:p>
            <a:pPr algn="l" defTabSz="0" rtl="0" eaLnBrk="0">
              <a:lnSpc>
                <a:spcPct val="94000"/>
              </a:lnSpc>
            </a:pPr>
            <a:endParaRPr sz="100" dirty="0">
              <a:latin typeface="Arial" panose="020B0604020202020204" pitchFamily="34" charset="0"/>
              <a:ea typeface="Arial" panose="020B0604020202020204" pitchFamily="34" charset="0"/>
              <a:cs typeface="Arial" panose="020B0604020202020204" pitchFamily="34" charset="0"/>
            </a:endParaRPr>
          </a:p>
          <a:p>
            <a:pPr marL="1036955" algn="l" defTabSz="0" rtl="0" eaLnBrk="0">
              <a:lnSpc>
                <a:spcPct val="89000"/>
              </a:lnSpc>
            </a:pPr>
            <a:r>
              <a:rPr sz="2700" b="1" kern="0" spc="-30" dirty="0">
                <a:solidFill>
                  <a:srgbClr val="003963">
                    <a:alpha val="100000"/>
                  </a:srgbClr>
                </a:solidFill>
                <a:latin typeface="华文新魏" panose="02010800040101010101" charset="-122"/>
                <a:ea typeface="华文新魏" panose="02010800040101010101" charset="-122"/>
                <a:cs typeface="华文新魏" panose="02010800040101010101" charset="-122"/>
              </a:rPr>
              <a:t>二</a:t>
            </a:r>
            <a:r>
              <a:rPr sz="2700" kern="0" spc="-3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30" dirty="0">
                <a:solidFill>
                  <a:srgbClr val="003963">
                    <a:alpha val="100000"/>
                  </a:srgbClr>
                </a:solidFill>
                <a:latin typeface="华文新魏" panose="02010800040101010101" charset="-122"/>
                <a:ea typeface="华文新魏" panose="02010800040101010101" charset="-122"/>
                <a:cs typeface="华文新魏" panose="02010800040101010101" charset="-122"/>
              </a:rPr>
              <a:t>、</a:t>
            </a:r>
            <a:r>
              <a:rPr sz="2700" kern="0" spc="-3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30" dirty="0">
                <a:solidFill>
                  <a:srgbClr val="003963">
                    <a:alpha val="100000"/>
                  </a:srgbClr>
                </a:solidFill>
                <a:latin typeface="华文新魏" panose="02010800040101010101" charset="-122"/>
                <a:ea typeface="华文新魏" panose="02010800040101010101" charset="-122"/>
                <a:cs typeface="华文新魏" panose="02010800040101010101" charset="-122"/>
              </a:rPr>
              <a:t>稳定币成功商业模式的</a:t>
            </a:r>
            <a:r>
              <a:rPr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基本要素</a:t>
            </a:r>
            <a:r>
              <a:rPr lang="en-US"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a:t>
            </a:r>
            <a:r>
              <a:rPr lang="zh-CN" altLang="en-US"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稳定币的应用场景</a:t>
            </a:r>
            <a:endParaRPr sz="2700" dirty="0">
              <a:latin typeface="华文新魏" panose="02010800040101010101" charset="-122"/>
              <a:ea typeface="华文新魏" panose="02010800040101010101" charset="-122"/>
              <a:cs typeface="华文新魏" panose="02010800040101010101" charset="-122"/>
            </a:endParaRPr>
          </a:p>
          <a:p>
            <a:pPr algn="l" defTabSz="0" rtl="0" eaLnBrk="0">
              <a:lnSpc>
                <a:spcPct val="144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45000"/>
              </a:lnSpc>
            </a:pPr>
            <a:endParaRPr sz="1000" dirty="0">
              <a:latin typeface="Arial" panose="020B0604020202020204" pitchFamily="34" charset="0"/>
              <a:ea typeface="Arial" panose="020B0604020202020204" pitchFamily="34" charset="0"/>
              <a:cs typeface="Arial" panose="020B0604020202020204" pitchFamily="34" charset="0"/>
            </a:endParaRPr>
          </a:p>
          <a:p>
            <a:pPr marL="165100" indent="1270" algn="l" defTabSz="0" rtl="0" eaLnBrk="0">
              <a:lnSpc>
                <a:spcPct val="94000"/>
              </a:lnSpc>
              <a:spcBef>
                <a:spcPts val="605"/>
              </a:spcBef>
            </a:pPr>
            <a:endParaRPr sz="2000" kern="0" spc="-20" dirty="0">
              <a:solidFill>
                <a:schemeClr val="tx1">
                  <a:alpha val="100000"/>
                </a:schemeClr>
              </a:solidFill>
              <a:latin typeface="华文仿宋" panose="02010600040101010101" charset="-122"/>
              <a:ea typeface="华文仿宋" panose="02010600040101010101" charset="-122"/>
              <a:cs typeface="华文仿宋" panose="02010600040101010101" charset="-122"/>
            </a:endParaRPr>
          </a:p>
        </p:txBody>
      </p:sp>
      <p:sp>
        <p:nvSpPr>
          <p:cNvPr id="100" name="rect 100"/>
          <p:cNvSpPr/>
          <p:nvPr/>
        </p:nvSpPr>
        <p:spPr>
          <a:xfrm>
            <a:off x="0" y="6556247"/>
            <a:ext cx="12192000" cy="301752"/>
          </a:xfrm>
          <a:prstGeom prst="rect">
            <a:avLst/>
          </a:prstGeom>
          <a:solidFill>
            <a:srgbClr val="AE0B2A">
              <a:alpha val="100000"/>
            </a:srgbClr>
          </a:solidFill>
          <a:ln w="0" cap="flat">
            <a:noFill/>
            <a:prstDash val="solid"/>
            <a:miter lim="0"/>
          </a:ln>
        </p:spPr>
        <p:txBody>
          <a:bodyPr rtlCol="0"/>
          <a:lstStyle/>
          <a:p>
            <a:pPr algn="ctr"/>
            <a:endParaRPr lang="zh-CN" altLang="en-US"/>
          </a:p>
        </p:txBody>
      </p:sp>
      <p:pic>
        <p:nvPicPr>
          <p:cNvPr id="104" name="picture 104"/>
          <p:cNvPicPr>
            <a:picLocks noChangeAspect="1"/>
          </p:cNvPicPr>
          <p:nvPr/>
        </p:nvPicPr>
        <p:blipFill>
          <a:blip r:embed="rId1"/>
          <a:stretch>
            <a:fillRect/>
          </a:stretch>
        </p:blipFill>
        <p:spPr>
          <a:xfrm rot="21600000">
            <a:off x="2752725" y="451954"/>
            <a:ext cx="9439275" cy="19050"/>
          </a:xfrm>
          <a:prstGeom prst="rect">
            <a:avLst/>
          </a:prstGeom>
        </p:spPr>
      </p:pic>
      <p:pic>
        <p:nvPicPr>
          <p:cNvPr id="3" name="图片 2" descr="2026-05-05 22:27:13.775000"/>
          <p:cNvPicPr>
            <a:picLocks noChangeAspect="1"/>
          </p:cNvPicPr>
          <p:nvPr/>
        </p:nvPicPr>
        <p:blipFill>
          <a:blip r:embed="rId2"/>
          <a:stretch>
            <a:fillRect/>
          </a:stretch>
        </p:blipFill>
        <p:spPr>
          <a:xfrm>
            <a:off x="4507230" y="1937385"/>
            <a:ext cx="7257415" cy="3631565"/>
          </a:xfrm>
          <a:prstGeom prst="rect">
            <a:avLst/>
          </a:prstGeom>
        </p:spPr>
      </p:pic>
      <p:sp>
        <p:nvSpPr>
          <p:cNvPr id="2" name="文本框 1"/>
          <p:cNvSpPr txBox="1"/>
          <p:nvPr/>
        </p:nvSpPr>
        <p:spPr>
          <a:xfrm>
            <a:off x="427355" y="1102995"/>
            <a:ext cx="3768725" cy="5539105"/>
          </a:xfrm>
          <a:prstGeom prst="rect">
            <a:avLst/>
          </a:prstGeom>
        </p:spPr>
        <p:txBody>
          <a:bodyPr wrap="square">
            <a:spAutoFit/>
          </a:bodyPr>
          <a:p>
            <a:r>
              <a:rPr lang="zh-CN" altLang="en-US" sz="2000" b="1">
                <a:solidFill>
                  <a:srgbClr val="000000"/>
                </a:solidFill>
                <a:latin typeface="FangSong_GB2312"/>
                <a:ea typeface="FangSong_GB2312"/>
              </a:rPr>
              <a:t>稳定币供给弹性大，其流通量主要由需求决定</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 </a:t>
            </a:r>
            <a:r>
              <a:rPr lang="zh-CN"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a:t>
            </a:r>
            <a:r>
              <a:rPr sz="2000" b="1"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sym typeface="+mn-ea"/>
              </a:rPr>
              <a:t>传统的货币数量论（MV=PY）</a:t>
            </a:r>
            <a:r>
              <a:rPr sz="2000" kern="0" spc="-380" dirty="0">
                <a:solidFill>
                  <a:srgbClr val="FF0000">
                    <a:alpha val="100000"/>
                  </a:srgbClr>
                </a:solidFill>
                <a:latin typeface="华文仿宋" panose="02010600040101010101" charset="-122"/>
                <a:ea typeface="华文仿宋" panose="02010600040101010101" charset="-122"/>
                <a:cs typeface="华文仿宋" panose="02010600040101010101" charset="-122"/>
                <a:sym typeface="+mn-ea"/>
              </a:rPr>
              <a:t> </a:t>
            </a:r>
            <a:r>
              <a:rPr sz="2000" b="1"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sym typeface="+mn-ea"/>
              </a:rPr>
              <a:t>在</a:t>
            </a:r>
            <a:r>
              <a:rPr sz="2000" b="1" kern="0" spc="-10" dirty="0">
                <a:solidFill>
                  <a:srgbClr val="FF0000">
                    <a:alpha val="100000"/>
                  </a:srgbClr>
                </a:solidFill>
                <a:latin typeface="华文仿宋" panose="02010600040101010101" charset="-122"/>
                <a:ea typeface="华文仿宋" panose="02010600040101010101" charset="-122"/>
                <a:cs typeface="华文仿宋" panose="02010600040101010101" charset="-122"/>
                <a:sym typeface="+mn-ea"/>
              </a:rPr>
              <a:t>数字资产世界具有重要参考价值</a:t>
            </a:r>
            <a:r>
              <a:rPr sz="2000" kern="0" spc="-240" dirty="0">
                <a:solidFill>
                  <a:srgbClr val="FF0000">
                    <a:alpha val="100000"/>
                  </a:srgbClr>
                </a:solidFill>
                <a:latin typeface="华文仿宋" panose="02010600040101010101" charset="-122"/>
                <a:ea typeface="华文仿宋" panose="02010600040101010101" charset="-122"/>
                <a:cs typeface="华文仿宋" panose="02010600040101010101" charset="-122"/>
                <a:sym typeface="+mn-ea"/>
              </a:rPr>
              <a:t> </a:t>
            </a:r>
            <a:r>
              <a:rPr sz="2000" b="1" kern="0" spc="-10" dirty="0">
                <a:solidFill>
                  <a:srgbClr val="FF0000">
                    <a:alpha val="100000"/>
                  </a:srgbClr>
                </a:solidFill>
                <a:latin typeface="华文仿宋" panose="02010600040101010101" charset="-122"/>
                <a:ea typeface="华文仿宋" panose="02010600040101010101" charset="-122"/>
                <a:cs typeface="华文仿宋" panose="02010600040101010101" charset="-122"/>
                <a:sym typeface="+mn-ea"/>
              </a:rPr>
              <a:t>。</a:t>
            </a:r>
            <a:endParaRPr lang="zh-CN" altLang="en-US" sz="2000" b="1">
              <a:solidFill>
                <a:srgbClr val="000000"/>
              </a:solidFill>
              <a:latin typeface="FangSong_GB2312"/>
              <a:ea typeface="FangSong_GB2312"/>
            </a:endParaRPr>
          </a:p>
          <a:p>
            <a:endParaRPr lang="zh-CN" altLang="en-US" sz="2000" b="1">
              <a:solidFill>
                <a:srgbClr val="000000"/>
              </a:solidFill>
              <a:latin typeface="FangSong_GB2312"/>
              <a:ea typeface="FangSong_GB2312"/>
            </a:endParaRPr>
          </a:p>
          <a:p>
            <a:r>
              <a:rPr lang="zh-CN" altLang="en-US" b="1">
                <a:solidFill>
                  <a:srgbClr val="000000"/>
                </a:solidFill>
                <a:latin typeface="FangSong_GB2312"/>
                <a:ea typeface="FangSong_GB2312"/>
              </a:rPr>
              <a:t>从稳定币的供给来看，发行机构的收益来自资产和负债端的利差。稳定币发行机构在负债端支付零利息，而在资产端持有的国债、银行存款等安全资产则生息。净息差（利差减去运营费用）越大，发行机构提供稳定币的动力越强，理论上讲只要净息差是正的，供给即可能是无限的。</a:t>
            </a:r>
            <a:endParaRPr lang="zh-CN" altLang="en-US" b="1">
              <a:solidFill>
                <a:srgbClr val="000000"/>
              </a:solidFill>
              <a:latin typeface="FangSong_GB2312"/>
              <a:ea typeface="FangSong_GB2312"/>
            </a:endParaRPr>
          </a:p>
          <a:p>
            <a:r>
              <a:rPr lang="zh-CN" altLang="en-US" b="1">
                <a:solidFill>
                  <a:srgbClr val="000000"/>
                </a:solidFill>
                <a:latin typeface="FangSong_GB2312"/>
                <a:ea typeface="FangSong_GB2312"/>
              </a:rPr>
              <a:t>作为不付息的支付工具，没有人愿意持有显著超过交易需求的零息资产。近年来美元利率上升应该降低对稳定币的需求。那怎么解释同期美元稳定币的快速增长</a:t>
            </a:r>
            <a:r>
              <a:rPr lang="zh-CN" altLang="en-US" sz="2000" b="1">
                <a:solidFill>
                  <a:srgbClr val="000000"/>
                </a:solidFill>
                <a:latin typeface="FangSong_GB2312"/>
                <a:ea typeface="FangSong_GB2312"/>
              </a:rPr>
              <a:t>？</a:t>
            </a:r>
            <a:endParaRPr lang="zh-CN" altLang="en-US" sz="2000" b="1">
              <a:solidFill>
                <a:srgbClr val="000000"/>
              </a:solidFill>
              <a:latin typeface="FangSong_GB2312"/>
              <a:ea typeface="FangSong_GB231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textbox 98"/>
          <p:cNvSpPr/>
          <p:nvPr/>
        </p:nvSpPr>
        <p:spPr>
          <a:xfrm>
            <a:off x="427355" y="650240"/>
            <a:ext cx="11314430" cy="1978660"/>
          </a:xfrm>
          <a:prstGeom prst="rect">
            <a:avLst/>
          </a:prstGeom>
          <a:noFill/>
          <a:ln w="0" cap="flat">
            <a:noFill/>
            <a:prstDash val="solid"/>
            <a:miter lim="0"/>
          </a:ln>
        </p:spPr>
        <p:txBody>
          <a:bodyPr vert="horz" wrap="square" lIns="0" tIns="0" rIns="0" bIns="0"/>
          <a:lstStyle/>
          <a:p>
            <a:pPr algn="l" defTabSz="0" rtl="0" eaLnBrk="0">
              <a:lnSpc>
                <a:spcPct val="94000"/>
              </a:lnSpc>
            </a:pPr>
            <a:endParaRPr sz="100" dirty="0">
              <a:latin typeface="Arial" panose="020B0604020202020204" pitchFamily="34" charset="0"/>
              <a:ea typeface="Arial" panose="020B0604020202020204" pitchFamily="34" charset="0"/>
              <a:cs typeface="Arial" panose="020B0604020202020204" pitchFamily="34" charset="0"/>
            </a:endParaRPr>
          </a:p>
          <a:p>
            <a:pPr marL="1036955" algn="l" defTabSz="0" rtl="0" eaLnBrk="0">
              <a:lnSpc>
                <a:spcPct val="89000"/>
              </a:lnSpc>
            </a:pPr>
            <a:r>
              <a:rPr sz="2700" b="1" kern="0" spc="-30" dirty="0">
                <a:solidFill>
                  <a:srgbClr val="003963">
                    <a:alpha val="100000"/>
                  </a:srgbClr>
                </a:solidFill>
                <a:latin typeface="华文新魏" panose="02010800040101010101" charset="-122"/>
                <a:ea typeface="华文新魏" panose="02010800040101010101" charset="-122"/>
                <a:cs typeface="华文新魏" panose="02010800040101010101" charset="-122"/>
              </a:rPr>
              <a:t>二</a:t>
            </a:r>
            <a:r>
              <a:rPr sz="2700" kern="0" spc="-3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30" dirty="0">
                <a:solidFill>
                  <a:srgbClr val="003963">
                    <a:alpha val="100000"/>
                  </a:srgbClr>
                </a:solidFill>
                <a:latin typeface="华文新魏" panose="02010800040101010101" charset="-122"/>
                <a:ea typeface="华文新魏" panose="02010800040101010101" charset="-122"/>
                <a:cs typeface="华文新魏" panose="02010800040101010101" charset="-122"/>
              </a:rPr>
              <a:t>、</a:t>
            </a:r>
            <a:r>
              <a:rPr sz="2700" kern="0" spc="-3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30" dirty="0">
                <a:solidFill>
                  <a:srgbClr val="003963">
                    <a:alpha val="100000"/>
                  </a:srgbClr>
                </a:solidFill>
                <a:latin typeface="华文新魏" panose="02010800040101010101" charset="-122"/>
                <a:ea typeface="华文新魏" panose="02010800040101010101" charset="-122"/>
                <a:cs typeface="华文新魏" panose="02010800040101010101" charset="-122"/>
              </a:rPr>
              <a:t>稳定币成功商业模式的</a:t>
            </a:r>
            <a:r>
              <a:rPr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基本要素</a:t>
            </a:r>
            <a:r>
              <a:rPr lang="en-US"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a:t>
            </a:r>
            <a:r>
              <a:rPr lang="zh-CN" altLang="en-US"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稳定币的应用场景</a:t>
            </a:r>
            <a:endParaRPr sz="2700" dirty="0">
              <a:latin typeface="华文新魏" panose="02010800040101010101" charset="-122"/>
              <a:ea typeface="华文新魏" panose="02010800040101010101" charset="-122"/>
              <a:cs typeface="华文新魏" panose="02010800040101010101" charset="-122"/>
            </a:endParaRPr>
          </a:p>
          <a:p>
            <a:pPr algn="l" defTabSz="0" rtl="0" eaLnBrk="0">
              <a:lnSpc>
                <a:spcPct val="144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45000"/>
              </a:lnSpc>
            </a:pPr>
            <a:endParaRPr sz="1000" dirty="0">
              <a:latin typeface="Arial" panose="020B0604020202020204" pitchFamily="34" charset="0"/>
              <a:ea typeface="Arial" panose="020B0604020202020204" pitchFamily="34" charset="0"/>
              <a:cs typeface="Arial" panose="020B0604020202020204" pitchFamily="34" charset="0"/>
            </a:endParaRPr>
          </a:p>
          <a:p>
            <a:pPr marL="165100" indent="1270" algn="l" defTabSz="0" rtl="0" eaLnBrk="0">
              <a:lnSpc>
                <a:spcPct val="94000"/>
              </a:lnSpc>
              <a:spcBef>
                <a:spcPts val="605"/>
              </a:spcBef>
            </a:pP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美</a:t>
            </a:r>
            <a:r>
              <a:rPr sz="2000"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联</a:t>
            </a:r>
            <a:r>
              <a:rPr sz="2000"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储</a:t>
            </a:r>
            <a:r>
              <a:rPr sz="2000"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理</a:t>
            </a:r>
            <a:r>
              <a:rPr sz="2000"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事</a:t>
            </a:r>
            <a:r>
              <a:rPr sz="2000" kern="0" spc="-8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C</a:t>
            </a:r>
            <a:r>
              <a:rPr sz="2000"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.J</a:t>
            </a:r>
            <a:r>
              <a:rPr sz="2000"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a:t>
            </a:r>
            <a:r>
              <a:rPr sz="2000" kern="0" spc="-21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W</a:t>
            </a:r>
            <a:r>
              <a:rPr sz="2000" kern="0" spc="-13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a</a:t>
            </a:r>
            <a:r>
              <a:rPr sz="2000" kern="0" spc="-20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ll</a:t>
            </a:r>
            <a:r>
              <a:rPr sz="2000" kern="0" spc="-11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e</a:t>
            </a:r>
            <a:r>
              <a:rPr sz="2000" kern="0" spc="-16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r</a:t>
            </a:r>
            <a:r>
              <a:rPr sz="2000" kern="0" spc="-15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2</a:t>
            </a:r>
            <a:r>
              <a:rPr sz="2000" kern="0" spc="-13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0</a:t>
            </a:r>
            <a:r>
              <a:rPr sz="2000" kern="0" spc="-15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2</a:t>
            </a:r>
            <a:r>
              <a:rPr sz="2000"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5</a:t>
            </a:r>
            <a:r>
              <a:rPr sz="2000"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年</a:t>
            </a:r>
            <a:r>
              <a:rPr sz="2000" kern="0" spc="-16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2</a:t>
            </a:r>
            <a:r>
              <a:rPr sz="2000"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月</a:t>
            </a:r>
            <a:r>
              <a:rPr sz="2000"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在</a:t>
            </a:r>
            <a:r>
              <a:rPr sz="2000"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美</a:t>
            </a:r>
            <a:r>
              <a:rPr sz="2000" kern="0" spc="-7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联</a:t>
            </a:r>
            <a:r>
              <a:rPr sz="2000" kern="0" spc="-8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储</a:t>
            </a:r>
            <a:r>
              <a:rPr sz="2000"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发</a:t>
            </a:r>
            <a:r>
              <a:rPr sz="2000" kern="0" spc="-7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表</a:t>
            </a:r>
            <a:r>
              <a:rPr sz="2000" kern="0" spc="22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了</a:t>
            </a:r>
            <a:r>
              <a:rPr sz="2000" kern="0" spc="-16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R</a:t>
            </a:r>
            <a:r>
              <a:rPr sz="2000" kern="0" spc="-15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e</a:t>
            </a:r>
            <a:r>
              <a:rPr sz="2000" kern="0" spc="-10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fl</a:t>
            </a:r>
            <a:r>
              <a:rPr sz="2000" kern="0" spc="-11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e</a:t>
            </a:r>
            <a:r>
              <a:rPr sz="2000" kern="0" spc="-10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c</a:t>
            </a:r>
            <a:r>
              <a:rPr sz="2000" kern="0" spc="-13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ti</a:t>
            </a:r>
            <a:r>
              <a:rPr sz="2000" kern="0" spc="-12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o</a:t>
            </a:r>
            <a:r>
              <a:rPr sz="2000" kern="0" spc="-16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n</a:t>
            </a:r>
            <a:r>
              <a:rPr sz="2000" kern="0" spc="-9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s</a:t>
            </a:r>
            <a:r>
              <a:rPr sz="2000"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o</a:t>
            </a:r>
            <a:r>
              <a:rPr sz="2000" kern="0" spc="-16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n</a:t>
            </a:r>
            <a:r>
              <a:rPr sz="2000"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a</a:t>
            </a:r>
            <a:r>
              <a:rPr sz="2000"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M</a:t>
            </a:r>
            <a:r>
              <a:rPr sz="2000" kern="0" spc="-11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a</a:t>
            </a:r>
            <a:r>
              <a:rPr sz="2000" kern="0" spc="-14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t</a:t>
            </a:r>
            <a:r>
              <a:rPr sz="2000" kern="0" spc="-20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u</a:t>
            </a:r>
            <a:r>
              <a:rPr sz="2000" kern="0" spc="-16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r</a:t>
            </a:r>
            <a:r>
              <a:rPr sz="2000" kern="0" spc="-19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i</a:t>
            </a:r>
            <a:r>
              <a:rPr sz="2000" kern="0" spc="-16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n</a:t>
            </a:r>
            <a:r>
              <a:rPr sz="2000" kern="0" spc="-12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g</a:t>
            </a:r>
            <a:r>
              <a:rPr sz="2000"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S</a:t>
            </a:r>
            <a:r>
              <a:rPr sz="2000" kern="0" spc="-12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t</a:t>
            </a:r>
            <a:r>
              <a:rPr sz="2000" kern="0" spc="-15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a</a:t>
            </a:r>
            <a:r>
              <a:rPr sz="2000" kern="0" spc="-18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bl</a:t>
            </a:r>
            <a:r>
              <a:rPr sz="2000" kern="0" spc="-11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e</a:t>
            </a:r>
            <a:r>
              <a:rPr sz="2000" kern="0" spc="-19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a:t>
            </a:r>
            <a:r>
              <a:rPr sz="2000" b="1" kern="0" spc="-100" dirty="0">
                <a:solidFill>
                  <a:srgbClr val="000000">
                    <a:alpha val="100000"/>
                  </a:srgbClr>
                </a:solidFill>
                <a:latin typeface="华文仿宋" panose="02010600040101010101" charset="-122"/>
                <a:ea typeface="华文仿宋" panose="02010600040101010101" charset="-122"/>
                <a:cs typeface="华文仿宋" panose="02010600040101010101" charset="-122"/>
              </a:rPr>
              <a:t>稳</a:t>
            </a:r>
            <a:r>
              <a:rPr sz="2000" kern="0" spc="-10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100" dirty="0">
                <a:solidFill>
                  <a:srgbClr val="000000">
                    <a:alpha val="100000"/>
                  </a:srgbClr>
                </a:solidFill>
                <a:latin typeface="华文仿宋" panose="02010600040101010101" charset="-122"/>
                <a:ea typeface="华文仿宋" panose="02010600040101010101" charset="-122"/>
                <a:cs typeface="华文仿宋" panose="02010600040101010101" charset="-122"/>
              </a:rPr>
              <a:t>定</a:t>
            </a:r>
            <a:r>
              <a:rPr sz="2000" kern="0" spc="-10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100" dirty="0">
                <a:solidFill>
                  <a:srgbClr val="000000">
                    <a:alpha val="100000"/>
                  </a:srgbClr>
                </a:solidFill>
                <a:latin typeface="华文仿宋" panose="02010600040101010101" charset="-122"/>
                <a:ea typeface="华文仿宋" panose="02010600040101010101" charset="-122"/>
                <a:cs typeface="华文仿宋" panose="02010600040101010101" charset="-122"/>
              </a:rPr>
              <a:t>币与</a:t>
            </a:r>
            <a:r>
              <a:rPr sz="2000" kern="0" spc="-10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100" dirty="0">
                <a:solidFill>
                  <a:srgbClr val="000000">
                    <a:alpha val="100000"/>
                  </a:srgbClr>
                </a:solidFill>
                <a:latin typeface="华文仿宋" panose="02010600040101010101" charset="-122"/>
                <a:ea typeface="华文仿宋" panose="02010600040101010101" charset="-122"/>
                <a:cs typeface="华文仿宋" panose="02010600040101010101" charset="-122"/>
              </a:rPr>
              <a:t>任</a:t>
            </a:r>
            <a:r>
              <a:rPr sz="2000" kern="0" spc="-10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100" dirty="0">
                <a:solidFill>
                  <a:srgbClr val="000000">
                    <a:alpha val="100000"/>
                  </a:srgbClr>
                </a:solidFill>
                <a:latin typeface="华文仿宋" panose="02010600040101010101" charset="-122"/>
                <a:ea typeface="华文仿宋" panose="02010600040101010101" charset="-122"/>
                <a:cs typeface="华文仿宋" panose="02010600040101010101" charset="-122"/>
              </a:rPr>
              <a:t>何</a:t>
            </a:r>
            <a:r>
              <a:rPr sz="2000" kern="0" spc="-10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100" dirty="0">
                <a:solidFill>
                  <a:srgbClr val="000000">
                    <a:alpha val="100000"/>
                  </a:srgbClr>
                </a:solidFill>
                <a:latin typeface="华文仿宋" panose="02010600040101010101" charset="-122"/>
                <a:ea typeface="华文仿宋" panose="02010600040101010101" charset="-122"/>
                <a:cs typeface="华文仿宋" panose="02010600040101010101" charset="-122"/>
              </a:rPr>
              <a:t>支</a:t>
            </a:r>
            <a:r>
              <a:rPr sz="2000" kern="0" spc="-10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100" dirty="0">
                <a:solidFill>
                  <a:srgbClr val="000000">
                    <a:alpha val="100000"/>
                  </a:srgbClr>
                </a:solidFill>
                <a:latin typeface="华文仿宋" panose="02010600040101010101" charset="-122"/>
                <a:ea typeface="华文仿宋" panose="02010600040101010101" charset="-122"/>
                <a:cs typeface="华文仿宋" panose="02010600040101010101" charset="-122"/>
              </a:rPr>
              <a:t>付</a:t>
            </a:r>
            <a:r>
              <a:rPr sz="2000" kern="0" spc="-10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100" dirty="0">
                <a:solidFill>
                  <a:srgbClr val="000000">
                    <a:alpha val="100000"/>
                  </a:srgbClr>
                </a:solidFill>
                <a:latin typeface="华文仿宋" panose="02010600040101010101" charset="-122"/>
                <a:ea typeface="华文仿宋" panose="02010600040101010101" charset="-122"/>
                <a:cs typeface="华文仿宋" panose="02010600040101010101" charset="-122"/>
              </a:rPr>
              <a:t>方</a:t>
            </a:r>
            <a:r>
              <a:rPr sz="2000" kern="0" spc="-10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100" dirty="0">
                <a:solidFill>
                  <a:srgbClr val="000000">
                    <a:alpha val="100000"/>
                  </a:srgbClr>
                </a:solidFill>
                <a:latin typeface="华文仿宋" panose="02010600040101010101" charset="-122"/>
                <a:ea typeface="华文仿宋" panose="02010600040101010101" charset="-122"/>
                <a:cs typeface="华文仿宋" panose="02010600040101010101" charset="-122"/>
              </a:rPr>
              <a:t>式</a:t>
            </a:r>
            <a:r>
              <a:rPr sz="2000" kern="0" spc="-10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100" dirty="0">
                <a:solidFill>
                  <a:srgbClr val="000000">
                    <a:alpha val="100000"/>
                  </a:srgbClr>
                </a:solidFill>
                <a:latin typeface="华文仿宋" panose="02010600040101010101" charset="-122"/>
                <a:ea typeface="华文仿宋" panose="02010600040101010101" charset="-122"/>
                <a:cs typeface="华文仿宋" panose="02010600040101010101" charset="-122"/>
              </a:rPr>
              <a:t>一</a:t>
            </a:r>
            <a:r>
              <a:rPr sz="2000" kern="0" spc="-10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100" dirty="0">
                <a:solidFill>
                  <a:srgbClr val="000000">
                    <a:alpha val="100000"/>
                  </a:srgbClr>
                </a:solidFill>
                <a:latin typeface="华文仿宋" panose="02010600040101010101" charset="-122"/>
                <a:ea typeface="华文仿宋" panose="02010600040101010101" charset="-122"/>
                <a:cs typeface="华文仿宋" panose="02010600040101010101" charset="-122"/>
              </a:rPr>
              <a:t>样</a:t>
            </a:r>
            <a:r>
              <a:rPr sz="2000" kern="0" spc="-10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100" dirty="0">
                <a:solidFill>
                  <a:srgbClr val="000000">
                    <a:alpha val="100000"/>
                  </a:srgbClr>
                </a:solidFill>
                <a:latin typeface="华文仿宋" panose="02010600040101010101" charset="-122"/>
                <a:ea typeface="华文仿宋" panose="02010600040101010101" charset="-122"/>
                <a:cs typeface="华文仿宋" panose="02010600040101010101" charset="-122"/>
              </a:rPr>
              <a:t>必</a:t>
            </a:r>
            <a:r>
              <a:rPr sz="2000" kern="0" spc="-10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100" dirty="0">
                <a:solidFill>
                  <a:srgbClr val="000000">
                    <a:alpha val="100000"/>
                  </a:srgbClr>
                </a:solidFill>
                <a:latin typeface="华文仿宋" panose="02010600040101010101" charset="-122"/>
                <a:ea typeface="华文仿宋" panose="02010600040101010101" charset="-122"/>
                <a:cs typeface="华文仿宋" panose="02010600040101010101" charset="-122"/>
              </a:rPr>
              <a:t>须证</a:t>
            </a:r>
            <a:r>
              <a:rPr sz="2000" kern="0" spc="16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100" dirty="0">
                <a:solidFill>
                  <a:srgbClr val="000000">
                    <a:alpha val="100000"/>
                  </a:srgbClr>
                </a:solidFill>
                <a:latin typeface="华文仿宋" panose="02010600040101010101" charset="-122"/>
                <a:ea typeface="华文仿宋" panose="02010600040101010101" charset="-122"/>
                <a:cs typeface="华文仿宋" panose="02010600040101010101" charset="-122"/>
              </a:rPr>
              <a:t>明</a:t>
            </a:r>
            <a:r>
              <a:rPr sz="2000" kern="0" spc="-20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110" dirty="0">
                <a:solidFill>
                  <a:srgbClr val="000000">
                    <a:alpha val="100000"/>
                  </a:srgbClr>
                </a:solidFill>
                <a:latin typeface="华文仿宋" panose="02010600040101010101" charset="-122"/>
                <a:ea typeface="华文仿宋" panose="02010600040101010101" charset="-122"/>
                <a:cs typeface="华文仿宋" panose="02010600040101010101" charset="-122"/>
              </a:rPr>
              <a:t>：</a:t>
            </a:r>
            <a:r>
              <a:rPr sz="2000" kern="0" spc="-11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000" b="1"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1</a:t>
            </a:r>
            <a:r>
              <a:rPr sz="2000"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a:t>
            </a:r>
            <a:r>
              <a:rPr sz="2000" kern="0" spc="17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明</a:t>
            </a:r>
            <a:r>
              <a:rPr sz="2000"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确</a:t>
            </a:r>
            <a:r>
              <a:rPr sz="2000" kern="0" spc="8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的</a:t>
            </a:r>
            <a:r>
              <a:rPr sz="2000"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用</a:t>
            </a:r>
            <a:r>
              <a:rPr sz="2000"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途</a:t>
            </a:r>
            <a:r>
              <a:rPr sz="2000" kern="0" spc="-19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a:t>
            </a:r>
            <a:r>
              <a:rPr sz="2000" kern="0" spc="-16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2</a:t>
            </a:r>
            <a:r>
              <a:rPr sz="2000"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a:t>
            </a:r>
            <a:r>
              <a:rPr sz="2000" kern="0" spc="17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明</a:t>
            </a:r>
            <a:r>
              <a:rPr sz="2000"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确</a:t>
            </a:r>
            <a:r>
              <a:rPr sz="2000"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可</a:t>
            </a:r>
            <a:r>
              <a:rPr sz="2000"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行</a:t>
            </a:r>
            <a:r>
              <a:rPr sz="2000" kern="0" spc="8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的</a:t>
            </a:r>
            <a:r>
              <a:rPr sz="2000"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经</a:t>
            </a:r>
            <a:r>
              <a:rPr sz="2000"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济</a:t>
            </a:r>
            <a:r>
              <a:rPr sz="2000"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商</a:t>
            </a:r>
            <a:r>
              <a:rPr sz="2000"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业</a:t>
            </a:r>
            <a:r>
              <a:rPr sz="2000"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案</a:t>
            </a:r>
            <a:r>
              <a:rPr sz="2000"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例</a:t>
            </a:r>
            <a:r>
              <a:rPr sz="2000" kern="0" spc="-20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110" dirty="0">
                <a:solidFill>
                  <a:srgbClr val="FF0000">
                    <a:alpha val="100000"/>
                  </a:srgbClr>
                </a:solidFill>
                <a:latin typeface="华文仿宋" panose="02010600040101010101" charset="-122"/>
                <a:ea typeface="华文仿宋" panose="02010600040101010101" charset="-122"/>
                <a:cs typeface="华文仿宋" panose="02010600040101010101" charset="-122"/>
              </a:rPr>
              <a:t>。</a:t>
            </a:r>
            <a:endParaRPr sz="2000" dirty="0">
              <a:latin typeface="华文仿宋" panose="02010600040101010101" charset="-122"/>
              <a:ea typeface="华文仿宋" panose="02010600040101010101" charset="-122"/>
              <a:cs typeface="华文仿宋" panose="02010600040101010101" charset="-122"/>
            </a:endParaRPr>
          </a:p>
          <a:p>
            <a:pPr algn="l" defTabSz="0" rtl="0" eaLnBrk="0">
              <a:lnSpc>
                <a:spcPct val="179000"/>
              </a:lnSpc>
            </a:pPr>
            <a:endParaRPr sz="1000" dirty="0">
              <a:latin typeface="Arial" panose="020B0604020202020204" pitchFamily="34" charset="0"/>
              <a:ea typeface="Arial" panose="020B0604020202020204" pitchFamily="34" charset="0"/>
              <a:cs typeface="Arial" panose="020B0604020202020204" pitchFamily="34" charset="0"/>
            </a:endParaRPr>
          </a:p>
          <a:p>
            <a:pPr marL="13970" algn="l" defTabSz="0" rtl="0" eaLnBrk="0">
              <a:lnSpc>
                <a:spcPct val="82000"/>
              </a:lnSpc>
              <a:spcBef>
                <a:spcPts val="1175"/>
              </a:spcBef>
            </a:pPr>
            <a:endParaRPr sz="2000" kern="0" spc="-20" dirty="0">
              <a:solidFill>
                <a:schemeClr val="tx1">
                  <a:alpha val="100000"/>
                </a:schemeClr>
              </a:solidFill>
              <a:latin typeface="华文仿宋" panose="02010600040101010101" charset="-122"/>
              <a:ea typeface="华文仿宋" panose="02010600040101010101" charset="-122"/>
              <a:cs typeface="华文仿宋" panose="02010600040101010101" charset="-122"/>
            </a:endParaRPr>
          </a:p>
        </p:txBody>
      </p:sp>
      <p:sp>
        <p:nvSpPr>
          <p:cNvPr id="100" name="rect 100"/>
          <p:cNvSpPr/>
          <p:nvPr/>
        </p:nvSpPr>
        <p:spPr>
          <a:xfrm>
            <a:off x="0" y="6556247"/>
            <a:ext cx="12192000" cy="301752"/>
          </a:xfrm>
          <a:prstGeom prst="rect">
            <a:avLst/>
          </a:prstGeom>
          <a:solidFill>
            <a:srgbClr val="AE0B2A">
              <a:alpha val="100000"/>
            </a:srgbClr>
          </a:solidFill>
          <a:ln w="0" cap="flat">
            <a:noFill/>
            <a:prstDash val="solid"/>
            <a:miter lim="0"/>
          </a:ln>
        </p:spPr>
        <p:txBody>
          <a:bodyPr rtlCol="0"/>
          <a:lstStyle/>
          <a:p>
            <a:pPr algn="ctr"/>
            <a:endParaRPr lang="zh-CN" altLang="en-US"/>
          </a:p>
        </p:txBody>
      </p:sp>
      <p:pic>
        <p:nvPicPr>
          <p:cNvPr id="104" name="picture 104"/>
          <p:cNvPicPr>
            <a:picLocks noChangeAspect="1"/>
          </p:cNvPicPr>
          <p:nvPr/>
        </p:nvPicPr>
        <p:blipFill>
          <a:blip r:embed="rId1"/>
          <a:stretch>
            <a:fillRect/>
          </a:stretch>
        </p:blipFill>
        <p:spPr>
          <a:xfrm rot="21600000">
            <a:off x="2752725" y="451954"/>
            <a:ext cx="9439275" cy="19050"/>
          </a:xfrm>
          <a:prstGeom prst="rect">
            <a:avLst/>
          </a:prstGeom>
        </p:spPr>
      </p:pic>
      <p:pic>
        <p:nvPicPr>
          <p:cNvPr id="2" name="图片 1"/>
          <p:cNvPicPr>
            <a:picLocks noChangeAspect="1"/>
          </p:cNvPicPr>
          <p:nvPr/>
        </p:nvPicPr>
        <p:blipFill>
          <a:blip r:embed="rId2"/>
          <a:stretch>
            <a:fillRect/>
          </a:stretch>
        </p:blipFill>
        <p:spPr>
          <a:xfrm>
            <a:off x="6677025" y="2807970"/>
            <a:ext cx="4848225" cy="2600325"/>
          </a:xfrm>
          <a:prstGeom prst="rect">
            <a:avLst/>
          </a:prstGeom>
        </p:spPr>
      </p:pic>
      <p:sp>
        <p:nvSpPr>
          <p:cNvPr id="3" name="文本框 2"/>
          <p:cNvSpPr txBox="1"/>
          <p:nvPr/>
        </p:nvSpPr>
        <p:spPr>
          <a:xfrm>
            <a:off x="680720" y="2395220"/>
            <a:ext cx="6096000" cy="3703955"/>
          </a:xfrm>
          <a:prstGeom prst="rect">
            <a:avLst/>
          </a:prstGeom>
          <a:noFill/>
        </p:spPr>
        <p:txBody>
          <a:bodyPr wrap="square" rtlCol="0" anchor="t">
            <a:spAutoFit/>
          </a:bodyPr>
          <a:p>
            <a:pPr marL="164465" algn="l" defTabSz="0" rtl="0" eaLnBrk="0">
              <a:lnSpc>
                <a:spcPts val="2610"/>
              </a:lnSpc>
              <a:spcBef>
                <a:spcPts val="605"/>
              </a:spcBef>
            </a:pPr>
            <a:r>
              <a:rPr sz="2000" b="1" kern="0" spc="-140" dirty="0">
                <a:solidFill>
                  <a:srgbClr val="FF0000">
                    <a:alpha val="100000"/>
                  </a:srgbClr>
                </a:solidFill>
                <a:latin typeface="华文楷体" panose="02010600040101010101" charset="-122"/>
                <a:ea typeface="华文楷体" panose="02010600040101010101" charset="-122"/>
                <a:cs typeface="华文楷体" panose="02010600040101010101" charset="-122"/>
                <a:sym typeface="+mn-ea"/>
              </a:rPr>
              <a:t>（一）</a:t>
            </a:r>
            <a:r>
              <a:rPr sz="2000" kern="0" spc="-200" dirty="0">
                <a:solidFill>
                  <a:srgbClr val="FF0000">
                    <a:alpha val="100000"/>
                  </a:srgbClr>
                </a:solidFill>
                <a:latin typeface="华文楷体" panose="02010600040101010101" charset="-122"/>
                <a:ea typeface="华文楷体" panose="02010600040101010101" charset="-122"/>
                <a:cs typeface="华文楷体" panose="02010600040101010101" charset="-122"/>
                <a:sym typeface="+mn-ea"/>
              </a:rPr>
              <a:t> </a:t>
            </a:r>
            <a:r>
              <a:rPr sz="2000" b="1" kern="0" spc="-140" dirty="0">
                <a:solidFill>
                  <a:srgbClr val="FF0000">
                    <a:alpha val="100000"/>
                  </a:srgbClr>
                </a:solidFill>
                <a:latin typeface="华文楷体" panose="02010600040101010101" charset="-122"/>
                <a:ea typeface="华文楷体" panose="02010600040101010101" charset="-122"/>
                <a:cs typeface="华文楷体" panose="02010600040101010101" charset="-122"/>
                <a:sym typeface="+mn-ea"/>
              </a:rPr>
              <a:t>需求</a:t>
            </a:r>
            <a:r>
              <a:rPr lang="zh-CN" sz="2000" b="1" kern="0" spc="-140" dirty="0">
                <a:solidFill>
                  <a:srgbClr val="FF0000">
                    <a:alpha val="100000"/>
                  </a:srgbClr>
                </a:solidFill>
                <a:latin typeface="华文楷体" panose="02010600040101010101" charset="-122"/>
                <a:ea typeface="华文楷体" panose="02010600040101010101" charset="-122"/>
                <a:cs typeface="华文楷体" panose="02010600040101010101" charset="-122"/>
                <a:sym typeface="+mn-ea"/>
              </a:rPr>
              <a:t>：</a:t>
            </a:r>
            <a:r>
              <a:rPr sz="2000" b="1" kern="0" spc="-140" dirty="0">
                <a:solidFill>
                  <a:srgbClr val="FF0000">
                    <a:alpha val="100000"/>
                  </a:srgbClr>
                </a:solidFill>
                <a:latin typeface="华文楷体" panose="02010600040101010101" charset="-122"/>
                <a:ea typeface="华文楷体" panose="02010600040101010101" charset="-122"/>
                <a:cs typeface="华文楷体" panose="02010600040101010101" charset="-122"/>
                <a:sym typeface="+mn-ea"/>
              </a:rPr>
              <a:t>谁需要稳定币</a:t>
            </a:r>
            <a:r>
              <a:rPr sz="2000" b="1" kern="0" spc="-150" dirty="0">
                <a:solidFill>
                  <a:srgbClr val="FF0000">
                    <a:alpha val="100000"/>
                  </a:srgbClr>
                </a:solidFill>
                <a:latin typeface="华文楷体" panose="02010600040101010101" charset="-122"/>
                <a:ea typeface="华文楷体" panose="02010600040101010101" charset="-122"/>
                <a:cs typeface="华文楷体" panose="02010600040101010101" charset="-122"/>
                <a:sym typeface="+mn-ea"/>
              </a:rPr>
              <a:t>？</a:t>
            </a:r>
            <a:endParaRPr sz="2000" dirty="0">
              <a:latin typeface="华文楷体" panose="02010600040101010101" charset="-122"/>
              <a:ea typeface="华文楷体" panose="02010600040101010101" charset="-122"/>
              <a:cs typeface="华文楷体" panose="02010600040101010101" charset="-122"/>
            </a:endParaRPr>
          </a:p>
          <a:p>
            <a:pPr marL="90170" algn="l" defTabSz="0" rtl="0" eaLnBrk="0">
              <a:lnSpc>
                <a:spcPct val="82000"/>
              </a:lnSpc>
              <a:spcBef>
                <a:spcPts val="1180"/>
              </a:spcBef>
            </a:pPr>
            <a:r>
              <a:rPr sz="20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1.</a:t>
            </a:r>
            <a:r>
              <a:rPr sz="2000" kern="0" spc="13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 </a:t>
            </a:r>
            <a:r>
              <a:rPr sz="20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在加密生态系统中获取价格稳定的交易媒介</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：加密资产价格</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波动大，</a:t>
            </a:r>
            <a:r>
              <a:rPr sz="2000" kern="0" spc="-37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 </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投资者常使用稳定币作为</a:t>
            </a:r>
            <a:endParaRPr sz="2000" dirty="0">
              <a:latin typeface="华文仿宋" panose="02010600040101010101" charset="-122"/>
              <a:ea typeface="华文仿宋" panose="02010600040101010101" charset="-122"/>
              <a:cs typeface="华文仿宋" panose="02010600040101010101" charset="-122"/>
            </a:endParaRPr>
          </a:p>
          <a:p>
            <a:pPr marL="19685" indent="143510" algn="l" defTabSz="0" rtl="0" eaLnBrk="0">
              <a:lnSpc>
                <a:spcPct val="94000"/>
              </a:lnSpc>
              <a:spcBef>
                <a:spcPts val="250"/>
              </a:spcBef>
            </a:pPr>
            <a:r>
              <a:rPr sz="2000" kern="0" spc="-6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a:t>
            </a:r>
            <a:r>
              <a:rPr sz="2000" kern="0" spc="-23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 </a:t>
            </a:r>
            <a:r>
              <a:rPr sz="2000" kern="0" spc="-6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中间资产</a:t>
            </a:r>
            <a:r>
              <a:rPr sz="2000" kern="0" spc="-34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 </a:t>
            </a:r>
            <a:r>
              <a:rPr sz="2000" kern="0" spc="-6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a:t>
            </a:r>
            <a:r>
              <a:rPr sz="2000" kern="0" spc="-34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 </a:t>
            </a:r>
            <a:r>
              <a:rPr sz="2000" kern="0" spc="-6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用于资产之间的转换、</a:t>
            </a:r>
            <a:r>
              <a:rPr sz="2000" kern="0" spc="-31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 </a:t>
            </a:r>
            <a:r>
              <a:rPr sz="2000" kern="0" spc="-6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暂时避险，</a:t>
            </a:r>
            <a:r>
              <a:rPr sz="2000" kern="0" spc="-30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 </a:t>
            </a:r>
            <a:r>
              <a:rPr sz="2000" kern="0" spc="-6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或持有资金</a:t>
            </a:r>
            <a:r>
              <a:rPr sz="2000" kern="0" spc="-24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 </a:t>
            </a:r>
            <a:r>
              <a:rPr sz="2000" kern="0" spc="-6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a:t>
            </a:r>
            <a:r>
              <a:rPr sz="2000" kern="0" spc="-35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 </a:t>
            </a:r>
            <a:r>
              <a:rPr sz="2000" kern="0" spc="-6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稳定币是一种安全的加密资产的货币</a:t>
            </a:r>
            <a:r>
              <a:rPr sz="2000"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价值存储。</a:t>
            </a:r>
            <a:endParaRPr sz="2000" dirty="0">
              <a:latin typeface="华文仿宋" panose="02010600040101010101" charset="-122"/>
              <a:ea typeface="华文仿宋" panose="02010600040101010101" charset="-122"/>
              <a:cs typeface="华文仿宋" panose="02010600040101010101" charset="-122"/>
            </a:endParaRPr>
          </a:p>
          <a:p>
            <a:pPr marL="28575" indent="-15875" algn="l" defTabSz="0" rtl="0" eaLnBrk="0">
              <a:lnSpc>
                <a:spcPct val="93000"/>
              </a:lnSpc>
              <a:spcBef>
                <a:spcPts val="1375"/>
              </a:spcBef>
            </a:pP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2.</a:t>
            </a:r>
            <a:r>
              <a:rPr sz="2000" kern="0" spc="18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 </a:t>
            </a:r>
            <a:r>
              <a:rPr lang="zh-CN" altLang="en-US" sz="2000"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跨境支付：在一些高通胀或资本受限的国家 ，主流稳定币可以当成数字美元用于储蓄 ，替代不稳定的当地法币 ，且拥有更高的支付效率 ，几分钟即可全球到账。</a:t>
            </a:r>
            <a:endParaRPr sz="2000" dirty="0">
              <a:latin typeface="华文仿宋" panose="02010600040101010101" charset="-122"/>
              <a:ea typeface="华文仿宋" panose="02010600040101010101" charset="-122"/>
              <a:cs typeface="华文仿宋" panose="02010600040101010101" charset="-122"/>
            </a:endParaRPr>
          </a:p>
          <a:p>
            <a:pPr marL="13970" algn="l" defTabSz="0" rtl="0" eaLnBrk="0">
              <a:lnSpc>
                <a:spcPct val="82000"/>
              </a:lnSpc>
              <a:spcBef>
                <a:spcPts val="1175"/>
              </a:spcBef>
            </a:pPr>
            <a:endParaRPr lang="zh-CN" altLang="en-US" sz="2000" dirty="0">
              <a:latin typeface="华文仿宋" panose="02010600040101010101" charset="-122"/>
              <a:ea typeface="华文仿宋" panose="02010600040101010101" charset="-122"/>
              <a:cs typeface="华文仿宋" panose="02010600040101010101"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textbox 98"/>
          <p:cNvSpPr/>
          <p:nvPr/>
        </p:nvSpPr>
        <p:spPr>
          <a:xfrm>
            <a:off x="427355" y="650240"/>
            <a:ext cx="11314430" cy="5556250"/>
          </a:xfrm>
          <a:prstGeom prst="rect">
            <a:avLst/>
          </a:prstGeom>
          <a:noFill/>
          <a:ln w="0" cap="flat">
            <a:noFill/>
            <a:prstDash val="solid"/>
            <a:miter lim="0"/>
          </a:ln>
        </p:spPr>
        <p:txBody>
          <a:bodyPr vert="horz" wrap="square" lIns="0" tIns="0" rIns="0" bIns="0"/>
          <a:lstStyle/>
          <a:p>
            <a:pPr algn="l" defTabSz="0" rtl="0" eaLnBrk="0">
              <a:lnSpc>
                <a:spcPct val="94000"/>
              </a:lnSpc>
            </a:pPr>
            <a:endParaRPr sz="100" dirty="0">
              <a:latin typeface="Arial" panose="020B0604020202020204" pitchFamily="34" charset="0"/>
              <a:ea typeface="Arial" panose="020B0604020202020204" pitchFamily="34" charset="0"/>
              <a:cs typeface="Arial" panose="020B0604020202020204" pitchFamily="34" charset="0"/>
            </a:endParaRPr>
          </a:p>
          <a:p>
            <a:pPr marL="1036955" algn="l" defTabSz="0" rtl="0" eaLnBrk="0">
              <a:lnSpc>
                <a:spcPct val="89000"/>
              </a:lnSpc>
            </a:pPr>
            <a:r>
              <a:rPr sz="2700" b="1" kern="0" spc="-30" dirty="0">
                <a:solidFill>
                  <a:srgbClr val="003963">
                    <a:alpha val="100000"/>
                  </a:srgbClr>
                </a:solidFill>
                <a:latin typeface="华文新魏" panose="02010800040101010101" charset="-122"/>
                <a:ea typeface="华文新魏" panose="02010800040101010101" charset="-122"/>
                <a:cs typeface="华文新魏" panose="02010800040101010101" charset="-122"/>
              </a:rPr>
              <a:t>二</a:t>
            </a:r>
            <a:r>
              <a:rPr sz="2700" kern="0" spc="-3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30" dirty="0">
                <a:solidFill>
                  <a:srgbClr val="003963">
                    <a:alpha val="100000"/>
                  </a:srgbClr>
                </a:solidFill>
                <a:latin typeface="华文新魏" panose="02010800040101010101" charset="-122"/>
                <a:ea typeface="华文新魏" panose="02010800040101010101" charset="-122"/>
                <a:cs typeface="华文新魏" panose="02010800040101010101" charset="-122"/>
              </a:rPr>
              <a:t>、</a:t>
            </a:r>
            <a:r>
              <a:rPr sz="2700" kern="0" spc="-30" dirty="0">
                <a:solidFill>
                  <a:srgbClr val="003963">
                    <a:alpha val="100000"/>
                  </a:srgbClr>
                </a:solidFill>
                <a:latin typeface="华文新魏" panose="02010800040101010101" charset="-122"/>
                <a:ea typeface="华文新魏" panose="02010800040101010101" charset="-122"/>
                <a:cs typeface="华文新魏" panose="02010800040101010101" charset="-122"/>
              </a:rPr>
              <a:t> </a:t>
            </a:r>
            <a:r>
              <a:rPr sz="2700" b="1" kern="0" spc="-30" dirty="0">
                <a:solidFill>
                  <a:srgbClr val="003963">
                    <a:alpha val="100000"/>
                  </a:srgbClr>
                </a:solidFill>
                <a:latin typeface="华文新魏" panose="02010800040101010101" charset="-122"/>
                <a:ea typeface="华文新魏" panose="02010800040101010101" charset="-122"/>
                <a:cs typeface="华文新魏" panose="02010800040101010101" charset="-122"/>
              </a:rPr>
              <a:t>稳定币成功商业模式的</a:t>
            </a:r>
            <a:r>
              <a:rPr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基本要素</a:t>
            </a:r>
            <a:r>
              <a:rPr lang="en-US"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a:t>
            </a:r>
            <a:r>
              <a:rPr lang="zh-CN" altLang="en-US" sz="2700" b="1" kern="0" spc="-40" dirty="0">
                <a:solidFill>
                  <a:srgbClr val="003963">
                    <a:alpha val="100000"/>
                  </a:srgbClr>
                </a:solidFill>
                <a:latin typeface="华文新魏" panose="02010800040101010101" charset="-122"/>
                <a:ea typeface="华文新魏" panose="02010800040101010101" charset="-122"/>
                <a:cs typeface="华文新魏" panose="02010800040101010101" charset="-122"/>
              </a:rPr>
              <a:t>稳定币的应用场景</a:t>
            </a:r>
            <a:endParaRPr sz="2700" dirty="0">
              <a:latin typeface="华文新魏" panose="02010800040101010101" charset="-122"/>
              <a:ea typeface="华文新魏" panose="02010800040101010101" charset="-122"/>
              <a:cs typeface="华文新魏" panose="02010800040101010101" charset="-122"/>
            </a:endParaRPr>
          </a:p>
          <a:p>
            <a:pPr algn="l" defTabSz="0" rtl="0" eaLnBrk="0">
              <a:lnSpc>
                <a:spcPct val="144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45000"/>
              </a:lnSpc>
            </a:pPr>
            <a:r>
              <a:rPr sz="20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3.提供了一种获取或持有某种货币（美元） 的方法： 出 口商等可以收取稳定币， 可</a:t>
            </a:r>
            <a:r>
              <a:rPr sz="2000"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sym typeface="+mn-ea"/>
              </a:rPr>
              <a:t>以兑换为美元。</a:t>
            </a:r>
            <a:endParaRPr sz="20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endParaRPr>
          </a:p>
          <a:p>
            <a:pPr marL="13970" algn="l" defTabSz="0" rtl="0" eaLnBrk="0">
              <a:lnSpc>
                <a:spcPct val="82000"/>
              </a:lnSpc>
              <a:spcBef>
                <a:spcPts val="1175"/>
              </a:spcBef>
            </a:pPr>
            <a:r>
              <a:rPr sz="20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4.</a:t>
            </a:r>
            <a:r>
              <a:rPr sz="2000" kern="0" spc="12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套利工具：</a:t>
            </a:r>
            <a:r>
              <a:rPr sz="2000" kern="0" spc="-35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稳定币为套利者提供便捷工具，</a:t>
            </a:r>
            <a:r>
              <a:rPr sz="2000" kern="0" spc="-34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可在不同交易所间利用价格差异套利。</a:t>
            </a:r>
            <a:endParaRPr sz="2000" dirty="0">
              <a:latin typeface="华文仿宋" panose="02010600040101010101" charset="-122"/>
              <a:ea typeface="华文仿宋" panose="02010600040101010101" charset="-122"/>
              <a:cs typeface="华文仿宋" panose="02010600040101010101" charset="-122"/>
            </a:endParaRPr>
          </a:p>
          <a:p>
            <a:pPr algn="l" defTabSz="0" rtl="0" eaLnBrk="0">
              <a:lnSpc>
                <a:spcPct val="106000"/>
              </a:lnSpc>
            </a:pPr>
            <a:endParaRPr sz="8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21590" indent="635" algn="l" defTabSz="0" rtl="0" eaLnBrk="0">
              <a:lnSpc>
                <a:spcPct val="107000"/>
              </a:lnSpc>
            </a:pPr>
            <a:r>
              <a:rPr sz="2000" b="1" kern="0" spc="-10" dirty="0">
                <a:solidFill>
                  <a:srgbClr val="000000">
                    <a:alpha val="100000"/>
                  </a:srgbClr>
                </a:solidFill>
                <a:latin typeface="华文仿宋" panose="02010600040101010101" charset="-122"/>
                <a:ea typeface="华文仿宋" panose="02010600040101010101" charset="-122"/>
                <a:cs typeface="华文仿宋" panose="02010600040101010101" charset="-122"/>
              </a:rPr>
              <a:t>5</a:t>
            </a:r>
            <a:r>
              <a:rPr sz="2000" b="1" kern="0" spc="-10" dirty="0">
                <a:solidFill>
                  <a:schemeClr val="tx1">
                    <a:alpha val="100000"/>
                  </a:schemeClr>
                </a:solidFill>
                <a:latin typeface="华文仿宋" panose="02010600040101010101" charset="-122"/>
                <a:ea typeface="华文仿宋" panose="02010600040101010101" charset="-122"/>
                <a:cs typeface="华文仿宋" panose="02010600040101010101" charset="-122"/>
              </a:rPr>
              <a:t>.</a:t>
            </a:r>
            <a:r>
              <a:rPr sz="2000" kern="0" spc="-10" dirty="0">
                <a:solidFill>
                  <a:schemeClr val="tx1">
                    <a:alpha val="100000"/>
                  </a:schemeClr>
                </a:solidFill>
                <a:latin typeface="华文仿宋" panose="02010600040101010101" charset="-122"/>
                <a:ea typeface="华文仿宋" panose="02010600040101010101" charset="-122"/>
                <a:cs typeface="华文仿宋" panose="02010600040101010101" charset="-122"/>
              </a:rPr>
              <a:t> </a:t>
            </a:r>
            <a:r>
              <a:rPr sz="2000" b="1" kern="0" spc="-10" dirty="0">
                <a:solidFill>
                  <a:schemeClr val="tx1">
                    <a:alpha val="100000"/>
                  </a:schemeClr>
                </a:solidFill>
                <a:latin typeface="华文仿宋" panose="02010600040101010101" charset="-122"/>
                <a:ea typeface="华文仿宋" panose="02010600040101010101" charset="-122"/>
                <a:cs typeface="华文仿宋" panose="02010600040101010101" charset="-122"/>
              </a:rPr>
              <a:t>“</a:t>
            </a:r>
            <a:r>
              <a:rPr sz="2000" kern="0" spc="-320" dirty="0">
                <a:solidFill>
                  <a:schemeClr val="tx1">
                    <a:alpha val="100000"/>
                  </a:schemeClr>
                </a:solidFill>
                <a:latin typeface="华文仿宋" panose="02010600040101010101" charset="-122"/>
                <a:ea typeface="华文仿宋" panose="02010600040101010101" charset="-122"/>
                <a:cs typeface="华文仿宋" panose="02010600040101010101" charset="-122"/>
              </a:rPr>
              <a:t> </a:t>
            </a:r>
            <a:r>
              <a:rPr sz="2000" b="1" kern="0" spc="-10" dirty="0">
                <a:solidFill>
                  <a:schemeClr val="tx1">
                    <a:alpha val="100000"/>
                  </a:schemeClr>
                </a:solidFill>
                <a:latin typeface="华文仿宋" panose="02010600040101010101" charset="-122"/>
                <a:ea typeface="华文仿宋" panose="02010600040101010101" charset="-122"/>
                <a:cs typeface="华文仿宋" panose="02010600040101010101" charset="-122"/>
              </a:rPr>
              <a:t>去中心化</a:t>
            </a:r>
            <a:r>
              <a:rPr sz="2000" kern="0" spc="-330" dirty="0">
                <a:solidFill>
                  <a:schemeClr val="tx1">
                    <a:alpha val="100000"/>
                  </a:schemeClr>
                </a:solidFill>
                <a:latin typeface="华文仿宋" panose="02010600040101010101" charset="-122"/>
                <a:ea typeface="华文仿宋" panose="02010600040101010101" charset="-122"/>
                <a:cs typeface="华文仿宋" panose="02010600040101010101" charset="-122"/>
              </a:rPr>
              <a:t> </a:t>
            </a:r>
            <a:r>
              <a:rPr sz="2000" b="1" kern="0" spc="-10" dirty="0">
                <a:solidFill>
                  <a:schemeClr val="tx1">
                    <a:alpha val="100000"/>
                  </a:schemeClr>
                </a:solidFill>
                <a:latin typeface="华文仿宋" panose="02010600040101010101" charset="-122"/>
                <a:ea typeface="华文仿宋" panose="02010600040101010101" charset="-122"/>
                <a:cs typeface="华文仿宋" panose="02010600040101010101" charset="-122"/>
              </a:rPr>
              <a:t>”金融（DeFi,</a:t>
            </a:r>
            <a:r>
              <a:rPr sz="2000" kern="0" spc="-10" dirty="0">
                <a:solidFill>
                  <a:schemeClr val="tx1">
                    <a:alpha val="100000"/>
                  </a:schemeClr>
                </a:solidFill>
                <a:latin typeface="华文仿宋" panose="02010600040101010101" charset="-122"/>
                <a:ea typeface="华文仿宋" panose="02010600040101010101" charset="-122"/>
                <a:cs typeface="华文仿宋" panose="02010600040101010101" charset="-122"/>
              </a:rPr>
              <a:t> </a:t>
            </a:r>
            <a:r>
              <a:rPr sz="2000" kern="0" spc="-20" dirty="0">
                <a:solidFill>
                  <a:schemeClr val="tx1">
                    <a:alpha val="100000"/>
                  </a:schemeClr>
                </a:solidFill>
                <a:latin typeface="华文仿宋" panose="02010600040101010101" charset="-122"/>
                <a:ea typeface="华文仿宋" panose="02010600040101010101" charset="-122"/>
                <a:cs typeface="华文仿宋" panose="02010600040101010101" charset="-122"/>
              </a:rPr>
              <a:t>Decentralized Finance）</a:t>
            </a:r>
            <a:r>
              <a:rPr sz="2000" kern="0" spc="-320" dirty="0">
                <a:solidFill>
                  <a:schemeClr val="tx1">
                    <a:alpha val="100000"/>
                  </a:schemeClr>
                </a:solidFill>
                <a:latin typeface="华文仿宋" panose="02010600040101010101" charset="-122"/>
                <a:ea typeface="华文仿宋" panose="02010600040101010101" charset="-122"/>
                <a:cs typeface="华文仿宋" panose="02010600040101010101" charset="-122"/>
              </a:rPr>
              <a:t> </a:t>
            </a:r>
            <a:r>
              <a:rPr sz="2000" b="1" kern="0" spc="-20" dirty="0">
                <a:solidFill>
                  <a:schemeClr val="tx1">
                    <a:alpha val="100000"/>
                  </a:schemeClr>
                </a:solidFill>
                <a:latin typeface="华文仿宋" panose="02010600040101010101" charset="-122"/>
                <a:ea typeface="华文仿宋" panose="02010600040101010101" charset="-122"/>
                <a:cs typeface="华文仿宋" panose="02010600040101010101" charset="-122"/>
              </a:rPr>
              <a:t>活动中的抵押品与流动性池资产：</a:t>
            </a:r>
            <a:r>
              <a:rPr sz="2000" kern="0" spc="-350" dirty="0">
                <a:solidFill>
                  <a:schemeClr val="tx1">
                    <a:alpha val="100000"/>
                  </a:schemeClr>
                </a:solidFill>
                <a:latin typeface="华文仿宋" panose="02010600040101010101" charset="-122"/>
                <a:ea typeface="华文仿宋" panose="02010600040101010101" charset="-122"/>
                <a:cs typeface="华文仿宋" panose="02010600040101010101" charset="-122"/>
              </a:rPr>
              <a:t> </a:t>
            </a:r>
            <a:r>
              <a:rPr sz="2000" kern="0" spc="-20" dirty="0">
                <a:solidFill>
                  <a:schemeClr val="tx1">
                    <a:alpha val="100000"/>
                  </a:schemeClr>
                </a:solidFill>
                <a:latin typeface="华文仿宋" panose="02010600040101010101" charset="-122"/>
                <a:ea typeface="华文仿宋" panose="02010600040101010101" charset="-122"/>
                <a:cs typeface="华文仿宋" panose="02010600040101010101" charset="-122"/>
              </a:rPr>
              <a:t>稳定币在DeFi协</a:t>
            </a:r>
            <a:r>
              <a:rPr sz="2000" kern="0" spc="-10" dirty="0">
                <a:solidFill>
                  <a:schemeClr val="tx1">
                    <a:alpha val="100000"/>
                  </a:schemeClr>
                </a:solidFill>
                <a:latin typeface="华文仿宋" panose="02010600040101010101" charset="-122"/>
                <a:ea typeface="华文仿宋" panose="02010600040101010101" charset="-122"/>
                <a:cs typeface="华文仿宋" panose="02010600040101010101" charset="-122"/>
              </a:rPr>
              <a:t>议中常作为抵押资产（链上信用创造）</a:t>
            </a:r>
            <a:r>
              <a:rPr sz="2000" kern="0" spc="-300" dirty="0">
                <a:solidFill>
                  <a:schemeClr val="tx1">
                    <a:alpha val="100000"/>
                  </a:schemeClr>
                </a:solidFill>
                <a:latin typeface="华文仿宋" panose="02010600040101010101" charset="-122"/>
                <a:ea typeface="华文仿宋" panose="02010600040101010101" charset="-122"/>
                <a:cs typeface="华文仿宋" panose="02010600040101010101" charset="-122"/>
              </a:rPr>
              <a:t> </a:t>
            </a:r>
            <a:r>
              <a:rPr sz="2000" kern="0" spc="-10" dirty="0">
                <a:solidFill>
                  <a:schemeClr val="tx1">
                    <a:alpha val="100000"/>
                  </a:schemeClr>
                </a:solidFill>
                <a:latin typeface="华文仿宋" panose="02010600040101010101" charset="-122"/>
                <a:ea typeface="华文仿宋" panose="02010600040101010101" charset="-122"/>
                <a:cs typeface="华文仿宋" panose="02010600040101010101" charset="-122"/>
              </a:rPr>
              <a:t>，</a:t>
            </a:r>
            <a:r>
              <a:rPr sz="2000" kern="0" spc="-370" dirty="0">
                <a:solidFill>
                  <a:schemeClr val="tx1">
                    <a:alpha val="100000"/>
                  </a:schemeClr>
                </a:solidFill>
                <a:latin typeface="华文仿宋" panose="02010600040101010101" charset="-122"/>
                <a:ea typeface="华文仿宋" panose="02010600040101010101" charset="-122"/>
                <a:cs typeface="华文仿宋" panose="02010600040101010101" charset="-122"/>
              </a:rPr>
              <a:t> </a:t>
            </a:r>
            <a:r>
              <a:rPr sz="2000" kern="0" spc="-10" dirty="0">
                <a:solidFill>
                  <a:schemeClr val="tx1">
                    <a:alpha val="100000"/>
                  </a:schemeClr>
                </a:solidFill>
                <a:latin typeface="华文仿宋" panose="02010600040101010101" charset="-122"/>
                <a:ea typeface="华文仿宋" panose="02010600040101010101" charset="-122"/>
                <a:cs typeface="华文仿宋" panose="02010600040101010101" charset="-122"/>
              </a:rPr>
              <a:t>其稳定性对整个协议运行至</a:t>
            </a:r>
            <a:r>
              <a:rPr sz="2000" kern="0" spc="-20" dirty="0">
                <a:solidFill>
                  <a:schemeClr val="tx1">
                    <a:alpha val="100000"/>
                  </a:schemeClr>
                </a:solidFill>
                <a:latin typeface="华文仿宋" panose="02010600040101010101" charset="-122"/>
                <a:ea typeface="华文仿宋" panose="02010600040101010101" charset="-122"/>
                <a:cs typeface="华文仿宋" panose="02010600040101010101" charset="-122"/>
              </a:rPr>
              <a:t>关重要。</a:t>
            </a:r>
            <a:endParaRPr sz="2000" kern="0" spc="-20" dirty="0">
              <a:solidFill>
                <a:schemeClr val="tx1">
                  <a:alpha val="100000"/>
                </a:schemeClr>
              </a:solidFill>
              <a:latin typeface="华文仿宋" panose="02010600040101010101" charset="-122"/>
              <a:ea typeface="华文仿宋" panose="02010600040101010101" charset="-122"/>
              <a:cs typeface="华文仿宋" panose="02010600040101010101" charset="-122"/>
            </a:endParaRPr>
          </a:p>
          <a:p>
            <a:pPr marL="21590" indent="635" algn="l" defTabSz="0" rtl="0" eaLnBrk="0">
              <a:lnSpc>
                <a:spcPct val="107000"/>
              </a:lnSpc>
            </a:pPr>
            <a:endParaRPr sz="2000" kern="0" spc="-20" dirty="0">
              <a:solidFill>
                <a:schemeClr val="tx1">
                  <a:alpha val="100000"/>
                </a:schemeClr>
              </a:solidFill>
              <a:latin typeface="华文仿宋" panose="02010600040101010101" charset="-122"/>
              <a:ea typeface="华文仿宋" panose="02010600040101010101" charset="-122"/>
              <a:cs typeface="华文仿宋" panose="02010600040101010101" charset="-122"/>
            </a:endParaRPr>
          </a:p>
        </p:txBody>
      </p:sp>
      <p:sp>
        <p:nvSpPr>
          <p:cNvPr id="100" name="rect 100"/>
          <p:cNvSpPr/>
          <p:nvPr/>
        </p:nvSpPr>
        <p:spPr>
          <a:xfrm>
            <a:off x="0" y="6556247"/>
            <a:ext cx="12192000" cy="301752"/>
          </a:xfrm>
          <a:prstGeom prst="rect">
            <a:avLst/>
          </a:prstGeom>
          <a:solidFill>
            <a:srgbClr val="AE0B2A">
              <a:alpha val="100000"/>
            </a:srgbClr>
          </a:solidFill>
          <a:ln w="0" cap="flat">
            <a:noFill/>
            <a:prstDash val="solid"/>
            <a:miter lim="0"/>
          </a:ln>
        </p:spPr>
        <p:txBody>
          <a:bodyPr rtlCol="0"/>
          <a:lstStyle/>
          <a:p>
            <a:pPr algn="ctr"/>
            <a:endParaRPr lang="zh-CN" altLang="en-US"/>
          </a:p>
        </p:txBody>
      </p:sp>
      <p:pic>
        <p:nvPicPr>
          <p:cNvPr id="104" name="picture 104"/>
          <p:cNvPicPr>
            <a:picLocks noChangeAspect="1"/>
          </p:cNvPicPr>
          <p:nvPr/>
        </p:nvPicPr>
        <p:blipFill>
          <a:blip r:embed="rId1"/>
          <a:stretch>
            <a:fillRect/>
          </a:stretch>
        </p:blipFill>
        <p:spPr>
          <a:xfrm rot="21600000">
            <a:off x="2752725" y="451954"/>
            <a:ext cx="9439275" cy="19050"/>
          </a:xfrm>
          <a:prstGeom prst="rect">
            <a:avLst/>
          </a:prstGeom>
        </p:spPr>
      </p:pic>
      <p:pic>
        <p:nvPicPr>
          <p:cNvPr id="2" name="图片 1"/>
          <p:cNvPicPr>
            <a:picLocks noChangeAspect="1"/>
          </p:cNvPicPr>
          <p:nvPr/>
        </p:nvPicPr>
        <p:blipFill>
          <a:blip r:embed="rId2"/>
          <a:stretch>
            <a:fillRect/>
          </a:stretch>
        </p:blipFill>
        <p:spPr>
          <a:xfrm>
            <a:off x="2414270" y="3086100"/>
            <a:ext cx="6470650" cy="347027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box 108"/>
          <p:cNvSpPr/>
          <p:nvPr/>
        </p:nvSpPr>
        <p:spPr>
          <a:xfrm>
            <a:off x="434187" y="1175905"/>
            <a:ext cx="11301730" cy="4269104"/>
          </a:xfrm>
          <a:prstGeom prst="rect">
            <a:avLst/>
          </a:prstGeom>
          <a:noFill/>
          <a:ln w="0" cap="flat">
            <a:noFill/>
            <a:prstDash val="solid"/>
            <a:miter lim="0"/>
          </a:ln>
        </p:spPr>
        <p:txBody>
          <a:bodyPr vert="horz" wrap="square" lIns="0" tIns="0" rIns="0" bIns="0"/>
          <a:lstStyle/>
          <a:p>
            <a:pPr algn="l" defTabSz="0" rtl="0" eaLnBrk="0">
              <a:lnSpc>
                <a:spcPct val="83000"/>
              </a:lnSpc>
            </a:pPr>
            <a:r>
              <a:rPr sz="2300" b="1" kern="0" spc="-140" dirty="0">
                <a:solidFill>
                  <a:srgbClr val="FF0000">
                    <a:alpha val="100000"/>
                  </a:srgbClr>
                </a:solidFill>
                <a:latin typeface="华文楷体" panose="02010600040101010101" charset="-122"/>
                <a:ea typeface="华文楷体" panose="02010600040101010101" charset="-122"/>
                <a:cs typeface="华文楷体" panose="02010600040101010101" charset="-122"/>
              </a:rPr>
              <a:t>（二</a:t>
            </a:r>
            <a:r>
              <a:rPr sz="2300" kern="0" spc="-140" dirty="0">
                <a:solidFill>
                  <a:srgbClr val="FF0000">
                    <a:alpha val="100000"/>
                  </a:srgbClr>
                </a:solidFill>
                <a:latin typeface="华文楷体" panose="02010600040101010101" charset="-122"/>
                <a:ea typeface="华文楷体" panose="02010600040101010101" charset="-122"/>
                <a:cs typeface="华文楷体" panose="02010600040101010101" charset="-122"/>
              </a:rPr>
              <a:t> </a:t>
            </a:r>
            <a:r>
              <a:rPr sz="2300" b="1" kern="0" spc="-140" dirty="0">
                <a:solidFill>
                  <a:srgbClr val="FF0000">
                    <a:alpha val="100000"/>
                  </a:srgbClr>
                </a:solidFill>
                <a:latin typeface="华文楷体" panose="02010600040101010101" charset="-122"/>
                <a:ea typeface="华文楷体" panose="02010600040101010101" charset="-122"/>
                <a:cs typeface="华文楷体" panose="02010600040101010101" charset="-122"/>
              </a:rPr>
              <a:t>）</a:t>
            </a:r>
            <a:r>
              <a:rPr sz="2300" kern="0" spc="150" dirty="0">
                <a:solidFill>
                  <a:srgbClr val="FF0000">
                    <a:alpha val="100000"/>
                  </a:srgbClr>
                </a:solidFill>
                <a:latin typeface="华文楷体" panose="02010600040101010101" charset="-122"/>
                <a:ea typeface="华文楷体" panose="02010600040101010101" charset="-122"/>
                <a:cs typeface="华文楷体" panose="02010600040101010101" charset="-122"/>
              </a:rPr>
              <a:t> </a:t>
            </a:r>
            <a:r>
              <a:rPr sz="2300" b="1" kern="0" spc="-140" dirty="0">
                <a:solidFill>
                  <a:srgbClr val="FF0000">
                    <a:alpha val="100000"/>
                  </a:srgbClr>
                </a:solidFill>
                <a:latin typeface="华文楷体" panose="02010600040101010101" charset="-122"/>
                <a:ea typeface="华文楷体" panose="02010600040101010101" charset="-122"/>
                <a:cs typeface="华文楷体" panose="02010600040101010101" charset="-122"/>
              </a:rPr>
              <a:t>需</a:t>
            </a:r>
            <a:r>
              <a:rPr sz="2300" kern="0" spc="-140" dirty="0">
                <a:solidFill>
                  <a:srgbClr val="FF0000">
                    <a:alpha val="100000"/>
                  </a:srgbClr>
                </a:solidFill>
                <a:latin typeface="华文楷体" panose="02010600040101010101" charset="-122"/>
                <a:ea typeface="华文楷体" panose="02010600040101010101" charset="-122"/>
                <a:cs typeface="华文楷体" panose="02010600040101010101" charset="-122"/>
              </a:rPr>
              <a:t> </a:t>
            </a:r>
            <a:r>
              <a:rPr sz="2300" b="1" kern="0" spc="-140" dirty="0">
                <a:solidFill>
                  <a:srgbClr val="FF0000">
                    <a:alpha val="100000"/>
                  </a:srgbClr>
                </a:solidFill>
                <a:latin typeface="华文楷体" panose="02010600040101010101" charset="-122"/>
                <a:ea typeface="华文楷体" panose="02010600040101010101" charset="-122"/>
                <a:cs typeface="华文楷体" panose="02010600040101010101" charset="-122"/>
              </a:rPr>
              <a:t>求</a:t>
            </a:r>
            <a:r>
              <a:rPr sz="2300" kern="0" spc="-140" dirty="0">
                <a:solidFill>
                  <a:srgbClr val="FF0000">
                    <a:alpha val="100000"/>
                  </a:srgbClr>
                </a:solidFill>
                <a:latin typeface="华文楷体" panose="02010600040101010101" charset="-122"/>
                <a:ea typeface="华文楷体" panose="02010600040101010101" charset="-122"/>
                <a:cs typeface="华文楷体" panose="02010600040101010101" charset="-122"/>
              </a:rPr>
              <a:t> </a:t>
            </a:r>
            <a:r>
              <a:rPr sz="2300" b="1" kern="0" spc="-140" dirty="0">
                <a:solidFill>
                  <a:srgbClr val="FF0000">
                    <a:alpha val="100000"/>
                  </a:srgbClr>
                </a:solidFill>
                <a:latin typeface="华文楷体" panose="02010600040101010101" charset="-122"/>
                <a:ea typeface="华文楷体" panose="02010600040101010101" charset="-122"/>
                <a:cs typeface="华文楷体" panose="02010600040101010101" charset="-122"/>
              </a:rPr>
              <a:t>标的可靠</a:t>
            </a:r>
            <a:r>
              <a:rPr sz="2300" kern="0" spc="-140" dirty="0">
                <a:solidFill>
                  <a:srgbClr val="FF0000">
                    <a:alpha val="100000"/>
                  </a:srgbClr>
                </a:solidFill>
                <a:latin typeface="华文楷体" panose="02010600040101010101" charset="-122"/>
                <a:ea typeface="华文楷体" panose="02010600040101010101" charset="-122"/>
                <a:cs typeface="华文楷体" panose="02010600040101010101" charset="-122"/>
              </a:rPr>
              <a:t> </a:t>
            </a:r>
            <a:r>
              <a:rPr sz="2300" b="1" kern="0" spc="-140" dirty="0">
                <a:solidFill>
                  <a:srgbClr val="FF0000">
                    <a:alpha val="100000"/>
                  </a:srgbClr>
                </a:solidFill>
                <a:latin typeface="华文楷体" panose="02010600040101010101" charset="-122"/>
                <a:ea typeface="华文楷体" panose="02010600040101010101" charset="-122"/>
                <a:cs typeface="华文楷体" panose="02010600040101010101" charset="-122"/>
              </a:rPr>
              <a:t>性</a:t>
            </a:r>
            <a:r>
              <a:rPr sz="2300" kern="0" spc="-140" dirty="0">
                <a:solidFill>
                  <a:srgbClr val="FF0000">
                    <a:alpha val="100000"/>
                  </a:srgbClr>
                </a:solidFill>
                <a:latin typeface="华文楷体" panose="02010600040101010101" charset="-122"/>
                <a:ea typeface="华文楷体" panose="02010600040101010101" charset="-122"/>
                <a:cs typeface="华文楷体" panose="02010600040101010101" charset="-122"/>
              </a:rPr>
              <a:t> </a:t>
            </a:r>
            <a:r>
              <a:rPr sz="2300" b="1" kern="0" spc="-140" dirty="0">
                <a:solidFill>
                  <a:srgbClr val="FF0000">
                    <a:alpha val="100000"/>
                  </a:srgbClr>
                </a:solidFill>
                <a:latin typeface="华文楷体" panose="02010600040101010101" charset="-122"/>
                <a:ea typeface="华文楷体" panose="02010600040101010101" charset="-122"/>
                <a:cs typeface="华文楷体" panose="02010600040101010101" charset="-122"/>
              </a:rPr>
              <a:t>:</a:t>
            </a:r>
            <a:r>
              <a:rPr sz="2300" kern="0" spc="-140" dirty="0">
                <a:solidFill>
                  <a:srgbClr val="FF0000">
                    <a:alpha val="100000"/>
                  </a:srgbClr>
                </a:solidFill>
                <a:latin typeface="华文楷体" panose="02010600040101010101" charset="-122"/>
                <a:ea typeface="华文楷体" panose="02010600040101010101" charset="-122"/>
                <a:cs typeface="华文楷体" panose="02010600040101010101" charset="-122"/>
              </a:rPr>
              <a:t> </a:t>
            </a:r>
            <a:r>
              <a:rPr sz="2300" b="1" kern="0" spc="-150" dirty="0">
                <a:solidFill>
                  <a:srgbClr val="FF0000">
                    <a:alpha val="100000"/>
                  </a:srgbClr>
                </a:solidFill>
                <a:latin typeface="华文楷体" panose="02010600040101010101" charset="-122"/>
                <a:ea typeface="华文楷体" panose="02010600040101010101" charset="-122"/>
                <a:cs typeface="华文楷体" panose="02010600040101010101" charset="-122"/>
              </a:rPr>
              <a:t>平</a:t>
            </a:r>
            <a:r>
              <a:rPr sz="2300" kern="0" spc="-150" dirty="0">
                <a:solidFill>
                  <a:srgbClr val="FF0000">
                    <a:alpha val="100000"/>
                  </a:srgbClr>
                </a:solidFill>
                <a:latin typeface="华文楷体" panose="02010600040101010101" charset="-122"/>
                <a:ea typeface="华文楷体" panose="02010600040101010101" charset="-122"/>
                <a:cs typeface="华文楷体" panose="02010600040101010101" charset="-122"/>
              </a:rPr>
              <a:t> </a:t>
            </a:r>
            <a:r>
              <a:rPr sz="2300" b="1" kern="0" spc="-150" dirty="0">
                <a:solidFill>
                  <a:srgbClr val="FF0000">
                    <a:alpha val="100000"/>
                  </a:srgbClr>
                </a:solidFill>
                <a:latin typeface="华文楷体" panose="02010600040101010101" charset="-122"/>
                <a:ea typeface="华文楷体" panose="02010600040101010101" charset="-122"/>
                <a:cs typeface="华文楷体" panose="02010600040101010101" charset="-122"/>
              </a:rPr>
              <a:t>价关系</a:t>
            </a:r>
            <a:endParaRPr sz="2300" dirty="0">
              <a:latin typeface="华文楷体" panose="02010600040101010101" charset="-122"/>
              <a:ea typeface="华文楷体" panose="02010600040101010101" charset="-122"/>
              <a:cs typeface="华文楷体" panose="02010600040101010101" charset="-122"/>
            </a:endParaRPr>
          </a:p>
          <a:p>
            <a:pPr algn="l" defTabSz="0" rtl="0" eaLnBrk="0">
              <a:lnSpc>
                <a:spcPct val="120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21000"/>
              </a:lnSpc>
            </a:pPr>
            <a:endParaRPr sz="1000" dirty="0">
              <a:latin typeface="Arial" panose="020B0604020202020204" pitchFamily="34" charset="0"/>
              <a:ea typeface="Arial" panose="020B0604020202020204" pitchFamily="34" charset="0"/>
              <a:cs typeface="Arial" panose="020B0604020202020204" pitchFamily="34" charset="0"/>
            </a:endParaRPr>
          </a:p>
          <a:p>
            <a:pPr marL="20320" algn="l" defTabSz="0" rtl="0" eaLnBrk="0">
              <a:lnSpc>
                <a:spcPct val="96000"/>
              </a:lnSpc>
              <a:spcBef>
                <a:spcPts val="700"/>
              </a:spcBef>
            </a:pPr>
            <a:r>
              <a:rPr sz="2300" kern="0" spc="60" dirty="0">
                <a:solidFill>
                  <a:srgbClr val="000000">
                    <a:alpha val="100000"/>
                  </a:srgbClr>
                </a:solidFill>
                <a:latin typeface="华文仿宋" panose="02010600040101010101" charset="-122"/>
                <a:ea typeface="华文仿宋" panose="02010600040101010101" charset="-122"/>
                <a:cs typeface="华文仿宋" panose="02010600040101010101" charset="-122"/>
              </a:rPr>
              <a:t>稳定币是一种</a:t>
            </a:r>
            <a:r>
              <a:rPr sz="2300" kern="0" spc="60" dirty="0">
                <a:solidFill>
                  <a:srgbClr val="FF0000">
                    <a:alpha val="100000"/>
                  </a:srgbClr>
                </a:solidFill>
                <a:latin typeface="华文仿宋" panose="02010600040101010101" charset="-122"/>
                <a:ea typeface="华文仿宋" panose="02010600040101010101" charset="-122"/>
                <a:cs typeface="华文仿宋" panose="02010600040101010101" charset="-122"/>
              </a:rPr>
              <a:t>数字资产</a:t>
            </a:r>
            <a:r>
              <a:rPr sz="2300" kern="0" spc="6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300" kern="0" spc="60" dirty="0">
                <a:solidFill>
                  <a:srgbClr val="FF0000">
                    <a:alpha val="100000"/>
                  </a:srgbClr>
                </a:solidFill>
                <a:latin typeface="华文仿宋" panose="02010600040101010101" charset="-122"/>
                <a:ea typeface="华文仿宋" panose="02010600040101010101" charset="-122"/>
                <a:cs typeface="华文仿宋" panose="02010600040101010101" charset="-122"/>
              </a:rPr>
              <a:t>旨在保持相对于本国货币的稳定价值</a:t>
            </a:r>
            <a:r>
              <a:rPr sz="2300" kern="0" spc="60" dirty="0">
                <a:solidFill>
                  <a:srgbClr val="000000">
                    <a:alpha val="100000"/>
                  </a:srgbClr>
                </a:solidFill>
                <a:latin typeface="华文仿宋" panose="02010600040101010101" charset="-122"/>
                <a:ea typeface="华文仿宋" panose="02010600040101010101" charset="-122"/>
                <a:cs typeface="华文仿宋" panose="02010600040101010101" charset="-122"/>
              </a:rPr>
              <a:t>，</a:t>
            </a:r>
            <a:r>
              <a:rPr sz="2300" kern="0" spc="-25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300" kern="0" spc="60" dirty="0">
                <a:solidFill>
                  <a:srgbClr val="000000">
                    <a:alpha val="100000"/>
                  </a:srgbClr>
                </a:solidFill>
                <a:latin typeface="华文仿宋" panose="02010600040101010101" charset="-122"/>
                <a:ea typeface="华文仿宋" panose="02010600040101010101" charset="-122"/>
                <a:cs typeface="华文仿宋" panose="02010600040101010101" charset="-122"/>
              </a:rPr>
              <a:t>并至少有1：</a:t>
            </a:r>
            <a:r>
              <a:rPr sz="2300" kern="0" spc="-32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300" kern="0" spc="60" dirty="0">
                <a:solidFill>
                  <a:srgbClr val="000000">
                    <a:alpha val="100000"/>
                  </a:srgbClr>
                </a:solidFill>
                <a:latin typeface="华文仿宋" panose="02010600040101010101" charset="-122"/>
                <a:ea typeface="华文仿宋" panose="02010600040101010101" charset="-122"/>
                <a:cs typeface="华文仿宋" panose="02010600040101010101" charset="-122"/>
              </a:rPr>
              <a:t>1的安全</a:t>
            </a:r>
            <a:r>
              <a:rPr sz="2300" kern="0" spc="60" dirty="0">
                <a:solidFill>
                  <a:srgbClr val="000000">
                    <a:alpha val="100000"/>
                  </a:srgbClr>
                </a:solidFill>
                <a:latin typeface="华文仿宋" panose="02010600040101010101" charset="-122"/>
                <a:ea typeface="华文仿宋" panose="02010600040101010101" charset="-122"/>
                <a:cs typeface="华文仿宋" panose="02010600040101010101" charset="-122"/>
              </a:rPr>
              <a:t>和流动性资产支撑</a:t>
            </a:r>
            <a:r>
              <a:rPr sz="2300" kern="0" spc="-19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300" kern="0" spc="60" dirty="0">
                <a:solidFill>
                  <a:srgbClr val="000000">
                    <a:alpha val="100000"/>
                  </a:srgbClr>
                </a:solidFill>
                <a:latin typeface="华文仿宋" panose="02010600040101010101" charset="-122"/>
                <a:ea typeface="华文仿宋" panose="02010600040101010101" charset="-122"/>
                <a:cs typeface="华文仿宋" panose="02010600040101010101" charset="-122"/>
              </a:rPr>
              <a:t>。</a:t>
            </a:r>
            <a:r>
              <a:rPr sz="2300" kern="0" spc="-32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300" kern="0" spc="60" dirty="0">
                <a:solidFill>
                  <a:srgbClr val="000000">
                    <a:alpha val="100000"/>
                  </a:srgbClr>
                </a:solidFill>
                <a:latin typeface="华文仿宋" panose="02010600040101010101" charset="-122"/>
                <a:ea typeface="华文仿宋" panose="02010600040101010101" charset="-122"/>
                <a:cs typeface="华文仿宋" panose="02010600040101010101" charset="-122"/>
              </a:rPr>
              <a:t>美元稳定币与国家法定货币美元挂钩，</a:t>
            </a:r>
            <a:r>
              <a:rPr sz="2300" kern="0" spc="-32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300" kern="0" spc="60" dirty="0">
                <a:solidFill>
                  <a:srgbClr val="000000">
                    <a:alpha val="100000"/>
                  </a:srgbClr>
                </a:solidFill>
                <a:latin typeface="华文仿宋" panose="02010600040101010101" charset="-122"/>
                <a:ea typeface="华文仿宋" panose="02010600040101010101" charset="-122"/>
                <a:cs typeface="华文仿宋" panose="02010600040101010101" charset="-122"/>
              </a:rPr>
              <a:t>是一种</a:t>
            </a:r>
            <a:r>
              <a:rPr sz="2300" kern="0" spc="-47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300" kern="0" spc="60" dirty="0">
                <a:solidFill>
                  <a:srgbClr val="000000">
                    <a:alpha val="100000"/>
                  </a:srgbClr>
                </a:solidFill>
                <a:latin typeface="华文仿宋" panose="02010600040101010101" charset="-122"/>
                <a:ea typeface="华文仿宋" panose="02010600040101010101" charset="-122"/>
                <a:cs typeface="华文仿宋" panose="02010600040101010101" charset="-122"/>
              </a:rPr>
              <a:t>“合成</a:t>
            </a:r>
            <a:r>
              <a:rPr sz="2300" kern="0" spc="-38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300" kern="0" spc="60" dirty="0">
                <a:solidFill>
                  <a:srgbClr val="000000">
                    <a:alpha val="100000"/>
                  </a:srgbClr>
                </a:solidFill>
                <a:latin typeface="华文仿宋" panose="02010600040101010101" charset="-122"/>
                <a:ea typeface="华文仿宋" panose="02010600040101010101" charset="-122"/>
                <a:cs typeface="华文仿宋" panose="02010600040101010101" charset="-122"/>
              </a:rPr>
              <a:t>”美元</a:t>
            </a:r>
            <a:endParaRPr sz="2300" dirty="0">
              <a:latin typeface="华文仿宋" panose="02010600040101010101" charset="-122"/>
              <a:ea typeface="华文仿宋" panose="02010600040101010101" charset="-122"/>
              <a:cs typeface="华文仿宋" panose="02010600040101010101" charset="-122"/>
            </a:endParaRPr>
          </a:p>
          <a:p>
            <a:pPr marL="186690" algn="l" defTabSz="0" rtl="0" eaLnBrk="0">
              <a:lnSpc>
                <a:spcPts val="3120"/>
              </a:lnSpc>
              <a:spcBef>
                <a:spcPts val="65"/>
              </a:spcBef>
            </a:pPr>
            <a:r>
              <a:rPr sz="2300" kern="0" spc="40" dirty="0">
                <a:solidFill>
                  <a:srgbClr val="000000">
                    <a:alpha val="100000"/>
                  </a:srgbClr>
                </a:solidFill>
                <a:latin typeface="华文仿宋" panose="02010600040101010101" charset="-122"/>
                <a:ea typeface="华文仿宋" panose="02010600040101010101" charset="-122"/>
                <a:cs typeface="华文仿宋" panose="02010600040101010101" charset="-122"/>
              </a:rPr>
              <a:t>（</a:t>
            </a:r>
            <a:r>
              <a:rPr sz="2300" kern="0" spc="0" dirty="0">
                <a:solidFill>
                  <a:srgbClr val="000000">
                    <a:alpha val="100000"/>
                  </a:srgbClr>
                </a:solidFill>
                <a:latin typeface="华文仿宋" panose="02010600040101010101" charset="-122"/>
                <a:ea typeface="华文仿宋" panose="02010600040101010101" charset="-122"/>
                <a:cs typeface="华文仿宋" panose="02010600040101010101" charset="-122"/>
              </a:rPr>
              <a:t>synthetic</a:t>
            </a:r>
            <a:r>
              <a:rPr sz="2300" kern="0" spc="4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300" kern="0" spc="0" dirty="0">
                <a:solidFill>
                  <a:srgbClr val="000000">
                    <a:alpha val="100000"/>
                  </a:srgbClr>
                </a:solidFill>
                <a:latin typeface="华文仿宋" panose="02010600040101010101" charset="-122"/>
                <a:ea typeface="华文仿宋" panose="02010600040101010101" charset="-122"/>
                <a:cs typeface="华文仿宋" panose="02010600040101010101" charset="-122"/>
              </a:rPr>
              <a:t>dollar</a:t>
            </a:r>
            <a:r>
              <a:rPr sz="2300" kern="0" spc="-50" dirty="0">
                <a:solidFill>
                  <a:srgbClr val="000000">
                    <a:alpha val="100000"/>
                  </a:srgbClr>
                </a:solidFill>
                <a:latin typeface="华文仿宋" panose="02010600040101010101" charset="-122"/>
                <a:ea typeface="华文仿宋" panose="02010600040101010101" charset="-122"/>
                <a:cs typeface="华文仿宋" panose="02010600040101010101" charset="-122"/>
              </a:rPr>
              <a:t>）（</a:t>
            </a:r>
            <a:r>
              <a:rPr sz="2300" kern="0" spc="0" dirty="0">
                <a:solidFill>
                  <a:srgbClr val="000000">
                    <a:alpha val="100000"/>
                  </a:srgbClr>
                </a:solidFill>
                <a:latin typeface="华文仿宋" panose="02010600040101010101" charset="-122"/>
                <a:ea typeface="华文仿宋" panose="02010600040101010101" charset="-122"/>
                <a:cs typeface="华文仿宋" panose="02010600040101010101" charset="-122"/>
              </a:rPr>
              <a:t>Waller</a:t>
            </a:r>
            <a:r>
              <a:rPr sz="2300" kern="0" spc="4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300" kern="0" spc="0" dirty="0">
                <a:solidFill>
                  <a:srgbClr val="000000">
                    <a:alpha val="100000"/>
                  </a:srgbClr>
                </a:solidFill>
                <a:latin typeface="华文仿宋" panose="02010600040101010101" charset="-122"/>
                <a:ea typeface="华文仿宋" panose="02010600040101010101" charset="-122"/>
                <a:cs typeface="华文仿宋" panose="02010600040101010101" charset="-122"/>
              </a:rPr>
              <a:t>February</a:t>
            </a:r>
            <a:r>
              <a:rPr sz="2300" kern="0" spc="19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300" kern="0" spc="40" dirty="0">
                <a:solidFill>
                  <a:srgbClr val="000000">
                    <a:alpha val="100000"/>
                  </a:srgbClr>
                </a:solidFill>
                <a:latin typeface="华文仿宋" panose="02010600040101010101" charset="-122"/>
                <a:ea typeface="华文仿宋" panose="02010600040101010101" charset="-122"/>
                <a:cs typeface="华文仿宋" panose="02010600040101010101" charset="-122"/>
              </a:rPr>
              <a:t>12, 2025)</a:t>
            </a:r>
            <a:r>
              <a:rPr sz="2300" kern="0" spc="-26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300" kern="0" spc="40" dirty="0">
                <a:solidFill>
                  <a:srgbClr val="000000">
                    <a:alpha val="100000"/>
                  </a:srgbClr>
                </a:solidFill>
                <a:latin typeface="华文仿宋" panose="02010600040101010101" charset="-122"/>
                <a:ea typeface="华文仿宋" panose="02010600040101010101" charset="-122"/>
                <a:cs typeface="华文仿宋" panose="02010600040101010101" charset="-122"/>
              </a:rPr>
              <a:t>。</a:t>
            </a:r>
            <a:r>
              <a:rPr sz="2300" kern="0" spc="-37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300" kern="0" spc="40" dirty="0">
                <a:solidFill>
                  <a:srgbClr val="000000">
                    <a:alpha val="100000"/>
                  </a:srgbClr>
                </a:solidFill>
                <a:latin typeface="华文仿宋" panose="02010600040101010101" charset="-122"/>
                <a:ea typeface="华文仿宋" panose="02010600040101010101" charset="-122"/>
                <a:cs typeface="华文仿宋" panose="02010600040101010101" charset="-122"/>
              </a:rPr>
              <a:t>这个</a:t>
            </a:r>
            <a:r>
              <a:rPr sz="2300" kern="0" spc="30" dirty="0">
                <a:solidFill>
                  <a:srgbClr val="000000">
                    <a:alpha val="100000"/>
                  </a:srgbClr>
                </a:solidFill>
                <a:latin typeface="华文仿宋" panose="02010600040101010101" charset="-122"/>
                <a:ea typeface="华文仿宋" panose="02010600040101010101" charset="-122"/>
                <a:cs typeface="华文仿宋" panose="02010600040101010101" charset="-122"/>
              </a:rPr>
              <a:t>表述与《</a:t>
            </a:r>
            <a:r>
              <a:rPr sz="2300" kern="0" spc="0" dirty="0">
                <a:solidFill>
                  <a:srgbClr val="000000">
                    <a:alpha val="100000"/>
                  </a:srgbClr>
                </a:solidFill>
                <a:latin typeface="华文仿宋" panose="02010600040101010101" charset="-122"/>
                <a:ea typeface="华文仿宋" panose="02010600040101010101" charset="-122"/>
                <a:cs typeface="华文仿宋" panose="02010600040101010101" charset="-122"/>
              </a:rPr>
              <a:t>Genius</a:t>
            </a:r>
            <a:r>
              <a:rPr sz="2300" kern="0" spc="30" dirty="0">
                <a:solidFill>
                  <a:srgbClr val="000000">
                    <a:alpha val="100000"/>
                  </a:srgbClr>
                </a:solidFill>
                <a:latin typeface="华文仿宋" panose="02010600040101010101" charset="-122"/>
                <a:ea typeface="华文仿宋" panose="02010600040101010101" charset="-122"/>
                <a:cs typeface="华文仿宋" panose="02010600040101010101" charset="-122"/>
              </a:rPr>
              <a:t>法案》</a:t>
            </a:r>
            <a:r>
              <a:rPr sz="2300" kern="0" spc="-240" dirty="0">
                <a:solidFill>
                  <a:srgbClr val="000000">
                    <a:alpha val="100000"/>
                  </a:srgbClr>
                </a:solidFill>
                <a:latin typeface="华文仿宋" panose="02010600040101010101" charset="-122"/>
                <a:ea typeface="华文仿宋" panose="02010600040101010101" charset="-122"/>
                <a:cs typeface="华文仿宋" panose="02010600040101010101" charset="-122"/>
              </a:rPr>
              <a:t> </a:t>
            </a:r>
            <a:r>
              <a:rPr sz="2300" kern="0" spc="30" dirty="0">
                <a:solidFill>
                  <a:srgbClr val="000000">
                    <a:alpha val="100000"/>
                  </a:srgbClr>
                </a:solidFill>
                <a:latin typeface="华文仿宋" panose="02010600040101010101" charset="-122"/>
                <a:ea typeface="华文仿宋" panose="02010600040101010101" charset="-122"/>
                <a:cs typeface="华文仿宋" panose="02010600040101010101" charset="-122"/>
              </a:rPr>
              <a:t>一致。</a:t>
            </a:r>
            <a:endParaRPr sz="2300" dirty="0">
              <a:latin typeface="华文仿宋" panose="02010600040101010101" charset="-122"/>
              <a:ea typeface="华文仿宋" panose="02010600040101010101" charset="-122"/>
              <a:cs typeface="华文仿宋" panose="02010600040101010101" charset="-122"/>
            </a:endParaRPr>
          </a:p>
          <a:p>
            <a:pPr algn="l" defTabSz="0" rtl="0" eaLnBrk="0">
              <a:lnSpc>
                <a:spcPct val="109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10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10000"/>
              </a:lnSpc>
            </a:pPr>
            <a:endParaRPr sz="1000" dirty="0">
              <a:latin typeface="Arial" panose="020B0604020202020204" pitchFamily="34" charset="0"/>
              <a:ea typeface="Arial" panose="020B0604020202020204" pitchFamily="34" charset="0"/>
              <a:cs typeface="Arial" panose="020B0604020202020204" pitchFamily="34" charset="0"/>
            </a:endParaRPr>
          </a:p>
          <a:p>
            <a:pPr marL="13335" algn="l" defTabSz="0" rtl="0" eaLnBrk="0">
              <a:lnSpc>
                <a:spcPts val="3120"/>
              </a:lnSpc>
              <a:spcBef>
                <a:spcPts val="690"/>
              </a:spcBef>
            </a:pPr>
            <a:r>
              <a:rPr sz="2300" b="1" kern="0" spc="50" dirty="0">
                <a:solidFill>
                  <a:srgbClr val="FF0000">
                    <a:alpha val="100000"/>
                  </a:srgbClr>
                </a:solidFill>
                <a:latin typeface="华文仿宋" panose="02010600040101010101" charset="-122"/>
                <a:ea typeface="华文仿宋" panose="02010600040101010101" charset="-122"/>
                <a:cs typeface="华文仿宋" panose="02010600040101010101" charset="-122"/>
              </a:rPr>
              <a:t>链上链下</a:t>
            </a:r>
            <a:r>
              <a:rPr sz="2300" kern="0" spc="-47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300" b="1" kern="0" spc="50" dirty="0">
                <a:solidFill>
                  <a:srgbClr val="FF0000">
                    <a:alpha val="100000"/>
                  </a:srgbClr>
                </a:solidFill>
                <a:latin typeface="华文仿宋" panose="02010600040101010101" charset="-122"/>
                <a:ea typeface="华文仿宋" panose="02010600040101010101" charset="-122"/>
                <a:cs typeface="华文仿宋" panose="02010600040101010101" charset="-122"/>
              </a:rPr>
              <a:t>“</a:t>
            </a:r>
            <a:r>
              <a:rPr sz="2300" kern="0" spc="-42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300" b="1" kern="0" spc="50" dirty="0">
                <a:solidFill>
                  <a:srgbClr val="FF0000">
                    <a:alpha val="100000"/>
                  </a:srgbClr>
                </a:solidFill>
                <a:latin typeface="华文仿宋" panose="02010600040101010101" charset="-122"/>
                <a:ea typeface="华文仿宋" panose="02010600040101010101" charset="-122"/>
                <a:cs typeface="华文仿宋" panose="02010600040101010101" charset="-122"/>
              </a:rPr>
              <a:t>平价</a:t>
            </a:r>
            <a:r>
              <a:rPr sz="2300" kern="0" spc="-37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300" b="1" kern="0" spc="50" dirty="0">
                <a:solidFill>
                  <a:srgbClr val="FF0000">
                    <a:alpha val="100000"/>
                  </a:srgbClr>
                </a:solidFill>
                <a:latin typeface="华文仿宋" panose="02010600040101010101" charset="-122"/>
                <a:ea typeface="华文仿宋" panose="02010600040101010101" charset="-122"/>
                <a:cs typeface="华文仿宋" panose="02010600040101010101" charset="-122"/>
              </a:rPr>
              <a:t>”（</a:t>
            </a:r>
            <a:r>
              <a:rPr sz="2300" b="1" kern="0" spc="0" dirty="0">
                <a:solidFill>
                  <a:srgbClr val="FF0000">
                    <a:alpha val="100000"/>
                  </a:srgbClr>
                </a:solidFill>
                <a:latin typeface="华文仿宋" panose="02010600040101010101" charset="-122"/>
                <a:ea typeface="华文仿宋" panose="02010600040101010101" charset="-122"/>
                <a:cs typeface="华文仿宋" panose="02010600040101010101" charset="-122"/>
              </a:rPr>
              <a:t>Par</a:t>
            </a:r>
            <a:r>
              <a:rPr sz="2300" b="1" kern="0" spc="50" dirty="0">
                <a:solidFill>
                  <a:srgbClr val="FF0000">
                    <a:alpha val="100000"/>
                  </a:srgbClr>
                </a:solidFill>
                <a:latin typeface="华文仿宋" panose="02010600040101010101" charset="-122"/>
                <a:ea typeface="华文仿宋" panose="02010600040101010101" charset="-122"/>
                <a:cs typeface="华文仿宋" panose="02010600040101010101" charset="-122"/>
              </a:rPr>
              <a:t>）</a:t>
            </a:r>
            <a:r>
              <a:rPr sz="2300" kern="0" spc="-23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300" b="1" kern="0" spc="50" dirty="0">
                <a:solidFill>
                  <a:srgbClr val="FF0000">
                    <a:alpha val="100000"/>
                  </a:srgbClr>
                </a:solidFill>
                <a:latin typeface="华文仿宋" panose="02010600040101010101" charset="-122"/>
                <a:ea typeface="华文仿宋" panose="02010600040101010101" charset="-122"/>
                <a:cs typeface="华文仿宋" panose="02010600040101010101" charset="-122"/>
              </a:rPr>
              <a:t>关系是稳</a:t>
            </a:r>
            <a:r>
              <a:rPr sz="2300" b="1"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定币的生命线。</a:t>
            </a:r>
            <a:endParaRPr sz="2300" dirty="0">
              <a:latin typeface="华文仿宋" panose="02010600040101010101" charset="-122"/>
              <a:ea typeface="华文仿宋" panose="02010600040101010101" charset="-122"/>
              <a:cs typeface="华文仿宋" panose="02010600040101010101" charset="-122"/>
            </a:endParaRPr>
          </a:p>
          <a:p>
            <a:pPr algn="l" defTabSz="0" rtl="0" eaLnBrk="0">
              <a:lnSpc>
                <a:spcPct val="110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10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10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16000"/>
              </a:lnSpc>
            </a:pPr>
            <a:endParaRPr sz="500" dirty="0">
              <a:latin typeface="Arial" panose="020B0604020202020204" pitchFamily="34" charset="0"/>
              <a:ea typeface="Arial" panose="020B0604020202020204" pitchFamily="34" charset="0"/>
              <a:cs typeface="Arial" panose="020B0604020202020204" pitchFamily="34" charset="0"/>
            </a:endParaRPr>
          </a:p>
          <a:p>
            <a:pPr marL="12700" indent="16510" algn="l" defTabSz="0" rtl="0" eaLnBrk="0">
              <a:lnSpc>
                <a:spcPct val="105000"/>
              </a:lnSpc>
              <a:spcBef>
                <a:spcPts val="0"/>
              </a:spcBef>
            </a:pPr>
            <a:r>
              <a:rPr sz="2300" b="1" kern="0" spc="60" dirty="0">
                <a:solidFill>
                  <a:srgbClr val="FF0000">
                    <a:alpha val="100000"/>
                  </a:srgbClr>
                </a:solidFill>
                <a:latin typeface="华文仿宋" panose="02010600040101010101" charset="-122"/>
                <a:ea typeface="华文仿宋" panose="02010600040101010101" charset="-122"/>
                <a:cs typeface="华文仿宋" panose="02010600040101010101" charset="-122"/>
              </a:rPr>
              <a:t>面值稳定性并非自然存</a:t>
            </a:r>
            <a:r>
              <a:rPr sz="2300" b="1" kern="0" spc="50" dirty="0">
                <a:solidFill>
                  <a:srgbClr val="FF0000">
                    <a:alpha val="100000"/>
                  </a:srgbClr>
                </a:solidFill>
                <a:latin typeface="华文仿宋" panose="02010600040101010101" charset="-122"/>
                <a:ea typeface="华文仿宋" panose="02010600040101010101" charset="-122"/>
                <a:cs typeface="华文仿宋" panose="02010600040101010101" charset="-122"/>
              </a:rPr>
              <a:t>在，</a:t>
            </a:r>
            <a:r>
              <a:rPr sz="2300" kern="0" spc="-24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300" b="1" kern="0" spc="50" dirty="0">
                <a:solidFill>
                  <a:srgbClr val="FF0000">
                    <a:alpha val="100000"/>
                  </a:srgbClr>
                </a:solidFill>
                <a:latin typeface="华文仿宋" panose="02010600040101010101" charset="-122"/>
                <a:ea typeface="华文仿宋" panose="02010600040101010101" charset="-122"/>
                <a:cs typeface="华文仿宋" panose="02010600040101010101" charset="-122"/>
              </a:rPr>
              <a:t>而是制度安排的结果</a:t>
            </a:r>
            <a:r>
              <a:rPr sz="2300" kern="0" spc="-25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300" kern="0" spc="5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300" kern="0" spc="-35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300" kern="0" spc="50" dirty="0">
                <a:solidFill>
                  <a:srgbClr val="262626">
                    <a:alpha val="100000"/>
                  </a:srgbClr>
                </a:solidFill>
                <a:latin typeface="华文仿宋" panose="02010600040101010101" charset="-122"/>
                <a:ea typeface="华文仿宋" panose="02010600040101010101" charset="-122"/>
                <a:cs typeface="华文仿宋" panose="02010600040101010101" charset="-122"/>
              </a:rPr>
              <a:t>之所以能维持稳定币（负债）</a:t>
            </a:r>
            <a:r>
              <a:rPr sz="2300" kern="0" spc="-13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300" kern="0" spc="50" dirty="0">
                <a:solidFill>
                  <a:srgbClr val="262626">
                    <a:alpha val="100000"/>
                  </a:srgbClr>
                </a:solidFill>
                <a:latin typeface="华文仿宋" panose="02010600040101010101" charset="-122"/>
                <a:ea typeface="华文仿宋" panose="02010600040101010101" charset="-122"/>
                <a:cs typeface="华文仿宋" panose="02010600040101010101" charset="-122"/>
              </a:rPr>
              <a:t>的面</a:t>
            </a:r>
            <a:r>
              <a:rPr sz="2300" kern="0" spc="70" dirty="0">
                <a:solidFill>
                  <a:srgbClr val="262626">
                    <a:alpha val="100000"/>
                  </a:srgbClr>
                </a:solidFill>
                <a:latin typeface="华文仿宋" panose="02010600040101010101" charset="-122"/>
                <a:ea typeface="华文仿宋" panose="02010600040101010101" charset="-122"/>
                <a:cs typeface="华文仿宋" panose="02010600040101010101" charset="-122"/>
              </a:rPr>
              <a:t>值，</a:t>
            </a:r>
            <a:r>
              <a:rPr sz="2300" kern="0" spc="-31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300" kern="0" spc="70" dirty="0">
                <a:solidFill>
                  <a:srgbClr val="262626">
                    <a:alpha val="100000"/>
                  </a:srgbClr>
                </a:solidFill>
                <a:latin typeface="华文仿宋" panose="02010600040101010101" charset="-122"/>
                <a:ea typeface="华文仿宋" panose="02010600040101010101" charset="-122"/>
                <a:cs typeface="华文仿宋" panose="02010600040101010101" charset="-122"/>
              </a:rPr>
              <a:t>是因为它们</a:t>
            </a:r>
            <a:r>
              <a:rPr sz="2300" kern="0" spc="70" dirty="0">
                <a:solidFill>
                  <a:srgbClr val="FF0000">
                    <a:alpha val="100000"/>
                  </a:srgbClr>
                </a:solidFill>
                <a:latin typeface="华文仿宋" panose="02010600040101010101" charset="-122"/>
                <a:ea typeface="华文仿宋" panose="02010600040101010101" charset="-122"/>
                <a:cs typeface="华文仿宋" panose="02010600040101010101" charset="-122"/>
              </a:rPr>
              <a:t>嵌入了整个金融生态系统，</a:t>
            </a:r>
            <a:r>
              <a:rPr sz="2300" kern="0" spc="-33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300" kern="0" spc="70" dirty="0">
                <a:solidFill>
                  <a:srgbClr val="FF0000">
                    <a:alpha val="100000"/>
                  </a:srgbClr>
                </a:solidFill>
                <a:latin typeface="华文仿宋" panose="02010600040101010101" charset="-122"/>
                <a:ea typeface="华文仿宋" panose="02010600040101010101" charset="-122"/>
                <a:cs typeface="华文仿宋" panose="02010600040101010101" charset="-122"/>
              </a:rPr>
              <a:t>是中心化的</a:t>
            </a:r>
            <a:r>
              <a:rPr sz="2300" kern="0" spc="7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endParaRPr sz="2300" dirty="0">
              <a:latin typeface="华文仿宋" panose="02010600040101010101" charset="-122"/>
              <a:ea typeface="华文仿宋" panose="02010600040101010101" charset="-122"/>
              <a:cs typeface="华文仿宋" panose="02010600040101010101" charset="-122"/>
            </a:endParaRPr>
          </a:p>
        </p:txBody>
      </p:sp>
      <p:sp>
        <p:nvSpPr>
          <p:cNvPr id="110" name="rect 110"/>
          <p:cNvSpPr/>
          <p:nvPr/>
        </p:nvSpPr>
        <p:spPr>
          <a:xfrm>
            <a:off x="0" y="6556247"/>
            <a:ext cx="12192000" cy="301752"/>
          </a:xfrm>
          <a:prstGeom prst="rect">
            <a:avLst/>
          </a:prstGeom>
          <a:solidFill>
            <a:srgbClr val="AE0B2A">
              <a:alpha val="100000"/>
            </a:srgbClr>
          </a:solidFill>
          <a:ln w="0" cap="flat">
            <a:noFill/>
            <a:prstDash val="solid"/>
            <a:miter lim="0"/>
          </a:ln>
        </p:spPr>
        <p:txBody>
          <a:bodyPr rtlCol="0"/>
          <a:lstStyle/>
          <a:p>
            <a:pPr algn="ctr"/>
            <a:endParaRPr lang="zh-CN" altLang="en-US"/>
          </a:p>
        </p:txBody>
      </p:sp>
      <p:pic>
        <p:nvPicPr>
          <p:cNvPr id="114" name="picture 114"/>
          <p:cNvPicPr>
            <a:picLocks noChangeAspect="1"/>
          </p:cNvPicPr>
          <p:nvPr/>
        </p:nvPicPr>
        <p:blipFill>
          <a:blip r:embed="rId1"/>
          <a:stretch>
            <a:fillRect/>
          </a:stretch>
        </p:blipFill>
        <p:spPr>
          <a:xfrm rot="21600000">
            <a:off x="2752725" y="451954"/>
            <a:ext cx="9439275" cy="1905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textbox 118"/>
          <p:cNvSpPr/>
          <p:nvPr/>
        </p:nvSpPr>
        <p:spPr>
          <a:xfrm>
            <a:off x="197894" y="608799"/>
            <a:ext cx="11553190" cy="5439409"/>
          </a:xfrm>
          <a:prstGeom prst="rect">
            <a:avLst/>
          </a:prstGeom>
          <a:noFill/>
          <a:ln w="0" cap="flat">
            <a:noFill/>
            <a:prstDash val="solid"/>
            <a:miter lim="0"/>
          </a:ln>
        </p:spPr>
        <p:txBody>
          <a:bodyPr vert="horz" wrap="square" lIns="0" tIns="0" rIns="0" bIns="0"/>
          <a:lstStyle/>
          <a:p>
            <a:pPr algn="l" defTabSz="0"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005205" algn="l" defTabSz="0" rtl="0" eaLnBrk="0">
              <a:lnSpc>
                <a:spcPts val="3120"/>
              </a:lnSpc>
            </a:pPr>
            <a:r>
              <a:rPr sz="2300" b="1" kern="0" spc="-40" dirty="0">
                <a:solidFill>
                  <a:srgbClr val="FF0000">
                    <a:alpha val="100000"/>
                  </a:srgbClr>
                </a:solidFill>
                <a:latin typeface="华文楷体" panose="02010600040101010101" charset="-122"/>
                <a:ea typeface="华文楷体" panose="02010600040101010101" charset="-122"/>
                <a:cs typeface="华文楷体" panose="02010600040101010101" charset="-122"/>
              </a:rPr>
              <a:t>（三</a:t>
            </a:r>
            <a:r>
              <a:rPr sz="2300" kern="0" spc="-40" dirty="0">
                <a:solidFill>
                  <a:srgbClr val="FF0000">
                    <a:alpha val="100000"/>
                  </a:srgbClr>
                </a:solidFill>
                <a:latin typeface="华文楷体" panose="02010600040101010101" charset="-122"/>
                <a:ea typeface="华文楷体" panose="02010600040101010101" charset="-122"/>
                <a:cs typeface="华文楷体" panose="02010600040101010101" charset="-122"/>
              </a:rPr>
              <a:t> </a:t>
            </a:r>
            <a:r>
              <a:rPr sz="2300" b="1" kern="0" spc="-40" dirty="0">
                <a:solidFill>
                  <a:srgbClr val="FF0000">
                    <a:alpha val="100000"/>
                  </a:srgbClr>
                </a:solidFill>
                <a:latin typeface="华文楷体" panose="02010600040101010101" charset="-122"/>
                <a:ea typeface="华文楷体" panose="02010600040101010101" charset="-122"/>
                <a:cs typeface="华文楷体" panose="02010600040101010101" charset="-122"/>
              </a:rPr>
              <a:t>）</a:t>
            </a:r>
            <a:r>
              <a:rPr lang="zh-CN" sz="2300" b="1" kern="0" spc="-40" dirty="0">
                <a:solidFill>
                  <a:srgbClr val="FF0000">
                    <a:alpha val="100000"/>
                  </a:srgbClr>
                </a:solidFill>
                <a:latin typeface="华文楷体" panose="02010600040101010101" charset="-122"/>
                <a:ea typeface="华文楷体" panose="02010600040101010101" charset="-122"/>
                <a:cs typeface="华文楷体" panose="02010600040101010101" charset="-122"/>
              </a:rPr>
              <a:t>稳定币的域外发展经验：</a:t>
            </a:r>
            <a:r>
              <a:rPr sz="2300" kern="0" spc="-40" dirty="0">
                <a:solidFill>
                  <a:srgbClr val="FF0000">
                    <a:alpha val="100000"/>
                  </a:srgbClr>
                </a:solidFill>
                <a:latin typeface="华文楷体" panose="02010600040101010101" charset="-122"/>
                <a:ea typeface="华文楷体" panose="02010600040101010101" charset="-122"/>
                <a:cs typeface="华文楷体" panose="02010600040101010101" charset="-122"/>
              </a:rPr>
              <a:t> </a:t>
            </a:r>
            <a:r>
              <a:rPr sz="2300" b="1" kern="0" spc="-40" dirty="0">
                <a:solidFill>
                  <a:srgbClr val="FF0000">
                    <a:alpha val="100000"/>
                  </a:srgbClr>
                </a:solidFill>
                <a:latin typeface="华文楷体" panose="02010600040101010101" charset="-122"/>
                <a:ea typeface="华文楷体" panose="02010600040101010101" charset="-122"/>
                <a:cs typeface="华文楷体" panose="02010600040101010101" charset="-122"/>
              </a:rPr>
              <a:t>一</a:t>
            </a:r>
            <a:r>
              <a:rPr sz="2300" kern="0" spc="-40" dirty="0">
                <a:solidFill>
                  <a:srgbClr val="FF0000">
                    <a:alpha val="100000"/>
                  </a:srgbClr>
                </a:solidFill>
                <a:latin typeface="华文楷体" panose="02010600040101010101" charset="-122"/>
                <a:ea typeface="华文楷体" panose="02010600040101010101" charset="-122"/>
                <a:cs typeface="华文楷体" panose="02010600040101010101" charset="-122"/>
              </a:rPr>
              <a:t> </a:t>
            </a:r>
            <a:r>
              <a:rPr sz="2300" b="1" kern="0" spc="-40" dirty="0">
                <a:solidFill>
                  <a:srgbClr val="FF0000">
                    <a:alpha val="100000"/>
                  </a:srgbClr>
                </a:solidFill>
                <a:latin typeface="华文楷体" panose="02010600040101010101" charset="-122"/>
                <a:ea typeface="华文楷体" panose="02010600040101010101" charset="-122"/>
                <a:cs typeface="华文楷体" panose="02010600040101010101" charset="-122"/>
              </a:rPr>
              <a:t>个</a:t>
            </a:r>
            <a:r>
              <a:rPr sz="2300" kern="0" spc="390" dirty="0">
                <a:solidFill>
                  <a:srgbClr val="FF0000">
                    <a:alpha val="100000"/>
                  </a:srgbClr>
                </a:solidFill>
                <a:latin typeface="华文楷体" panose="02010600040101010101" charset="-122"/>
                <a:ea typeface="华文楷体" panose="02010600040101010101" charset="-122"/>
                <a:cs typeface="华文楷体" panose="02010600040101010101" charset="-122"/>
              </a:rPr>
              <a:t> </a:t>
            </a:r>
            <a:r>
              <a:rPr sz="2300" b="1" kern="0" spc="-40" dirty="0">
                <a:solidFill>
                  <a:srgbClr val="FF0000">
                    <a:alpha val="100000"/>
                  </a:srgbClr>
                </a:solidFill>
                <a:latin typeface="华文楷体" panose="02010600040101010101" charset="-122"/>
                <a:ea typeface="华文楷体" panose="02010600040101010101" charset="-122"/>
                <a:cs typeface="华文楷体" panose="02010600040101010101" charset="-122"/>
              </a:rPr>
              <a:t>目</a:t>
            </a:r>
            <a:r>
              <a:rPr sz="2300" kern="0" spc="-40" dirty="0">
                <a:solidFill>
                  <a:srgbClr val="FF0000">
                    <a:alpha val="100000"/>
                  </a:srgbClr>
                </a:solidFill>
                <a:latin typeface="华文楷体" panose="02010600040101010101" charset="-122"/>
                <a:ea typeface="华文楷体" panose="02010600040101010101" charset="-122"/>
                <a:cs typeface="华文楷体" panose="02010600040101010101" charset="-122"/>
              </a:rPr>
              <a:t> </a:t>
            </a:r>
            <a:r>
              <a:rPr sz="2300" b="1" kern="0" spc="-40" dirty="0">
                <a:solidFill>
                  <a:srgbClr val="FF0000">
                    <a:alpha val="100000"/>
                  </a:srgbClr>
                </a:solidFill>
                <a:latin typeface="华文楷体" panose="02010600040101010101" charset="-122"/>
                <a:ea typeface="华文楷体" panose="02010600040101010101" charset="-122"/>
                <a:cs typeface="华文楷体" panose="02010600040101010101" charset="-122"/>
              </a:rPr>
              <a:t>前</a:t>
            </a:r>
            <a:r>
              <a:rPr sz="2300" kern="0" spc="-40" dirty="0">
                <a:solidFill>
                  <a:srgbClr val="FF0000">
                    <a:alpha val="100000"/>
                  </a:srgbClr>
                </a:solidFill>
                <a:latin typeface="华文楷体" panose="02010600040101010101" charset="-122"/>
                <a:ea typeface="华文楷体" panose="02010600040101010101" charset="-122"/>
                <a:cs typeface="华文楷体" panose="02010600040101010101" charset="-122"/>
              </a:rPr>
              <a:t> </a:t>
            </a:r>
            <a:r>
              <a:rPr sz="2300" b="1" kern="0" spc="-40" dirty="0">
                <a:solidFill>
                  <a:srgbClr val="FF0000">
                    <a:alpha val="100000"/>
                  </a:srgbClr>
                </a:solidFill>
                <a:latin typeface="华文楷体" panose="02010600040101010101" charset="-122"/>
                <a:ea typeface="华文楷体" panose="02010600040101010101" charset="-122"/>
                <a:cs typeface="华文楷体" panose="02010600040101010101" charset="-122"/>
              </a:rPr>
              <a:t>成</a:t>
            </a:r>
            <a:r>
              <a:rPr sz="2300" kern="0" spc="-40" dirty="0">
                <a:solidFill>
                  <a:srgbClr val="FF0000">
                    <a:alpha val="100000"/>
                  </a:srgbClr>
                </a:solidFill>
                <a:latin typeface="华文楷体" panose="02010600040101010101" charset="-122"/>
                <a:ea typeface="华文楷体" panose="02010600040101010101" charset="-122"/>
                <a:cs typeface="华文楷体" panose="02010600040101010101" charset="-122"/>
              </a:rPr>
              <a:t> </a:t>
            </a:r>
            <a:r>
              <a:rPr sz="2300" b="1" kern="0" spc="-40" dirty="0">
                <a:solidFill>
                  <a:srgbClr val="FF0000">
                    <a:alpha val="100000"/>
                  </a:srgbClr>
                </a:solidFill>
                <a:latin typeface="华文楷体" panose="02010600040101010101" charset="-122"/>
                <a:ea typeface="华文楷体" panose="02010600040101010101" charset="-122"/>
                <a:cs typeface="华文楷体" panose="02010600040101010101" charset="-122"/>
              </a:rPr>
              <a:t>功</a:t>
            </a:r>
            <a:r>
              <a:rPr sz="2300" kern="0" spc="-40" dirty="0">
                <a:solidFill>
                  <a:srgbClr val="FF0000">
                    <a:alpha val="100000"/>
                  </a:srgbClr>
                </a:solidFill>
                <a:latin typeface="华文楷体" panose="02010600040101010101" charset="-122"/>
                <a:ea typeface="华文楷体" panose="02010600040101010101" charset="-122"/>
                <a:cs typeface="华文楷体" panose="02010600040101010101" charset="-122"/>
              </a:rPr>
              <a:t> </a:t>
            </a:r>
            <a:r>
              <a:rPr sz="2300" b="1" kern="0" spc="-50" dirty="0">
                <a:solidFill>
                  <a:srgbClr val="FF0000">
                    <a:alpha val="100000"/>
                  </a:srgbClr>
                </a:solidFill>
                <a:latin typeface="华文楷体" panose="02010600040101010101" charset="-122"/>
                <a:ea typeface="华文楷体" panose="02010600040101010101" charset="-122"/>
                <a:cs typeface="华文楷体" panose="02010600040101010101" charset="-122"/>
              </a:rPr>
              <a:t>的</a:t>
            </a:r>
            <a:r>
              <a:rPr sz="2300" kern="0" spc="-50" dirty="0">
                <a:solidFill>
                  <a:srgbClr val="FF0000">
                    <a:alpha val="100000"/>
                  </a:srgbClr>
                </a:solidFill>
                <a:latin typeface="华文楷体" panose="02010600040101010101" charset="-122"/>
                <a:ea typeface="华文楷体" panose="02010600040101010101" charset="-122"/>
                <a:cs typeface="华文楷体" panose="02010600040101010101" charset="-122"/>
              </a:rPr>
              <a:t> </a:t>
            </a:r>
            <a:r>
              <a:rPr sz="2300" b="1" kern="0" spc="-50" dirty="0">
                <a:solidFill>
                  <a:srgbClr val="FF0000">
                    <a:alpha val="100000"/>
                  </a:srgbClr>
                </a:solidFill>
                <a:latin typeface="华文楷体" panose="02010600040101010101" charset="-122"/>
                <a:ea typeface="华文楷体" panose="02010600040101010101" charset="-122"/>
                <a:cs typeface="华文楷体" panose="02010600040101010101" charset="-122"/>
              </a:rPr>
              <a:t>案</a:t>
            </a:r>
            <a:r>
              <a:rPr sz="2300" kern="0" spc="-120" dirty="0">
                <a:solidFill>
                  <a:srgbClr val="FF0000">
                    <a:alpha val="100000"/>
                  </a:srgbClr>
                </a:solidFill>
                <a:latin typeface="华文楷体" panose="02010600040101010101" charset="-122"/>
                <a:ea typeface="华文楷体" panose="02010600040101010101" charset="-122"/>
                <a:cs typeface="华文楷体" panose="02010600040101010101" charset="-122"/>
              </a:rPr>
              <a:t> </a:t>
            </a:r>
            <a:r>
              <a:rPr sz="2300" b="1" kern="0" spc="-50" dirty="0">
                <a:solidFill>
                  <a:srgbClr val="FF0000">
                    <a:alpha val="100000"/>
                  </a:srgbClr>
                </a:solidFill>
                <a:latin typeface="华文楷体" panose="02010600040101010101" charset="-122"/>
                <a:ea typeface="华文楷体" panose="02010600040101010101" charset="-122"/>
                <a:cs typeface="华文楷体" panose="02010600040101010101" charset="-122"/>
              </a:rPr>
              <a:t>例</a:t>
            </a:r>
            <a:r>
              <a:rPr sz="2300" kern="0" spc="-240" dirty="0">
                <a:solidFill>
                  <a:srgbClr val="FF0000">
                    <a:alpha val="100000"/>
                  </a:srgbClr>
                </a:solidFill>
                <a:latin typeface="华文楷体" panose="02010600040101010101" charset="-122"/>
                <a:ea typeface="华文楷体" panose="02010600040101010101" charset="-122"/>
                <a:cs typeface="华文楷体" panose="02010600040101010101" charset="-122"/>
              </a:rPr>
              <a:t> </a:t>
            </a:r>
            <a:r>
              <a:rPr sz="2300" b="1" kern="0" spc="-50" dirty="0">
                <a:solidFill>
                  <a:srgbClr val="FF0000">
                    <a:alpha val="100000"/>
                  </a:srgbClr>
                </a:solidFill>
                <a:latin typeface="华文楷体" panose="02010600040101010101" charset="-122"/>
                <a:ea typeface="华文楷体" panose="02010600040101010101" charset="-122"/>
                <a:cs typeface="华文楷体" panose="02010600040101010101" charset="-122"/>
              </a:rPr>
              <a:t>：</a:t>
            </a:r>
            <a:r>
              <a:rPr sz="2300" kern="0" spc="-50" dirty="0">
                <a:solidFill>
                  <a:srgbClr val="FF0000">
                    <a:alpha val="100000"/>
                  </a:srgbClr>
                </a:solidFill>
                <a:latin typeface="华文楷体" panose="02010600040101010101" charset="-122"/>
                <a:ea typeface="华文楷体" panose="02010600040101010101" charset="-122"/>
                <a:cs typeface="华文楷体" panose="02010600040101010101" charset="-122"/>
              </a:rPr>
              <a:t>  </a:t>
            </a:r>
            <a:r>
              <a:rPr sz="2300" b="1" kern="0" spc="-50" dirty="0">
                <a:solidFill>
                  <a:srgbClr val="003A63">
                    <a:alpha val="100000"/>
                  </a:srgbClr>
                </a:solidFill>
                <a:latin typeface="华文楷体" panose="02010600040101010101" charset="-122"/>
                <a:ea typeface="华文楷体" panose="02010600040101010101" charset="-122"/>
                <a:cs typeface="华文楷体" panose="02010600040101010101" charset="-122"/>
              </a:rPr>
              <a:t>Cir</a:t>
            </a:r>
            <a:r>
              <a:rPr sz="2300" kern="0" spc="-160" dirty="0">
                <a:solidFill>
                  <a:srgbClr val="003A63">
                    <a:alpha val="100000"/>
                  </a:srgbClr>
                </a:solidFill>
                <a:latin typeface="华文楷体" panose="02010600040101010101" charset="-122"/>
                <a:ea typeface="华文楷体" panose="02010600040101010101" charset="-122"/>
                <a:cs typeface="华文楷体" panose="02010600040101010101" charset="-122"/>
              </a:rPr>
              <a:t> </a:t>
            </a:r>
            <a:r>
              <a:rPr sz="2300" b="1" kern="0" spc="-50" dirty="0">
                <a:solidFill>
                  <a:srgbClr val="003A63">
                    <a:alpha val="100000"/>
                  </a:srgbClr>
                </a:solidFill>
                <a:latin typeface="华文楷体" panose="02010600040101010101" charset="-122"/>
                <a:ea typeface="华文楷体" panose="02010600040101010101" charset="-122"/>
                <a:cs typeface="华文楷体" panose="02010600040101010101" charset="-122"/>
              </a:rPr>
              <a:t>cl</a:t>
            </a:r>
            <a:r>
              <a:rPr sz="2300" kern="0" spc="-170" dirty="0">
                <a:solidFill>
                  <a:srgbClr val="003A63">
                    <a:alpha val="100000"/>
                  </a:srgbClr>
                </a:solidFill>
                <a:latin typeface="华文楷体" panose="02010600040101010101" charset="-122"/>
                <a:ea typeface="华文楷体" panose="02010600040101010101" charset="-122"/>
                <a:cs typeface="华文楷体" panose="02010600040101010101" charset="-122"/>
              </a:rPr>
              <a:t> </a:t>
            </a:r>
            <a:r>
              <a:rPr sz="2300" b="1" kern="0" spc="-50" dirty="0">
                <a:solidFill>
                  <a:srgbClr val="003A63">
                    <a:alpha val="100000"/>
                  </a:srgbClr>
                </a:solidFill>
                <a:latin typeface="华文楷体" panose="02010600040101010101" charset="-122"/>
                <a:ea typeface="华文楷体" panose="02010600040101010101" charset="-122"/>
                <a:cs typeface="华文楷体" panose="02010600040101010101" charset="-122"/>
              </a:rPr>
              <a:t>e</a:t>
            </a:r>
            <a:r>
              <a:rPr sz="2300" kern="0" spc="-50" dirty="0">
                <a:solidFill>
                  <a:srgbClr val="003A63">
                    <a:alpha val="100000"/>
                  </a:srgbClr>
                </a:solidFill>
                <a:latin typeface="华文楷体" panose="02010600040101010101" charset="-122"/>
                <a:ea typeface="华文楷体" panose="02010600040101010101" charset="-122"/>
                <a:cs typeface="华文楷体" panose="02010600040101010101" charset="-122"/>
              </a:rPr>
              <a:t> </a:t>
            </a:r>
            <a:r>
              <a:rPr sz="2300" b="1" kern="0" spc="-50" dirty="0">
                <a:solidFill>
                  <a:srgbClr val="003A63">
                    <a:alpha val="100000"/>
                  </a:srgbClr>
                </a:solidFill>
                <a:latin typeface="华文楷体" panose="02010600040101010101" charset="-122"/>
                <a:ea typeface="华文楷体" panose="02010600040101010101" charset="-122"/>
                <a:cs typeface="华文楷体" panose="02010600040101010101" charset="-122"/>
              </a:rPr>
              <a:t>的</a:t>
            </a:r>
            <a:r>
              <a:rPr sz="2300" kern="0" spc="-230" dirty="0">
                <a:solidFill>
                  <a:srgbClr val="003A63">
                    <a:alpha val="100000"/>
                  </a:srgbClr>
                </a:solidFill>
                <a:latin typeface="华文楷体" panose="02010600040101010101" charset="-122"/>
                <a:ea typeface="华文楷体" panose="02010600040101010101" charset="-122"/>
                <a:cs typeface="华文楷体" panose="02010600040101010101" charset="-122"/>
              </a:rPr>
              <a:t> </a:t>
            </a:r>
            <a:r>
              <a:rPr sz="2300" b="1" kern="0" spc="-50" dirty="0">
                <a:solidFill>
                  <a:srgbClr val="003A63">
                    <a:alpha val="100000"/>
                  </a:srgbClr>
                </a:solidFill>
                <a:latin typeface="华文楷体" panose="02010600040101010101" charset="-122"/>
                <a:ea typeface="华文楷体" panose="02010600040101010101" charset="-122"/>
                <a:cs typeface="华文楷体" panose="02010600040101010101" charset="-122"/>
              </a:rPr>
              <a:t>US</a:t>
            </a:r>
            <a:r>
              <a:rPr sz="2300" kern="0" spc="-240" dirty="0">
                <a:solidFill>
                  <a:srgbClr val="003A63">
                    <a:alpha val="100000"/>
                  </a:srgbClr>
                </a:solidFill>
                <a:latin typeface="华文楷体" panose="02010600040101010101" charset="-122"/>
                <a:ea typeface="华文楷体" panose="02010600040101010101" charset="-122"/>
                <a:cs typeface="华文楷体" panose="02010600040101010101" charset="-122"/>
              </a:rPr>
              <a:t> </a:t>
            </a:r>
            <a:r>
              <a:rPr sz="2300" b="1" kern="0" spc="-50" dirty="0">
                <a:solidFill>
                  <a:srgbClr val="003A63">
                    <a:alpha val="100000"/>
                  </a:srgbClr>
                </a:solidFill>
                <a:latin typeface="华文楷体" panose="02010600040101010101" charset="-122"/>
                <a:ea typeface="华文楷体" panose="02010600040101010101" charset="-122"/>
                <a:cs typeface="华文楷体" panose="02010600040101010101" charset="-122"/>
              </a:rPr>
              <a:t>DC</a:t>
            </a:r>
            <a:endParaRPr sz="2300" dirty="0">
              <a:latin typeface="华文楷体" panose="02010600040101010101" charset="-122"/>
              <a:ea typeface="华文楷体" panose="02010600040101010101" charset="-122"/>
              <a:cs typeface="华文楷体" panose="02010600040101010101" charset="-122"/>
            </a:endParaRPr>
          </a:p>
          <a:p>
            <a:pPr algn="l" defTabSz="0" rtl="0" eaLnBrk="0">
              <a:lnSpc>
                <a:spcPct val="142000"/>
              </a:lnSpc>
            </a:pPr>
            <a:endParaRPr sz="1000" dirty="0">
              <a:latin typeface="Arial" panose="020B0604020202020204" pitchFamily="34" charset="0"/>
              <a:ea typeface="Arial" panose="020B0604020202020204" pitchFamily="34" charset="0"/>
              <a:cs typeface="Arial" panose="020B0604020202020204" pitchFamily="34" charset="0"/>
            </a:endParaRPr>
          </a:p>
          <a:p>
            <a:pPr marL="27940" algn="l" defTabSz="0" rtl="0" eaLnBrk="0">
              <a:lnSpc>
                <a:spcPct val="84000"/>
              </a:lnSpc>
              <a:spcBef>
                <a:spcPts val="600"/>
              </a:spcBef>
            </a:pPr>
            <a:r>
              <a:rPr sz="2000" b="1" kern="0" spc="-60" dirty="0">
                <a:solidFill>
                  <a:srgbClr val="FF0000">
                    <a:alpha val="100000"/>
                  </a:srgbClr>
                </a:solidFill>
                <a:latin typeface="Times New Roman" panose="02020603050405020304"/>
                <a:ea typeface="Times New Roman" panose="02020603050405020304"/>
                <a:cs typeface="Times New Roman" panose="02020603050405020304"/>
              </a:rPr>
              <a:t>1.</a:t>
            </a:r>
            <a:r>
              <a:rPr sz="2000" b="1" kern="0" spc="-60" dirty="0">
                <a:solidFill>
                  <a:srgbClr val="FF0000">
                    <a:alpha val="100000"/>
                  </a:srgbClr>
                </a:solidFill>
                <a:latin typeface="华文仿宋" panose="02010600040101010101" charset="-122"/>
                <a:ea typeface="华文仿宋" panose="02010600040101010101" charset="-122"/>
                <a:cs typeface="华文仿宋" panose="02010600040101010101" charset="-122"/>
              </a:rPr>
              <a:t>“</a:t>
            </a:r>
            <a:r>
              <a:rPr sz="2000" kern="0" spc="-34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60" dirty="0">
                <a:solidFill>
                  <a:srgbClr val="FF0000">
                    <a:alpha val="100000"/>
                  </a:srgbClr>
                </a:solidFill>
                <a:latin typeface="华文仿宋" panose="02010600040101010101" charset="-122"/>
                <a:ea typeface="华文仿宋" panose="02010600040101010101" charset="-122"/>
                <a:cs typeface="华文仿宋" panose="02010600040101010101" charset="-122"/>
              </a:rPr>
              <a:t>平价</a:t>
            </a:r>
            <a:r>
              <a:rPr sz="2000" kern="0" spc="-33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60" dirty="0">
                <a:solidFill>
                  <a:srgbClr val="FF0000">
                    <a:alpha val="100000"/>
                  </a:srgbClr>
                </a:solidFill>
                <a:latin typeface="华文仿宋" panose="02010600040101010101" charset="-122"/>
                <a:ea typeface="华文仿宋" panose="02010600040101010101" charset="-122"/>
                <a:cs typeface="华文仿宋" panose="02010600040101010101" charset="-122"/>
              </a:rPr>
              <a:t>”维持：</a:t>
            </a:r>
            <a:endParaRPr sz="2000" dirty="0">
              <a:latin typeface="华文仿宋" panose="02010600040101010101" charset="-122"/>
              <a:ea typeface="华文仿宋" panose="02010600040101010101" charset="-122"/>
              <a:cs typeface="华文仿宋" panose="02010600040101010101" charset="-122"/>
            </a:endParaRPr>
          </a:p>
          <a:p>
            <a:pPr marL="20320" algn="l" defTabSz="0" rtl="0" eaLnBrk="0">
              <a:lnSpc>
                <a:spcPct val="83000"/>
              </a:lnSpc>
              <a:spcBef>
                <a:spcPts val="1410"/>
              </a:spcBef>
            </a:pPr>
            <a:r>
              <a:rPr sz="2000" kern="0" spc="-10" dirty="0">
                <a:solidFill>
                  <a:srgbClr val="262626">
                    <a:alpha val="100000"/>
                  </a:srgbClr>
                </a:solidFill>
                <a:latin typeface="Times New Roman" panose="02020603050405020304"/>
                <a:ea typeface="Times New Roman" panose="02020603050405020304"/>
                <a:cs typeface="Times New Roman" panose="02020603050405020304"/>
              </a:rPr>
              <a:t>Circle</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构建的</a:t>
            </a:r>
            <a:r>
              <a:rPr sz="2000" kern="0" spc="-10" dirty="0">
                <a:solidFill>
                  <a:srgbClr val="262626">
                    <a:alpha val="100000"/>
                  </a:srgbClr>
                </a:solidFill>
                <a:latin typeface="Times New Roman" panose="02020603050405020304"/>
                <a:ea typeface="Times New Roman" panose="02020603050405020304"/>
                <a:cs typeface="Times New Roman" panose="02020603050405020304"/>
              </a:rPr>
              <a:t>“</a:t>
            </a:r>
            <a:r>
              <a:rPr sz="2000" kern="0" spc="-360" dirty="0">
                <a:solidFill>
                  <a:srgbClr val="262626">
                    <a:alpha val="100000"/>
                  </a:srgbClr>
                </a:solidFill>
                <a:latin typeface="Times New Roman" panose="02020603050405020304"/>
                <a:ea typeface="Times New Roman" panose="02020603050405020304"/>
                <a:cs typeface="Times New Roman" panose="02020603050405020304"/>
              </a:rPr>
              <a:t> </a:t>
            </a:r>
            <a:r>
              <a:rPr sz="2000" kern="0" spc="-10" dirty="0">
                <a:solidFill>
                  <a:srgbClr val="FF0000">
                    <a:alpha val="100000"/>
                  </a:srgbClr>
                </a:solidFill>
                <a:latin typeface="华文仿宋" panose="02010600040101010101" charset="-122"/>
                <a:ea typeface="华文仿宋" panose="02010600040101010101" charset="-122"/>
                <a:cs typeface="华文仿宋" panose="02010600040101010101" charset="-122"/>
              </a:rPr>
              <a:t>现金</a:t>
            </a:r>
            <a:r>
              <a:rPr sz="2000" kern="0" spc="-10" dirty="0">
                <a:solidFill>
                  <a:srgbClr val="FF0000">
                    <a:alpha val="100000"/>
                  </a:srgbClr>
                </a:solidFill>
                <a:latin typeface="Times New Roman" panose="02020603050405020304"/>
                <a:ea typeface="Times New Roman" panose="02020603050405020304"/>
                <a:cs typeface="Times New Roman" panose="02020603050405020304"/>
              </a:rPr>
              <a:t>+</a:t>
            </a:r>
            <a:r>
              <a:rPr sz="2000" kern="0" spc="-10" dirty="0">
                <a:solidFill>
                  <a:srgbClr val="FF0000">
                    <a:alpha val="100000"/>
                  </a:srgbClr>
                </a:solidFill>
                <a:latin typeface="华文仿宋" panose="02010600040101010101" charset="-122"/>
                <a:ea typeface="华文仿宋" panose="02010600040101010101" charset="-122"/>
                <a:cs typeface="华文仿宋" panose="02010600040101010101" charset="-122"/>
              </a:rPr>
              <a:t>短期美债</a:t>
            </a:r>
            <a:r>
              <a:rPr sz="2000" kern="0" spc="-10" dirty="0">
                <a:solidFill>
                  <a:srgbClr val="262626">
                    <a:alpha val="100000"/>
                  </a:srgbClr>
                </a:solidFill>
                <a:latin typeface="Times New Roman" panose="02020603050405020304"/>
                <a:ea typeface="Times New Roman" panose="02020603050405020304"/>
                <a:cs typeface="Times New Roman" panose="02020603050405020304"/>
              </a:rPr>
              <a:t>”</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储备架构，</a:t>
            </a:r>
            <a:r>
              <a:rPr sz="2000" kern="0" spc="-39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在收益性与安全性</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之间实现了精妙平衡</a:t>
            </a:r>
            <a:r>
              <a:rPr sz="2000" kern="0" spc="-23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endPar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endParaRPr>
          </a:p>
          <a:p>
            <a:pPr marL="20320" algn="l" defTabSz="0" rtl="0" eaLnBrk="0">
              <a:lnSpc>
                <a:spcPct val="83000"/>
              </a:lnSpc>
              <a:spcBef>
                <a:spcPts val="1410"/>
              </a:spcBef>
            </a:pPr>
            <a:r>
              <a:rPr sz="2000" kern="0" spc="-40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根据</a:t>
            </a:r>
            <a:r>
              <a:rPr sz="2000" kern="0" spc="-20" dirty="0">
                <a:solidFill>
                  <a:srgbClr val="262626">
                    <a:alpha val="100000"/>
                  </a:srgbClr>
                </a:solidFill>
                <a:latin typeface="Times New Roman" panose="02020603050405020304"/>
                <a:ea typeface="Times New Roman" panose="02020603050405020304"/>
                <a:cs typeface="Times New Roman" panose="02020603050405020304"/>
              </a:rPr>
              <a:t>2025</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年最新审</a:t>
            </a:r>
            <a:r>
              <a:rPr sz="2000" kern="0" spc="0" dirty="0">
                <a:solidFill>
                  <a:srgbClr val="262626">
                    <a:alpha val="100000"/>
                  </a:srgbClr>
                </a:solidFill>
                <a:latin typeface="华文仿宋" panose="02010600040101010101" charset="-122"/>
                <a:ea typeface="华文仿宋" panose="02010600040101010101" charset="-122"/>
                <a:cs typeface="华文仿宋" panose="02010600040101010101" charset="-122"/>
              </a:rPr>
              <a:t>计报告，</a:t>
            </a:r>
            <a:r>
              <a:rPr sz="2000" kern="0" spc="-38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0" dirty="0">
                <a:solidFill>
                  <a:srgbClr val="262626">
                    <a:alpha val="100000"/>
                  </a:srgbClr>
                </a:solidFill>
                <a:latin typeface="华文仿宋" panose="02010600040101010101" charset="-122"/>
                <a:ea typeface="华文仿宋" panose="02010600040101010101" charset="-122"/>
                <a:cs typeface="华文仿宋" panose="02010600040101010101" charset="-122"/>
              </a:rPr>
              <a:t>其储备资产中</a:t>
            </a:r>
            <a:r>
              <a:rPr sz="2000" kern="0" spc="0" dirty="0">
                <a:solidFill>
                  <a:srgbClr val="262626">
                    <a:alpha val="100000"/>
                  </a:srgbClr>
                </a:solidFill>
                <a:latin typeface="Times New Roman" panose="02020603050405020304"/>
                <a:ea typeface="Times New Roman" panose="02020603050405020304"/>
                <a:cs typeface="Times New Roman" panose="02020603050405020304"/>
              </a:rPr>
              <a:t>8</a:t>
            </a:r>
            <a:r>
              <a:rPr sz="2000" kern="0" spc="-10" dirty="0">
                <a:solidFill>
                  <a:srgbClr val="262626">
                    <a:alpha val="100000"/>
                  </a:srgbClr>
                </a:solidFill>
                <a:latin typeface="Times New Roman" panose="02020603050405020304"/>
                <a:ea typeface="Times New Roman" panose="02020603050405020304"/>
                <a:cs typeface="Times New Roman" panose="02020603050405020304"/>
              </a:rPr>
              <a:t>5%</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配置于贝莱德管理的</a:t>
            </a:r>
            <a:r>
              <a:rPr sz="2000" kern="0" spc="-10" dirty="0">
                <a:solidFill>
                  <a:srgbClr val="262626">
                    <a:alpha val="100000"/>
                  </a:srgbClr>
                </a:solidFill>
                <a:latin typeface="Times New Roman" panose="02020603050405020304"/>
                <a:ea typeface="Times New Roman" panose="02020603050405020304"/>
                <a:cs typeface="Times New Roman" panose="02020603050405020304"/>
              </a:rPr>
              <a:t>Circle Reserve Fund</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（主要投资</a:t>
            </a:r>
            <a:r>
              <a:rPr sz="2000" kern="0" spc="-10" dirty="0">
                <a:solidFill>
                  <a:srgbClr val="262626">
                    <a:alpha val="100000"/>
                  </a:srgbClr>
                </a:solidFill>
                <a:latin typeface="Times New Roman" panose="02020603050405020304"/>
                <a:ea typeface="Times New Roman" panose="02020603050405020304"/>
                <a:cs typeface="Times New Roman" panose="02020603050405020304"/>
              </a:rPr>
              <a:t>3</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个月内到期的美国国债，</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剩余</a:t>
            </a:r>
            <a:r>
              <a:rPr sz="2000" kern="0" spc="-20" dirty="0">
                <a:solidFill>
                  <a:srgbClr val="262626">
                    <a:alpha val="100000"/>
                  </a:srgbClr>
                </a:solidFill>
                <a:latin typeface="Times New Roman" panose="02020603050405020304"/>
                <a:ea typeface="Times New Roman" panose="02020603050405020304"/>
                <a:cs typeface="Times New Roman" panose="02020603050405020304"/>
              </a:rPr>
              <a:t>15%</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为分散存放于多家商业银行的现金存款</a:t>
            </a:r>
            <a:r>
              <a:rPr lang="zh-CN"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22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39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这种结构具有三重优势：</a:t>
            </a:r>
            <a:r>
              <a:rPr sz="2000" kern="0" spc="-32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首先，</a:t>
            </a:r>
            <a:r>
              <a:rPr sz="2000" kern="0" spc="-35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短期美债的极高流</a:t>
            </a:r>
            <a:r>
              <a:rPr sz="2000" kern="0" spc="0" dirty="0">
                <a:solidFill>
                  <a:srgbClr val="262626">
                    <a:alpha val="100000"/>
                  </a:srgbClr>
                </a:solidFill>
                <a:latin typeface="华文仿宋" panose="02010600040101010101" charset="-122"/>
                <a:ea typeface="华文仿宋" panose="02010600040101010101" charset="-122"/>
                <a:cs typeface="华文仿宋" panose="02010600040101010101" charset="-122"/>
              </a:rPr>
              <a:t>动性可满足突发</a:t>
            </a:r>
            <a:r>
              <a:rPr lang="zh-CN" sz="2000" kern="0" spc="0" dirty="0">
                <a:solidFill>
                  <a:srgbClr val="262626">
                    <a:alpha val="100000"/>
                  </a:srgbClr>
                </a:solidFill>
                <a:latin typeface="华文仿宋" panose="02010600040101010101" charset="-122"/>
                <a:ea typeface="华文仿宋" panose="02010600040101010101" charset="-122"/>
                <a:cs typeface="华文仿宋" panose="02010600040101010101" charset="-122"/>
              </a:rPr>
              <a:t>大规模</a:t>
            </a:r>
            <a:r>
              <a:rPr sz="2000" kern="0" spc="0" dirty="0">
                <a:solidFill>
                  <a:srgbClr val="262626">
                    <a:alpha val="100000"/>
                  </a:srgbClr>
                </a:solidFill>
                <a:latin typeface="华文仿宋" panose="02010600040101010101" charset="-122"/>
                <a:ea typeface="华文仿宋" panose="02010600040101010101" charset="-122"/>
                <a:cs typeface="华文仿宋" panose="02010600040101010101" charset="-122"/>
              </a:rPr>
              <a:t>赎回需求，</a:t>
            </a:r>
            <a:r>
              <a:rPr sz="2000" kern="0" spc="0" dirty="0">
                <a:solidFill>
                  <a:srgbClr val="262626">
                    <a:alpha val="100000"/>
                  </a:srgbClr>
                </a:solidFill>
                <a:latin typeface="Times New Roman" panose="02020603050405020304"/>
                <a:ea typeface="Times New Roman" panose="02020603050405020304"/>
                <a:cs typeface="Times New Roman" panose="02020603050405020304"/>
              </a:rPr>
              <a:t>2025</a:t>
            </a:r>
            <a:r>
              <a:rPr sz="2000" kern="0" spc="0" dirty="0">
                <a:solidFill>
                  <a:srgbClr val="262626">
                    <a:alpha val="100000"/>
                  </a:srgbClr>
                </a:solidFill>
                <a:latin typeface="华文仿宋" panose="02010600040101010101" charset="-122"/>
                <a:ea typeface="华文仿宋" panose="02010600040101010101" charset="-122"/>
                <a:cs typeface="华文仿宋" panose="02010600040101010101" charset="-122"/>
              </a:rPr>
              <a:t>年</a:t>
            </a:r>
            <a:r>
              <a:rPr sz="2000" kern="0" spc="0" dirty="0">
                <a:solidFill>
                  <a:srgbClr val="262626">
                    <a:alpha val="100000"/>
                  </a:srgbClr>
                </a:solidFill>
                <a:latin typeface="Times New Roman" panose="02020603050405020304"/>
                <a:ea typeface="Times New Roman" panose="02020603050405020304"/>
                <a:cs typeface="Times New Roman" panose="02020603050405020304"/>
              </a:rPr>
              <a:t>6</a:t>
            </a:r>
            <a:r>
              <a:rPr sz="2000" kern="0" spc="0" dirty="0">
                <a:solidFill>
                  <a:srgbClr val="262626">
                    <a:alpha val="100000"/>
                  </a:srgbClr>
                </a:solidFill>
                <a:latin typeface="华文仿宋" panose="02010600040101010101" charset="-122"/>
                <a:ea typeface="华文仿宋" panose="02010600040101010101" charset="-122"/>
                <a:cs typeface="华文仿宋" panose="02010600040101010101" charset="-122"/>
              </a:rPr>
              <a:t>月数据显示其美债</a:t>
            </a:r>
            <a:r>
              <a:rPr sz="2000" b="1" kern="0" spc="0" dirty="0">
                <a:solidFill>
                  <a:srgbClr val="262626">
                    <a:alpha val="100000"/>
                  </a:srgbClr>
                </a:solidFill>
                <a:latin typeface="华文仿宋" panose="02010600040101010101" charset="-122"/>
                <a:ea typeface="华文仿宋" panose="02010600040101010101" charset="-122"/>
                <a:cs typeface="华文仿宋" panose="02010600040101010101" charset="-122"/>
              </a:rPr>
              <a:t>组</a:t>
            </a:r>
            <a:r>
              <a:rPr sz="20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合平均久期仅</a:t>
            </a:r>
            <a:r>
              <a:rPr sz="2000" b="1" kern="0" spc="-10" dirty="0">
                <a:solidFill>
                  <a:srgbClr val="262626">
                    <a:alpha val="100000"/>
                  </a:srgbClr>
                </a:solidFill>
                <a:latin typeface="Times New Roman" panose="02020603050405020304"/>
                <a:ea typeface="Times New Roman" panose="02020603050405020304"/>
                <a:cs typeface="Times New Roman" panose="02020603050405020304"/>
              </a:rPr>
              <a:t>47</a:t>
            </a:r>
            <a:r>
              <a:rPr sz="20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天</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10" dirty="0">
                <a:solidFill>
                  <a:srgbClr val="FF0000">
                    <a:alpha val="100000"/>
                  </a:srgbClr>
                </a:solidFill>
                <a:latin typeface="华文仿宋" panose="02010600040101010101" charset="-122"/>
                <a:ea typeface="华文仿宋" panose="02010600040101010101" charset="-122"/>
                <a:cs typeface="华文仿宋" panose="02010600040101010101" charset="-122"/>
              </a:rPr>
              <a:t>大幅度降低了利率波动的</a:t>
            </a:r>
            <a:r>
              <a:rPr sz="2000" kern="0" spc="-10" dirty="0">
                <a:solidFill>
                  <a:srgbClr val="FF0000">
                    <a:alpha val="100000"/>
                  </a:srgbClr>
                </a:solidFill>
                <a:latin typeface="华文仿宋" panose="02010600040101010101" charset="-122"/>
                <a:ea typeface="华文仿宋" panose="02010600040101010101" charset="-122"/>
                <a:cs typeface="华文仿宋" panose="02010600040101010101" charset="-122"/>
              </a:rPr>
              <a:t>久期风险</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36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其次，</a:t>
            </a:r>
            <a:r>
              <a:rPr sz="2000" kern="0" spc="-36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现金存款采</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用</a:t>
            </a:r>
            <a:r>
              <a:rPr sz="2000"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多银行托管模式</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38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在硅谷银行事件后已扩展至</a:t>
            </a:r>
            <a:r>
              <a:rPr sz="2000" kern="0" spc="-20" dirty="0">
                <a:solidFill>
                  <a:srgbClr val="262626">
                    <a:alpha val="100000"/>
                  </a:srgbClr>
                </a:solidFill>
                <a:latin typeface="Times New Roman" panose="02020603050405020304"/>
                <a:ea typeface="Times New Roman" panose="02020603050405020304"/>
                <a:cs typeface="Times New Roman" panose="02020603050405020304"/>
              </a:rPr>
              <a:t>6</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家以上合作银行；最</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后，</a:t>
            </a:r>
            <a:r>
              <a:rPr sz="2000" kern="0" spc="-17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国债投资产生的</a:t>
            </a:r>
            <a:r>
              <a:rPr sz="2000"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利息</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成为核心收入来源，</a:t>
            </a:r>
            <a:r>
              <a:rPr sz="2000" kern="0" spc="-20" dirty="0">
                <a:solidFill>
                  <a:srgbClr val="262626">
                    <a:alpha val="100000"/>
                  </a:srgbClr>
                </a:solidFill>
                <a:latin typeface="Times New Roman" panose="02020603050405020304"/>
                <a:ea typeface="Times New Roman" panose="02020603050405020304"/>
                <a:cs typeface="Times New Roman" panose="02020603050405020304"/>
              </a:rPr>
              <a:t>2024</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年贡献了</a:t>
            </a:r>
            <a:r>
              <a:rPr sz="2000" kern="0" spc="-20" dirty="0">
                <a:solidFill>
                  <a:srgbClr val="262626">
                    <a:alpha val="100000"/>
                  </a:srgbClr>
                </a:solidFill>
                <a:latin typeface="Times New Roman" panose="02020603050405020304"/>
                <a:ea typeface="Times New Roman" panose="02020603050405020304"/>
                <a:cs typeface="Times New Roman" panose="02020603050405020304"/>
              </a:rPr>
              <a:t>1</a:t>
            </a:r>
            <a:r>
              <a:rPr sz="2000" kern="0" spc="-30" dirty="0">
                <a:solidFill>
                  <a:srgbClr val="262626">
                    <a:alpha val="100000"/>
                  </a:srgbClr>
                </a:solidFill>
                <a:latin typeface="Times New Roman" panose="02020603050405020304"/>
                <a:ea typeface="Times New Roman" panose="02020603050405020304"/>
                <a:cs typeface="Times New Roman" panose="02020603050405020304"/>
              </a:rPr>
              <a:t>6.76</a:t>
            </a:r>
            <a:r>
              <a:rPr sz="2000"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亿美元收益， 占总收入的</a:t>
            </a:r>
            <a:r>
              <a:rPr sz="2000" kern="0" spc="-30" dirty="0">
                <a:solidFill>
                  <a:srgbClr val="262626">
                    <a:alpha val="100000"/>
                  </a:srgbClr>
                </a:solidFill>
                <a:latin typeface="Times New Roman" panose="02020603050405020304"/>
                <a:ea typeface="Times New Roman" panose="02020603050405020304"/>
                <a:cs typeface="Times New Roman" panose="02020603050405020304"/>
              </a:rPr>
              <a:t>99.</a:t>
            </a:r>
            <a:r>
              <a:rPr sz="2000" kern="0" spc="-270" dirty="0">
                <a:solidFill>
                  <a:srgbClr val="262626">
                    <a:alpha val="100000"/>
                  </a:srgbClr>
                </a:solidFill>
                <a:latin typeface="Times New Roman" panose="02020603050405020304"/>
                <a:ea typeface="Times New Roman" panose="02020603050405020304"/>
                <a:cs typeface="Times New Roman" panose="02020603050405020304"/>
              </a:rPr>
              <a:t> </a:t>
            </a:r>
            <a:r>
              <a:rPr sz="2000" kern="0" spc="-30" dirty="0">
                <a:solidFill>
                  <a:srgbClr val="262626">
                    <a:alpha val="100000"/>
                  </a:srgbClr>
                </a:solidFill>
                <a:latin typeface="Times New Roman" panose="02020603050405020304"/>
                <a:ea typeface="Times New Roman" panose="02020603050405020304"/>
                <a:cs typeface="Times New Roman" panose="02020603050405020304"/>
              </a:rPr>
              <a:t>1%</a:t>
            </a:r>
            <a:r>
              <a:rPr sz="2000"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endParaRPr sz="2000" dirty="0">
              <a:latin typeface="华文仿宋" panose="02010600040101010101" charset="-122"/>
              <a:ea typeface="华文仿宋" panose="02010600040101010101" charset="-122"/>
              <a:cs typeface="华文仿宋" panose="02010600040101010101" charset="-122"/>
            </a:endParaRPr>
          </a:p>
          <a:p>
            <a:pPr algn="l" defTabSz="0" rtl="0" eaLnBrk="0">
              <a:lnSpc>
                <a:spcPct val="118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18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18000"/>
              </a:lnSpc>
            </a:pPr>
            <a:endParaRPr sz="1000" dirty="0">
              <a:latin typeface="Arial" panose="020B0604020202020204" pitchFamily="34" charset="0"/>
              <a:ea typeface="Arial" panose="020B0604020202020204" pitchFamily="34" charset="0"/>
              <a:cs typeface="Arial" panose="020B0604020202020204" pitchFamily="34" charset="0"/>
            </a:endParaRPr>
          </a:p>
          <a:p>
            <a:pPr marL="17145" algn="l" defTabSz="0" rtl="0" eaLnBrk="0">
              <a:lnSpc>
                <a:spcPct val="81000"/>
              </a:lnSpc>
              <a:spcBef>
                <a:spcPts val="610"/>
              </a:spcBef>
            </a:pPr>
            <a:r>
              <a:rPr sz="2000" b="1" kern="0" spc="-50" dirty="0">
                <a:solidFill>
                  <a:srgbClr val="FF0000">
                    <a:alpha val="100000"/>
                  </a:srgbClr>
                </a:solidFill>
                <a:latin typeface="Times New Roman" panose="02020603050405020304"/>
                <a:ea typeface="Times New Roman" panose="02020603050405020304"/>
                <a:cs typeface="Times New Roman" panose="02020603050405020304"/>
              </a:rPr>
              <a:t>2.</a:t>
            </a:r>
            <a:r>
              <a:rPr sz="2000" b="1" kern="0" spc="-180" dirty="0">
                <a:solidFill>
                  <a:srgbClr val="FF0000">
                    <a:alpha val="100000"/>
                  </a:srgbClr>
                </a:solidFill>
                <a:latin typeface="Times New Roman" panose="02020603050405020304"/>
                <a:ea typeface="Times New Roman" panose="02020603050405020304"/>
                <a:cs typeface="Times New Roman" panose="02020603050405020304"/>
              </a:rPr>
              <a:t> </a:t>
            </a:r>
            <a:r>
              <a:rPr sz="2000" b="1" kern="0" spc="-50" dirty="0">
                <a:solidFill>
                  <a:srgbClr val="FF0000">
                    <a:alpha val="100000"/>
                  </a:srgbClr>
                </a:solidFill>
                <a:latin typeface="华文仿宋" panose="02010600040101010101" charset="-122"/>
                <a:ea typeface="华文仿宋" panose="02010600040101010101" charset="-122"/>
                <a:cs typeface="华文仿宋" panose="02010600040101010101" charset="-122"/>
              </a:rPr>
              <a:t>降低挤兑风险：</a:t>
            </a:r>
            <a:endParaRPr sz="2000" dirty="0">
              <a:latin typeface="华文仿宋" panose="02010600040101010101" charset="-122"/>
              <a:ea typeface="华文仿宋" panose="02010600040101010101" charset="-122"/>
              <a:cs typeface="华文仿宋" panose="02010600040101010101" charset="-122"/>
            </a:endParaRPr>
          </a:p>
          <a:p>
            <a:pPr algn="l" defTabSz="0" rtl="0" eaLnBrk="0">
              <a:lnSpc>
                <a:spcPct val="102000"/>
              </a:lnSpc>
            </a:pPr>
            <a:endParaRPr sz="12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8000"/>
              </a:lnSpc>
            </a:pPr>
            <a:endParaRPr sz="100" dirty="0">
              <a:latin typeface="Arial" panose="020B0604020202020204" pitchFamily="34" charset="0"/>
              <a:ea typeface="Arial" panose="020B0604020202020204" pitchFamily="34" charset="0"/>
              <a:cs typeface="Arial" panose="020B0604020202020204" pitchFamily="34" charset="0"/>
            </a:endParaRPr>
          </a:p>
          <a:p>
            <a:pPr marL="25400" indent="-13335" algn="l" defTabSz="0" rtl="0" eaLnBrk="0">
              <a:lnSpc>
                <a:spcPct val="96000"/>
              </a:lnSpc>
            </a:pPr>
            <a:r>
              <a:rPr sz="2000" kern="0" spc="-10" dirty="0">
                <a:solidFill>
                  <a:srgbClr val="262626">
                    <a:alpha val="100000"/>
                  </a:srgbClr>
                </a:solidFill>
                <a:latin typeface="Times New Roman" panose="02020603050405020304"/>
                <a:ea typeface="Times New Roman" panose="02020603050405020304"/>
                <a:cs typeface="Times New Roman" panose="02020603050405020304"/>
              </a:rPr>
              <a:t>USDC</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的发行机制采用</a:t>
            </a:r>
            <a:r>
              <a:rPr sz="2000" kern="0" spc="-10" dirty="0">
                <a:solidFill>
                  <a:srgbClr val="FF0000">
                    <a:alpha val="100000"/>
                  </a:srgbClr>
                </a:solidFill>
                <a:latin typeface="华文仿宋" panose="02010600040101010101" charset="-122"/>
                <a:ea typeface="华文仿宋" panose="02010600040101010101" charset="-122"/>
                <a:cs typeface="华文仿宋" panose="02010600040101010101" charset="-122"/>
              </a:rPr>
              <a:t>机构准入与散户间接参与相结合</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的模式，</a:t>
            </a:r>
            <a:r>
              <a:rPr sz="2000" kern="0" spc="-31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形成流动性缓冲体系</a:t>
            </a:r>
            <a:r>
              <a:rPr sz="2000" kern="0" spc="-24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10" dirty="0">
                <a:solidFill>
                  <a:srgbClr val="262626">
                    <a:alpha val="100000"/>
                  </a:srgbClr>
                </a:solidFill>
                <a:latin typeface="Times New Roman" panose="02020603050405020304"/>
                <a:ea typeface="Times New Roman" panose="02020603050405020304"/>
                <a:cs typeface="Times New Roman" panose="02020603050405020304"/>
              </a:rPr>
              <a:t>Circle</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仅允许通</a:t>
            </a:r>
            <a:r>
              <a:rPr sz="2000" kern="0" spc="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50" dirty="0">
                <a:solidFill>
                  <a:srgbClr val="262626">
                    <a:alpha val="100000"/>
                  </a:srgbClr>
                </a:solidFill>
                <a:latin typeface="华文仿宋" panose="02010600040101010101" charset="-122"/>
                <a:ea typeface="华文仿宋" panose="02010600040101010101" charset="-122"/>
                <a:cs typeface="华文仿宋" panose="02010600040101010101" charset="-122"/>
              </a:rPr>
              <a:t>过严格</a:t>
            </a:r>
            <a:r>
              <a:rPr sz="2000" kern="0" spc="0" dirty="0">
                <a:solidFill>
                  <a:srgbClr val="262626">
                    <a:alpha val="100000"/>
                  </a:srgbClr>
                </a:solidFill>
                <a:latin typeface="Times New Roman" panose="02020603050405020304"/>
                <a:ea typeface="Times New Roman" panose="02020603050405020304"/>
                <a:cs typeface="Times New Roman" panose="02020603050405020304"/>
              </a:rPr>
              <a:t>KYC</a:t>
            </a:r>
            <a:r>
              <a:rPr sz="2000" kern="0" spc="50" dirty="0">
                <a:solidFill>
                  <a:srgbClr val="262626">
                    <a:alpha val="100000"/>
                  </a:srgbClr>
                </a:solidFill>
                <a:latin typeface="Times New Roman" panose="02020603050405020304"/>
                <a:ea typeface="Times New Roman" panose="02020603050405020304"/>
                <a:cs typeface="Times New Roman" panose="02020603050405020304"/>
              </a:rPr>
              <a:t>/</a:t>
            </a:r>
            <a:r>
              <a:rPr sz="2000" kern="0" spc="0" dirty="0">
                <a:solidFill>
                  <a:srgbClr val="262626">
                    <a:alpha val="100000"/>
                  </a:srgbClr>
                </a:solidFill>
                <a:latin typeface="Times New Roman" panose="02020603050405020304"/>
                <a:ea typeface="Times New Roman" panose="02020603050405020304"/>
                <a:cs typeface="Times New Roman" panose="02020603050405020304"/>
              </a:rPr>
              <a:t>AML</a:t>
            </a:r>
            <a:r>
              <a:rPr sz="1500" kern="0" spc="5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1500" kern="0" spc="0" dirty="0">
                <a:solidFill>
                  <a:srgbClr val="262626">
                    <a:alpha val="100000"/>
                  </a:srgbClr>
                </a:solidFill>
                <a:latin typeface="Times New Roman" panose="02020603050405020304"/>
                <a:ea typeface="Times New Roman" panose="02020603050405020304"/>
                <a:cs typeface="Times New Roman" panose="02020603050405020304"/>
              </a:rPr>
              <a:t>Know</a:t>
            </a:r>
            <a:r>
              <a:rPr sz="1500" kern="0" spc="50" dirty="0">
                <a:solidFill>
                  <a:srgbClr val="262626">
                    <a:alpha val="100000"/>
                  </a:srgbClr>
                </a:solidFill>
                <a:latin typeface="Times New Roman" panose="02020603050405020304"/>
                <a:ea typeface="Times New Roman" panose="02020603050405020304"/>
                <a:cs typeface="Times New Roman" panose="02020603050405020304"/>
              </a:rPr>
              <a:t> </a:t>
            </a:r>
            <a:r>
              <a:rPr sz="1500" kern="0" spc="0" dirty="0">
                <a:solidFill>
                  <a:srgbClr val="262626">
                    <a:alpha val="100000"/>
                  </a:srgbClr>
                </a:solidFill>
                <a:latin typeface="Times New Roman" panose="02020603050405020304"/>
                <a:ea typeface="Times New Roman" panose="02020603050405020304"/>
                <a:cs typeface="Times New Roman" panose="02020603050405020304"/>
              </a:rPr>
              <a:t>Your</a:t>
            </a:r>
            <a:r>
              <a:rPr sz="1500" kern="0" spc="50" dirty="0">
                <a:solidFill>
                  <a:srgbClr val="262626">
                    <a:alpha val="100000"/>
                  </a:srgbClr>
                </a:solidFill>
                <a:latin typeface="Times New Roman" panose="02020603050405020304"/>
                <a:ea typeface="Times New Roman" panose="02020603050405020304"/>
                <a:cs typeface="Times New Roman" panose="02020603050405020304"/>
              </a:rPr>
              <a:t> </a:t>
            </a:r>
            <a:r>
              <a:rPr sz="1500" kern="0" spc="0" dirty="0">
                <a:solidFill>
                  <a:srgbClr val="262626">
                    <a:alpha val="100000"/>
                  </a:srgbClr>
                </a:solidFill>
                <a:latin typeface="Times New Roman" panose="02020603050405020304"/>
                <a:ea typeface="Times New Roman" panose="02020603050405020304"/>
                <a:cs typeface="Times New Roman" panose="02020603050405020304"/>
              </a:rPr>
              <a:t>Customer</a:t>
            </a:r>
            <a:r>
              <a:rPr sz="1500" kern="0" spc="50" dirty="0">
                <a:solidFill>
                  <a:srgbClr val="262626">
                    <a:alpha val="100000"/>
                  </a:srgbClr>
                </a:solidFill>
                <a:latin typeface="Times New Roman" panose="02020603050405020304"/>
                <a:ea typeface="Times New Roman" panose="02020603050405020304"/>
                <a:cs typeface="Times New Roman" panose="02020603050405020304"/>
              </a:rPr>
              <a:t>/ </a:t>
            </a:r>
            <a:r>
              <a:rPr sz="1500" kern="0" spc="0" dirty="0">
                <a:solidFill>
                  <a:srgbClr val="262626">
                    <a:alpha val="100000"/>
                  </a:srgbClr>
                </a:solidFill>
                <a:latin typeface="Times New Roman" panose="02020603050405020304"/>
                <a:ea typeface="Times New Roman" panose="02020603050405020304"/>
                <a:cs typeface="Times New Roman" panose="02020603050405020304"/>
              </a:rPr>
              <a:t>Anti</a:t>
            </a:r>
            <a:r>
              <a:rPr sz="1500" kern="0" spc="40" dirty="0">
                <a:solidFill>
                  <a:srgbClr val="262626">
                    <a:alpha val="100000"/>
                  </a:srgbClr>
                </a:solidFill>
                <a:latin typeface="Times New Roman" panose="02020603050405020304"/>
                <a:ea typeface="Times New Roman" panose="02020603050405020304"/>
                <a:cs typeface="Times New Roman" panose="02020603050405020304"/>
              </a:rPr>
              <a:t>-</a:t>
            </a:r>
            <a:r>
              <a:rPr sz="1500" kern="0" spc="0" dirty="0">
                <a:solidFill>
                  <a:srgbClr val="262626">
                    <a:alpha val="100000"/>
                  </a:srgbClr>
                </a:solidFill>
                <a:latin typeface="Times New Roman" panose="02020603050405020304"/>
                <a:ea typeface="Times New Roman" panose="02020603050405020304"/>
                <a:cs typeface="Times New Roman" panose="02020603050405020304"/>
              </a:rPr>
              <a:t>Money</a:t>
            </a:r>
            <a:r>
              <a:rPr sz="1500" kern="0" spc="40" dirty="0">
                <a:solidFill>
                  <a:srgbClr val="262626">
                    <a:alpha val="100000"/>
                  </a:srgbClr>
                </a:solidFill>
                <a:latin typeface="Times New Roman" panose="02020603050405020304"/>
                <a:ea typeface="Times New Roman" panose="02020603050405020304"/>
                <a:cs typeface="Times New Roman" panose="02020603050405020304"/>
              </a:rPr>
              <a:t> </a:t>
            </a:r>
            <a:r>
              <a:rPr sz="1500" kern="0" spc="0" dirty="0">
                <a:solidFill>
                  <a:srgbClr val="262626">
                    <a:alpha val="100000"/>
                  </a:srgbClr>
                </a:solidFill>
                <a:latin typeface="Times New Roman" panose="02020603050405020304"/>
                <a:ea typeface="Times New Roman" panose="02020603050405020304"/>
                <a:cs typeface="Times New Roman" panose="02020603050405020304"/>
              </a:rPr>
              <a:t>Laundering</a:t>
            </a:r>
            <a:r>
              <a:rPr sz="1500" kern="0" spc="40" dirty="0">
                <a:solidFill>
                  <a:srgbClr val="262626">
                    <a:alpha val="100000"/>
                  </a:srgbClr>
                </a:solidFill>
                <a:latin typeface="Times New Roman" panose="02020603050405020304"/>
                <a:ea typeface="Times New Roman" panose="02020603050405020304"/>
                <a:cs typeface="Times New Roman" panose="02020603050405020304"/>
              </a:rPr>
              <a:t>)</a:t>
            </a:r>
            <a:r>
              <a:rPr sz="2000"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rPr>
              <a:t>审核的授权机构（如交易所、</a:t>
            </a:r>
            <a:r>
              <a:rPr sz="2000" kern="0" spc="-39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rPr>
              <a:t>做市商）</a:t>
            </a:r>
            <a:r>
              <a:rPr sz="2000" kern="0" spc="-34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rPr>
              <a:t>直接参</a:t>
            </a:r>
            <a:r>
              <a:rPr sz="2000" kern="0" spc="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与</a:t>
            </a:r>
            <a:r>
              <a:rPr sz="2000" kern="0" spc="-10" dirty="0">
                <a:solidFill>
                  <a:srgbClr val="262626">
                    <a:alpha val="100000"/>
                  </a:srgbClr>
                </a:solidFill>
                <a:latin typeface="Times New Roman" panose="02020603050405020304"/>
                <a:ea typeface="Times New Roman" panose="02020603050405020304"/>
                <a:cs typeface="Times New Roman" panose="02020603050405020304"/>
              </a:rPr>
              <a:t>USDC</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的</a:t>
            </a:r>
            <a:r>
              <a:rPr sz="2000" kern="0" spc="-10" dirty="0">
                <a:solidFill>
                  <a:srgbClr val="FF0000">
                    <a:alpha val="100000"/>
                  </a:srgbClr>
                </a:solidFill>
                <a:latin typeface="华文仿宋" panose="02010600040101010101" charset="-122"/>
                <a:ea typeface="华文仿宋" panose="02010600040101010101" charset="-122"/>
                <a:cs typeface="华文仿宋" panose="02010600040101010101" charset="-122"/>
              </a:rPr>
              <a:t>铸造与赎回（一级市场）</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27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而普通用户需通过</a:t>
            </a:r>
            <a:r>
              <a:rPr sz="2000" kern="0" spc="-10" dirty="0">
                <a:solidFill>
                  <a:srgbClr val="262626">
                    <a:alpha val="100000"/>
                  </a:srgbClr>
                </a:solidFill>
                <a:latin typeface="Times New Roman" panose="02020603050405020304"/>
                <a:ea typeface="Times New Roman" panose="02020603050405020304"/>
                <a:cs typeface="Times New Roman" panose="02020603050405020304"/>
              </a:rPr>
              <a:t>Coinbase</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等合作平台进</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行间接兑换</a:t>
            </a:r>
            <a:r>
              <a:rPr sz="2000" kern="0" spc="-24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endPar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endParaRPr>
          </a:p>
          <a:p>
            <a:pPr marL="25400" indent="-13335" algn="l" defTabSz="0" rtl="0" eaLnBrk="0">
              <a:lnSpc>
                <a:spcPct val="96000"/>
              </a:lnSpc>
            </a:pPr>
            <a:r>
              <a:rPr sz="2000" kern="0" spc="-20" dirty="0">
                <a:solidFill>
                  <a:srgbClr val="262626">
                    <a:alpha val="100000"/>
                  </a:srgbClr>
                </a:solidFill>
                <a:latin typeface="Times New Roman" panose="02020603050405020304"/>
                <a:ea typeface="Times New Roman" panose="02020603050405020304"/>
                <a:cs typeface="Times New Roman" panose="02020603050405020304"/>
              </a:rPr>
              <a:t>2023</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年硅</a:t>
            </a:r>
            <a:r>
              <a:rPr sz="2000" kern="0" spc="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谷银行危机中展现出风险隔离的价值</a:t>
            </a:r>
            <a:r>
              <a:rPr sz="2000" kern="0" spc="-10" dirty="0">
                <a:solidFill>
                  <a:srgbClr val="262626">
                    <a:alpha val="100000"/>
                  </a:srgbClr>
                </a:solidFill>
                <a:latin typeface="Times New Roman" panose="02020603050405020304"/>
                <a:ea typeface="Times New Roman" panose="02020603050405020304"/>
                <a:cs typeface="Times New Roman" panose="02020603050405020304"/>
              </a:rPr>
              <a:t>——</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当部分银行储备账户出现流动性问题时</a:t>
            </a:r>
            <a:r>
              <a:rPr sz="2000" kern="0" spc="-15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10" dirty="0">
                <a:solidFill>
                  <a:srgbClr val="262626">
                    <a:alpha val="100000"/>
                  </a:srgbClr>
                </a:solidFill>
                <a:latin typeface="Times New Roman" panose="02020603050405020304"/>
                <a:ea typeface="Times New Roman" panose="02020603050405020304"/>
                <a:cs typeface="Times New Roman" panose="02020603050405020304"/>
              </a:rPr>
              <a:t>Circle</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通过快速切</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换</a:t>
            </a:r>
            <a:r>
              <a:rPr sz="2000" kern="0" spc="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至备用银行通道，</a:t>
            </a:r>
            <a:r>
              <a:rPr sz="2000" kern="0" spc="-35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配合</a:t>
            </a:r>
            <a:r>
              <a:rPr sz="2000" kern="0" spc="-10" dirty="0">
                <a:solidFill>
                  <a:srgbClr val="FF0000">
                    <a:alpha val="100000"/>
                  </a:srgbClr>
                </a:solidFill>
                <a:latin typeface="Times New Roman" panose="02020603050405020304"/>
                <a:ea typeface="Times New Roman" panose="02020603050405020304"/>
                <a:cs typeface="Times New Roman" panose="02020603050405020304"/>
              </a:rPr>
              <a:t>T+1</a:t>
            </a:r>
            <a:r>
              <a:rPr sz="2000" kern="0" spc="-10" dirty="0">
                <a:solidFill>
                  <a:srgbClr val="FF0000">
                    <a:alpha val="100000"/>
                  </a:srgbClr>
                </a:solidFill>
                <a:latin typeface="华文仿宋" panose="02010600040101010101" charset="-122"/>
                <a:ea typeface="华文仿宋" panose="02010600040101010101" charset="-122"/>
                <a:cs typeface="华文仿宋" panose="02010600040101010101" charset="-122"/>
              </a:rPr>
              <a:t>的大额赎回延迟清算机制</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36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有效</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避免了挤兑风险。</a:t>
            </a:r>
            <a:endParaRPr sz="2000" dirty="0">
              <a:latin typeface="华文仿宋" panose="02010600040101010101" charset="-122"/>
              <a:ea typeface="华文仿宋" panose="02010600040101010101" charset="-122"/>
              <a:cs typeface="华文仿宋" panose="02010600040101010101" charset="-122"/>
            </a:endParaRPr>
          </a:p>
        </p:txBody>
      </p:sp>
      <p:sp>
        <p:nvSpPr>
          <p:cNvPr id="120" name="rect 120"/>
          <p:cNvSpPr/>
          <p:nvPr/>
        </p:nvSpPr>
        <p:spPr>
          <a:xfrm>
            <a:off x="0" y="6556247"/>
            <a:ext cx="12192000" cy="301752"/>
          </a:xfrm>
          <a:prstGeom prst="rect">
            <a:avLst/>
          </a:prstGeom>
          <a:solidFill>
            <a:srgbClr val="AE0B2A">
              <a:alpha val="100000"/>
            </a:srgbClr>
          </a:solidFill>
          <a:ln w="0" cap="flat">
            <a:noFill/>
            <a:prstDash val="solid"/>
            <a:miter lim="0"/>
          </a:ln>
        </p:spPr>
        <p:txBody>
          <a:bodyPr rtlCol="0"/>
          <a:lstStyle/>
          <a:p>
            <a:pPr algn="ctr"/>
            <a:endParaRPr lang="zh-CN" altLang="en-US"/>
          </a:p>
        </p:txBody>
      </p:sp>
      <p:pic>
        <p:nvPicPr>
          <p:cNvPr id="124" name="picture 124"/>
          <p:cNvPicPr>
            <a:picLocks noChangeAspect="1"/>
          </p:cNvPicPr>
          <p:nvPr/>
        </p:nvPicPr>
        <p:blipFill>
          <a:blip r:embed="rId1"/>
          <a:stretch>
            <a:fillRect/>
          </a:stretch>
        </p:blipFill>
        <p:spPr>
          <a:xfrm rot="21600000">
            <a:off x="2752725" y="451954"/>
            <a:ext cx="9439275" cy="1905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46"/>
          <p:cNvSpPr/>
          <p:nvPr/>
        </p:nvSpPr>
        <p:spPr>
          <a:xfrm>
            <a:off x="111573" y="399502"/>
            <a:ext cx="10897869" cy="5260340"/>
          </a:xfrm>
          <a:prstGeom prst="rect">
            <a:avLst/>
          </a:prstGeom>
          <a:noFill/>
          <a:ln w="0" cap="flat">
            <a:noFill/>
            <a:prstDash val="solid"/>
            <a:miter lim="0"/>
          </a:ln>
        </p:spPr>
        <p:txBody>
          <a:bodyPr vert="horz" wrap="square" lIns="0" tIns="0" rIns="0" bIns="0"/>
          <a:lstStyle/>
          <a:p>
            <a:pPr algn="l" defTabSz="0"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483235" algn="l" defTabSz="0" rtl="0" eaLnBrk="0">
              <a:lnSpc>
                <a:spcPts val="3685"/>
              </a:lnSpc>
            </a:pPr>
            <a:r>
              <a:rPr lang="zh-CN"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稳定币发行和流通过程</a:t>
            </a:r>
            <a:r>
              <a:rPr sz="2000" b="1"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endParaRPr sz="2000" dirty="0">
              <a:latin typeface="华文仿宋" panose="02010600040101010101" charset="-122"/>
              <a:ea typeface="华文仿宋" panose="02010600040101010101" charset="-122"/>
              <a:cs typeface="华文仿宋" panose="02010600040101010101" charset="-122"/>
            </a:endParaRPr>
          </a:p>
          <a:p>
            <a:pPr algn="l" defTabSz="0"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marL="163830" algn="l" defTabSz="0" rtl="0" eaLnBrk="0">
              <a:lnSpc>
                <a:spcPts val="2505"/>
              </a:lnSpc>
              <a:spcBef>
                <a:spcPts val="605"/>
              </a:spcBef>
            </a:pPr>
            <a:endParaRPr sz="2000" dirty="0">
              <a:latin typeface="华文仿宋" panose="02010600040101010101" charset="-122"/>
              <a:ea typeface="华文仿宋" panose="02010600040101010101" charset="-122"/>
              <a:cs typeface="华文仿宋" panose="02010600040101010101" charset="-122"/>
            </a:endParaRPr>
          </a:p>
        </p:txBody>
      </p:sp>
      <p:sp>
        <p:nvSpPr>
          <p:cNvPr id="48" name="rect 48"/>
          <p:cNvSpPr/>
          <p:nvPr/>
        </p:nvSpPr>
        <p:spPr>
          <a:xfrm>
            <a:off x="0" y="6556247"/>
            <a:ext cx="12192000" cy="301752"/>
          </a:xfrm>
          <a:prstGeom prst="rect">
            <a:avLst/>
          </a:prstGeom>
          <a:solidFill>
            <a:srgbClr val="AE0B2A">
              <a:alpha val="100000"/>
            </a:srgbClr>
          </a:solidFill>
          <a:ln w="0" cap="flat">
            <a:noFill/>
            <a:prstDash val="solid"/>
            <a:miter lim="0"/>
          </a:ln>
        </p:spPr>
        <p:txBody>
          <a:bodyPr rtlCol="0"/>
          <a:lstStyle/>
          <a:p>
            <a:pPr algn="ctr"/>
            <a:endParaRPr lang="zh-CN" altLang="en-US"/>
          </a:p>
        </p:txBody>
      </p:sp>
      <p:pic>
        <p:nvPicPr>
          <p:cNvPr id="52" name="picture 52"/>
          <p:cNvPicPr>
            <a:picLocks noChangeAspect="1"/>
          </p:cNvPicPr>
          <p:nvPr/>
        </p:nvPicPr>
        <p:blipFill>
          <a:blip r:embed="rId1"/>
          <a:stretch>
            <a:fillRect/>
          </a:stretch>
        </p:blipFill>
        <p:spPr>
          <a:xfrm rot="21600000">
            <a:off x="2752725" y="451954"/>
            <a:ext cx="9439275" cy="19050"/>
          </a:xfrm>
          <a:prstGeom prst="rect">
            <a:avLst/>
          </a:prstGeom>
        </p:spPr>
      </p:pic>
      <p:pic>
        <p:nvPicPr>
          <p:cNvPr id="54" name="picture 54"/>
          <p:cNvPicPr>
            <a:picLocks noChangeAspect="1"/>
          </p:cNvPicPr>
          <p:nvPr/>
        </p:nvPicPr>
        <p:blipFill>
          <a:blip r:embed="rId2"/>
          <a:stretch>
            <a:fillRect/>
          </a:stretch>
        </p:blipFill>
        <p:spPr>
          <a:xfrm rot="21600000">
            <a:off x="0" y="451954"/>
            <a:ext cx="901700" cy="19050"/>
          </a:xfrm>
          <a:prstGeom prst="rect">
            <a:avLst/>
          </a:prstGeom>
        </p:spPr>
      </p:pic>
      <p:pic>
        <p:nvPicPr>
          <p:cNvPr id="2" name="图片 1"/>
          <p:cNvPicPr>
            <a:picLocks noChangeAspect="1"/>
          </p:cNvPicPr>
          <p:nvPr/>
        </p:nvPicPr>
        <p:blipFill>
          <a:blip r:embed="rId3"/>
          <a:stretch>
            <a:fillRect/>
          </a:stretch>
        </p:blipFill>
        <p:spPr>
          <a:xfrm>
            <a:off x="1061085" y="1324610"/>
            <a:ext cx="9641840" cy="404622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textbox 118"/>
          <p:cNvSpPr/>
          <p:nvPr/>
        </p:nvSpPr>
        <p:spPr>
          <a:xfrm>
            <a:off x="197894" y="608799"/>
            <a:ext cx="11553190" cy="5439409"/>
          </a:xfrm>
          <a:prstGeom prst="rect">
            <a:avLst/>
          </a:prstGeom>
          <a:noFill/>
          <a:ln w="0" cap="flat">
            <a:noFill/>
            <a:prstDash val="solid"/>
            <a:miter lim="0"/>
          </a:ln>
        </p:spPr>
        <p:txBody>
          <a:bodyPr vert="horz" wrap="square" lIns="0" tIns="0" rIns="0" bIns="0"/>
          <a:lstStyle/>
          <a:p>
            <a:pPr algn="l" defTabSz="0"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005205" algn="l" defTabSz="0" rtl="0" eaLnBrk="0">
              <a:lnSpc>
                <a:spcPts val="3120"/>
              </a:lnSpc>
            </a:pPr>
            <a:r>
              <a:rPr sz="2300" b="1" kern="0" spc="-40" dirty="0">
                <a:solidFill>
                  <a:srgbClr val="FF0000">
                    <a:alpha val="100000"/>
                  </a:srgbClr>
                </a:solidFill>
                <a:latin typeface="华文楷体" panose="02010600040101010101" charset="-122"/>
                <a:ea typeface="华文楷体" panose="02010600040101010101" charset="-122"/>
                <a:cs typeface="华文楷体" panose="02010600040101010101" charset="-122"/>
              </a:rPr>
              <a:t>（三</a:t>
            </a:r>
            <a:r>
              <a:rPr sz="2300" kern="0" spc="-40" dirty="0">
                <a:solidFill>
                  <a:srgbClr val="FF0000">
                    <a:alpha val="100000"/>
                  </a:srgbClr>
                </a:solidFill>
                <a:latin typeface="华文楷体" panose="02010600040101010101" charset="-122"/>
                <a:ea typeface="华文楷体" panose="02010600040101010101" charset="-122"/>
                <a:cs typeface="华文楷体" panose="02010600040101010101" charset="-122"/>
              </a:rPr>
              <a:t> </a:t>
            </a:r>
            <a:r>
              <a:rPr sz="2300" b="1" kern="0" spc="-40" dirty="0">
                <a:solidFill>
                  <a:srgbClr val="FF0000">
                    <a:alpha val="100000"/>
                  </a:srgbClr>
                </a:solidFill>
                <a:latin typeface="华文楷体" panose="02010600040101010101" charset="-122"/>
                <a:ea typeface="华文楷体" panose="02010600040101010101" charset="-122"/>
                <a:cs typeface="华文楷体" panose="02010600040101010101" charset="-122"/>
              </a:rPr>
              <a:t>）</a:t>
            </a:r>
            <a:r>
              <a:rPr sz="2300" kern="0" spc="-40" dirty="0">
                <a:solidFill>
                  <a:srgbClr val="FF0000">
                    <a:alpha val="100000"/>
                  </a:srgbClr>
                </a:solidFill>
                <a:latin typeface="华文楷体" panose="02010600040101010101" charset="-122"/>
                <a:ea typeface="华文楷体" panose="02010600040101010101" charset="-122"/>
                <a:cs typeface="华文楷体" panose="02010600040101010101" charset="-122"/>
              </a:rPr>
              <a:t> </a:t>
            </a:r>
            <a:r>
              <a:rPr sz="2300" b="1" kern="0" spc="-40" dirty="0">
                <a:solidFill>
                  <a:srgbClr val="FF0000">
                    <a:alpha val="100000"/>
                  </a:srgbClr>
                </a:solidFill>
                <a:latin typeface="华文楷体" panose="02010600040101010101" charset="-122"/>
                <a:ea typeface="华文楷体" panose="02010600040101010101" charset="-122"/>
                <a:cs typeface="华文楷体" panose="02010600040101010101" charset="-122"/>
              </a:rPr>
              <a:t>一</a:t>
            </a:r>
            <a:r>
              <a:rPr sz="2300" kern="0" spc="-40" dirty="0">
                <a:solidFill>
                  <a:srgbClr val="FF0000">
                    <a:alpha val="100000"/>
                  </a:srgbClr>
                </a:solidFill>
                <a:latin typeface="华文楷体" panose="02010600040101010101" charset="-122"/>
                <a:ea typeface="华文楷体" panose="02010600040101010101" charset="-122"/>
                <a:cs typeface="华文楷体" panose="02010600040101010101" charset="-122"/>
              </a:rPr>
              <a:t> </a:t>
            </a:r>
            <a:r>
              <a:rPr sz="2300" b="1" kern="0" spc="-40" dirty="0">
                <a:solidFill>
                  <a:srgbClr val="FF0000">
                    <a:alpha val="100000"/>
                  </a:srgbClr>
                </a:solidFill>
                <a:latin typeface="华文楷体" panose="02010600040101010101" charset="-122"/>
                <a:ea typeface="华文楷体" panose="02010600040101010101" charset="-122"/>
                <a:cs typeface="华文楷体" panose="02010600040101010101" charset="-122"/>
              </a:rPr>
              <a:t>个</a:t>
            </a:r>
            <a:r>
              <a:rPr sz="2300" kern="0" spc="390" dirty="0">
                <a:solidFill>
                  <a:srgbClr val="FF0000">
                    <a:alpha val="100000"/>
                  </a:srgbClr>
                </a:solidFill>
                <a:latin typeface="华文楷体" panose="02010600040101010101" charset="-122"/>
                <a:ea typeface="华文楷体" panose="02010600040101010101" charset="-122"/>
                <a:cs typeface="华文楷体" panose="02010600040101010101" charset="-122"/>
              </a:rPr>
              <a:t> </a:t>
            </a:r>
            <a:r>
              <a:rPr sz="2300" b="1" kern="0" spc="-40" dirty="0">
                <a:solidFill>
                  <a:srgbClr val="FF0000">
                    <a:alpha val="100000"/>
                  </a:srgbClr>
                </a:solidFill>
                <a:latin typeface="华文楷体" panose="02010600040101010101" charset="-122"/>
                <a:ea typeface="华文楷体" panose="02010600040101010101" charset="-122"/>
                <a:cs typeface="华文楷体" panose="02010600040101010101" charset="-122"/>
              </a:rPr>
              <a:t>目</a:t>
            </a:r>
            <a:r>
              <a:rPr sz="2300" kern="0" spc="-40" dirty="0">
                <a:solidFill>
                  <a:srgbClr val="FF0000">
                    <a:alpha val="100000"/>
                  </a:srgbClr>
                </a:solidFill>
                <a:latin typeface="华文楷体" panose="02010600040101010101" charset="-122"/>
                <a:ea typeface="华文楷体" panose="02010600040101010101" charset="-122"/>
                <a:cs typeface="华文楷体" panose="02010600040101010101" charset="-122"/>
              </a:rPr>
              <a:t> </a:t>
            </a:r>
            <a:r>
              <a:rPr sz="2300" b="1" kern="0" spc="-40" dirty="0">
                <a:solidFill>
                  <a:srgbClr val="FF0000">
                    <a:alpha val="100000"/>
                  </a:srgbClr>
                </a:solidFill>
                <a:latin typeface="华文楷体" panose="02010600040101010101" charset="-122"/>
                <a:ea typeface="华文楷体" panose="02010600040101010101" charset="-122"/>
                <a:cs typeface="华文楷体" panose="02010600040101010101" charset="-122"/>
              </a:rPr>
              <a:t>前</a:t>
            </a:r>
            <a:r>
              <a:rPr sz="2300" kern="0" spc="-40" dirty="0">
                <a:solidFill>
                  <a:srgbClr val="FF0000">
                    <a:alpha val="100000"/>
                  </a:srgbClr>
                </a:solidFill>
                <a:latin typeface="华文楷体" panose="02010600040101010101" charset="-122"/>
                <a:ea typeface="华文楷体" panose="02010600040101010101" charset="-122"/>
                <a:cs typeface="华文楷体" panose="02010600040101010101" charset="-122"/>
              </a:rPr>
              <a:t> </a:t>
            </a:r>
            <a:r>
              <a:rPr sz="2300" b="1" kern="0" spc="-40" dirty="0">
                <a:solidFill>
                  <a:srgbClr val="FF0000">
                    <a:alpha val="100000"/>
                  </a:srgbClr>
                </a:solidFill>
                <a:latin typeface="华文楷体" panose="02010600040101010101" charset="-122"/>
                <a:ea typeface="华文楷体" panose="02010600040101010101" charset="-122"/>
                <a:cs typeface="华文楷体" panose="02010600040101010101" charset="-122"/>
              </a:rPr>
              <a:t>成</a:t>
            </a:r>
            <a:r>
              <a:rPr sz="2300" kern="0" spc="-40" dirty="0">
                <a:solidFill>
                  <a:srgbClr val="FF0000">
                    <a:alpha val="100000"/>
                  </a:srgbClr>
                </a:solidFill>
                <a:latin typeface="华文楷体" panose="02010600040101010101" charset="-122"/>
                <a:ea typeface="华文楷体" panose="02010600040101010101" charset="-122"/>
                <a:cs typeface="华文楷体" panose="02010600040101010101" charset="-122"/>
              </a:rPr>
              <a:t> </a:t>
            </a:r>
            <a:r>
              <a:rPr sz="2300" b="1" kern="0" spc="-40" dirty="0">
                <a:solidFill>
                  <a:srgbClr val="FF0000">
                    <a:alpha val="100000"/>
                  </a:srgbClr>
                </a:solidFill>
                <a:latin typeface="华文楷体" panose="02010600040101010101" charset="-122"/>
                <a:ea typeface="华文楷体" panose="02010600040101010101" charset="-122"/>
                <a:cs typeface="华文楷体" panose="02010600040101010101" charset="-122"/>
              </a:rPr>
              <a:t>功</a:t>
            </a:r>
            <a:r>
              <a:rPr sz="2300" kern="0" spc="-40" dirty="0">
                <a:solidFill>
                  <a:srgbClr val="FF0000">
                    <a:alpha val="100000"/>
                  </a:srgbClr>
                </a:solidFill>
                <a:latin typeface="华文楷体" panose="02010600040101010101" charset="-122"/>
                <a:ea typeface="华文楷体" panose="02010600040101010101" charset="-122"/>
                <a:cs typeface="华文楷体" panose="02010600040101010101" charset="-122"/>
              </a:rPr>
              <a:t> </a:t>
            </a:r>
            <a:r>
              <a:rPr sz="2300" b="1" kern="0" spc="-50" dirty="0">
                <a:solidFill>
                  <a:srgbClr val="FF0000">
                    <a:alpha val="100000"/>
                  </a:srgbClr>
                </a:solidFill>
                <a:latin typeface="华文楷体" panose="02010600040101010101" charset="-122"/>
                <a:ea typeface="华文楷体" panose="02010600040101010101" charset="-122"/>
                <a:cs typeface="华文楷体" panose="02010600040101010101" charset="-122"/>
              </a:rPr>
              <a:t>的</a:t>
            </a:r>
            <a:r>
              <a:rPr sz="2300" kern="0" spc="-50" dirty="0">
                <a:solidFill>
                  <a:srgbClr val="FF0000">
                    <a:alpha val="100000"/>
                  </a:srgbClr>
                </a:solidFill>
                <a:latin typeface="华文楷体" panose="02010600040101010101" charset="-122"/>
                <a:ea typeface="华文楷体" panose="02010600040101010101" charset="-122"/>
                <a:cs typeface="华文楷体" panose="02010600040101010101" charset="-122"/>
              </a:rPr>
              <a:t> </a:t>
            </a:r>
            <a:r>
              <a:rPr sz="2300" b="1" kern="0" spc="-50" dirty="0">
                <a:solidFill>
                  <a:srgbClr val="FF0000">
                    <a:alpha val="100000"/>
                  </a:srgbClr>
                </a:solidFill>
                <a:latin typeface="华文楷体" panose="02010600040101010101" charset="-122"/>
                <a:ea typeface="华文楷体" panose="02010600040101010101" charset="-122"/>
                <a:cs typeface="华文楷体" panose="02010600040101010101" charset="-122"/>
              </a:rPr>
              <a:t>案</a:t>
            </a:r>
            <a:r>
              <a:rPr sz="2300" kern="0" spc="-120" dirty="0">
                <a:solidFill>
                  <a:srgbClr val="FF0000">
                    <a:alpha val="100000"/>
                  </a:srgbClr>
                </a:solidFill>
                <a:latin typeface="华文楷体" panose="02010600040101010101" charset="-122"/>
                <a:ea typeface="华文楷体" panose="02010600040101010101" charset="-122"/>
                <a:cs typeface="华文楷体" panose="02010600040101010101" charset="-122"/>
              </a:rPr>
              <a:t> </a:t>
            </a:r>
            <a:r>
              <a:rPr sz="2300" b="1" kern="0" spc="-50" dirty="0">
                <a:solidFill>
                  <a:srgbClr val="FF0000">
                    <a:alpha val="100000"/>
                  </a:srgbClr>
                </a:solidFill>
                <a:latin typeface="华文楷体" panose="02010600040101010101" charset="-122"/>
                <a:ea typeface="华文楷体" panose="02010600040101010101" charset="-122"/>
                <a:cs typeface="华文楷体" panose="02010600040101010101" charset="-122"/>
              </a:rPr>
              <a:t>例</a:t>
            </a:r>
            <a:r>
              <a:rPr sz="2300" kern="0" spc="-240" dirty="0">
                <a:solidFill>
                  <a:srgbClr val="FF0000">
                    <a:alpha val="100000"/>
                  </a:srgbClr>
                </a:solidFill>
                <a:latin typeface="华文楷体" panose="02010600040101010101" charset="-122"/>
                <a:ea typeface="华文楷体" panose="02010600040101010101" charset="-122"/>
                <a:cs typeface="华文楷体" panose="02010600040101010101" charset="-122"/>
              </a:rPr>
              <a:t> </a:t>
            </a:r>
            <a:r>
              <a:rPr sz="2300" b="1" kern="0" spc="-50" dirty="0">
                <a:solidFill>
                  <a:srgbClr val="FF0000">
                    <a:alpha val="100000"/>
                  </a:srgbClr>
                </a:solidFill>
                <a:latin typeface="华文楷体" panose="02010600040101010101" charset="-122"/>
                <a:ea typeface="华文楷体" panose="02010600040101010101" charset="-122"/>
                <a:cs typeface="华文楷体" panose="02010600040101010101" charset="-122"/>
              </a:rPr>
              <a:t>：</a:t>
            </a:r>
            <a:r>
              <a:rPr sz="2300" kern="0" spc="-50" dirty="0">
                <a:solidFill>
                  <a:srgbClr val="FF0000">
                    <a:alpha val="100000"/>
                  </a:srgbClr>
                </a:solidFill>
                <a:latin typeface="华文楷体" panose="02010600040101010101" charset="-122"/>
                <a:ea typeface="华文楷体" panose="02010600040101010101" charset="-122"/>
                <a:cs typeface="华文楷体" panose="02010600040101010101" charset="-122"/>
              </a:rPr>
              <a:t>  </a:t>
            </a:r>
            <a:r>
              <a:rPr sz="2300" b="1" kern="0" spc="-50" dirty="0">
                <a:solidFill>
                  <a:srgbClr val="003A63">
                    <a:alpha val="100000"/>
                  </a:srgbClr>
                </a:solidFill>
                <a:latin typeface="华文楷体" panose="02010600040101010101" charset="-122"/>
                <a:ea typeface="华文楷体" panose="02010600040101010101" charset="-122"/>
                <a:cs typeface="华文楷体" panose="02010600040101010101" charset="-122"/>
              </a:rPr>
              <a:t>Cir</a:t>
            </a:r>
            <a:r>
              <a:rPr sz="2300" kern="0" spc="-160" dirty="0">
                <a:solidFill>
                  <a:srgbClr val="003A63">
                    <a:alpha val="100000"/>
                  </a:srgbClr>
                </a:solidFill>
                <a:latin typeface="华文楷体" panose="02010600040101010101" charset="-122"/>
                <a:ea typeface="华文楷体" panose="02010600040101010101" charset="-122"/>
                <a:cs typeface="华文楷体" panose="02010600040101010101" charset="-122"/>
              </a:rPr>
              <a:t> </a:t>
            </a:r>
            <a:r>
              <a:rPr sz="2300" b="1" kern="0" spc="-50" dirty="0">
                <a:solidFill>
                  <a:srgbClr val="003A63">
                    <a:alpha val="100000"/>
                  </a:srgbClr>
                </a:solidFill>
                <a:latin typeface="华文楷体" panose="02010600040101010101" charset="-122"/>
                <a:ea typeface="华文楷体" panose="02010600040101010101" charset="-122"/>
                <a:cs typeface="华文楷体" panose="02010600040101010101" charset="-122"/>
              </a:rPr>
              <a:t>cl</a:t>
            </a:r>
            <a:r>
              <a:rPr sz="2300" kern="0" spc="-170" dirty="0">
                <a:solidFill>
                  <a:srgbClr val="003A63">
                    <a:alpha val="100000"/>
                  </a:srgbClr>
                </a:solidFill>
                <a:latin typeface="华文楷体" panose="02010600040101010101" charset="-122"/>
                <a:ea typeface="华文楷体" panose="02010600040101010101" charset="-122"/>
                <a:cs typeface="华文楷体" panose="02010600040101010101" charset="-122"/>
              </a:rPr>
              <a:t> </a:t>
            </a:r>
            <a:r>
              <a:rPr sz="2300" b="1" kern="0" spc="-50" dirty="0">
                <a:solidFill>
                  <a:srgbClr val="003A63">
                    <a:alpha val="100000"/>
                  </a:srgbClr>
                </a:solidFill>
                <a:latin typeface="华文楷体" panose="02010600040101010101" charset="-122"/>
                <a:ea typeface="华文楷体" panose="02010600040101010101" charset="-122"/>
                <a:cs typeface="华文楷体" panose="02010600040101010101" charset="-122"/>
              </a:rPr>
              <a:t>e</a:t>
            </a:r>
            <a:r>
              <a:rPr sz="2300" kern="0" spc="-50" dirty="0">
                <a:solidFill>
                  <a:srgbClr val="003A63">
                    <a:alpha val="100000"/>
                  </a:srgbClr>
                </a:solidFill>
                <a:latin typeface="华文楷体" panose="02010600040101010101" charset="-122"/>
                <a:ea typeface="华文楷体" panose="02010600040101010101" charset="-122"/>
                <a:cs typeface="华文楷体" panose="02010600040101010101" charset="-122"/>
              </a:rPr>
              <a:t> </a:t>
            </a:r>
            <a:r>
              <a:rPr sz="2300" b="1" kern="0" spc="-50" dirty="0">
                <a:solidFill>
                  <a:srgbClr val="003A63">
                    <a:alpha val="100000"/>
                  </a:srgbClr>
                </a:solidFill>
                <a:latin typeface="华文楷体" panose="02010600040101010101" charset="-122"/>
                <a:ea typeface="华文楷体" panose="02010600040101010101" charset="-122"/>
                <a:cs typeface="华文楷体" panose="02010600040101010101" charset="-122"/>
              </a:rPr>
              <a:t>的</a:t>
            </a:r>
            <a:r>
              <a:rPr sz="2300" kern="0" spc="-230" dirty="0">
                <a:solidFill>
                  <a:srgbClr val="003A63">
                    <a:alpha val="100000"/>
                  </a:srgbClr>
                </a:solidFill>
                <a:latin typeface="华文楷体" panose="02010600040101010101" charset="-122"/>
                <a:ea typeface="华文楷体" panose="02010600040101010101" charset="-122"/>
                <a:cs typeface="华文楷体" panose="02010600040101010101" charset="-122"/>
              </a:rPr>
              <a:t> </a:t>
            </a:r>
            <a:r>
              <a:rPr sz="2300" b="1" kern="0" spc="-50" dirty="0">
                <a:solidFill>
                  <a:srgbClr val="003A63">
                    <a:alpha val="100000"/>
                  </a:srgbClr>
                </a:solidFill>
                <a:latin typeface="华文楷体" panose="02010600040101010101" charset="-122"/>
                <a:ea typeface="华文楷体" panose="02010600040101010101" charset="-122"/>
                <a:cs typeface="华文楷体" panose="02010600040101010101" charset="-122"/>
              </a:rPr>
              <a:t>US</a:t>
            </a:r>
            <a:r>
              <a:rPr sz="2300" kern="0" spc="-240" dirty="0">
                <a:solidFill>
                  <a:srgbClr val="003A63">
                    <a:alpha val="100000"/>
                  </a:srgbClr>
                </a:solidFill>
                <a:latin typeface="华文楷体" panose="02010600040101010101" charset="-122"/>
                <a:ea typeface="华文楷体" panose="02010600040101010101" charset="-122"/>
                <a:cs typeface="华文楷体" panose="02010600040101010101" charset="-122"/>
              </a:rPr>
              <a:t> </a:t>
            </a:r>
            <a:r>
              <a:rPr sz="2300" b="1" kern="0" spc="-50" dirty="0">
                <a:solidFill>
                  <a:srgbClr val="003A63">
                    <a:alpha val="100000"/>
                  </a:srgbClr>
                </a:solidFill>
                <a:latin typeface="华文楷体" panose="02010600040101010101" charset="-122"/>
                <a:ea typeface="华文楷体" panose="02010600040101010101" charset="-122"/>
                <a:cs typeface="华文楷体" panose="02010600040101010101" charset="-122"/>
              </a:rPr>
              <a:t>DC</a:t>
            </a:r>
            <a:endParaRPr sz="2300" dirty="0">
              <a:latin typeface="华文楷体" panose="02010600040101010101" charset="-122"/>
              <a:ea typeface="华文楷体" panose="02010600040101010101" charset="-122"/>
              <a:cs typeface="华文楷体" panose="02010600040101010101" charset="-122"/>
            </a:endParaRPr>
          </a:p>
          <a:p>
            <a:pPr algn="l" defTabSz="0" rtl="0" eaLnBrk="0">
              <a:lnSpc>
                <a:spcPct val="142000"/>
              </a:lnSpc>
            </a:pPr>
            <a:endParaRPr sz="1000" dirty="0">
              <a:latin typeface="Arial" panose="020B0604020202020204" pitchFamily="34" charset="0"/>
              <a:ea typeface="Arial" panose="020B0604020202020204" pitchFamily="34" charset="0"/>
              <a:cs typeface="Arial" panose="020B0604020202020204" pitchFamily="34" charset="0"/>
            </a:endParaRPr>
          </a:p>
          <a:p>
            <a:pPr marL="17145" algn="l" defTabSz="0" rtl="0" eaLnBrk="0">
              <a:lnSpc>
                <a:spcPct val="81000"/>
              </a:lnSpc>
              <a:spcBef>
                <a:spcPts val="610"/>
              </a:spcBef>
            </a:pPr>
            <a:r>
              <a:rPr sz="2000" b="1" kern="0" spc="-50" dirty="0">
                <a:solidFill>
                  <a:srgbClr val="FF0000">
                    <a:alpha val="100000"/>
                  </a:srgbClr>
                </a:solidFill>
                <a:latin typeface="Times New Roman" panose="02020603050405020304"/>
                <a:ea typeface="Times New Roman" panose="02020603050405020304"/>
                <a:cs typeface="Times New Roman" panose="02020603050405020304"/>
              </a:rPr>
              <a:t>2.</a:t>
            </a:r>
            <a:r>
              <a:rPr sz="2000" b="1" kern="0" spc="-180" dirty="0">
                <a:solidFill>
                  <a:srgbClr val="FF0000">
                    <a:alpha val="100000"/>
                  </a:srgbClr>
                </a:solidFill>
                <a:latin typeface="Times New Roman" panose="02020603050405020304"/>
                <a:ea typeface="Times New Roman" panose="02020603050405020304"/>
                <a:cs typeface="Times New Roman" panose="02020603050405020304"/>
              </a:rPr>
              <a:t> </a:t>
            </a:r>
            <a:r>
              <a:rPr sz="2000" b="1" kern="0" spc="-50" dirty="0">
                <a:solidFill>
                  <a:srgbClr val="FF0000">
                    <a:alpha val="100000"/>
                  </a:srgbClr>
                </a:solidFill>
                <a:latin typeface="华文仿宋" panose="02010600040101010101" charset="-122"/>
                <a:ea typeface="华文仿宋" panose="02010600040101010101" charset="-122"/>
                <a:cs typeface="华文仿宋" panose="02010600040101010101" charset="-122"/>
              </a:rPr>
              <a:t>降低挤兑风险：</a:t>
            </a:r>
            <a:endParaRPr sz="2000" dirty="0">
              <a:latin typeface="华文仿宋" panose="02010600040101010101" charset="-122"/>
              <a:ea typeface="华文仿宋" panose="02010600040101010101" charset="-122"/>
              <a:cs typeface="华文仿宋" panose="02010600040101010101" charset="-122"/>
            </a:endParaRPr>
          </a:p>
          <a:p>
            <a:pPr algn="l" defTabSz="0" rtl="0" eaLnBrk="0">
              <a:lnSpc>
                <a:spcPct val="102000"/>
              </a:lnSpc>
            </a:pPr>
            <a:endParaRPr sz="12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8000"/>
              </a:lnSpc>
            </a:pPr>
            <a:endParaRPr sz="2000" dirty="0">
              <a:latin typeface="华文仿宋" panose="02010600040101010101" charset="-122"/>
              <a:ea typeface="华文仿宋" panose="02010600040101010101" charset="-122"/>
              <a:cs typeface="华文仿宋" panose="02010600040101010101" charset="-122"/>
            </a:endParaRPr>
          </a:p>
          <a:p>
            <a:pPr marL="25400" indent="-13335" algn="l" defTabSz="0" rtl="0" eaLnBrk="0">
              <a:lnSpc>
                <a:spcPct val="96000"/>
              </a:lnSpc>
            </a:pPr>
            <a:r>
              <a:rPr lang="en-US" altLang="zh-CN" sz="2000" dirty="0">
                <a:latin typeface="华文仿宋" panose="02010600040101010101" charset="-122"/>
                <a:ea typeface="华文仿宋" panose="02010600040101010101" charset="-122"/>
                <a:cs typeface="华文仿宋" panose="02010600040101010101" charset="-122"/>
              </a:rPr>
              <a:t>USDC </a:t>
            </a:r>
            <a:r>
              <a:rPr lang="zh-CN" altLang="en-US" sz="2000" dirty="0">
                <a:latin typeface="华文仿宋" panose="02010600040101010101" charset="-122"/>
                <a:ea typeface="华文仿宋" panose="02010600040101010101" charset="-122"/>
                <a:cs typeface="华文仿宋" panose="02010600040101010101" charset="-122"/>
              </a:rPr>
              <a:t>的价格稳定性并非依赖于 </a:t>
            </a:r>
            <a:r>
              <a:rPr lang="en-US" altLang="zh-CN" sz="2000" dirty="0">
                <a:latin typeface="华文仿宋" panose="02010600040101010101" charset="-122"/>
                <a:ea typeface="华文仿宋" panose="02010600040101010101" charset="-122"/>
                <a:cs typeface="华文仿宋" panose="02010600040101010101" charset="-122"/>
              </a:rPr>
              <a:t>Circle </a:t>
            </a:r>
            <a:r>
              <a:rPr lang="zh-CN" altLang="en-US" sz="2000" dirty="0">
                <a:latin typeface="华文仿宋" panose="02010600040101010101" charset="-122"/>
                <a:ea typeface="华文仿宋" panose="02010600040101010101" charset="-122"/>
                <a:cs typeface="华文仿宋" panose="02010600040101010101" charset="-122"/>
              </a:rPr>
              <a:t>的直接干预，而是通过一级市场与二级市场之间的无风险套利机制自动实现的。这一机制形成了强大的流动性缓冲，能够吸收绝大多数市场波动：</a:t>
            </a:r>
            <a:endParaRPr lang="zh-CN" altLang="en-US" sz="2000" dirty="0">
              <a:latin typeface="华文仿宋" panose="02010600040101010101" charset="-122"/>
              <a:ea typeface="华文仿宋" panose="02010600040101010101" charset="-122"/>
              <a:cs typeface="华文仿宋" panose="02010600040101010101" charset="-122"/>
            </a:endParaRPr>
          </a:p>
          <a:p>
            <a:pPr marL="25400" indent="-13335" algn="l" defTabSz="0" rtl="0" eaLnBrk="0">
              <a:lnSpc>
                <a:spcPct val="96000"/>
              </a:lnSpc>
            </a:pPr>
            <a:r>
              <a:rPr lang="zh-CN" altLang="en-US" sz="2000" dirty="0">
                <a:latin typeface="华文仿宋" panose="02010600040101010101" charset="-122"/>
                <a:ea typeface="华文仿宋" panose="02010600040101010101" charset="-122"/>
                <a:cs typeface="华文仿宋" panose="02010600040101010101" charset="-122"/>
              </a:rPr>
              <a:t>当二级市场</a:t>
            </a:r>
            <a:r>
              <a:rPr lang="en-US" altLang="zh-CN" sz="2000" dirty="0">
                <a:latin typeface="华文仿宋" panose="02010600040101010101" charset="-122"/>
                <a:ea typeface="华文仿宋" panose="02010600040101010101" charset="-122"/>
                <a:cs typeface="华文仿宋" panose="02010600040101010101" charset="-122"/>
              </a:rPr>
              <a:t>USDC</a:t>
            </a:r>
            <a:r>
              <a:rPr lang="zh-CN" altLang="en-US" sz="2000" dirty="0">
                <a:latin typeface="华文仿宋" panose="02010600040101010101" charset="-122"/>
                <a:ea typeface="华文仿宋" panose="02010600040101010101" charset="-122"/>
                <a:cs typeface="华文仿宋" panose="02010600040101010101" charset="-122"/>
              </a:rPr>
              <a:t>价格 &gt; 1.005美元时：</a:t>
            </a:r>
            <a:endParaRPr lang="zh-CN" altLang="en-US" sz="2000" dirty="0">
              <a:latin typeface="华文仿宋" panose="02010600040101010101" charset="-122"/>
              <a:ea typeface="华文仿宋" panose="02010600040101010101" charset="-122"/>
              <a:cs typeface="华文仿宋" panose="02010600040101010101" charset="-122"/>
            </a:endParaRPr>
          </a:p>
          <a:p>
            <a:pPr marL="25400" indent="-13335" algn="l" defTabSz="0" rtl="0" eaLnBrk="0">
              <a:lnSpc>
                <a:spcPct val="96000"/>
              </a:lnSpc>
            </a:pPr>
            <a:r>
              <a:rPr lang="zh-CN" altLang="en-US" sz="2000" dirty="0">
                <a:latin typeface="华文仿宋" panose="02010600040101010101" charset="-122"/>
                <a:ea typeface="华文仿宋" panose="02010600040101010101" charset="-122"/>
                <a:cs typeface="华文仿宋" panose="02010600040101010101" charset="-122"/>
              </a:rPr>
              <a:t>    机构在一级市场以1美元铸造</a:t>
            </a:r>
            <a:r>
              <a:rPr lang="en-US" altLang="zh-CN" sz="2000" dirty="0">
                <a:latin typeface="华文仿宋" panose="02010600040101010101" charset="-122"/>
                <a:ea typeface="华文仿宋" panose="02010600040101010101" charset="-122"/>
                <a:cs typeface="华文仿宋" panose="02010600040101010101" charset="-122"/>
              </a:rPr>
              <a:t>USDC</a:t>
            </a:r>
            <a:endParaRPr lang="en-US" altLang="zh-CN" sz="2000" dirty="0">
              <a:latin typeface="华文仿宋" panose="02010600040101010101" charset="-122"/>
              <a:ea typeface="华文仿宋" panose="02010600040101010101" charset="-122"/>
              <a:cs typeface="华文仿宋" panose="02010600040101010101" charset="-122"/>
            </a:endParaRPr>
          </a:p>
          <a:p>
            <a:pPr marL="25400" indent="-13335" algn="l" defTabSz="0" rtl="0" eaLnBrk="0">
              <a:lnSpc>
                <a:spcPct val="96000"/>
              </a:lnSpc>
            </a:pPr>
            <a:r>
              <a:rPr lang="zh-CN" altLang="en-US" sz="2000" dirty="0">
                <a:latin typeface="华文仿宋" panose="02010600040101010101" charset="-122"/>
                <a:ea typeface="华文仿宋" panose="02010600040101010101" charset="-122"/>
                <a:cs typeface="华文仿宋" panose="02010600040101010101" charset="-122"/>
              </a:rPr>
              <a:t>    → 在二级市场以高价卖出</a:t>
            </a:r>
            <a:endParaRPr lang="zh-CN" altLang="en-US" sz="2000" dirty="0">
              <a:latin typeface="华文仿宋" panose="02010600040101010101" charset="-122"/>
              <a:ea typeface="华文仿宋" panose="02010600040101010101" charset="-122"/>
              <a:cs typeface="华文仿宋" panose="02010600040101010101" charset="-122"/>
            </a:endParaRPr>
          </a:p>
          <a:p>
            <a:pPr marL="25400" indent="-13335" algn="l" defTabSz="0" rtl="0" eaLnBrk="0">
              <a:lnSpc>
                <a:spcPct val="96000"/>
              </a:lnSpc>
            </a:pPr>
            <a:r>
              <a:rPr lang="zh-CN" altLang="en-US" sz="2000" dirty="0">
                <a:latin typeface="华文仿宋" panose="02010600040101010101" charset="-122"/>
                <a:ea typeface="华文仿宋" panose="02010600040101010101" charset="-122"/>
                <a:cs typeface="华文仿宋" panose="02010600040101010101" charset="-122"/>
              </a:rPr>
              <a:t>    → 赚取差价（约0.5%）</a:t>
            </a:r>
            <a:endParaRPr lang="zh-CN" altLang="en-US" sz="2000" dirty="0">
              <a:latin typeface="华文仿宋" panose="02010600040101010101" charset="-122"/>
              <a:ea typeface="华文仿宋" panose="02010600040101010101" charset="-122"/>
              <a:cs typeface="华文仿宋" panose="02010600040101010101" charset="-122"/>
            </a:endParaRPr>
          </a:p>
          <a:p>
            <a:pPr marL="25400" indent="-13335" algn="l" defTabSz="0" rtl="0" eaLnBrk="0">
              <a:lnSpc>
                <a:spcPct val="96000"/>
              </a:lnSpc>
            </a:pPr>
            <a:r>
              <a:rPr lang="zh-CN" altLang="en-US" sz="2000" dirty="0">
                <a:latin typeface="华文仿宋" panose="02010600040101010101" charset="-122"/>
                <a:ea typeface="华文仿宋" panose="02010600040101010101" charset="-122"/>
                <a:cs typeface="华文仿宋" panose="02010600040101010101" charset="-122"/>
              </a:rPr>
              <a:t>    → 市场供应增加 → 价格回落至1美元</a:t>
            </a:r>
            <a:endParaRPr lang="zh-CN" altLang="en-US" sz="2000" dirty="0">
              <a:latin typeface="华文仿宋" panose="02010600040101010101" charset="-122"/>
              <a:ea typeface="华文仿宋" panose="02010600040101010101" charset="-122"/>
              <a:cs typeface="华文仿宋" panose="02010600040101010101" charset="-122"/>
            </a:endParaRPr>
          </a:p>
          <a:p>
            <a:pPr marL="25400" indent="-13335" algn="l" defTabSz="0" rtl="0" eaLnBrk="0">
              <a:lnSpc>
                <a:spcPct val="96000"/>
              </a:lnSpc>
            </a:pPr>
            <a:endParaRPr lang="en-US" altLang="zh-CN" sz="2000" dirty="0">
              <a:latin typeface="华文仿宋" panose="02010600040101010101" charset="-122"/>
              <a:ea typeface="华文仿宋" panose="02010600040101010101" charset="-122"/>
              <a:cs typeface="华文仿宋" panose="02010600040101010101" charset="-122"/>
            </a:endParaRPr>
          </a:p>
          <a:p>
            <a:pPr marL="25400" indent="-13335" algn="l" defTabSz="0" rtl="0" eaLnBrk="0">
              <a:lnSpc>
                <a:spcPct val="96000"/>
              </a:lnSpc>
            </a:pPr>
            <a:r>
              <a:rPr lang="zh-CN" altLang="en-US" sz="2000" dirty="0">
                <a:latin typeface="华文仿宋" panose="02010600040101010101" charset="-122"/>
                <a:ea typeface="华文仿宋" panose="02010600040101010101" charset="-122"/>
                <a:cs typeface="华文仿宋" panose="02010600040101010101" charset="-122"/>
              </a:rPr>
              <a:t>当二级市场</a:t>
            </a:r>
            <a:r>
              <a:rPr lang="en-US" altLang="zh-CN" sz="2000" dirty="0">
                <a:latin typeface="华文仿宋" panose="02010600040101010101" charset="-122"/>
                <a:ea typeface="华文仿宋" panose="02010600040101010101" charset="-122"/>
                <a:cs typeface="华文仿宋" panose="02010600040101010101" charset="-122"/>
              </a:rPr>
              <a:t>USDC</a:t>
            </a:r>
            <a:r>
              <a:rPr lang="zh-CN" altLang="en-US" sz="2000" dirty="0">
                <a:latin typeface="华文仿宋" panose="02010600040101010101" charset="-122"/>
                <a:ea typeface="华文仿宋" panose="02010600040101010101" charset="-122"/>
                <a:cs typeface="华文仿宋" panose="02010600040101010101" charset="-122"/>
              </a:rPr>
              <a:t>价格 &lt; 0.995美元时：</a:t>
            </a:r>
            <a:endParaRPr lang="zh-CN" altLang="en-US" sz="2000" dirty="0">
              <a:latin typeface="华文仿宋" panose="02010600040101010101" charset="-122"/>
              <a:ea typeface="华文仿宋" panose="02010600040101010101" charset="-122"/>
              <a:cs typeface="华文仿宋" panose="02010600040101010101" charset="-122"/>
            </a:endParaRPr>
          </a:p>
          <a:p>
            <a:pPr marL="25400" indent="-13335" algn="l" defTabSz="0" rtl="0" eaLnBrk="0">
              <a:lnSpc>
                <a:spcPct val="96000"/>
              </a:lnSpc>
            </a:pPr>
            <a:r>
              <a:rPr lang="zh-CN" altLang="en-US" sz="2000" dirty="0">
                <a:latin typeface="华文仿宋" panose="02010600040101010101" charset="-122"/>
                <a:ea typeface="华文仿宋" panose="02010600040101010101" charset="-122"/>
                <a:cs typeface="华文仿宋" panose="02010600040101010101" charset="-122"/>
              </a:rPr>
              <a:t>    机构在二级市场以低价买入</a:t>
            </a:r>
            <a:r>
              <a:rPr lang="en-US" altLang="zh-CN" sz="2000" dirty="0">
                <a:latin typeface="华文仿宋" panose="02010600040101010101" charset="-122"/>
                <a:ea typeface="华文仿宋" panose="02010600040101010101" charset="-122"/>
                <a:cs typeface="华文仿宋" panose="02010600040101010101" charset="-122"/>
              </a:rPr>
              <a:t>USDC</a:t>
            </a:r>
            <a:endParaRPr lang="en-US" altLang="zh-CN" sz="2000" dirty="0">
              <a:latin typeface="华文仿宋" panose="02010600040101010101" charset="-122"/>
              <a:ea typeface="华文仿宋" panose="02010600040101010101" charset="-122"/>
              <a:cs typeface="华文仿宋" panose="02010600040101010101" charset="-122"/>
            </a:endParaRPr>
          </a:p>
          <a:p>
            <a:pPr marL="25400" indent="-13335" algn="l" defTabSz="0" rtl="0" eaLnBrk="0">
              <a:lnSpc>
                <a:spcPct val="96000"/>
              </a:lnSpc>
            </a:pPr>
            <a:r>
              <a:rPr lang="zh-CN" altLang="en-US" sz="2000" dirty="0">
                <a:latin typeface="华文仿宋" panose="02010600040101010101" charset="-122"/>
                <a:ea typeface="华文仿宋" panose="02010600040101010101" charset="-122"/>
                <a:cs typeface="华文仿宋" panose="02010600040101010101" charset="-122"/>
              </a:rPr>
              <a:t>    → 在一级市场以1美元赎回成美元</a:t>
            </a:r>
            <a:endParaRPr lang="zh-CN" altLang="en-US" sz="2000" dirty="0">
              <a:latin typeface="华文仿宋" panose="02010600040101010101" charset="-122"/>
              <a:ea typeface="华文仿宋" panose="02010600040101010101" charset="-122"/>
              <a:cs typeface="华文仿宋" panose="02010600040101010101" charset="-122"/>
            </a:endParaRPr>
          </a:p>
          <a:p>
            <a:pPr marL="25400" indent="-13335" algn="l" defTabSz="0" rtl="0" eaLnBrk="0">
              <a:lnSpc>
                <a:spcPct val="96000"/>
              </a:lnSpc>
            </a:pPr>
            <a:r>
              <a:rPr lang="zh-CN" altLang="en-US" sz="2000" dirty="0">
                <a:latin typeface="华文仿宋" panose="02010600040101010101" charset="-122"/>
                <a:ea typeface="华文仿宋" panose="02010600040101010101" charset="-122"/>
                <a:cs typeface="华文仿宋" panose="02010600040101010101" charset="-122"/>
              </a:rPr>
              <a:t>    → 赚取差价（约0.5%）</a:t>
            </a:r>
            <a:endParaRPr lang="zh-CN" altLang="en-US" sz="2000" dirty="0">
              <a:latin typeface="华文仿宋" panose="02010600040101010101" charset="-122"/>
              <a:ea typeface="华文仿宋" panose="02010600040101010101" charset="-122"/>
              <a:cs typeface="华文仿宋" panose="02010600040101010101" charset="-122"/>
            </a:endParaRPr>
          </a:p>
          <a:p>
            <a:pPr marL="25400" indent="-13335" algn="l" defTabSz="0" rtl="0" eaLnBrk="0">
              <a:lnSpc>
                <a:spcPct val="96000"/>
              </a:lnSpc>
            </a:pPr>
            <a:r>
              <a:rPr lang="zh-CN" altLang="en-US" sz="2000" dirty="0">
                <a:latin typeface="华文仿宋" panose="02010600040101010101" charset="-122"/>
                <a:ea typeface="华文仿宋" panose="02010600040101010101" charset="-122"/>
                <a:cs typeface="华文仿宋" panose="02010600040101010101" charset="-122"/>
              </a:rPr>
              <a:t>    → 市场供应减少 → 价格回升至1美元</a:t>
            </a:r>
            <a:endParaRPr lang="zh-CN" altLang="en-US" sz="2000" dirty="0">
              <a:latin typeface="华文仿宋" panose="02010600040101010101" charset="-122"/>
              <a:ea typeface="华文仿宋" panose="02010600040101010101" charset="-122"/>
              <a:cs typeface="华文仿宋" panose="02010600040101010101" charset="-122"/>
            </a:endParaRPr>
          </a:p>
        </p:txBody>
      </p:sp>
      <p:sp>
        <p:nvSpPr>
          <p:cNvPr id="120" name="rect 120"/>
          <p:cNvSpPr/>
          <p:nvPr/>
        </p:nvSpPr>
        <p:spPr>
          <a:xfrm>
            <a:off x="0" y="6556247"/>
            <a:ext cx="12192000" cy="301752"/>
          </a:xfrm>
          <a:prstGeom prst="rect">
            <a:avLst/>
          </a:prstGeom>
          <a:solidFill>
            <a:srgbClr val="AE0B2A">
              <a:alpha val="100000"/>
            </a:srgbClr>
          </a:solidFill>
          <a:ln w="0" cap="flat">
            <a:noFill/>
            <a:prstDash val="solid"/>
            <a:miter lim="0"/>
          </a:ln>
        </p:spPr>
        <p:txBody>
          <a:bodyPr rtlCol="0"/>
          <a:lstStyle/>
          <a:p>
            <a:pPr algn="ctr"/>
            <a:endParaRPr lang="zh-CN" altLang="en-US"/>
          </a:p>
        </p:txBody>
      </p:sp>
      <p:pic>
        <p:nvPicPr>
          <p:cNvPr id="124" name="picture 124"/>
          <p:cNvPicPr>
            <a:picLocks noChangeAspect="1"/>
          </p:cNvPicPr>
          <p:nvPr/>
        </p:nvPicPr>
        <p:blipFill>
          <a:blip r:embed="rId1"/>
          <a:stretch>
            <a:fillRect/>
          </a:stretch>
        </p:blipFill>
        <p:spPr>
          <a:xfrm rot="21600000">
            <a:off x="2752725" y="451954"/>
            <a:ext cx="9439275" cy="1905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textbox 128"/>
          <p:cNvSpPr/>
          <p:nvPr/>
        </p:nvSpPr>
        <p:spPr>
          <a:xfrm>
            <a:off x="378706" y="738339"/>
            <a:ext cx="11435715" cy="5380354"/>
          </a:xfrm>
          <a:prstGeom prst="rect">
            <a:avLst/>
          </a:prstGeom>
          <a:noFill/>
          <a:ln w="0" cap="flat">
            <a:noFill/>
            <a:prstDash val="solid"/>
            <a:miter lim="0"/>
          </a:ln>
        </p:spPr>
        <p:txBody>
          <a:bodyPr vert="horz" wrap="square" lIns="0" tIns="0" rIns="0" bIns="0"/>
          <a:lstStyle/>
          <a:p>
            <a:pPr algn="l" defTabSz="0"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097915" algn="l" defTabSz="0" rtl="0" eaLnBrk="0">
              <a:lnSpc>
                <a:spcPts val="3120"/>
              </a:lnSpc>
            </a:pPr>
            <a:r>
              <a:rPr sz="2300" b="1"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a:t>
            </a:r>
            <a:r>
              <a:rPr sz="2300"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300" b="1"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三</a:t>
            </a:r>
            <a:r>
              <a:rPr sz="2300"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300" b="1"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a:t>
            </a:r>
            <a:r>
              <a:rPr sz="2300"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300" b="1"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一</a:t>
            </a:r>
            <a:r>
              <a:rPr sz="2300" kern="0" spc="-16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300" b="1"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个</a:t>
            </a:r>
            <a:r>
              <a:rPr sz="2300"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300" b="1"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成</a:t>
            </a:r>
            <a:r>
              <a:rPr sz="2300"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300" b="1"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功</a:t>
            </a:r>
            <a:r>
              <a:rPr sz="2300"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300" b="1"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的</a:t>
            </a:r>
            <a:r>
              <a:rPr sz="2300"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300" b="1"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案</a:t>
            </a:r>
            <a:r>
              <a:rPr sz="2300" kern="0" spc="-5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300" b="1" kern="0" spc="-50" dirty="0">
                <a:solidFill>
                  <a:srgbClr val="FF0000">
                    <a:alpha val="100000"/>
                  </a:srgbClr>
                </a:solidFill>
                <a:latin typeface="华文仿宋" panose="02010600040101010101" charset="-122"/>
                <a:ea typeface="华文仿宋" panose="02010600040101010101" charset="-122"/>
                <a:cs typeface="华文仿宋" panose="02010600040101010101" charset="-122"/>
              </a:rPr>
              <a:t>例</a:t>
            </a:r>
            <a:r>
              <a:rPr sz="2300" kern="0" spc="-24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300" b="1" kern="0" spc="-50" dirty="0">
                <a:solidFill>
                  <a:srgbClr val="FF0000">
                    <a:alpha val="100000"/>
                  </a:srgbClr>
                </a:solidFill>
                <a:latin typeface="华文仿宋" panose="02010600040101010101" charset="-122"/>
                <a:ea typeface="华文仿宋" panose="02010600040101010101" charset="-122"/>
                <a:cs typeface="华文仿宋" panose="02010600040101010101" charset="-122"/>
              </a:rPr>
              <a:t>：</a:t>
            </a:r>
            <a:r>
              <a:rPr sz="2300" kern="0" spc="-5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300" b="1" kern="0" spc="-50" dirty="0">
                <a:solidFill>
                  <a:srgbClr val="003A63">
                    <a:alpha val="100000"/>
                  </a:srgbClr>
                </a:solidFill>
                <a:latin typeface="华文仿宋" panose="02010600040101010101" charset="-122"/>
                <a:ea typeface="华文仿宋" panose="02010600040101010101" charset="-122"/>
                <a:cs typeface="华文仿宋" panose="02010600040101010101" charset="-122"/>
              </a:rPr>
              <a:t>Cir</a:t>
            </a:r>
            <a:r>
              <a:rPr sz="2300" kern="0" spc="-160" dirty="0">
                <a:solidFill>
                  <a:srgbClr val="003A63">
                    <a:alpha val="100000"/>
                  </a:srgbClr>
                </a:solidFill>
                <a:latin typeface="华文仿宋" panose="02010600040101010101" charset="-122"/>
                <a:ea typeface="华文仿宋" panose="02010600040101010101" charset="-122"/>
                <a:cs typeface="华文仿宋" panose="02010600040101010101" charset="-122"/>
              </a:rPr>
              <a:t> </a:t>
            </a:r>
            <a:r>
              <a:rPr sz="2300" b="1" kern="0" spc="-50" dirty="0">
                <a:solidFill>
                  <a:srgbClr val="003A63">
                    <a:alpha val="100000"/>
                  </a:srgbClr>
                </a:solidFill>
                <a:latin typeface="华文仿宋" panose="02010600040101010101" charset="-122"/>
                <a:ea typeface="华文仿宋" panose="02010600040101010101" charset="-122"/>
                <a:cs typeface="华文仿宋" panose="02010600040101010101" charset="-122"/>
              </a:rPr>
              <a:t>cl</a:t>
            </a:r>
            <a:r>
              <a:rPr sz="2300" kern="0" spc="-170" dirty="0">
                <a:solidFill>
                  <a:srgbClr val="003A63">
                    <a:alpha val="100000"/>
                  </a:srgbClr>
                </a:solidFill>
                <a:latin typeface="华文仿宋" panose="02010600040101010101" charset="-122"/>
                <a:ea typeface="华文仿宋" panose="02010600040101010101" charset="-122"/>
                <a:cs typeface="华文仿宋" panose="02010600040101010101" charset="-122"/>
              </a:rPr>
              <a:t> </a:t>
            </a:r>
            <a:r>
              <a:rPr sz="2300" b="1" kern="0" spc="-50" dirty="0">
                <a:solidFill>
                  <a:srgbClr val="003A63">
                    <a:alpha val="100000"/>
                  </a:srgbClr>
                </a:solidFill>
                <a:latin typeface="华文仿宋" panose="02010600040101010101" charset="-122"/>
                <a:ea typeface="华文仿宋" panose="02010600040101010101" charset="-122"/>
                <a:cs typeface="华文仿宋" panose="02010600040101010101" charset="-122"/>
              </a:rPr>
              <a:t>e</a:t>
            </a:r>
            <a:r>
              <a:rPr sz="2300" kern="0" spc="70" dirty="0">
                <a:solidFill>
                  <a:srgbClr val="003A63">
                    <a:alpha val="100000"/>
                  </a:srgbClr>
                </a:solidFill>
                <a:latin typeface="华文仿宋" panose="02010600040101010101" charset="-122"/>
                <a:ea typeface="华文仿宋" panose="02010600040101010101" charset="-122"/>
                <a:cs typeface="华文仿宋" panose="02010600040101010101" charset="-122"/>
              </a:rPr>
              <a:t> </a:t>
            </a:r>
            <a:r>
              <a:rPr sz="2300" b="1" kern="0" spc="-50" dirty="0">
                <a:solidFill>
                  <a:srgbClr val="003A63">
                    <a:alpha val="100000"/>
                  </a:srgbClr>
                </a:solidFill>
                <a:latin typeface="华文仿宋" panose="02010600040101010101" charset="-122"/>
                <a:ea typeface="华文仿宋" panose="02010600040101010101" charset="-122"/>
                <a:cs typeface="华文仿宋" panose="02010600040101010101" charset="-122"/>
              </a:rPr>
              <a:t>的</a:t>
            </a:r>
            <a:r>
              <a:rPr sz="2300" kern="0" spc="-230" dirty="0">
                <a:solidFill>
                  <a:srgbClr val="003A63">
                    <a:alpha val="100000"/>
                  </a:srgbClr>
                </a:solidFill>
                <a:latin typeface="华文仿宋" panose="02010600040101010101" charset="-122"/>
                <a:ea typeface="华文仿宋" panose="02010600040101010101" charset="-122"/>
                <a:cs typeface="华文仿宋" panose="02010600040101010101" charset="-122"/>
              </a:rPr>
              <a:t> </a:t>
            </a:r>
            <a:r>
              <a:rPr sz="2300" b="1" kern="0" spc="-50" dirty="0">
                <a:solidFill>
                  <a:srgbClr val="003A63">
                    <a:alpha val="100000"/>
                  </a:srgbClr>
                </a:solidFill>
                <a:latin typeface="华文仿宋" panose="02010600040101010101" charset="-122"/>
                <a:ea typeface="华文仿宋" panose="02010600040101010101" charset="-122"/>
                <a:cs typeface="华文仿宋" panose="02010600040101010101" charset="-122"/>
              </a:rPr>
              <a:t>US</a:t>
            </a:r>
            <a:r>
              <a:rPr sz="2300" kern="0" spc="-240" dirty="0">
                <a:solidFill>
                  <a:srgbClr val="003A63">
                    <a:alpha val="100000"/>
                  </a:srgbClr>
                </a:solidFill>
                <a:latin typeface="华文仿宋" panose="02010600040101010101" charset="-122"/>
                <a:ea typeface="华文仿宋" panose="02010600040101010101" charset="-122"/>
                <a:cs typeface="华文仿宋" panose="02010600040101010101" charset="-122"/>
              </a:rPr>
              <a:t> </a:t>
            </a:r>
            <a:r>
              <a:rPr sz="2300" b="1" kern="0" spc="-50" dirty="0">
                <a:solidFill>
                  <a:srgbClr val="003A63">
                    <a:alpha val="100000"/>
                  </a:srgbClr>
                </a:solidFill>
                <a:latin typeface="华文仿宋" panose="02010600040101010101" charset="-122"/>
                <a:ea typeface="华文仿宋" panose="02010600040101010101" charset="-122"/>
                <a:cs typeface="华文仿宋" panose="02010600040101010101" charset="-122"/>
              </a:rPr>
              <a:t>DC</a:t>
            </a:r>
            <a:endParaRPr sz="2300" dirty="0">
              <a:latin typeface="华文仿宋" panose="02010600040101010101" charset="-122"/>
              <a:ea typeface="华文仿宋" panose="02010600040101010101" charset="-122"/>
              <a:cs typeface="华文仿宋" panose="02010600040101010101" charset="-122"/>
            </a:endParaRPr>
          </a:p>
          <a:p>
            <a:pPr marL="24130" algn="l" defTabSz="0" rtl="0" eaLnBrk="0">
              <a:lnSpc>
                <a:spcPct val="81000"/>
              </a:lnSpc>
              <a:spcBef>
                <a:spcPts val="760"/>
              </a:spcBef>
            </a:pPr>
            <a:r>
              <a:rPr sz="2000" b="1" kern="0" spc="-20" dirty="0">
                <a:solidFill>
                  <a:srgbClr val="FF0000">
                    <a:alpha val="100000"/>
                  </a:srgbClr>
                </a:solidFill>
                <a:latin typeface="Times New Roman" panose="02020603050405020304"/>
                <a:ea typeface="Times New Roman" panose="02020603050405020304"/>
                <a:cs typeface="Times New Roman" panose="02020603050405020304"/>
              </a:rPr>
              <a:t>3.</a:t>
            </a:r>
            <a:r>
              <a:rPr sz="2000" b="1"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主动合规：</a:t>
            </a:r>
            <a:endParaRPr sz="2000" dirty="0">
              <a:latin typeface="华文仿宋" panose="02010600040101010101" charset="-122"/>
              <a:ea typeface="华文仿宋" panose="02010600040101010101" charset="-122"/>
              <a:cs typeface="华文仿宋" panose="02010600040101010101" charset="-122"/>
            </a:endParaRPr>
          </a:p>
          <a:p>
            <a:pPr marL="39370" indent="1905" algn="l" defTabSz="0" rtl="0" eaLnBrk="0">
              <a:lnSpc>
                <a:spcPct val="94000"/>
              </a:lnSpc>
              <a:spcBef>
                <a:spcPts val="795"/>
              </a:spcBef>
            </a:pPr>
            <a:r>
              <a:rPr sz="2000"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截至目前</a:t>
            </a:r>
            <a:r>
              <a:rPr sz="2000" kern="0" spc="-13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30" dirty="0">
                <a:solidFill>
                  <a:srgbClr val="262626">
                    <a:alpha val="100000"/>
                  </a:srgbClr>
                </a:solidFill>
                <a:latin typeface="Times New Roman" panose="02020603050405020304"/>
                <a:ea typeface="Times New Roman" panose="02020603050405020304"/>
                <a:cs typeface="Times New Roman" panose="02020603050405020304"/>
              </a:rPr>
              <a:t>Circle </a:t>
            </a:r>
            <a:r>
              <a:rPr sz="2000"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已持有美国</a:t>
            </a:r>
            <a:r>
              <a:rPr sz="2000" kern="0" spc="-30" dirty="0">
                <a:solidFill>
                  <a:srgbClr val="262626">
                    <a:alpha val="100000"/>
                  </a:srgbClr>
                </a:solidFill>
                <a:latin typeface="Times New Roman" panose="02020603050405020304"/>
                <a:ea typeface="Times New Roman" panose="02020603050405020304"/>
                <a:cs typeface="Times New Roman" panose="02020603050405020304"/>
              </a:rPr>
              <a:t>46</a:t>
            </a:r>
            <a:r>
              <a:rPr sz="2000"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个州的货币传输牌照（</a:t>
            </a:r>
            <a:r>
              <a:rPr sz="2000" kern="0" spc="-30" dirty="0">
                <a:solidFill>
                  <a:srgbClr val="262626">
                    <a:alpha val="100000"/>
                  </a:srgbClr>
                </a:solidFill>
                <a:latin typeface="Times New Roman" panose="02020603050405020304"/>
                <a:ea typeface="Times New Roman" panose="02020603050405020304"/>
                <a:cs typeface="Times New Roman" panose="02020603050405020304"/>
              </a:rPr>
              <a:t>MTL</a:t>
            </a:r>
            <a:r>
              <a:rPr sz="2000"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30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26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rPr>
              <a:t>欧盟电子货币机构许可（</a:t>
            </a:r>
            <a:r>
              <a:rPr sz="2000" kern="0" spc="-40" dirty="0">
                <a:solidFill>
                  <a:srgbClr val="262626">
                    <a:alpha val="100000"/>
                  </a:srgbClr>
                </a:solidFill>
                <a:latin typeface="Times New Roman" panose="02020603050405020304"/>
                <a:ea typeface="Times New Roman" panose="02020603050405020304"/>
                <a:cs typeface="Times New Roman" panose="02020603050405020304"/>
              </a:rPr>
              <a:t>EMI</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33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rPr>
              <a:t>并成</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为香港《稳定币条例》</a:t>
            </a:r>
            <a:r>
              <a:rPr sz="2000" kern="0" spc="-33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首批合规机构</a:t>
            </a:r>
            <a:r>
              <a:rPr sz="2000" kern="0" spc="-24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38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这</a:t>
            </a:r>
            <a:r>
              <a:rPr sz="2000"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种前瞻性布局使其在监管环境变化时占据先机：</a:t>
            </a:r>
            <a:r>
              <a:rPr sz="2000" kern="0" spc="-14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endParaRPr sz="2000" kern="0" spc="-140" dirty="0">
              <a:solidFill>
                <a:srgbClr val="262626">
                  <a:alpha val="100000"/>
                </a:srgbClr>
              </a:solidFill>
              <a:latin typeface="华文仿宋" panose="02010600040101010101" charset="-122"/>
              <a:ea typeface="华文仿宋" panose="02010600040101010101" charset="-122"/>
              <a:cs typeface="华文仿宋" panose="02010600040101010101" charset="-122"/>
            </a:endParaRPr>
          </a:p>
          <a:p>
            <a:pPr marL="39370" indent="1905" algn="l" defTabSz="0" rtl="0" eaLnBrk="0">
              <a:lnSpc>
                <a:spcPct val="94000"/>
              </a:lnSpc>
              <a:spcBef>
                <a:spcPts val="795"/>
              </a:spcBef>
            </a:pPr>
            <a:r>
              <a:rPr sz="2000"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当美国</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20" dirty="0">
                <a:solidFill>
                  <a:srgbClr val="262626">
                    <a:alpha val="100000"/>
                  </a:srgbClr>
                </a:solidFill>
                <a:latin typeface="Times New Roman" panose="02020603050405020304"/>
                <a:ea typeface="Times New Roman" panose="02020603050405020304"/>
                <a:cs typeface="Times New Roman" panose="02020603050405020304"/>
              </a:rPr>
              <a:t>GENIUS</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法案》</a:t>
            </a:r>
            <a:r>
              <a:rPr sz="2000" kern="0" spc="-35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要求稳定币储备必须包含</a:t>
            </a:r>
            <a:r>
              <a:rPr sz="2000" kern="0" spc="-20" dirty="0">
                <a:solidFill>
                  <a:srgbClr val="262626">
                    <a:alpha val="100000"/>
                  </a:srgbClr>
                </a:solidFill>
                <a:latin typeface="Times New Roman" panose="02020603050405020304"/>
                <a:ea typeface="Times New Roman" panose="02020603050405020304"/>
                <a:cs typeface="Times New Roman" panose="02020603050405020304"/>
              </a:rPr>
              <a:t>90%</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以上高</a:t>
            </a:r>
            <a:r>
              <a:rPr sz="2000"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流动性资产时，</a:t>
            </a:r>
            <a:r>
              <a:rPr sz="2000" kern="0" spc="-30" dirty="0">
                <a:solidFill>
                  <a:srgbClr val="262626">
                    <a:alpha val="100000"/>
                  </a:srgbClr>
                </a:solidFill>
                <a:latin typeface="Times New Roman" panose="02020603050405020304"/>
                <a:ea typeface="Times New Roman" panose="02020603050405020304"/>
                <a:cs typeface="Times New Roman" panose="02020603050405020304"/>
              </a:rPr>
              <a:t>USDC</a:t>
            </a:r>
            <a:r>
              <a:rPr sz="2000"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因早已调整储备结构（</a:t>
            </a:r>
            <a:r>
              <a:rPr sz="2000" kern="0" spc="-30" dirty="0">
                <a:solidFill>
                  <a:srgbClr val="262626">
                    <a:alpha val="100000"/>
                  </a:srgbClr>
                </a:solidFill>
                <a:latin typeface="Times New Roman" panose="02020603050405020304"/>
                <a:ea typeface="Times New Roman" panose="02020603050405020304"/>
                <a:cs typeface="Times New Roman" panose="02020603050405020304"/>
              </a:rPr>
              <a:t>2021</a:t>
            </a:r>
            <a:r>
              <a:rPr sz="2000"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年即剔除商业票据）</a:t>
            </a:r>
            <a:r>
              <a:rPr sz="2000" kern="0" spc="-34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无需大规模重</a:t>
            </a:r>
            <a:r>
              <a:rPr sz="2000"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rPr>
              <a:t>组，</a:t>
            </a:r>
            <a:r>
              <a:rPr sz="2000" kern="0" spc="-28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rPr>
              <a:t>而竞争对手</a:t>
            </a:r>
            <a:r>
              <a:rPr sz="2000" kern="0" spc="-40" dirty="0">
                <a:solidFill>
                  <a:srgbClr val="262626">
                    <a:alpha val="100000"/>
                  </a:srgbClr>
                </a:solidFill>
                <a:latin typeface="Times New Roman" panose="02020603050405020304"/>
                <a:ea typeface="Times New Roman" panose="02020603050405020304"/>
                <a:cs typeface="Times New Roman" panose="02020603050405020304"/>
              </a:rPr>
              <a:t>USDT</a:t>
            </a:r>
            <a:r>
              <a:rPr sz="2000"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rPr>
              <a:t>仍保持</a:t>
            </a:r>
            <a:r>
              <a:rPr sz="2000" kern="0" spc="-40" dirty="0">
                <a:solidFill>
                  <a:srgbClr val="262626">
                    <a:alpha val="100000"/>
                  </a:srgbClr>
                </a:solidFill>
                <a:latin typeface="Times New Roman" panose="02020603050405020304"/>
                <a:ea typeface="Times New Roman" panose="02020603050405020304"/>
                <a:cs typeface="Times New Roman" panose="02020603050405020304"/>
              </a:rPr>
              <a:t>19%</a:t>
            </a:r>
            <a:r>
              <a:rPr sz="2000"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rPr>
              <a:t>的商业票据配置</a:t>
            </a:r>
            <a:r>
              <a:rPr sz="2000" kern="0" spc="-24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05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05000"/>
              </a:lnSpc>
            </a:pPr>
            <a:endParaRPr sz="1000" dirty="0">
              <a:latin typeface="Arial" panose="020B0604020202020204" pitchFamily="34" charset="0"/>
              <a:ea typeface="Arial" panose="020B0604020202020204" pitchFamily="34" charset="0"/>
              <a:cs typeface="Arial" panose="020B0604020202020204" pitchFamily="34" charset="0"/>
            </a:endParaRPr>
          </a:p>
          <a:p>
            <a:pPr marL="26670" algn="l" defTabSz="0" rtl="0" eaLnBrk="0">
              <a:lnSpc>
                <a:spcPct val="82000"/>
              </a:lnSpc>
              <a:spcBef>
                <a:spcPts val="610"/>
              </a:spcBef>
            </a:pPr>
            <a:r>
              <a:rPr sz="2000" b="1" kern="0" spc="-10" dirty="0">
                <a:solidFill>
                  <a:srgbClr val="FF0000">
                    <a:alpha val="100000"/>
                  </a:srgbClr>
                </a:solidFill>
                <a:latin typeface="Times New Roman" panose="02020603050405020304"/>
                <a:ea typeface="Times New Roman" panose="02020603050405020304"/>
                <a:cs typeface="Times New Roman" panose="02020603050405020304"/>
              </a:rPr>
              <a:t>4.</a:t>
            </a:r>
            <a:r>
              <a:rPr sz="2000" b="1" kern="0" spc="-10" dirty="0">
                <a:solidFill>
                  <a:srgbClr val="FF0000">
                    <a:alpha val="100000"/>
                  </a:srgbClr>
                </a:solidFill>
                <a:latin typeface="华文仿宋" panose="02010600040101010101" charset="-122"/>
                <a:ea typeface="华文仿宋" panose="02010600040101010101" charset="-122"/>
                <a:cs typeface="华文仿宋" panose="02010600040101010101" charset="-122"/>
              </a:rPr>
              <a:t>协同优势的商业价值生</a:t>
            </a:r>
            <a:r>
              <a:rPr sz="2000" b="1"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态：</a:t>
            </a:r>
            <a:endParaRPr sz="2000" dirty="0">
              <a:latin typeface="华文仿宋" panose="02010600040101010101" charset="-122"/>
              <a:ea typeface="华文仿宋" panose="02010600040101010101" charset="-122"/>
              <a:cs typeface="华文仿宋" panose="02010600040101010101" charset="-122"/>
            </a:endParaRPr>
          </a:p>
          <a:p>
            <a:pPr marL="32385" indent="37465" algn="l" defTabSz="0" rtl="0" eaLnBrk="0">
              <a:lnSpc>
                <a:spcPct val="88000"/>
              </a:lnSpc>
              <a:spcBef>
                <a:spcPts val="1180"/>
              </a:spcBef>
            </a:pPr>
            <a:r>
              <a:rPr sz="2000" kern="0" spc="-10" dirty="0">
                <a:solidFill>
                  <a:srgbClr val="262626">
                    <a:alpha val="100000"/>
                  </a:srgbClr>
                </a:solidFill>
                <a:latin typeface="Times New Roman" panose="02020603050405020304"/>
                <a:ea typeface="Times New Roman" panose="02020603050405020304"/>
                <a:cs typeface="Times New Roman" panose="02020603050405020304"/>
              </a:rPr>
              <a:t>USDC</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采用</a:t>
            </a:r>
            <a:r>
              <a:rPr sz="2000" kern="0" spc="-10" dirty="0">
                <a:solidFill>
                  <a:srgbClr val="262626">
                    <a:alpha val="100000"/>
                  </a:srgbClr>
                </a:solidFill>
                <a:latin typeface="Times New Roman" panose="02020603050405020304"/>
                <a:ea typeface="Times New Roman" panose="02020603050405020304"/>
                <a:cs typeface="Times New Roman" panose="02020603050405020304"/>
              </a:rPr>
              <a:t>“</a:t>
            </a:r>
            <a:r>
              <a:rPr sz="2000" kern="0" spc="-350" dirty="0">
                <a:solidFill>
                  <a:srgbClr val="262626">
                    <a:alpha val="100000"/>
                  </a:srgbClr>
                </a:solidFill>
                <a:latin typeface="Times New Roman" panose="02020603050405020304"/>
                <a:ea typeface="Times New Roman" panose="02020603050405020304"/>
                <a:cs typeface="Times New Roman" panose="02020603050405020304"/>
              </a:rPr>
              <a:t> </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发行</a:t>
            </a:r>
            <a:r>
              <a:rPr sz="2000" kern="0" spc="-10" dirty="0">
                <a:solidFill>
                  <a:srgbClr val="262626">
                    <a:alpha val="100000"/>
                  </a:srgbClr>
                </a:solidFill>
                <a:latin typeface="Times New Roman" panose="02020603050405020304"/>
                <a:ea typeface="Times New Roman" panose="02020603050405020304"/>
                <a:cs typeface="Times New Roman" panose="02020603050405020304"/>
              </a:rPr>
              <a:t>-</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分销</a:t>
            </a:r>
            <a:r>
              <a:rPr sz="2000" kern="0" spc="-10" dirty="0">
                <a:solidFill>
                  <a:srgbClr val="262626">
                    <a:alpha val="100000"/>
                  </a:srgbClr>
                </a:solidFill>
                <a:latin typeface="Times New Roman" panose="02020603050405020304"/>
                <a:ea typeface="Times New Roman" panose="02020603050405020304"/>
                <a:cs typeface="Times New Roman" panose="02020603050405020304"/>
              </a:rPr>
              <a:t>-</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托管</a:t>
            </a:r>
            <a:r>
              <a:rPr sz="2000" kern="0" spc="-10" dirty="0">
                <a:solidFill>
                  <a:srgbClr val="262626">
                    <a:alpha val="100000"/>
                  </a:srgbClr>
                </a:solidFill>
                <a:latin typeface="Times New Roman" panose="02020603050405020304"/>
                <a:ea typeface="Times New Roman" panose="02020603050405020304"/>
                <a:cs typeface="Times New Roman" panose="02020603050405020304"/>
              </a:rPr>
              <a:t>”</a:t>
            </a:r>
            <a:r>
              <a:rPr sz="2000" kern="0" spc="-220" dirty="0">
                <a:solidFill>
                  <a:srgbClr val="262626">
                    <a:alpha val="100000"/>
                  </a:srgbClr>
                </a:solidFill>
                <a:latin typeface="Times New Roman" panose="02020603050405020304"/>
                <a:ea typeface="Times New Roman" panose="02020603050405020304"/>
                <a:cs typeface="Times New Roman" panose="02020603050405020304"/>
              </a:rPr>
              <a:t> </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的高效协作</a:t>
            </a:r>
            <a:r>
              <a:rPr sz="2000" kern="0" spc="-24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10" dirty="0">
                <a:solidFill>
                  <a:srgbClr val="262626">
                    <a:alpha val="100000"/>
                  </a:srgbClr>
                </a:solidFill>
                <a:latin typeface="Times New Roman" panose="02020603050405020304"/>
                <a:ea typeface="Times New Roman" panose="02020603050405020304"/>
                <a:cs typeface="Times New Roman" panose="02020603050405020304"/>
              </a:rPr>
              <a:t>Circle</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专注于底层协议开发与</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合规管理；</a:t>
            </a:r>
            <a:r>
              <a:rPr sz="2000" kern="0" spc="-20" dirty="0">
                <a:solidFill>
                  <a:srgbClr val="262626">
                    <a:alpha val="100000"/>
                  </a:srgbClr>
                </a:solidFill>
                <a:latin typeface="Times New Roman" panose="02020603050405020304"/>
                <a:ea typeface="Times New Roman" panose="02020603050405020304"/>
                <a:cs typeface="Times New Roman" panose="02020603050405020304"/>
              </a:rPr>
              <a:t>Coinbase</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承担主要分</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销渠道（</a:t>
            </a:r>
            <a:r>
              <a:rPr sz="2000" kern="0" spc="-10" dirty="0">
                <a:solidFill>
                  <a:srgbClr val="262626">
                    <a:alpha val="100000"/>
                  </a:srgbClr>
                </a:solidFill>
                <a:latin typeface="Times New Roman" panose="02020603050405020304"/>
                <a:ea typeface="Times New Roman" panose="02020603050405020304"/>
                <a:cs typeface="Times New Roman" panose="02020603050405020304"/>
              </a:rPr>
              <a:t>2025</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年流通量占比达</a:t>
            </a:r>
            <a:r>
              <a:rPr sz="2000" kern="0" spc="-10" dirty="0">
                <a:solidFill>
                  <a:srgbClr val="262626">
                    <a:alpha val="100000"/>
                  </a:srgbClr>
                </a:solidFill>
                <a:latin typeface="Times New Roman" panose="02020603050405020304"/>
                <a:ea typeface="Times New Roman" panose="02020603050405020304"/>
                <a:cs typeface="Times New Roman" panose="02020603050405020304"/>
              </a:rPr>
              <a:t>23%</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33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贝莱德通过专属货币市场基</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金管理</a:t>
            </a:r>
            <a:r>
              <a:rPr sz="2000" kern="0" spc="-20" dirty="0">
                <a:solidFill>
                  <a:srgbClr val="262626">
                    <a:alpha val="100000"/>
                  </a:srgbClr>
                </a:solidFill>
                <a:latin typeface="Times New Roman" panose="02020603050405020304"/>
                <a:ea typeface="Times New Roman" panose="02020603050405020304"/>
                <a:cs typeface="Times New Roman" panose="02020603050405020304"/>
              </a:rPr>
              <a:t>533</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亿美元的国债储备</a:t>
            </a:r>
            <a:r>
              <a:rPr sz="2000" kern="0" spc="-24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38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这种</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分工带来显著的协同效应：</a:t>
            </a:r>
            <a:endParaRPr sz="2000" dirty="0">
              <a:latin typeface="华文仿宋" panose="02010600040101010101" charset="-122"/>
              <a:ea typeface="华文仿宋" panose="02010600040101010101" charset="-122"/>
              <a:cs typeface="华文仿宋" panose="02010600040101010101" charset="-122"/>
            </a:endParaRPr>
          </a:p>
        </p:txBody>
      </p:sp>
      <p:sp>
        <p:nvSpPr>
          <p:cNvPr id="130" name="rect 130"/>
          <p:cNvSpPr/>
          <p:nvPr/>
        </p:nvSpPr>
        <p:spPr>
          <a:xfrm>
            <a:off x="0" y="6556247"/>
            <a:ext cx="12192000" cy="301752"/>
          </a:xfrm>
          <a:prstGeom prst="rect">
            <a:avLst/>
          </a:prstGeom>
          <a:solidFill>
            <a:srgbClr val="AE0B2A">
              <a:alpha val="100000"/>
            </a:srgbClr>
          </a:solidFill>
          <a:ln w="0" cap="flat">
            <a:noFill/>
            <a:prstDash val="solid"/>
            <a:miter lim="0"/>
          </a:ln>
        </p:spPr>
        <p:txBody>
          <a:bodyPr rtlCol="0"/>
          <a:lstStyle/>
          <a:p>
            <a:pPr algn="ctr"/>
            <a:endParaRPr lang="zh-CN" altLang="en-US"/>
          </a:p>
        </p:txBody>
      </p:sp>
      <p:pic>
        <p:nvPicPr>
          <p:cNvPr id="134" name="picture 134"/>
          <p:cNvPicPr>
            <a:picLocks noChangeAspect="1"/>
          </p:cNvPicPr>
          <p:nvPr/>
        </p:nvPicPr>
        <p:blipFill>
          <a:blip r:embed="rId1"/>
          <a:stretch>
            <a:fillRect/>
          </a:stretch>
        </p:blipFill>
        <p:spPr>
          <a:xfrm rot="21600000">
            <a:off x="2752725" y="451954"/>
            <a:ext cx="9439275" cy="1905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textbox 128"/>
          <p:cNvSpPr/>
          <p:nvPr/>
        </p:nvSpPr>
        <p:spPr>
          <a:xfrm>
            <a:off x="378706" y="738339"/>
            <a:ext cx="11435715" cy="5380354"/>
          </a:xfrm>
          <a:prstGeom prst="rect">
            <a:avLst/>
          </a:prstGeom>
          <a:noFill/>
          <a:ln w="0" cap="flat">
            <a:noFill/>
            <a:prstDash val="solid"/>
            <a:miter lim="0"/>
          </a:ln>
        </p:spPr>
        <p:txBody>
          <a:bodyPr vert="horz" wrap="square" lIns="0" tIns="0" rIns="0" bIns="0"/>
          <a:lstStyle/>
          <a:p>
            <a:pPr algn="l" defTabSz="0" rtl="0" eaLnBrk="0">
              <a:lnSpc>
                <a:spcPct val="83000"/>
              </a:lnSpc>
            </a:pPr>
            <a:endParaRPr sz="2000" dirty="0">
              <a:latin typeface="华文仿宋" panose="02010600040101010101" charset="-122"/>
              <a:ea typeface="华文仿宋" panose="02010600040101010101" charset="-122"/>
              <a:cs typeface="华文仿宋" panose="02010600040101010101" charset="-122"/>
            </a:endParaRPr>
          </a:p>
        </p:txBody>
      </p:sp>
      <p:sp>
        <p:nvSpPr>
          <p:cNvPr id="130" name="rect 130"/>
          <p:cNvSpPr/>
          <p:nvPr/>
        </p:nvSpPr>
        <p:spPr>
          <a:xfrm>
            <a:off x="0" y="6556247"/>
            <a:ext cx="12192000" cy="301752"/>
          </a:xfrm>
          <a:prstGeom prst="rect">
            <a:avLst/>
          </a:prstGeom>
          <a:solidFill>
            <a:srgbClr val="AE0B2A">
              <a:alpha val="100000"/>
            </a:srgbClr>
          </a:solidFill>
          <a:ln w="0" cap="flat">
            <a:noFill/>
            <a:prstDash val="solid"/>
            <a:miter lim="0"/>
          </a:ln>
        </p:spPr>
        <p:txBody>
          <a:bodyPr rtlCol="0"/>
          <a:lstStyle/>
          <a:p>
            <a:pPr algn="ctr"/>
            <a:endParaRPr lang="zh-CN" altLang="en-US"/>
          </a:p>
        </p:txBody>
      </p:sp>
      <p:pic>
        <p:nvPicPr>
          <p:cNvPr id="134" name="picture 134"/>
          <p:cNvPicPr>
            <a:picLocks noChangeAspect="1"/>
          </p:cNvPicPr>
          <p:nvPr/>
        </p:nvPicPr>
        <p:blipFill>
          <a:blip r:embed="rId1"/>
          <a:stretch>
            <a:fillRect/>
          </a:stretch>
        </p:blipFill>
        <p:spPr>
          <a:xfrm rot="21600000">
            <a:off x="2752725" y="451954"/>
            <a:ext cx="9439275" cy="19050"/>
          </a:xfrm>
          <a:prstGeom prst="rect">
            <a:avLst/>
          </a:prstGeom>
        </p:spPr>
      </p:pic>
      <p:pic>
        <p:nvPicPr>
          <p:cNvPr id="136" name="picture 136"/>
          <p:cNvPicPr>
            <a:picLocks noChangeAspect="1"/>
          </p:cNvPicPr>
          <p:nvPr/>
        </p:nvPicPr>
        <p:blipFill>
          <a:blip r:embed="rId2"/>
          <a:stretch>
            <a:fillRect/>
          </a:stretch>
        </p:blipFill>
        <p:spPr>
          <a:xfrm rot="21600000">
            <a:off x="0" y="451954"/>
            <a:ext cx="901700" cy="19050"/>
          </a:xfrm>
          <a:prstGeom prst="rect">
            <a:avLst/>
          </a:prstGeom>
        </p:spPr>
      </p:pic>
      <p:pic>
        <p:nvPicPr>
          <p:cNvPr id="3" name="图片 2" descr="豆包"/>
          <p:cNvPicPr>
            <a:picLocks noChangeAspect="1"/>
          </p:cNvPicPr>
          <p:nvPr/>
        </p:nvPicPr>
        <p:blipFill>
          <a:blip r:embed="rId3"/>
          <a:srcRect b="15248"/>
          <a:stretch>
            <a:fillRect/>
          </a:stretch>
        </p:blipFill>
        <p:spPr>
          <a:xfrm>
            <a:off x="-635" y="471170"/>
            <a:ext cx="12192635" cy="580961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textbox 148"/>
          <p:cNvSpPr/>
          <p:nvPr/>
        </p:nvSpPr>
        <p:spPr>
          <a:xfrm>
            <a:off x="951023" y="661504"/>
            <a:ext cx="10437494" cy="4601209"/>
          </a:xfrm>
          <a:prstGeom prst="rect">
            <a:avLst/>
          </a:prstGeom>
          <a:noFill/>
          <a:ln w="0" cap="flat">
            <a:noFill/>
            <a:prstDash val="solid"/>
            <a:miter lim="0"/>
          </a:ln>
        </p:spPr>
        <p:txBody>
          <a:bodyPr vert="horz" wrap="square" lIns="0" tIns="0" rIns="0" bIns="0"/>
          <a:lstStyle/>
          <a:p>
            <a:pPr algn="l" defTabSz="0"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649605" algn="l" defTabSz="0" rtl="0" eaLnBrk="0">
              <a:lnSpc>
                <a:spcPts val="3120"/>
              </a:lnSpc>
            </a:pPr>
            <a:r>
              <a:rPr sz="2300" b="1"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a:t>
            </a:r>
            <a:r>
              <a:rPr sz="2300"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300" b="1"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三</a:t>
            </a:r>
            <a:r>
              <a:rPr sz="2300"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300" b="1"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a:t>
            </a:r>
            <a:r>
              <a:rPr sz="2300"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300" b="1"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一</a:t>
            </a:r>
            <a:r>
              <a:rPr sz="2300" kern="0" spc="-16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300" b="1"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个</a:t>
            </a:r>
            <a:r>
              <a:rPr sz="2300"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300" b="1"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成</a:t>
            </a:r>
            <a:r>
              <a:rPr sz="2300"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300" b="1"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功</a:t>
            </a:r>
            <a:r>
              <a:rPr sz="2300"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300" b="1"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的</a:t>
            </a:r>
            <a:r>
              <a:rPr sz="2300"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300" b="1"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案</a:t>
            </a:r>
            <a:r>
              <a:rPr sz="2300" kern="0" spc="-5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300" b="1" kern="0" spc="-50" dirty="0">
                <a:solidFill>
                  <a:srgbClr val="FF0000">
                    <a:alpha val="100000"/>
                  </a:srgbClr>
                </a:solidFill>
                <a:latin typeface="华文仿宋" panose="02010600040101010101" charset="-122"/>
                <a:ea typeface="华文仿宋" panose="02010600040101010101" charset="-122"/>
                <a:cs typeface="华文仿宋" panose="02010600040101010101" charset="-122"/>
              </a:rPr>
              <a:t>例</a:t>
            </a:r>
            <a:r>
              <a:rPr sz="2300" kern="0" spc="-24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300" b="1" kern="0" spc="-50" dirty="0">
                <a:solidFill>
                  <a:srgbClr val="FF0000">
                    <a:alpha val="100000"/>
                  </a:srgbClr>
                </a:solidFill>
                <a:latin typeface="华文仿宋" panose="02010600040101010101" charset="-122"/>
                <a:ea typeface="华文仿宋" panose="02010600040101010101" charset="-122"/>
                <a:cs typeface="华文仿宋" panose="02010600040101010101" charset="-122"/>
              </a:rPr>
              <a:t>：</a:t>
            </a:r>
            <a:r>
              <a:rPr sz="2300" kern="0" spc="-5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300" b="1" kern="0" spc="-50" dirty="0">
                <a:solidFill>
                  <a:srgbClr val="003A63">
                    <a:alpha val="100000"/>
                  </a:srgbClr>
                </a:solidFill>
                <a:latin typeface="华文仿宋" panose="02010600040101010101" charset="-122"/>
                <a:ea typeface="华文仿宋" panose="02010600040101010101" charset="-122"/>
                <a:cs typeface="华文仿宋" panose="02010600040101010101" charset="-122"/>
              </a:rPr>
              <a:t>Cir</a:t>
            </a:r>
            <a:r>
              <a:rPr sz="2300" kern="0" spc="-160" dirty="0">
                <a:solidFill>
                  <a:srgbClr val="003A63">
                    <a:alpha val="100000"/>
                  </a:srgbClr>
                </a:solidFill>
                <a:latin typeface="华文仿宋" panose="02010600040101010101" charset="-122"/>
                <a:ea typeface="华文仿宋" panose="02010600040101010101" charset="-122"/>
                <a:cs typeface="华文仿宋" panose="02010600040101010101" charset="-122"/>
              </a:rPr>
              <a:t> </a:t>
            </a:r>
            <a:r>
              <a:rPr sz="2300" b="1" kern="0" spc="-50" dirty="0">
                <a:solidFill>
                  <a:srgbClr val="003A63">
                    <a:alpha val="100000"/>
                  </a:srgbClr>
                </a:solidFill>
                <a:latin typeface="华文仿宋" panose="02010600040101010101" charset="-122"/>
                <a:ea typeface="华文仿宋" panose="02010600040101010101" charset="-122"/>
                <a:cs typeface="华文仿宋" panose="02010600040101010101" charset="-122"/>
              </a:rPr>
              <a:t>cl</a:t>
            </a:r>
            <a:r>
              <a:rPr sz="2300" kern="0" spc="-170" dirty="0">
                <a:solidFill>
                  <a:srgbClr val="003A63">
                    <a:alpha val="100000"/>
                  </a:srgbClr>
                </a:solidFill>
                <a:latin typeface="华文仿宋" panose="02010600040101010101" charset="-122"/>
                <a:ea typeface="华文仿宋" panose="02010600040101010101" charset="-122"/>
                <a:cs typeface="华文仿宋" panose="02010600040101010101" charset="-122"/>
              </a:rPr>
              <a:t> </a:t>
            </a:r>
            <a:r>
              <a:rPr sz="2300" b="1" kern="0" spc="-50" dirty="0">
                <a:solidFill>
                  <a:srgbClr val="003A63">
                    <a:alpha val="100000"/>
                  </a:srgbClr>
                </a:solidFill>
                <a:latin typeface="华文仿宋" panose="02010600040101010101" charset="-122"/>
                <a:ea typeface="华文仿宋" panose="02010600040101010101" charset="-122"/>
                <a:cs typeface="华文仿宋" panose="02010600040101010101" charset="-122"/>
              </a:rPr>
              <a:t>e</a:t>
            </a:r>
            <a:r>
              <a:rPr sz="2300" kern="0" spc="70" dirty="0">
                <a:solidFill>
                  <a:srgbClr val="003A63">
                    <a:alpha val="100000"/>
                  </a:srgbClr>
                </a:solidFill>
                <a:latin typeface="华文仿宋" panose="02010600040101010101" charset="-122"/>
                <a:ea typeface="华文仿宋" panose="02010600040101010101" charset="-122"/>
                <a:cs typeface="华文仿宋" panose="02010600040101010101" charset="-122"/>
              </a:rPr>
              <a:t> </a:t>
            </a:r>
            <a:r>
              <a:rPr sz="2300" b="1" kern="0" spc="-50" dirty="0">
                <a:solidFill>
                  <a:srgbClr val="003A63">
                    <a:alpha val="100000"/>
                  </a:srgbClr>
                </a:solidFill>
                <a:latin typeface="华文仿宋" panose="02010600040101010101" charset="-122"/>
                <a:ea typeface="华文仿宋" panose="02010600040101010101" charset="-122"/>
                <a:cs typeface="华文仿宋" panose="02010600040101010101" charset="-122"/>
              </a:rPr>
              <a:t>的</a:t>
            </a:r>
            <a:r>
              <a:rPr sz="2300" kern="0" spc="-230" dirty="0">
                <a:solidFill>
                  <a:srgbClr val="003A63">
                    <a:alpha val="100000"/>
                  </a:srgbClr>
                </a:solidFill>
                <a:latin typeface="华文仿宋" panose="02010600040101010101" charset="-122"/>
                <a:ea typeface="华文仿宋" panose="02010600040101010101" charset="-122"/>
                <a:cs typeface="华文仿宋" panose="02010600040101010101" charset="-122"/>
              </a:rPr>
              <a:t> </a:t>
            </a:r>
            <a:r>
              <a:rPr sz="2300" b="1" kern="0" spc="-50" dirty="0">
                <a:solidFill>
                  <a:srgbClr val="003A63">
                    <a:alpha val="100000"/>
                  </a:srgbClr>
                </a:solidFill>
                <a:latin typeface="华文仿宋" panose="02010600040101010101" charset="-122"/>
                <a:ea typeface="华文仿宋" panose="02010600040101010101" charset="-122"/>
                <a:cs typeface="华文仿宋" panose="02010600040101010101" charset="-122"/>
              </a:rPr>
              <a:t>US</a:t>
            </a:r>
            <a:r>
              <a:rPr sz="2300" kern="0" spc="-240" dirty="0">
                <a:solidFill>
                  <a:srgbClr val="003A63">
                    <a:alpha val="100000"/>
                  </a:srgbClr>
                </a:solidFill>
                <a:latin typeface="华文仿宋" panose="02010600040101010101" charset="-122"/>
                <a:ea typeface="华文仿宋" panose="02010600040101010101" charset="-122"/>
                <a:cs typeface="华文仿宋" panose="02010600040101010101" charset="-122"/>
              </a:rPr>
              <a:t> </a:t>
            </a:r>
            <a:r>
              <a:rPr sz="2300" b="1" kern="0" spc="-50" dirty="0">
                <a:solidFill>
                  <a:srgbClr val="003A63">
                    <a:alpha val="100000"/>
                  </a:srgbClr>
                </a:solidFill>
                <a:latin typeface="华文仿宋" panose="02010600040101010101" charset="-122"/>
                <a:ea typeface="华文仿宋" panose="02010600040101010101" charset="-122"/>
                <a:cs typeface="华文仿宋" panose="02010600040101010101" charset="-122"/>
              </a:rPr>
              <a:t>DC</a:t>
            </a:r>
            <a:endParaRPr sz="2300" dirty="0">
              <a:latin typeface="华文仿宋" panose="02010600040101010101" charset="-122"/>
              <a:ea typeface="华文仿宋" panose="02010600040101010101" charset="-122"/>
              <a:cs typeface="华文仿宋" panose="02010600040101010101" charset="-122"/>
            </a:endParaRPr>
          </a:p>
          <a:p>
            <a:pPr algn="l" defTabSz="0" rtl="0" eaLnBrk="0">
              <a:lnSpc>
                <a:spcPct val="113000"/>
              </a:lnSpc>
            </a:pPr>
            <a:endParaRPr sz="1000" dirty="0">
              <a:latin typeface="Arial" panose="020B0604020202020204" pitchFamily="34" charset="0"/>
              <a:ea typeface="Arial" panose="020B0604020202020204" pitchFamily="34" charset="0"/>
              <a:cs typeface="Arial" panose="020B0604020202020204" pitchFamily="34" charset="0"/>
            </a:endParaRPr>
          </a:p>
          <a:p>
            <a:pPr marL="13335" algn="l" defTabSz="0" rtl="0" eaLnBrk="0">
              <a:lnSpc>
                <a:spcPts val="2610"/>
              </a:lnSpc>
              <a:spcBef>
                <a:spcPts val="600"/>
              </a:spcBef>
            </a:pP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用户一般不直接Circle对接，</a:t>
            </a:r>
            <a:r>
              <a:rPr sz="2000" kern="0" spc="-24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而是通过服务商或做市商完成客户业务</a:t>
            </a:r>
            <a:r>
              <a:rPr sz="2000" kern="0" spc="-24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endPar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endParaRPr>
          </a:p>
          <a:p>
            <a:pPr marL="13335" algn="l" defTabSz="0" rtl="0" eaLnBrk="0">
              <a:lnSpc>
                <a:spcPts val="2610"/>
              </a:lnSpc>
              <a:spcBef>
                <a:spcPts val="600"/>
              </a:spcBef>
            </a:pPr>
            <a:endParaRPr sz="2000" dirty="0">
              <a:latin typeface="华文仿宋" panose="02010600040101010101" charset="-122"/>
              <a:ea typeface="华文仿宋" panose="02010600040101010101" charset="-122"/>
              <a:cs typeface="华文仿宋" panose="02010600040101010101" charset="-122"/>
            </a:endParaRPr>
          </a:p>
          <a:p>
            <a:pPr algn="l" defTabSz="0" rtl="0" eaLnBrk="0">
              <a:lnSpc>
                <a:spcPct val="128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28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01000"/>
              </a:lnSpc>
            </a:pPr>
            <a:endParaRPr sz="500" dirty="0">
              <a:latin typeface="Arial" panose="020B0604020202020204" pitchFamily="34" charset="0"/>
              <a:ea typeface="Arial" panose="020B0604020202020204" pitchFamily="34" charset="0"/>
              <a:cs typeface="Arial" panose="020B0604020202020204" pitchFamily="34" charset="0"/>
            </a:endParaRPr>
          </a:p>
          <a:p>
            <a:pPr marL="12700" indent="1270" algn="l" defTabSz="0" rtl="0" eaLnBrk="0">
              <a:lnSpc>
                <a:spcPct val="93000"/>
              </a:lnSpc>
              <a:spcBef>
                <a:spcPts val="5"/>
              </a:spcBef>
            </a:pPr>
            <a:endPar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endParaRPr>
          </a:p>
          <a:p>
            <a:pPr marL="12700" indent="1270" algn="l" defTabSz="0" rtl="0" eaLnBrk="0">
              <a:lnSpc>
                <a:spcPct val="93000"/>
              </a:lnSpc>
              <a:spcBef>
                <a:spcPts val="5"/>
              </a:spcBef>
            </a:pPr>
            <a:endPar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endParaRPr>
          </a:p>
          <a:p>
            <a:pPr marL="12700" indent="1270" algn="l" defTabSz="0" rtl="0" eaLnBrk="0">
              <a:lnSpc>
                <a:spcPct val="93000"/>
              </a:lnSpc>
              <a:spcBef>
                <a:spcPts val="5"/>
              </a:spcBef>
            </a:pPr>
            <a:endPar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endParaRPr>
          </a:p>
          <a:p>
            <a:pPr marL="12700" indent="1270" algn="l" defTabSz="0" rtl="0" eaLnBrk="0">
              <a:lnSpc>
                <a:spcPct val="93000"/>
              </a:lnSpc>
              <a:spcBef>
                <a:spcPts val="5"/>
              </a:spcBef>
            </a:pPr>
            <a:endPar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endParaRPr>
          </a:p>
          <a:p>
            <a:pPr marL="12700" indent="1270" algn="l" defTabSz="0" rtl="0" eaLnBrk="0">
              <a:lnSpc>
                <a:spcPct val="93000"/>
              </a:lnSpc>
              <a:spcBef>
                <a:spcPts val="5"/>
              </a:spcBef>
            </a:pPr>
            <a:endPar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endParaRPr>
          </a:p>
          <a:p>
            <a:pPr marL="12700" indent="1270" algn="l" defTabSz="0" rtl="0" eaLnBrk="0">
              <a:lnSpc>
                <a:spcPct val="93000"/>
              </a:lnSpc>
              <a:spcBef>
                <a:spcPts val="5"/>
              </a:spcBef>
            </a:pPr>
            <a:endPar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endParaRPr>
          </a:p>
          <a:p>
            <a:pPr marL="12700" indent="1270" algn="l" defTabSz="0" rtl="0" eaLnBrk="0">
              <a:lnSpc>
                <a:spcPct val="93000"/>
              </a:lnSpc>
              <a:spcBef>
                <a:spcPts val="5"/>
              </a:spcBef>
            </a:pPr>
            <a:endPar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endParaRPr>
          </a:p>
          <a:p>
            <a:pPr marL="12700" indent="1270" algn="l" defTabSz="0" rtl="0" eaLnBrk="0">
              <a:lnSpc>
                <a:spcPct val="93000"/>
              </a:lnSpc>
              <a:spcBef>
                <a:spcPts val="5"/>
              </a:spcBef>
            </a:pPr>
            <a:endPar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endParaRPr>
          </a:p>
          <a:p>
            <a:pPr marL="12700" indent="1270" algn="l" defTabSz="0" rtl="0" eaLnBrk="0">
              <a:lnSpc>
                <a:spcPct val="93000"/>
              </a:lnSpc>
              <a:spcBef>
                <a:spcPts val="5"/>
              </a:spcBef>
            </a:pPr>
            <a:endPar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endParaRPr>
          </a:p>
          <a:p>
            <a:pPr marL="12700" indent="1270" algn="l" defTabSz="0" rtl="0" eaLnBrk="0">
              <a:lnSpc>
                <a:spcPct val="93000"/>
              </a:lnSpc>
              <a:spcBef>
                <a:spcPts val="5"/>
              </a:spcBef>
            </a:pPr>
            <a:endPar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endParaRPr>
          </a:p>
          <a:p>
            <a:pPr marL="12700" indent="1270" algn="l" defTabSz="0" rtl="0" eaLnBrk="0">
              <a:lnSpc>
                <a:spcPct val="93000"/>
              </a:lnSpc>
              <a:spcBef>
                <a:spcPts val="5"/>
              </a:spcBef>
            </a:pP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整个过程：</a:t>
            </a:r>
            <a:r>
              <a:rPr sz="2000" kern="0" spc="-11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中心化（链下银行存款账户）</a:t>
            </a:r>
            <a:r>
              <a:rPr sz="2000" kern="0" spc="-26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到去中心化（链上钱包</a:t>
            </a:r>
            <a:r>
              <a:rPr sz="2000" kern="0" spc="-30" dirty="0">
                <a:solidFill>
                  <a:srgbClr val="FF0000">
                    <a:alpha val="100000"/>
                  </a:srgbClr>
                </a:solidFill>
                <a:latin typeface="华文仿宋" panose="02010600040101010101" charset="-122"/>
                <a:ea typeface="华文仿宋" panose="02010600040101010101" charset="-122"/>
                <a:cs typeface="华文仿宋" panose="02010600040101010101" charset="-122"/>
              </a:rPr>
              <a:t>地址非账户）</a:t>
            </a:r>
            <a:r>
              <a:rPr sz="2000" kern="0" spc="-35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kern="0" spc="-30" dirty="0">
                <a:solidFill>
                  <a:srgbClr val="FF0000">
                    <a:alpha val="100000"/>
                  </a:srgbClr>
                </a:solidFill>
                <a:latin typeface="华文仿宋" panose="02010600040101010101" charset="-122"/>
                <a:ea typeface="华文仿宋" panose="02010600040101010101" charset="-122"/>
                <a:cs typeface="华文仿宋" panose="02010600040101010101" charset="-122"/>
              </a:rPr>
              <a:t>再到中心化（链</a:t>
            </a:r>
            <a:r>
              <a:rPr sz="2000"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下银行账户）</a:t>
            </a:r>
            <a:r>
              <a:rPr sz="2000" kern="0" spc="-17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11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中心化而不是完全“</a:t>
            </a:r>
            <a:r>
              <a:rPr sz="2000" kern="0" spc="-32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去中心化</a:t>
            </a:r>
            <a:r>
              <a:rPr sz="2000" kern="0" spc="-33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”是稳定币成功的关键要素之一</a:t>
            </a:r>
            <a:r>
              <a:rPr sz="2000" kern="0" spc="-24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35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rPr>
              <a:t>稳定币在价格</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稳定、</a:t>
            </a:r>
            <a:r>
              <a:rPr sz="2000" kern="0" spc="-32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去中心化与资本效率的不可能三角中，</a:t>
            </a:r>
            <a:r>
              <a:rPr sz="2000" kern="0" spc="-39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选</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择了价格稳定和资本效率。</a:t>
            </a:r>
            <a:endParaRPr sz="2000" dirty="0">
              <a:latin typeface="华文仿宋" panose="02010600040101010101" charset="-122"/>
              <a:ea typeface="华文仿宋" panose="02010600040101010101" charset="-122"/>
              <a:cs typeface="华文仿宋" panose="02010600040101010101" charset="-122"/>
            </a:endParaRPr>
          </a:p>
        </p:txBody>
      </p:sp>
      <p:sp>
        <p:nvSpPr>
          <p:cNvPr id="150" name="rect 150"/>
          <p:cNvSpPr/>
          <p:nvPr/>
        </p:nvSpPr>
        <p:spPr>
          <a:xfrm>
            <a:off x="0" y="6556247"/>
            <a:ext cx="12192000" cy="301752"/>
          </a:xfrm>
          <a:prstGeom prst="rect">
            <a:avLst/>
          </a:prstGeom>
          <a:solidFill>
            <a:srgbClr val="AE0B2A">
              <a:alpha val="100000"/>
            </a:srgbClr>
          </a:solidFill>
          <a:ln w="0" cap="flat">
            <a:noFill/>
            <a:prstDash val="solid"/>
            <a:miter lim="0"/>
          </a:ln>
        </p:spPr>
        <p:txBody>
          <a:bodyPr rtlCol="0"/>
          <a:lstStyle/>
          <a:p>
            <a:pPr algn="ctr"/>
            <a:endParaRPr lang="zh-CN" altLang="en-US"/>
          </a:p>
        </p:txBody>
      </p:sp>
      <p:pic>
        <p:nvPicPr>
          <p:cNvPr id="152" name="picture 152"/>
          <p:cNvPicPr>
            <a:picLocks noChangeAspect="1"/>
          </p:cNvPicPr>
          <p:nvPr/>
        </p:nvPicPr>
        <p:blipFill>
          <a:blip r:embed="rId1"/>
          <a:stretch>
            <a:fillRect/>
          </a:stretch>
        </p:blipFill>
        <p:spPr>
          <a:xfrm rot="21600000">
            <a:off x="1228343" y="138625"/>
            <a:ext cx="1185671" cy="352864"/>
          </a:xfrm>
          <a:prstGeom prst="rect">
            <a:avLst/>
          </a:prstGeom>
        </p:spPr>
      </p:pic>
      <p:pic>
        <p:nvPicPr>
          <p:cNvPr id="154" name="picture 154"/>
          <p:cNvPicPr>
            <a:picLocks noChangeAspect="1"/>
          </p:cNvPicPr>
          <p:nvPr/>
        </p:nvPicPr>
        <p:blipFill>
          <a:blip r:embed="rId2"/>
          <a:stretch>
            <a:fillRect/>
          </a:stretch>
        </p:blipFill>
        <p:spPr>
          <a:xfrm rot="21600000">
            <a:off x="2752725" y="451954"/>
            <a:ext cx="9439275" cy="19050"/>
          </a:xfrm>
          <a:prstGeom prst="rect">
            <a:avLst/>
          </a:prstGeom>
        </p:spPr>
      </p:pic>
      <p:pic>
        <p:nvPicPr>
          <p:cNvPr id="156" name="picture 156"/>
          <p:cNvPicPr>
            <a:picLocks noChangeAspect="1"/>
          </p:cNvPicPr>
          <p:nvPr/>
        </p:nvPicPr>
        <p:blipFill>
          <a:blip r:embed="rId3"/>
          <a:stretch>
            <a:fillRect/>
          </a:stretch>
        </p:blipFill>
        <p:spPr>
          <a:xfrm rot="21600000">
            <a:off x="0" y="451954"/>
            <a:ext cx="901700" cy="19050"/>
          </a:xfrm>
          <a:prstGeom prst="rect">
            <a:avLst/>
          </a:prstGeom>
        </p:spPr>
      </p:pic>
      <p:pic>
        <p:nvPicPr>
          <p:cNvPr id="3" name="图片 2"/>
          <p:cNvPicPr>
            <a:picLocks noChangeAspect="1"/>
          </p:cNvPicPr>
          <p:nvPr/>
        </p:nvPicPr>
        <p:blipFill>
          <a:blip r:embed="rId4"/>
          <a:stretch>
            <a:fillRect/>
          </a:stretch>
        </p:blipFill>
        <p:spPr>
          <a:xfrm>
            <a:off x="1158240" y="1791335"/>
            <a:ext cx="6908165" cy="346456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textbox 82"/>
          <p:cNvSpPr/>
          <p:nvPr/>
        </p:nvSpPr>
        <p:spPr>
          <a:xfrm>
            <a:off x="394970" y="264160"/>
            <a:ext cx="10084435" cy="453390"/>
          </a:xfrm>
          <a:prstGeom prst="rect">
            <a:avLst/>
          </a:prstGeom>
          <a:noFill/>
          <a:ln w="0" cap="flat">
            <a:noFill/>
            <a:prstDash val="solid"/>
            <a:miter lim="0"/>
          </a:ln>
        </p:spPr>
        <p:txBody>
          <a:bodyPr vert="horz" wrap="square" lIns="0" tIns="0" rIns="0" bIns="0"/>
          <a:lstStyle/>
          <a:p>
            <a:pPr algn="l" rtl="0" eaLnBrk="0">
              <a:lnSpc>
                <a:spcPct val="105000"/>
              </a:lnSpc>
            </a:pPr>
            <a:endParaRPr sz="400" dirty="0">
              <a:latin typeface="Arial" panose="020B0604020202020204" pitchFamily="34" charset="0"/>
              <a:ea typeface="Arial" panose="020B0604020202020204" pitchFamily="34" charset="0"/>
              <a:cs typeface="Arial" panose="020B0604020202020204" pitchFamily="34" charset="0"/>
            </a:endParaRPr>
          </a:p>
          <a:p>
            <a:pPr marL="695960" algn="l" defTabSz="0" rtl="0" eaLnBrk="0">
              <a:lnSpc>
                <a:spcPct val="89000"/>
              </a:lnSpc>
              <a:tabLst>
                <a:tab pos="935355" algn="l"/>
              </a:tabLst>
            </a:pPr>
            <a:r>
              <a:rPr sz="2400" b="1"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lang="zh-CN" altLang="en-US" sz="2400" b="1" kern="0" dirty="0">
                <a:solidFill>
                  <a:srgbClr val="000000">
                    <a:alpha val="100000"/>
                  </a:srgbClr>
                </a:solidFill>
                <a:latin typeface="楷体" panose="02010609060101010101" charset="-122"/>
                <a:ea typeface="楷体" panose="02010609060101010101" charset="-122"/>
                <a:cs typeface="楷体" panose="02010609060101010101" charset="-122"/>
              </a:rPr>
              <a:t>未来发展潜力：稳定币的能与不能</a:t>
            </a:r>
            <a:endParaRPr lang="zh-CN" altLang="en-US" sz="2400" b="1" kern="0" dirty="0">
              <a:solidFill>
                <a:srgbClr val="000000">
                  <a:alpha val="100000"/>
                </a:srgbClr>
              </a:solidFill>
              <a:latin typeface="楷体" panose="02010609060101010101" charset="-122"/>
              <a:ea typeface="楷体" panose="02010609060101010101" charset="-122"/>
              <a:cs typeface="楷体" panose="02010609060101010101" charset="-122"/>
            </a:endParaRPr>
          </a:p>
          <a:p>
            <a:pPr marL="695960" algn="l" defTabSz="0" rtl="0" eaLnBrk="0">
              <a:lnSpc>
                <a:spcPct val="89000"/>
              </a:lnSpc>
              <a:tabLst>
                <a:tab pos="935355" algn="l"/>
              </a:tabLst>
            </a:pPr>
            <a:r>
              <a:rPr lang="zh-CN" altLang="en-US" sz="2400" b="1" kern="0" dirty="0">
                <a:solidFill>
                  <a:srgbClr val="000000">
                    <a:alpha val="100000"/>
                  </a:srgbClr>
                </a:solidFill>
                <a:latin typeface="楷体" panose="02010609060101010101" charset="-122"/>
                <a:ea typeface="楷体" panose="02010609060101010101" charset="-122"/>
                <a:cs typeface="楷体" panose="02010609060101010101" charset="-122"/>
              </a:rPr>
              <a:t>美元稳定币扩张的两大核心阻力</a:t>
            </a:r>
            <a:endParaRPr lang="zh-CN" altLang="en-US" sz="2400" b="1" kern="0" dirty="0">
              <a:solidFill>
                <a:srgbClr val="000000">
                  <a:alpha val="100000"/>
                </a:srgbClr>
              </a:solidFill>
              <a:latin typeface="楷体" panose="02010609060101010101" charset="-122"/>
              <a:ea typeface="楷体" panose="02010609060101010101" charset="-122"/>
              <a:cs typeface="楷体" panose="02010609060101010101" charset="-122"/>
            </a:endParaRPr>
          </a:p>
        </p:txBody>
      </p:sp>
      <p:pic>
        <p:nvPicPr>
          <p:cNvPr id="84" name="picture 84"/>
          <p:cNvPicPr>
            <a:picLocks noChangeAspect="1"/>
          </p:cNvPicPr>
          <p:nvPr/>
        </p:nvPicPr>
        <p:blipFill>
          <a:blip r:embed="rId1"/>
          <a:stretch>
            <a:fillRect/>
          </a:stretch>
        </p:blipFill>
        <p:spPr>
          <a:xfrm rot="21600000">
            <a:off x="407510" y="276742"/>
            <a:ext cx="683414" cy="427691"/>
          </a:xfrm>
          <a:prstGeom prst="rect">
            <a:avLst/>
          </a:prstGeom>
        </p:spPr>
      </p:pic>
      <p:sp>
        <p:nvSpPr>
          <p:cNvPr id="96" name="path 96"/>
          <p:cNvSpPr/>
          <p:nvPr/>
        </p:nvSpPr>
        <p:spPr>
          <a:xfrm>
            <a:off x="359397" y="984157"/>
            <a:ext cx="11473180" cy="17999"/>
          </a:xfrm>
          <a:custGeom>
            <a:avLst/>
            <a:gdLst/>
            <a:ahLst/>
            <a:cxnLst/>
            <a:rect l="0" t="0" r="0" b="0"/>
            <a:pathLst>
              <a:path w="18068" h="28">
                <a:moveTo>
                  <a:pt x="0" y="28"/>
                </a:moveTo>
                <a:lnTo>
                  <a:pt x="18068" y="28"/>
                </a:lnTo>
                <a:lnTo>
                  <a:pt x="18068" y="0"/>
                </a:lnTo>
                <a:lnTo>
                  <a:pt x="0" y="0"/>
                </a:lnTo>
                <a:lnTo>
                  <a:pt x="0" y="28"/>
                </a:lnTo>
                <a:close/>
              </a:path>
            </a:pathLst>
          </a:custGeom>
          <a:solidFill>
            <a:srgbClr val="C30F1B">
              <a:alpha val="100000"/>
            </a:srgbClr>
          </a:solidFill>
          <a:ln w="0" cap="flat">
            <a:noFill/>
            <a:prstDash val="solid"/>
            <a:miter lim="0"/>
          </a:ln>
        </p:spPr>
        <p:txBody>
          <a:bodyPr rtlCol="0"/>
          <a:lstStyle/>
          <a:p>
            <a:pPr algn="ctr"/>
            <a:endParaRPr lang="zh-CN" altLang="en-US"/>
          </a:p>
        </p:txBody>
      </p:sp>
      <p:sp>
        <p:nvSpPr>
          <p:cNvPr id="98" name="path 98"/>
          <p:cNvSpPr/>
          <p:nvPr/>
        </p:nvSpPr>
        <p:spPr>
          <a:xfrm>
            <a:off x="359397" y="6450596"/>
            <a:ext cx="11473192" cy="6350"/>
          </a:xfrm>
          <a:custGeom>
            <a:avLst/>
            <a:gdLst/>
            <a:ahLst/>
            <a:cxnLst/>
            <a:rect l="0" t="0" r="0" b="0"/>
            <a:pathLst>
              <a:path w="18068" h="10">
                <a:moveTo>
                  <a:pt x="0" y="5"/>
                </a:moveTo>
                <a:lnTo>
                  <a:pt x="18068" y="5"/>
                </a:lnTo>
              </a:path>
            </a:pathLst>
          </a:custGeom>
          <a:noFill/>
          <a:ln w="6350" cap="flat">
            <a:solidFill>
              <a:srgbClr val="000000"/>
            </a:solidFill>
            <a:prstDash val="solid"/>
            <a:miter lim="1000000"/>
          </a:ln>
        </p:spPr>
        <p:txBody>
          <a:bodyPr rtlCol="0"/>
          <a:lstStyle/>
          <a:p>
            <a:pPr algn="ctr"/>
            <a:endParaRPr lang="zh-CN" altLang="en-US"/>
          </a:p>
        </p:txBody>
      </p:sp>
      <p:sp>
        <p:nvSpPr>
          <p:cNvPr id="3" name="文本框 2"/>
          <p:cNvSpPr txBox="1"/>
          <p:nvPr/>
        </p:nvSpPr>
        <p:spPr>
          <a:xfrm>
            <a:off x="634365" y="1390650"/>
            <a:ext cx="10192385" cy="4399915"/>
          </a:xfrm>
          <a:prstGeom prst="rect">
            <a:avLst/>
          </a:prstGeom>
          <a:noFill/>
        </p:spPr>
        <p:txBody>
          <a:bodyPr wrap="square" rtlCol="0">
            <a:spAutoFit/>
          </a:bodyPr>
          <a:p>
            <a:endParaRPr lang="zh-CN" altLang="en-US" sz="28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endParaRPr>
          </a:p>
          <a:p>
            <a:r>
              <a:rPr lang="zh-CN" altLang="en-US" sz="28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阻力一：全球各国的监管反制</a:t>
            </a:r>
            <a:endParaRPr lang="zh-CN" altLang="en-US" sz="28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endParaRPr>
          </a:p>
          <a:p>
            <a:r>
              <a:rPr lang="zh-CN" altLang="en-US" sz="28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现状：稳定币整体规模有限，全球监管机构多处于观望状态</a:t>
            </a:r>
            <a:endParaRPr lang="zh-CN" altLang="en-US" sz="28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endParaRPr>
          </a:p>
          <a:p>
            <a:r>
              <a:rPr lang="zh-CN" altLang="en-US" sz="28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趋势：若发行量持续扩大、负面效应显现，各国将出台强监管政策，直接抑制美元稳定币的市场需求</a:t>
            </a:r>
            <a:endParaRPr lang="zh-CN" altLang="en-US" sz="28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endParaRPr>
          </a:p>
          <a:p>
            <a:endParaRPr lang="zh-CN" altLang="en-US" sz="28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endParaRPr>
          </a:p>
          <a:p>
            <a:r>
              <a:rPr lang="zh-CN" altLang="en-US" sz="28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阻力二：稳定币自身的内生脆弱性</a:t>
            </a:r>
            <a:endParaRPr lang="zh-CN" altLang="en-US" sz="28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endParaRPr>
          </a:p>
          <a:p>
            <a:r>
              <a:rPr lang="zh-CN" altLang="en-US" sz="28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本质属性：与美元挂钩，但核心是私人机构发行的私人 “货币”</a:t>
            </a:r>
            <a:endParaRPr lang="zh-CN" altLang="en-US" sz="28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endParaRPr>
          </a:p>
          <a:p>
            <a:r>
              <a:rPr lang="zh-CN" altLang="en-US" sz="28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先天短板：相较受央行体系监管保护的合规支付工具，私人稳定币在安全层面的投入能力与意愿均存在不足</a:t>
            </a:r>
            <a:endParaRPr lang="zh-CN" altLang="en-US" sz="28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rot="21600000">
            <a:off x="0" y="658"/>
            <a:ext cx="12192000" cy="6856728"/>
          </a:xfrm>
          <a:prstGeom prst="rect">
            <a:avLst/>
          </a:prstGeom>
        </p:spPr>
      </p:pic>
      <p:pic>
        <p:nvPicPr>
          <p:cNvPr id="4" name="picture 4"/>
          <p:cNvPicPr>
            <a:picLocks noChangeAspect="1"/>
          </p:cNvPicPr>
          <p:nvPr/>
        </p:nvPicPr>
        <p:blipFill>
          <a:blip r:embed="rId2"/>
          <a:stretch>
            <a:fillRect/>
          </a:stretch>
        </p:blipFill>
        <p:spPr>
          <a:xfrm rot="21600000">
            <a:off x="1318132" y="505846"/>
            <a:ext cx="10062971" cy="6058293"/>
          </a:xfrm>
          <a:prstGeom prst="rect">
            <a:avLst/>
          </a:prstGeom>
        </p:spPr>
      </p:pic>
      <p:sp>
        <p:nvSpPr>
          <p:cNvPr id="6" name="textbox 6"/>
          <p:cNvSpPr/>
          <p:nvPr/>
        </p:nvSpPr>
        <p:spPr>
          <a:xfrm>
            <a:off x="1589405" y="2566035"/>
            <a:ext cx="9340215" cy="1092200"/>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pitchFamily="34" charset="0"/>
              <a:ea typeface="Arial" panose="020B0604020202020204" pitchFamily="34" charset="0"/>
              <a:cs typeface="Arial" panose="020B0604020202020204" pitchFamily="34" charset="0"/>
            </a:endParaRPr>
          </a:p>
          <a:p>
            <a:pPr marL="29845" algn="l" rtl="0" eaLnBrk="0">
              <a:lnSpc>
                <a:spcPct val="86000"/>
              </a:lnSpc>
            </a:pPr>
            <a:endParaRPr sz="3200" dirty="0">
              <a:latin typeface="楷体" panose="02010609060101010101" charset="-122"/>
              <a:ea typeface="楷体" panose="02010609060101010101" charset="-122"/>
              <a:cs typeface="楷体" panose="02010609060101010101" charset="-122"/>
            </a:endParaRPr>
          </a:p>
          <a:p>
            <a:pPr algn="l" rtl="0" eaLnBrk="0">
              <a:lnSpc>
                <a:spcPct val="104000"/>
              </a:lnSpc>
            </a:pPr>
            <a:r>
              <a:rPr lang="en-US" altLang="zh-CN" sz="3600" b="1" kern="0" spc="-20" dirty="0">
                <a:solidFill>
                  <a:srgbClr val="FBFBFC">
                    <a:alpha val="100000"/>
                  </a:srgbClr>
                </a:solidFill>
                <a:latin typeface="楷体" panose="02010609060101010101" charset="-122"/>
                <a:ea typeface="楷体" panose="02010609060101010101" charset="-122"/>
                <a:cs typeface="楷体" panose="02010609060101010101" charset="-122"/>
              </a:rPr>
              <a:t>Part 3: </a:t>
            </a:r>
            <a:r>
              <a:rPr lang="zh-CN" altLang="en-US" sz="3600" b="1" kern="0" spc="-20" dirty="0">
                <a:solidFill>
                  <a:srgbClr val="FBFBFC">
                    <a:alpha val="100000"/>
                  </a:srgbClr>
                </a:solidFill>
                <a:latin typeface="楷体" panose="02010609060101010101" charset="-122"/>
                <a:ea typeface="楷体" panose="02010609060101010101" charset="-122"/>
                <a:cs typeface="楷体" panose="02010609060101010101" charset="-122"/>
              </a:rPr>
              <a:t>国际数字货币博弈的大国战略</a:t>
            </a:r>
            <a:endParaRPr sz="3600" b="1" kern="0" spc="-20" dirty="0">
              <a:solidFill>
                <a:srgbClr val="FBFBFC">
                  <a:alpha val="100000"/>
                </a:srgbClr>
              </a:solidFill>
              <a:latin typeface="楷体" panose="02010609060101010101" charset="-122"/>
              <a:ea typeface="楷体" panose="02010609060101010101" charset="-122"/>
              <a:cs typeface="楷体" panose="02010609060101010101" charset="-122"/>
            </a:endParaRPr>
          </a:p>
        </p:txBody>
      </p:sp>
      <p:pic>
        <p:nvPicPr>
          <p:cNvPr id="10" name="picture 10"/>
          <p:cNvPicPr>
            <a:picLocks noChangeAspect="1"/>
          </p:cNvPicPr>
          <p:nvPr/>
        </p:nvPicPr>
        <p:blipFill>
          <a:blip r:embed="rId3"/>
          <a:stretch>
            <a:fillRect/>
          </a:stretch>
        </p:blipFill>
        <p:spPr>
          <a:xfrm rot="21600000">
            <a:off x="9027245" y="4694442"/>
            <a:ext cx="1902037" cy="1157539"/>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8" name="table 118"/>
          <p:cNvGraphicFramePr>
            <a:graphicFrameLocks noGrp="1"/>
          </p:cNvGraphicFramePr>
          <p:nvPr/>
        </p:nvGraphicFramePr>
        <p:xfrm>
          <a:off x="313054" y="1490979"/>
          <a:ext cx="10510520" cy="4832985"/>
        </p:xfrm>
        <a:graphic>
          <a:graphicData uri="http://schemas.openxmlformats.org/drawingml/2006/table">
            <a:tbl>
              <a:tblPr/>
              <a:tblGrid>
                <a:gridCol w="954405"/>
                <a:gridCol w="2193289"/>
                <a:gridCol w="1914525"/>
                <a:gridCol w="2634614"/>
                <a:gridCol w="2813685"/>
              </a:tblGrid>
              <a:tr h="524509">
                <a:tc>
                  <a:txBody>
                    <a:bodyPr/>
                    <a:lstStyle/>
                    <a:p>
                      <a:pPr algn="l" rtl="0" eaLnBrk="0">
                        <a:lnSpc>
                          <a:spcPct val="111000"/>
                        </a:lnSpc>
                      </a:pPr>
                      <a:endParaRPr sz="200" dirty="0">
                        <a:latin typeface="Arial" panose="020B0604020202020204" pitchFamily="34" charset="0"/>
                        <a:ea typeface="Arial" panose="020B0604020202020204" pitchFamily="34" charset="0"/>
                        <a:cs typeface="Arial" panose="020B0604020202020204" pitchFamily="34" charset="0"/>
                      </a:endParaRPr>
                    </a:p>
                    <a:p>
                      <a:pPr marL="107315" algn="l" rtl="0" eaLnBrk="0">
                        <a:lnSpc>
                          <a:spcPts val="1855"/>
                        </a:lnSpc>
                        <a:spcBef>
                          <a:spcPts val="0"/>
                        </a:spcBef>
                      </a:pPr>
                      <a:r>
                        <a:rPr sz="1400" b="1" kern="0" spc="-20" dirty="0">
                          <a:solidFill>
                            <a:srgbClr val="FFFFFF">
                              <a:alpha val="100000"/>
                            </a:srgbClr>
                          </a:solidFill>
                          <a:latin typeface="微软雅黑" panose="020B0503020204020204" charset="-122"/>
                          <a:ea typeface="微软雅黑" panose="020B0503020204020204" charset="-122"/>
                          <a:cs typeface="微软雅黑" panose="020B0503020204020204" charset="-122"/>
                        </a:rPr>
                        <a:t>国家/地</a:t>
                      </a:r>
                      <a:endParaRPr sz="1400" dirty="0">
                        <a:latin typeface="微软雅黑" panose="020B0503020204020204" charset="-122"/>
                        <a:ea typeface="微软雅黑" panose="020B0503020204020204" charset="-122"/>
                        <a:cs typeface="微软雅黑" panose="020B0503020204020204" charset="-122"/>
                      </a:endParaRPr>
                    </a:p>
                    <a:p>
                      <a:pPr marL="110490" algn="l" rtl="0" eaLnBrk="0">
                        <a:lnSpc>
                          <a:spcPct val="85000"/>
                        </a:lnSpc>
                        <a:spcBef>
                          <a:spcPts val="10"/>
                        </a:spcBef>
                      </a:pPr>
                      <a:r>
                        <a:rPr sz="1400" b="1" kern="0" spc="-10" dirty="0">
                          <a:solidFill>
                            <a:srgbClr val="FFFFFF">
                              <a:alpha val="100000"/>
                            </a:srgbClr>
                          </a:solidFill>
                          <a:latin typeface="微软雅黑" panose="020B0503020204020204" charset="-122"/>
                          <a:ea typeface="微软雅黑" panose="020B0503020204020204" charset="-122"/>
                          <a:cs typeface="微软雅黑" panose="020B0503020204020204" charset="-122"/>
                        </a:rPr>
                        <a:t>区</a:t>
                      </a:r>
                      <a:endParaRPr sz="14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B12727"/>
                    </a:solidFill>
                  </a:tcPr>
                </a:tc>
                <a:tc>
                  <a:txBody>
                    <a:bodyPr/>
                    <a:lstStyle/>
                    <a:p>
                      <a:pPr algn="l" rtl="0" eaLnBrk="0">
                        <a:lnSpc>
                          <a:spcPct val="115000"/>
                        </a:lnSpc>
                      </a:pPr>
                      <a:endParaRPr sz="400" dirty="0">
                        <a:latin typeface="Arial" panose="020B0604020202020204" pitchFamily="34" charset="0"/>
                        <a:ea typeface="Arial" panose="020B0604020202020204" pitchFamily="34" charset="0"/>
                        <a:cs typeface="Arial" panose="020B0604020202020204" pitchFamily="34" charset="0"/>
                      </a:endParaRPr>
                    </a:p>
                    <a:p>
                      <a:pPr marL="93345" algn="l" rtl="0" eaLnBrk="0">
                        <a:lnSpc>
                          <a:spcPct val="87000"/>
                        </a:lnSpc>
                        <a:spcBef>
                          <a:spcPts val="5"/>
                        </a:spcBef>
                      </a:pPr>
                      <a:r>
                        <a:rPr sz="1400" b="1" kern="0" spc="-10" dirty="0">
                          <a:solidFill>
                            <a:srgbClr val="FFFFFF">
                              <a:alpha val="100000"/>
                            </a:srgbClr>
                          </a:solidFill>
                          <a:latin typeface="微软雅黑" panose="020B0503020204020204" charset="-122"/>
                          <a:ea typeface="微软雅黑" panose="020B0503020204020204" charset="-122"/>
                          <a:cs typeface="微软雅黑" panose="020B0503020204020204" charset="-122"/>
                        </a:rPr>
                        <a:t>核心法规</a:t>
                      </a:r>
                      <a:endParaRPr sz="14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B12727"/>
                    </a:solidFill>
                  </a:tcPr>
                </a:tc>
                <a:tc>
                  <a:txBody>
                    <a:bodyPr/>
                    <a:lstStyle/>
                    <a:p>
                      <a:pPr algn="l" rtl="0" eaLnBrk="0">
                        <a:lnSpc>
                          <a:spcPct val="116000"/>
                        </a:lnSpc>
                      </a:pPr>
                      <a:endParaRPr sz="400" dirty="0">
                        <a:latin typeface="Arial" panose="020B0604020202020204" pitchFamily="34" charset="0"/>
                        <a:ea typeface="Arial" panose="020B0604020202020204" pitchFamily="34" charset="0"/>
                        <a:cs typeface="Arial" panose="020B0604020202020204" pitchFamily="34" charset="0"/>
                      </a:endParaRPr>
                    </a:p>
                    <a:p>
                      <a:pPr marL="93980" algn="l" rtl="0" eaLnBrk="0">
                        <a:lnSpc>
                          <a:spcPct val="87000"/>
                        </a:lnSpc>
                        <a:spcBef>
                          <a:spcPts val="0"/>
                        </a:spcBef>
                      </a:pPr>
                      <a:r>
                        <a:rPr sz="1400" b="1" kern="0" spc="-10" dirty="0">
                          <a:solidFill>
                            <a:srgbClr val="FFFFFF">
                              <a:alpha val="100000"/>
                            </a:srgbClr>
                          </a:solidFill>
                          <a:latin typeface="微软雅黑" panose="020B0503020204020204" charset="-122"/>
                          <a:ea typeface="微软雅黑" panose="020B0503020204020204" charset="-122"/>
                          <a:cs typeface="微软雅黑" panose="020B0503020204020204" charset="-122"/>
                        </a:rPr>
                        <a:t>监管机构</a:t>
                      </a:r>
                      <a:endParaRPr sz="14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B12727"/>
                    </a:solidFill>
                  </a:tcPr>
                </a:tc>
                <a:tc>
                  <a:txBody>
                    <a:bodyPr/>
                    <a:lstStyle/>
                    <a:p>
                      <a:pPr algn="l" rtl="0" eaLnBrk="0">
                        <a:lnSpc>
                          <a:spcPct val="115000"/>
                        </a:lnSpc>
                      </a:pPr>
                      <a:endParaRPr sz="400" dirty="0">
                        <a:latin typeface="Arial" panose="020B0604020202020204" pitchFamily="34" charset="0"/>
                        <a:ea typeface="Arial" panose="020B0604020202020204" pitchFamily="34" charset="0"/>
                        <a:cs typeface="Arial" panose="020B0604020202020204" pitchFamily="34" charset="0"/>
                      </a:endParaRPr>
                    </a:p>
                    <a:p>
                      <a:pPr marL="94615" algn="l" rtl="0" eaLnBrk="0">
                        <a:lnSpc>
                          <a:spcPct val="87000"/>
                        </a:lnSpc>
                        <a:spcBef>
                          <a:spcPts val="5"/>
                        </a:spcBef>
                      </a:pPr>
                      <a:r>
                        <a:rPr sz="1400" b="1" kern="0" spc="-10" dirty="0">
                          <a:solidFill>
                            <a:srgbClr val="FFFFFF">
                              <a:alpha val="100000"/>
                            </a:srgbClr>
                          </a:solidFill>
                          <a:latin typeface="微软雅黑" panose="020B0503020204020204" charset="-122"/>
                          <a:ea typeface="微软雅黑" panose="020B0503020204020204" charset="-122"/>
                          <a:cs typeface="微软雅黑" panose="020B0503020204020204" charset="-122"/>
                        </a:rPr>
                        <a:t>主要要求</a:t>
                      </a:r>
                      <a:endParaRPr sz="14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B12727"/>
                    </a:solidFill>
                  </a:tcPr>
                </a:tc>
                <a:tc>
                  <a:txBody>
                    <a:bodyPr/>
                    <a:lstStyle/>
                    <a:p>
                      <a:pPr algn="l" rtl="0" eaLnBrk="0">
                        <a:lnSpc>
                          <a:spcPct val="117000"/>
                        </a:lnSpc>
                      </a:pPr>
                      <a:endParaRPr sz="400" dirty="0">
                        <a:latin typeface="Arial" panose="020B0604020202020204" pitchFamily="34" charset="0"/>
                        <a:ea typeface="Arial" panose="020B0604020202020204" pitchFamily="34" charset="0"/>
                        <a:cs typeface="Arial" panose="020B0604020202020204" pitchFamily="34" charset="0"/>
                      </a:endParaRPr>
                    </a:p>
                    <a:p>
                      <a:pPr marL="93980" algn="l" rtl="0" eaLnBrk="0">
                        <a:lnSpc>
                          <a:spcPct val="87000"/>
                        </a:lnSpc>
                        <a:spcBef>
                          <a:spcPts val="5"/>
                        </a:spcBef>
                      </a:pPr>
                      <a:r>
                        <a:rPr sz="1400" b="1" kern="0" spc="-10" dirty="0">
                          <a:solidFill>
                            <a:srgbClr val="FFFFFF">
                              <a:alpha val="100000"/>
                            </a:srgbClr>
                          </a:solidFill>
                          <a:latin typeface="微软雅黑" panose="020B0503020204020204" charset="-122"/>
                          <a:ea typeface="微软雅黑" panose="020B0503020204020204" charset="-122"/>
                          <a:cs typeface="微软雅黑" panose="020B0503020204020204" charset="-122"/>
                        </a:rPr>
                        <a:t>监管态度</a:t>
                      </a:r>
                      <a:endParaRPr sz="14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B12727"/>
                    </a:solidFill>
                  </a:tcPr>
                </a:tc>
              </a:tr>
              <a:tr h="518159">
                <a:tc>
                  <a:txBody>
                    <a:bodyPr/>
                    <a:lstStyle/>
                    <a:p>
                      <a:pPr algn="l" rtl="0" eaLnBrk="0">
                        <a:lnSpc>
                          <a:spcPct val="105000"/>
                        </a:lnSpc>
                      </a:pPr>
                      <a:endParaRPr sz="400" b="1" dirty="0">
                        <a:latin typeface="Arial" panose="020B0604020202020204" pitchFamily="34" charset="0"/>
                        <a:ea typeface="Arial" panose="020B0604020202020204" pitchFamily="34" charset="0"/>
                        <a:cs typeface="Arial" panose="020B0604020202020204" pitchFamily="34" charset="0"/>
                      </a:endParaRPr>
                    </a:p>
                    <a:p>
                      <a:pPr marL="100330" algn="l" rtl="0" eaLnBrk="0">
                        <a:lnSpc>
                          <a:spcPct val="87000"/>
                        </a:lnSpc>
                        <a:spcBef>
                          <a:spcPts val="5"/>
                        </a:spcBef>
                      </a:pPr>
                      <a:r>
                        <a:rPr sz="1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美国</a:t>
                      </a:r>
                      <a:endParaRPr sz="1400" b="1"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CDCD"/>
                    </a:solidFill>
                  </a:tcPr>
                </a:tc>
                <a:tc>
                  <a:txBody>
                    <a:bodyPr/>
                    <a:lstStyle/>
                    <a:p>
                      <a:pPr algn="l" rtl="0" eaLnBrk="0">
                        <a:lnSpc>
                          <a:spcPct val="103000"/>
                        </a:lnSpc>
                      </a:pPr>
                      <a:endParaRPr sz="200" b="1" dirty="0">
                        <a:latin typeface="Arial" panose="020B0604020202020204" pitchFamily="34" charset="0"/>
                        <a:ea typeface="Arial" panose="020B0604020202020204" pitchFamily="34" charset="0"/>
                        <a:cs typeface="Arial" panose="020B0604020202020204" pitchFamily="34" charset="0"/>
                      </a:endParaRPr>
                    </a:p>
                    <a:p>
                      <a:pPr algn="r" rtl="0" eaLnBrk="0">
                        <a:lnSpc>
                          <a:spcPts val="1810"/>
                        </a:lnSpc>
                        <a:spcBef>
                          <a:spcPts val="0"/>
                        </a:spcBef>
                      </a:pPr>
                      <a:r>
                        <a:rPr sz="13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《GENIUS法案》</a:t>
                      </a:r>
                      <a:r>
                        <a:rPr sz="1300" b="1"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（2025）</a:t>
                      </a:r>
                      <a:endParaRPr sz="1300" b="1"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CDCD"/>
                    </a:solidFill>
                  </a:tcPr>
                </a:tc>
                <a:tc>
                  <a:txBody>
                    <a:bodyPr/>
                    <a:lstStyle/>
                    <a:p>
                      <a:pPr algn="l" rtl="0" eaLnBrk="0">
                        <a:lnSpc>
                          <a:spcPct val="105000"/>
                        </a:lnSpc>
                      </a:pPr>
                      <a:endParaRPr sz="400" b="1" dirty="0">
                        <a:latin typeface="Arial" panose="020B0604020202020204" pitchFamily="34" charset="0"/>
                        <a:ea typeface="Arial" panose="020B0604020202020204" pitchFamily="34" charset="0"/>
                        <a:cs typeface="Arial" panose="020B0604020202020204" pitchFamily="34" charset="0"/>
                      </a:endParaRPr>
                    </a:p>
                    <a:p>
                      <a:pPr marL="93980" algn="l" rtl="0" eaLnBrk="0">
                        <a:lnSpc>
                          <a:spcPct val="87000"/>
                        </a:lnSpc>
                        <a:spcBef>
                          <a:spcPts val="5"/>
                        </a:spcBef>
                      </a:pPr>
                      <a:r>
                        <a:rPr sz="1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美联储/SEC</a:t>
                      </a:r>
                      <a:endParaRPr sz="1400" b="1"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CDCD"/>
                    </a:solidFill>
                  </a:tcPr>
                </a:tc>
                <a:tc>
                  <a:txBody>
                    <a:bodyPr/>
                    <a:lstStyle/>
                    <a:p>
                      <a:pPr algn="l" rtl="0" eaLnBrk="0">
                        <a:lnSpc>
                          <a:spcPct val="105000"/>
                        </a:lnSpc>
                      </a:pPr>
                      <a:endParaRPr sz="200" b="1" dirty="0">
                        <a:latin typeface="Arial" panose="020B0604020202020204" pitchFamily="34" charset="0"/>
                        <a:ea typeface="Arial" panose="020B0604020202020204" pitchFamily="34" charset="0"/>
                        <a:cs typeface="Arial" panose="020B0604020202020204" pitchFamily="34" charset="0"/>
                      </a:endParaRPr>
                    </a:p>
                    <a:p>
                      <a:pPr marL="95250" indent="13970" algn="l" rtl="0" eaLnBrk="0">
                        <a:lnSpc>
                          <a:spcPct val="99000"/>
                        </a:lnSpc>
                      </a:pPr>
                      <a:r>
                        <a:rPr sz="1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100%储备（现金/美债</a:t>
                      </a:r>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禁</a:t>
                      </a:r>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止算法稳定币，发行方需持</a:t>
                      </a:r>
                      <a:r>
                        <a:rPr sz="1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牌</a:t>
                      </a:r>
                      <a:endParaRPr sz="1400" b="1"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CDCD"/>
                    </a:solidFill>
                  </a:tcPr>
                </a:tc>
                <a:tc>
                  <a:txBody>
                    <a:bodyPr/>
                    <a:lstStyle/>
                    <a:p>
                      <a:pPr algn="l" rtl="0" eaLnBrk="0">
                        <a:lnSpc>
                          <a:spcPct val="114000"/>
                        </a:lnSpc>
                      </a:pPr>
                      <a:endParaRPr sz="300" b="1" dirty="0">
                        <a:latin typeface="Arial" panose="020B0604020202020204" pitchFamily="34" charset="0"/>
                        <a:ea typeface="Arial" panose="020B0604020202020204" pitchFamily="34" charset="0"/>
                        <a:cs typeface="Arial" panose="020B0604020202020204" pitchFamily="34" charset="0"/>
                      </a:endParaRPr>
                    </a:p>
                    <a:p>
                      <a:pPr marL="93345" indent="3810" algn="l" rtl="0" eaLnBrk="0">
                        <a:lnSpc>
                          <a:spcPct val="94000"/>
                        </a:lnSpc>
                        <a:spcBef>
                          <a:spcPts val="0"/>
                        </a:spcBef>
                      </a:pPr>
                      <a:r>
                        <a:rPr sz="1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强化美元主导，严控风险</a:t>
                      </a:r>
                      <a:r>
                        <a:rPr lang="zh-CN" sz="1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lang="zh-CN" altLang="en-US" sz="1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将稳定币视为美元全球影响力竞争的关键工具，输出“数字美元</a:t>
                      </a:r>
                      <a:endParaRPr lang="zh-CN" altLang="en-US" sz="1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CDCD"/>
                    </a:solidFill>
                  </a:tcPr>
                </a:tc>
              </a:tr>
              <a:tr h="731519">
                <a:tc>
                  <a:txBody>
                    <a:bodyPr/>
                    <a:lstStyle/>
                    <a:p>
                      <a:pPr algn="l" rtl="0" eaLnBrk="0">
                        <a:lnSpc>
                          <a:spcPct val="109000"/>
                        </a:lnSpc>
                      </a:pPr>
                      <a:endParaRPr sz="400" dirty="0">
                        <a:latin typeface="Arial" panose="020B0604020202020204" pitchFamily="34" charset="0"/>
                        <a:ea typeface="Arial" panose="020B0604020202020204" pitchFamily="34" charset="0"/>
                        <a:cs typeface="Arial" panose="020B0604020202020204" pitchFamily="34" charset="0"/>
                      </a:endParaRPr>
                    </a:p>
                    <a:p>
                      <a:pPr marL="108585" algn="l" rtl="0" eaLnBrk="0">
                        <a:lnSpc>
                          <a:spcPct val="86000"/>
                        </a:lnSpc>
                        <a:spcBef>
                          <a:spcPts val="5"/>
                        </a:spcBef>
                      </a:pP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欧盟</a:t>
                      </a:r>
                      <a:endParaRPr sz="14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E8E8"/>
                    </a:solidFill>
                  </a:tcPr>
                </a:tc>
                <a:tc>
                  <a:txBody>
                    <a:bodyPr/>
                    <a:lstStyle/>
                    <a:p>
                      <a:pPr algn="l" rtl="0" eaLnBrk="0">
                        <a:lnSpc>
                          <a:spcPct val="103000"/>
                        </a:lnSpc>
                      </a:pPr>
                      <a:endParaRPr sz="200" dirty="0">
                        <a:latin typeface="Arial" panose="020B0604020202020204" pitchFamily="34" charset="0"/>
                        <a:ea typeface="Arial" panose="020B0604020202020204" pitchFamily="34" charset="0"/>
                        <a:cs typeface="Arial" panose="020B0604020202020204" pitchFamily="34" charset="0"/>
                      </a:endParaRPr>
                    </a:p>
                    <a:p>
                      <a:pPr marL="178435" algn="l" rtl="0" eaLnBrk="0">
                        <a:lnSpc>
                          <a:spcPts val="1810"/>
                        </a:lnSpc>
                        <a:spcBef>
                          <a:spcPts val="0"/>
                        </a:spcBef>
                      </a:pPr>
                      <a:r>
                        <a:rPr sz="14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《MiCA法案》（2024）</a:t>
                      </a:r>
                      <a:endParaRPr sz="14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E8E8"/>
                    </a:solidFill>
                  </a:tcPr>
                </a:tc>
                <a:tc>
                  <a:txBody>
                    <a:bodyPr/>
                    <a:lstStyle/>
                    <a:p>
                      <a:pPr algn="l" rtl="0" eaLnBrk="0">
                        <a:lnSpc>
                          <a:spcPct val="105000"/>
                        </a:lnSpc>
                      </a:pPr>
                      <a:endParaRPr sz="400" dirty="0">
                        <a:latin typeface="Arial" panose="020B0604020202020204" pitchFamily="34" charset="0"/>
                        <a:ea typeface="Arial" panose="020B0604020202020204" pitchFamily="34" charset="0"/>
                        <a:cs typeface="Arial" panose="020B0604020202020204" pitchFamily="34" charset="0"/>
                      </a:endParaRPr>
                    </a:p>
                    <a:p>
                      <a:pPr marL="102235" algn="l" rtl="0" eaLnBrk="0">
                        <a:lnSpc>
                          <a:spcPct val="87000"/>
                        </a:lnSpc>
                        <a:spcBef>
                          <a:spcPts val="0"/>
                        </a:spcBef>
                      </a:pP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欧洲央行/ESMA</a:t>
                      </a:r>
                      <a:endParaRPr sz="14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E8E8"/>
                    </a:solidFill>
                  </a:tcPr>
                </a:tc>
                <a:tc>
                  <a:txBody>
                    <a:bodyPr/>
                    <a:lstStyle/>
                    <a:p>
                      <a:pPr algn="l" rtl="0" eaLnBrk="0">
                        <a:lnSpc>
                          <a:spcPct val="107000"/>
                        </a:lnSpc>
                      </a:pPr>
                      <a:endParaRPr sz="400" dirty="0">
                        <a:latin typeface="Arial" panose="020B0604020202020204" pitchFamily="34" charset="0"/>
                        <a:ea typeface="Arial" panose="020B0604020202020204" pitchFamily="34" charset="0"/>
                        <a:cs typeface="Arial" panose="020B0604020202020204" pitchFamily="34" charset="0"/>
                      </a:endParaRPr>
                    </a:p>
                    <a:p>
                      <a:pPr marL="102235" indent="5715" algn="l" rtl="0" eaLnBrk="0">
                        <a:lnSpc>
                          <a:spcPct val="95000"/>
                        </a:lnSpc>
                        <a:spcBef>
                          <a:spcPts val="5"/>
                        </a:spcBef>
                      </a:pP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EMI牌照，储备审计，</a:t>
                      </a:r>
                      <a:r>
                        <a:rPr sz="1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限制非</a:t>
                      </a:r>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欧元稳定币（单日交易≤200万</a:t>
                      </a:r>
                      <a:r>
                        <a:rPr sz="1400" b="1"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欧元）</a:t>
                      </a:r>
                      <a:endParaRPr sz="1400" b="1"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E8E8"/>
                    </a:solidFill>
                  </a:tcPr>
                </a:tc>
                <a:tc>
                  <a:txBody>
                    <a:bodyPr/>
                    <a:lstStyle/>
                    <a:p>
                      <a:pPr algn="l" rtl="0" eaLnBrk="0">
                        <a:lnSpc>
                          <a:spcPct val="107000"/>
                        </a:lnSpc>
                      </a:pPr>
                      <a:endParaRPr sz="400" dirty="0">
                        <a:latin typeface="Arial" panose="020B0604020202020204" pitchFamily="34" charset="0"/>
                        <a:ea typeface="Arial" panose="020B0604020202020204" pitchFamily="34" charset="0"/>
                        <a:cs typeface="Arial" panose="020B0604020202020204" pitchFamily="34" charset="0"/>
                      </a:endParaRPr>
                    </a:p>
                    <a:p>
                      <a:pPr marL="93345" algn="l" rtl="0" eaLnBrk="0">
                        <a:lnSpc>
                          <a:spcPct val="87000"/>
                        </a:lnSpc>
                        <a:spcBef>
                          <a:spcPts val="0"/>
                        </a:spcBef>
                      </a:pPr>
                      <a:r>
                        <a:rPr lang="zh-CN" altLang="en-US" sz="1400" b="1" dirty="0">
                          <a:latin typeface="微软雅黑" panose="020B0503020204020204" charset="-122"/>
                          <a:ea typeface="微软雅黑" panose="020B0503020204020204" charset="-122"/>
                          <a:cs typeface="微软雅黑" panose="020B0503020204020204" charset="-122"/>
                        </a:rPr>
                        <a:t>保护数字时代的欧元货币主权，严格限制非欧元稳定币在欧元区的交易上限</a:t>
                      </a:r>
                      <a:endParaRPr lang="zh-CN" altLang="en-US" sz="1400" b="1"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E8E8"/>
                    </a:solidFill>
                  </a:tcPr>
                </a:tc>
              </a:tr>
              <a:tr h="518159">
                <a:tc>
                  <a:txBody>
                    <a:bodyPr/>
                    <a:lstStyle/>
                    <a:p>
                      <a:pPr algn="l" rtl="0" eaLnBrk="0">
                        <a:lnSpc>
                          <a:spcPct val="109000"/>
                        </a:lnSpc>
                      </a:pPr>
                      <a:endParaRPr sz="400" b="1" dirty="0">
                        <a:latin typeface="Arial" panose="020B0604020202020204" pitchFamily="34" charset="0"/>
                        <a:ea typeface="Arial" panose="020B0604020202020204" pitchFamily="34" charset="0"/>
                        <a:cs typeface="Arial" panose="020B0604020202020204" pitchFamily="34" charset="0"/>
                      </a:endParaRPr>
                    </a:p>
                    <a:p>
                      <a:pPr marL="112395" algn="l" rtl="0" eaLnBrk="0">
                        <a:lnSpc>
                          <a:spcPct val="86000"/>
                        </a:lnSpc>
                        <a:spcBef>
                          <a:spcPts val="0"/>
                        </a:spcBef>
                      </a:pPr>
                      <a:r>
                        <a:rPr sz="14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中国香港</a:t>
                      </a:r>
                      <a:endParaRPr sz="1400" b="1"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CDCD"/>
                    </a:solidFill>
                  </a:tcPr>
                </a:tc>
                <a:tc>
                  <a:txBody>
                    <a:bodyPr/>
                    <a:lstStyle/>
                    <a:p>
                      <a:pPr algn="l" rtl="0" eaLnBrk="0">
                        <a:lnSpc>
                          <a:spcPct val="104000"/>
                        </a:lnSpc>
                      </a:pPr>
                      <a:endParaRPr sz="200" b="1" dirty="0">
                        <a:latin typeface="Arial" panose="020B0604020202020204" pitchFamily="34" charset="0"/>
                        <a:ea typeface="Arial" panose="020B0604020202020204" pitchFamily="34" charset="0"/>
                        <a:cs typeface="Arial" panose="020B0604020202020204" pitchFamily="34" charset="0"/>
                      </a:endParaRPr>
                    </a:p>
                    <a:p>
                      <a:pPr marL="178435" algn="l" rtl="0" eaLnBrk="0">
                        <a:lnSpc>
                          <a:spcPts val="1810"/>
                        </a:lnSpc>
                        <a:spcBef>
                          <a:spcPts val="0"/>
                        </a:spcBef>
                      </a:pPr>
                      <a:r>
                        <a:rPr sz="1400" b="1"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《稳定币条例》（2025）</a:t>
                      </a:r>
                      <a:endParaRPr sz="1400" b="1"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CDCD"/>
                    </a:solidFill>
                  </a:tcPr>
                </a:tc>
                <a:tc>
                  <a:txBody>
                    <a:bodyPr/>
                    <a:lstStyle/>
                    <a:p>
                      <a:pPr algn="l" rtl="0" eaLnBrk="0">
                        <a:lnSpc>
                          <a:spcPct val="108000"/>
                        </a:lnSpc>
                      </a:pPr>
                      <a:endParaRPr sz="400" b="1" dirty="0">
                        <a:latin typeface="Arial" panose="020B0604020202020204" pitchFamily="34" charset="0"/>
                        <a:ea typeface="Arial" panose="020B0604020202020204" pitchFamily="34" charset="0"/>
                        <a:cs typeface="Arial" panose="020B0604020202020204" pitchFamily="34" charset="0"/>
                      </a:endParaRPr>
                    </a:p>
                    <a:p>
                      <a:pPr marL="93980" algn="l" rtl="0" eaLnBrk="0">
                        <a:lnSpc>
                          <a:spcPct val="86000"/>
                        </a:lnSpc>
                        <a:spcBef>
                          <a:spcPts val="0"/>
                        </a:spcBef>
                      </a:pPr>
                      <a:r>
                        <a:rPr sz="1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香港金管局</a:t>
                      </a:r>
                      <a:endParaRPr sz="1400" b="1"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CDCD"/>
                    </a:solidFill>
                  </a:tcPr>
                </a:tc>
                <a:tc>
                  <a:txBody>
                    <a:bodyPr/>
                    <a:lstStyle/>
                    <a:p>
                      <a:pPr algn="l" rtl="0" eaLnBrk="0">
                        <a:lnSpc>
                          <a:spcPct val="106000"/>
                        </a:lnSpc>
                      </a:pPr>
                      <a:endParaRPr sz="200" b="1" dirty="0">
                        <a:latin typeface="Arial" panose="020B0604020202020204" pitchFamily="34" charset="0"/>
                        <a:ea typeface="Arial" panose="020B0604020202020204" pitchFamily="34" charset="0"/>
                        <a:cs typeface="Arial" panose="020B0604020202020204" pitchFamily="34" charset="0"/>
                      </a:endParaRPr>
                    </a:p>
                    <a:p>
                      <a:pPr marL="92710" indent="1905" algn="l" rtl="0" eaLnBrk="0">
                        <a:lnSpc>
                          <a:spcPct val="99000"/>
                        </a:lnSpc>
                        <a:spcBef>
                          <a:spcPts val="0"/>
                        </a:spcBef>
                      </a:pPr>
                      <a:r>
                        <a:rPr sz="1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实缴资本≥2500万港元，</a:t>
                      </a:r>
                      <a:r>
                        <a:rPr sz="1400" b="1" kern="0" spc="-2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100%</a:t>
                      </a:r>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储备，即时赎回义务</a:t>
                      </a:r>
                      <a:endParaRPr sz="1400" b="1"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CDCD"/>
                    </a:solidFill>
                  </a:tcPr>
                </a:tc>
                <a:tc>
                  <a:txBody>
                    <a:bodyPr/>
                    <a:lstStyle/>
                    <a:p>
                      <a:pPr algn="l" rtl="0" eaLnBrk="0">
                        <a:lnSpc>
                          <a:spcPct val="105000"/>
                        </a:lnSpc>
                      </a:pPr>
                      <a:endParaRPr sz="400" b="1" dirty="0">
                        <a:latin typeface="Arial" panose="020B0604020202020204" pitchFamily="34" charset="0"/>
                        <a:ea typeface="Arial" panose="020B0604020202020204" pitchFamily="34" charset="0"/>
                        <a:cs typeface="Arial" panose="020B0604020202020204" pitchFamily="34" charset="0"/>
                      </a:endParaRPr>
                    </a:p>
                    <a:p>
                      <a:pPr marL="95250" algn="l" rtl="0" eaLnBrk="0">
                        <a:lnSpc>
                          <a:spcPct val="87000"/>
                        </a:lnSpc>
                        <a:spcBef>
                          <a:spcPts val="0"/>
                        </a:spcBef>
                      </a:pPr>
                      <a:r>
                        <a:rPr sz="1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鼓励创新，严控风险</a:t>
                      </a:r>
                      <a:endParaRPr sz="1400" b="1"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CDCD"/>
                    </a:solidFill>
                  </a:tcPr>
                </a:tc>
              </a:tr>
              <a:tr h="518159">
                <a:tc>
                  <a:txBody>
                    <a:bodyPr/>
                    <a:lstStyle/>
                    <a:p>
                      <a:pPr algn="l" rtl="0" eaLnBrk="0">
                        <a:lnSpc>
                          <a:spcPct val="107000"/>
                        </a:lnSpc>
                      </a:pPr>
                      <a:endParaRPr sz="400" dirty="0">
                        <a:latin typeface="Arial" panose="020B0604020202020204" pitchFamily="34" charset="0"/>
                        <a:ea typeface="Arial" panose="020B0604020202020204" pitchFamily="34" charset="0"/>
                        <a:cs typeface="Arial" panose="020B0604020202020204" pitchFamily="34" charset="0"/>
                      </a:endParaRPr>
                    </a:p>
                    <a:p>
                      <a:pPr marL="100330" algn="l" rtl="0" eaLnBrk="0">
                        <a:lnSpc>
                          <a:spcPct val="87000"/>
                        </a:lnSpc>
                        <a:spcBef>
                          <a:spcPts val="0"/>
                        </a:spcBef>
                      </a:pP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新加坡</a:t>
                      </a:r>
                      <a:endParaRPr sz="14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E8E8"/>
                    </a:solidFill>
                  </a:tcPr>
                </a:tc>
                <a:tc>
                  <a:txBody>
                    <a:bodyPr/>
                    <a:lstStyle/>
                    <a:p>
                      <a:pPr algn="l" rtl="0" eaLnBrk="0">
                        <a:lnSpc>
                          <a:spcPct val="107000"/>
                        </a:lnSpc>
                      </a:pPr>
                      <a:endParaRPr sz="400" dirty="0">
                        <a:latin typeface="Arial" panose="020B0604020202020204" pitchFamily="34" charset="0"/>
                        <a:ea typeface="Arial" panose="020B0604020202020204" pitchFamily="34" charset="0"/>
                        <a:cs typeface="Arial" panose="020B0604020202020204" pitchFamily="34" charset="0"/>
                      </a:endParaRPr>
                    </a:p>
                    <a:p>
                      <a:pPr marL="178435" algn="l" rtl="0" eaLnBrk="0">
                        <a:lnSpc>
                          <a:spcPct val="87000"/>
                        </a:lnSpc>
                      </a:pP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《支付服务法案》修</a:t>
                      </a:r>
                      <a:r>
                        <a:rPr sz="14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订</a:t>
                      </a:r>
                      <a:endParaRPr sz="14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E8E8"/>
                    </a:solidFill>
                  </a:tcPr>
                </a:tc>
                <a:tc>
                  <a:txBody>
                    <a:bodyPr/>
                    <a:lstStyle/>
                    <a:p>
                      <a:pPr algn="l" rtl="0" eaLnBrk="0">
                        <a:lnSpc>
                          <a:spcPct val="103000"/>
                        </a:lnSpc>
                      </a:pPr>
                      <a:endParaRPr sz="200" dirty="0">
                        <a:latin typeface="Arial" panose="020B0604020202020204" pitchFamily="34" charset="0"/>
                        <a:ea typeface="Arial" panose="020B0604020202020204" pitchFamily="34" charset="0"/>
                        <a:cs typeface="Arial" panose="020B0604020202020204" pitchFamily="34" charset="0"/>
                      </a:endParaRPr>
                    </a:p>
                    <a:p>
                      <a:pPr algn="r" rtl="0" eaLnBrk="0">
                        <a:lnSpc>
                          <a:spcPts val="1810"/>
                        </a:lnSpc>
                        <a:spcBef>
                          <a:spcPts val="0"/>
                        </a:spcBef>
                      </a:pP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新加坡金管局（MAS）</a:t>
                      </a:r>
                      <a:endParaRPr sz="14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E8E8"/>
                    </a:solidFill>
                  </a:tcPr>
                </a:tc>
                <a:tc>
                  <a:txBody>
                    <a:bodyPr/>
                    <a:lstStyle/>
                    <a:p>
                      <a:pPr algn="l" rtl="0" eaLnBrk="0">
                        <a:lnSpc>
                          <a:spcPct val="122000"/>
                        </a:lnSpc>
                      </a:pPr>
                      <a:endParaRPr sz="300" dirty="0">
                        <a:latin typeface="Arial" panose="020B0604020202020204" pitchFamily="34" charset="0"/>
                        <a:ea typeface="Arial" panose="020B0604020202020204" pitchFamily="34" charset="0"/>
                        <a:cs typeface="Arial" panose="020B0604020202020204" pitchFamily="34" charset="0"/>
                      </a:endParaRPr>
                    </a:p>
                    <a:p>
                      <a:pPr marL="92075" indent="1905" algn="l" rtl="0" eaLnBrk="0">
                        <a:lnSpc>
                          <a:spcPct val="93000"/>
                        </a:lnSpc>
                        <a:spcBef>
                          <a:spcPts val="0"/>
                        </a:spcBef>
                      </a:pPr>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无最低资本要求，需符合AML/</a:t>
                      </a: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储备审计</a:t>
                      </a:r>
                      <a:endParaRPr sz="14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E8E8"/>
                    </a:solidFill>
                  </a:tcPr>
                </a:tc>
                <a:tc>
                  <a:txBody>
                    <a:bodyPr/>
                    <a:lstStyle/>
                    <a:p>
                      <a:pPr algn="l" rtl="0" eaLnBrk="0">
                        <a:lnSpc>
                          <a:spcPct val="105000"/>
                        </a:lnSpc>
                      </a:pPr>
                      <a:endParaRPr sz="400" dirty="0">
                        <a:latin typeface="Arial" panose="020B0604020202020204" pitchFamily="34" charset="0"/>
                        <a:ea typeface="Arial" panose="020B0604020202020204" pitchFamily="34" charset="0"/>
                        <a:cs typeface="Arial" panose="020B0604020202020204" pitchFamily="34" charset="0"/>
                      </a:endParaRPr>
                    </a:p>
                    <a:p>
                      <a:pPr marL="95885" algn="l" rtl="0" eaLnBrk="0">
                        <a:lnSpc>
                          <a:spcPct val="87000"/>
                        </a:lnSpc>
                        <a:spcBef>
                          <a:spcPts val="5"/>
                        </a:spcBef>
                      </a:pP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平衡创新与风险</a:t>
                      </a:r>
                      <a:endParaRPr sz="14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E8E8"/>
                    </a:solidFill>
                  </a:tcPr>
                </a:tc>
              </a:tr>
              <a:tr h="518159">
                <a:tc>
                  <a:txBody>
                    <a:bodyPr/>
                    <a:lstStyle/>
                    <a:p>
                      <a:pPr algn="l" rtl="0" eaLnBrk="0">
                        <a:lnSpc>
                          <a:spcPct val="108000"/>
                        </a:lnSpc>
                      </a:pPr>
                      <a:endParaRPr sz="400" dirty="0">
                        <a:latin typeface="Arial" panose="020B0604020202020204" pitchFamily="34" charset="0"/>
                        <a:ea typeface="Arial" panose="020B0604020202020204" pitchFamily="34" charset="0"/>
                        <a:cs typeface="Arial" panose="020B0604020202020204" pitchFamily="34" charset="0"/>
                      </a:endParaRPr>
                    </a:p>
                    <a:p>
                      <a:pPr marL="124460" algn="l" rtl="0" eaLnBrk="0">
                        <a:lnSpc>
                          <a:spcPct val="86000"/>
                        </a:lnSpc>
                        <a:spcBef>
                          <a:spcPts val="0"/>
                        </a:spcBef>
                      </a:pPr>
                      <a:r>
                        <a:rPr sz="1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日本</a:t>
                      </a:r>
                      <a:endParaRPr sz="14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CDCD"/>
                    </a:solidFill>
                  </a:tcPr>
                </a:tc>
                <a:tc>
                  <a:txBody>
                    <a:bodyPr/>
                    <a:lstStyle/>
                    <a:p>
                      <a:pPr algn="l" rtl="0" eaLnBrk="0">
                        <a:lnSpc>
                          <a:spcPct val="106000"/>
                        </a:lnSpc>
                      </a:pPr>
                      <a:endParaRPr sz="400" dirty="0">
                        <a:latin typeface="Arial" panose="020B0604020202020204" pitchFamily="34" charset="0"/>
                        <a:ea typeface="Arial" panose="020B0604020202020204" pitchFamily="34" charset="0"/>
                        <a:cs typeface="Arial" panose="020B0604020202020204" pitchFamily="34" charset="0"/>
                      </a:endParaRPr>
                    </a:p>
                    <a:p>
                      <a:pPr marL="178435" algn="l" rtl="0" eaLnBrk="0">
                        <a:lnSpc>
                          <a:spcPct val="87000"/>
                        </a:lnSpc>
                        <a:spcBef>
                          <a:spcPts val="5"/>
                        </a:spcBef>
                      </a:pPr>
                      <a:r>
                        <a:rPr sz="14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《支付服务法》修订</a:t>
                      </a:r>
                      <a:endParaRPr sz="14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CDCD"/>
                    </a:solidFill>
                  </a:tcPr>
                </a:tc>
                <a:tc>
                  <a:txBody>
                    <a:bodyPr/>
                    <a:lstStyle/>
                    <a:p>
                      <a:pPr algn="l" rtl="0" eaLnBrk="0">
                        <a:lnSpc>
                          <a:spcPct val="108000"/>
                        </a:lnSpc>
                      </a:pPr>
                      <a:endParaRPr sz="400" dirty="0">
                        <a:latin typeface="Arial" panose="020B0604020202020204" pitchFamily="34" charset="0"/>
                        <a:ea typeface="Arial" panose="020B0604020202020204" pitchFamily="34" charset="0"/>
                        <a:cs typeface="Arial" panose="020B0604020202020204" pitchFamily="34" charset="0"/>
                      </a:endParaRPr>
                    </a:p>
                    <a:p>
                      <a:pPr marL="118745" algn="l" rtl="0" eaLnBrk="0">
                        <a:lnSpc>
                          <a:spcPct val="86000"/>
                        </a:lnSpc>
                        <a:spcBef>
                          <a:spcPts val="0"/>
                        </a:spcBef>
                      </a:pP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日本金融厅</a:t>
                      </a:r>
                      <a:endParaRPr sz="14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CDCD"/>
                    </a:solidFill>
                  </a:tcPr>
                </a:tc>
                <a:tc>
                  <a:txBody>
                    <a:bodyPr/>
                    <a:lstStyle/>
                    <a:p>
                      <a:pPr algn="l" rtl="0" eaLnBrk="0">
                        <a:lnSpc>
                          <a:spcPct val="103000"/>
                        </a:lnSpc>
                      </a:pPr>
                      <a:endParaRPr sz="200" dirty="0">
                        <a:latin typeface="Arial" panose="020B0604020202020204" pitchFamily="34" charset="0"/>
                        <a:ea typeface="Arial" panose="020B0604020202020204" pitchFamily="34" charset="0"/>
                        <a:cs typeface="Arial" panose="020B0604020202020204" pitchFamily="34" charset="0"/>
                      </a:endParaRPr>
                    </a:p>
                    <a:p>
                      <a:pPr marL="92710" algn="l" rtl="0" eaLnBrk="0">
                        <a:lnSpc>
                          <a:spcPts val="1810"/>
                        </a:lnSpc>
                        <a:spcBef>
                          <a:spcPts val="0"/>
                        </a:spcBef>
                      </a:pPr>
                      <a:r>
                        <a:rPr sz="14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仅银行/信托公司可发行，</a:t>
                      </a:r>
                      <a:endParaRPr sz="1400" dirty="0">
                        <a:latin typeface="微软雅黑" panose="020B0503020204020204" charset="-122"/>
                        <a:ea typeface="微软雅黑" panose="020B0503020204020204" charset="-122"/>
                        <a:cs typeface="微软雅黑" panose="020B0503020204020204" charset="-122"/>
                      </a:endParaRPr>
                    </a:p>
                    <a:p>
                      <a:pPr marL="109855" algn="l" rtl="0" eaLnBrk="0">
                        <a:lnSpc>
                          <a:spcPct val="96000"/>
                        </a:lnSpc>
                        <a:spcBef>
                          <a:spcPts val="70"/>
                        </a:spcBef>
                      </a:pP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100%银行存款支持</a:t>
                      </a:r>
                      <a:endParaRPr sz="14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CDCD"/>
                    </a:solidFill>
                  </a:tcPr>
                </a:tc>
                <a:tc>
                  <a:txBody>
                    <a:bodyPr/>
                    <a:lstStyle/>
                    <a:p>
                      <a:pPr algn="l" rtl="0" eaLnBrk="0">
                        <a:lnSpc>
                          <a:spcPct val="103000"/>
                        </a:lnSpc>
                      </a:pPr>
                      <a:endParaRPr sz="400" dirty="0">
                        <a:latin typeface="Arial" panose="020B0604020202020204" pitchFamily="34" charset="0"/>
                        <a:ea typeface="Arial" panose="020B0604020202020204" pitchFamily="34" charset="0"/>
                        <a:cs typeface="Arial" panose="020B0604020202020204" pitchFamily="34" charset="0"/>
                      </a:endParaRPr>
                    </a:p>
                    <a:p>
                      <a:pPr marL="93345" algn="l" rtl="0" eaLnBrk="0">
                        <a:lnSpc>
                          <a:spcPct val="88000"/>
                        </a:lnSpc>
                      </a:pP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保守审慎</a:t>
                      </a:r>
                      <a:endParaRPr sz="14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CDCD"/>
                    </a:solidFill>
                  </a:tcPr>
                </a:tc>
              </a:tr>
              <a:tr h="518159">
                <a:tc>
                  <a:txBody>
                    <a:bodyPr/>
                    <a:lstStyle/>
                    <a:p>
                      <a:pPr algn="l" rtl="0" eaLnBrk="0">
                        <a:lnSpc>
                          <a:spcPct val="109000"/>
                        </a:lnSpc>
                      </a:pPr>
                      <a:endParaRPr sz="400" dirty="0">
                        <a:latin typeface="Arial" panose="020B0604020202020204" pitchFamily="34" charset="0"/>
                        <a:ea typeface="Arial" panose="020B0604020202020204" pitchFamily="34" charset="0"/>
                        <a:cs typeface="Arial" panose="020B0604020202020204" pitchFamily="34" charset="0"/>
                      </a:endParaRPr>
                    </a:p>
                    <a:p>
                      <a:pPr marL="100330" algn="l" rtl="0" eaLnBrk="0">
                        <a:lnSpc>
                          <a:spcPct val="86000"/>
                        </a:lnSpc>
                        <a:spcBef>
                          <a:spcPts val="0"/>
                        </a:spcBef>
                      </a:pP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英国</a:t>
                      </a:r>
                      <a:endParaRPr sz="14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E8E8"/>
                    </a:solidFill>
                  </a:tcPr>
                </a:tc>
                <a:tc>
                  <a:txBody>
                    <a:bodyPr/>
                    <a:lstStyle/>
                    <a:p>
                      <a:pPr algn="l" rtl="0" eaLnBrk="0">
                        <a:lnSpc>
                          <a:spcPct val="103000"/>
                        </a:lnSpc>
                      </a:pPr>
                      <a:endParaRPr sz="200" dirty="0">
                        <a:latin typeface="Arial" panose="020B0604020202020204" pitchFamily="34" charset="0"/>
                        <a:ea typeface="Arial" panose="020B0604020202020204" pitchFamily="34" charset="0"/>
                        <a:cs typeface="Arial" panose="020B0604020202020204" pitchFamily="34" charset="0"/>
                      </a:endParaRPr>
                    </a:p>
                    <a:p>
                      <a:pPr marL="93980" algn="l" rtl="0" eaLnBrk="0">
                        <a:lnSpc>
                          <a:spcPts val="1810"/>
                        </a:lnSpc>
                        <a:spcBef>
                          <a:spcPts val="0"/>
                        </a:spcBef>
                      </a:pPr>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拟议框架（2025</a:t>
                      </a: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sz="14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E8E8"/>
                    </a:solidFill>
                  </a:tcPr>
                </a:tc>
                <a:tc>
                  <a:txBody>
                    <a:bodyPr/>
                    <a:lstStyle/>
                    <a:p>
                      <a:pPr algn="l" rtl="0" eaLnBrk="0">
                        <a:lnSpc>
                          <a:spcPct val="106000"/>
                        </a:lnSpc>
                      </a:pPr>
                      <a:endParaRPr sz="400" dirty="0">
                        <a:latin typeface="Arial" panose="020B0604020202020204" pitchFamily="34" charset="0"/>
                        <a:ea typeface="Arial" panose="020B0604020202020204" pitchFamily="34" charset="0"/>
                        <a:cs typeface="Arial" panose="020B0604020202020204" pitchFamily="34" charset="0"/>
                      </a:endParaRPr>
                    </a:p>
                    <a:p>
                      <a:pPr marL="93980" algn="l" rtl="0" eaLnBrk="0">
                        <a:lnSpc>
                          <a:spcPct val="87000"/>
                        </a:lnSpc>
                        <a:spcBef>
                          <a:spcPts val="5"/>
                        </a:spcBef>
                      </a:pP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英国央行/FCA</a:t>
                      </a:r>
                      <a:endParaRPr sz="14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E8E8"/>
                    </a:solidFill>
                  </a:tcPr>
                </a:tc>
                <a:tc>
                  <a:txBody>
                    <a:bodyPr/>
                    <a:lstStyle/>
                    <a:p>
                      <a:pPr algn="l" rtl="0" eaLnBrk="0">
                        <a:lnSpc>
                          <a:spcPct val="124000"/>
                        </a:lnSpc>
                      </a:pPr>
                      <a:endParaRPr sz="300" dirty="0">
                        <a:latin typeface="Arial" panose="020B0604020202020204" pitchFamily="34" charset="0"/>
                        <a:ea typeface="Arial" panose="020B0604020202020204" pitchFamily="34" charset="0"/>
                        <a:cs typeface="Arial" panose="020B0604020202020204" pitchFamily="34" charset="0"/>
                      </a:endParaRPr>
                    </a:p>
                    <a:p>
                      <a:pPr marL="94615" algn="l" rtl="0" eaLnBrk="0">
                        <a:lnSpc>
                          <a:spcPct val="93000"/>
                        </a:lnSpc>
                        <a:spcBef>
                          <a:spcPts val="5"/>
                        </a:spcBef>
                      </a:pPr>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重点监管支付类稳定币，储备</a:t>
                      </a: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托管要求</a:t>
                      </a:r>
                      <a:endParaRPr sz="14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E8E8"/>
                    </a:solidFill>
                  </a:tcPr>
                </a:tc>
                <a:tc>
                  <a:txBody>
                    <a:bodyPr/>
                    <a:lstStyle/>
                    <a:p>
                      <a:pPr algn="l" rtl="0" eaLnBrk="0">
                        <a:lnSpc>
                          <a:spcPct val="106000"/>
                        </a:lnSpc>
                      </a:pPr>
                      <a:endParaRPr sz="400" dirty="0">
                        <a:latin typeface="Arial" panose="020B0604020202020204" pitchFamily="34" charset="0"/>
                        <a:ea typeface="Arial" panose="020B0604020202020204" pitchFamily="34" charset="0"/>
                        <a:cs typeface="Arial" panose="020B0604020202020204" pitchFamily="34" charset="0"/>
                      </a:endParaRPr>
                    </a:p>
                    <a:p>
                      <a:pPr marL="93980" algn="l" rtl="0" eaLnBrk="0">
                        <a:lnSpc>
                          <a:spcPct val="87000"/>
                        </a:lnSpc>
                      </a:pP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渐进式监管</a:t>
                      </a:r>
                      <a:endParaRPr sz="1400" dirty="0">
                        <a:latin typeface="微软雅黑" panose="020B0503020204020204" charset="-122"/>
                        <a:ea typeface="微软雅黑" panose="020B0503020204020204" charset="-122"/>
                        <a:cs typeface="微软雅黑" panose="020B0503020204020204"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E8E8"/>
                    </a:solidFill>
                  </a:tcPr>
                </a:tc>
              </a:tr>
            </a:tbl>
          </a:graphicData>
        </a:graphic>
      </p:graphicFrame>
      <p:sp>
        <p:nvSpPr>
          <p:cNvPr id="120" name="path 120"/>
          <p:cNvSpPr/>
          <p:nvPr/>
        </p:nvSpPr>
        <p:spPr>
          <a:xfrm>
            <a:off x="1274627" y="838839"/>
            <a:ext cx="8762816" cy="21590"/>
          </a:xfrm>
          <a:custGeom>
            <a:avLst/>
            <a:gdLst/>
            <a:ahLst/>
            <a:cxnLst/>
            <a:rect l="0" t="0" r="0" b="0"/>
            <a:pathLst>
              <a:path w="13799" h="34">
                <a:moveTo>
                  <a:pt x="0" y="15"/>
                </a:moveTo>
                <a:lnTo>
                  <a:pt x="13799" y="19"/>
                </a:lnTo>
              </a:path>
            </a:pathLst>
          </a:custGeom>
          <a:noFill/>
          <a:ln w="19050" cap="flat">
            <a:solidFill>
              <a:srgbClr val="BFBFBF"/>
            </a:solidFill>
            <a:prstDash val="dash"/>
            <a:round/>
          </a:ln>
        </p:spPr>
        <p:txBody>
          <a:bodyPr rtlCol="0"/>
          <a:lstStyle/>
          <a:p>
            <a:pPr algn="ctr"/>
            <a:endParaRPr lang="zh-CN" altLang="en-US"/>
          </a:p>
        </p:txBody>
      </p:sp>
      <p:sp>
        <p:nvSpPr>
          <p:cNvPr id="122" name="textbox 122"/>
          <p:cNvSpPr/>
          <p:nvPr/>
        </p:nvSpPr>
        <p:spPr>
          <a:xfrm>
            <a:off x="-173990" y="232410"/>
            <a:ext cx="11240135" cy="610235"/>
          </a:xfrm>
          <a:prstGeom prst="rect">
            <a:avLst/>
          </a:prstGeom>
          <a:noFill/>
          <a:ln w="0" cap="flat">
            <a:noFill/>
            <a:prstDash val="solid"/>
            <a:miter lim="0"/>
          </a:ln>
        </p:spPr>
        <p:txBody>
          <a:bodyPr vert="horz" wrap="square" lIns="0" tIns="0" rIns="0" bIns="0"/>
          <a:lstStyle/>
          <a:p>
            <a:pPr algn="l" rtl="0" eaLnBrk="0">
              <a:lnSpc>
                <a:spcPct val="108000"/>
              </a:lnSpc>
            </a:pPr>
            <a:endParaRPr sz="1000" dirty="0">
              <a:latin typeface="Arial" panose="020B0604020202020204" pitchFamily="34" charset="0"/>
              <a:ea typeface="Arial" panose="020B0604020202020204" pitchFamily="34" charset="0"/>
              <a:cs typeface="Arial" panose="020B0604020202020204" pitchFamily="34" charset="0"/>
            </a:endParaRPr>
          </a:p>
          <a:p>
            <a:pPr marL="797560" algn="l" defTabSz="0" rtl="0" eaLnBrk="0">
              <a:lnSpc>
                <a:spcPts val="3690"/>
              </a:lnSpc>
              <a:spcBef>
                <a:spcPts val="0"/>
              </a:spcBef>
              <a:tabLst>
                <a:tab pos="1267460" algn="l"/>
              </a:tabLst>
            </a:pPr>
            <a:r>
              <a:rPr sz="27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	</a:t>
            </a:r>
            <a:r>
              <a:rPr lang="zh-CN" altLang="en-US" sz="2700" b="1" kern="0" spc="70" dirty="0">
                <a:solidFill>
                  <a:srgbClr val="C00000">
                    <a:alpha val="100000"/>
                  </a:srgbClr>
                </a:solidFill>
                <a:latin typeface="微软雅黑" panose="020B0503020204020204" charset="-122"/>
                <a:ea typeface="微软雅黑" panose="020B0503020204020204" charset="-122"/>
                <a:cs typeface="微软雅黑" panose="020B0503020204020204" charset="-122"/>
              </a:rPr>
              <a:t>大国博弈矩阵——截然不同的战略选择</a:t>
            </a:r>
            <a:endParaRPr sz="2700" dirty="0">
              <a:latin typeface="微软雅黑" panose="020B0503020204020204" charset="-122"/>
              <a:ea typeface="微软雅黑" panose="020B0503020204020204" charset="-122"/>
              <a:cs typeface="微软雅黑" panose="020B0503020204020204" charset="-122"/>
            </a:endParaRPr>
          </a:p>
        </p:txBody>
      </p:sp>
      <p:grpSp>
        <p:nvGrpSpPr>
          <p:cNvPr id="18" name="group 18"/>
          <p:cNvGrpSpPr/>
          <p:nvPr/>
        </p:nvGrpSpPr>
        <p:grpSpPr>
          <a:xfrm rot="21600000">
            <a:off x="34290" y="237337"/>
            <a:ext cx="785266" cy="478129"/>
            <a:chOff x="0" y="0"/>
            <a:chExt cx="785266" cy="478129"/>
          </a:xfrm>
        </p:grpSpPr>
        <p:sp>
          <p:nvSpPr>
            <p:cNvPr id="124" name="path 124"/>
            <p:cNvSpPr/>
            <p:nvPr/>
          </p:nvSpPr>
          <p:spPr>
            <a:xfrm>
              <a:off x="0" y="0"/>
              <a:ext cx="124879" cy="478129"/>
            </a:xfrm>
            <a:custGeom>
              <a:avLst/>
              <a:gdLst/>
              <a:ahLst/>
              <a:cxnLst/>
              <a:rect l="0" t="0" r="0" b="0"/>
              <a:pathLst>
                <a:path w="196" h="752">
                  <a:moveTo>
                    <a:pt x="0" y="0"/>
                  </a:moveTo>
                  <a:lnTo>
                    <a:pt x="196" y="0"/>
                  </a:lnTo>
                  <a:lnTo>
                    <a:pt x="196" y="752"/>
                  </a:lnTo>
                  <a:lnTo>
                    <a:pt x="0" y="752"/>
                  </a:lnTo>
                  <a:lnTo>
                    <a:pt x="0" y="0"/>
                  </a:lnTo>
                  <a:close/>
                </a:path>
              </a:pathLst>
            </a:custGeom>
            <a:solidFill>
              <a:srgbClr val="475F77">
                <a:alpha val="100000"/>
              </a:srgbClr>
            </a:solidFill>
            <a:ln w="0" cap="flat">
              <a:noFill/>
              <a:prstDash val="solid"/>
              <a:miter lim="0"/>
            </a:ln>
          </p:spPr>
          <p:txBody>
            <a:bodyPr rtlCol="0"/>
            <a:lstStyle/>
            <a:p>
              <a:pPr algn="ctr"/>
              <a:endParaRPr lang="zh-CN" altLang="en-US"/>
            </a:p>
          </p:txBody>
        </p:sp>
        <p:sp>
          <p:nvSpPr>
            <p:cNvPr id="126" name="path 126"/>
            <p:cNvSpPr/>
            <p:nvPr/>
          </p:nvSpPr>
          <p:spPr>
            <a:xfrm>
              <a:off x="146050" y="0"/>
              <a:ext cx="639216" cy="478129"/>
            </a:xfrm>
            <a:custGeom>
              <a:avLst/>
              <a:gdLst/>
              <a:ahLst/>
              <a:cxnLst/>
              <a:rect l="0" t="0" r="0" b="0"/>
              <a:pathLst>
                <a:path w="1006" h="752">
                  <a:moveTo>
                    <a:pt x="0" y="0"/>
                  </a:moveTo>
                  <a:lnTo>
                    <a:pt x="1006" y="0"/>
                  </a:lnTo>
                  <a:lnTo>
                    <a:pt x="1006" y="752"/>
                  </a:lnTo>
                  <a:lnTo>
                    <a:pt x="0" y="752"/>
                  </a:lnTo>
                  <a:lnTo>
                    <a:pt x="0" y="0"/>
                  </a:lnTo>
                  <a:close/>
                </a:path>
              </a:pathLst>
            </a:custGeom>
            <a:solidFill>
              <a:srgbClr val="CD2D2D">
                <a:alpha val="100000"/>
              </a:srgbClr>
            </a:solidFill>
            <a:ln w="0" cap="flat">
              <a:noFill/>
              <a:prstDash val="solid"/>
              <a:miter lim="0"/>
            </a:ln>
          </p:spPr>
          <p:txBody>
            <a:bodyPr rtlCol="0"/>
            <a:lstStyle/>
            <a:p>
              <a:pPr algn="ctr"/>
              <a:endParaRPr lang="zh-CN" altLang="en-US"/>
            </a:p>
          </p:txBody>
        </p:sp>
      </p:grpSp>
      <p:sp>
        <p:nvSpPr>
          <p:cNvPr id="130" name="rect 130"/>
          <p:cNvSpPr/>
          <p:nvPr/>
        </p:nvSpPr>
        <p:spPr>
          <a:xfrm>
            <a:off x="319404" y="925829"/>
            <a:ext cx="2402205" cy="355600"/>
          </a:xfrm>
          <a:prstGeom prst="rect">
            <a:avLst/>
          </a:prstGeom>
          <a:solidFill>
            <a:srgbClr val="CD2D2D">
              <a:alpha val="100000"/>
            </a:srgbClr>
          </a:solidFill>
          <a:ln w="0" cap="flat">
            <a:noFill/>
            <a:prstDash val="solid"/>
            <a:miter lim="0"/>
          </a:ln>
        </p:spPr>
        <p:txBody>
          <a:bodyPr rtlCol="0"/>
          <a:lstStyle/>
          <a:p>
            <a:pPr algn="ctr"/>
            <a:endParaRPr lang="zh-CN" altLang="en-US"/>
          </a:p>
        </p:txBody>
      </p:sp>
      <p:sp>
        <p:nvSpPr>
          <p:cNvPr id="134" name="textbox 134"/>
          <p:cNvSpPr/>
          <p:nvPr/>
        </p:nvSpPr>
        <p:spPr>
          <a:xfrm>
            <a:off x="306704" y="941476"/>
            <a:ext cx="2428239" cy="32067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ts val="2325"/>
              </a:lnSpc>
              <a:tabLst>
                <a:tab pos="118745" algn="l"/>
              </a:tabLst>
            </a:pPr>
            <a:r>
              <a:rPr sz="1800"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	</a:t>
            </a:r>
            <a:r>
              <a:rPr sz="1800" kern="0" spc="-20" dirty="0">
                <a:solidFill>
                  <a:srgbClr val="FFFFFF">
                    <a:alpha val="100000"/>
                  </a:srgbClr>
                </a:solidFill>
                <a:latin typeface="微软雅黑" panose="020B0503020204020204" charset="-122"/>
                <a:ea typeface="微软雅黑" panose="020B0503020204020204" charset="-122"/>
                <a:cs typeface="微软雅黑" panose="020B0503020204020204" charset="-122"/>
              </a:rPr>
              <a:t>图表：各国政策梳理</a:t>
            </a:r>
            <a:r>
              <a:rPr sz="1800" kern="0" spc="-30" dirty="0">
                <a:solidFill>
                  <a:srgbClr val="FFFFFF">
                    <a:alpha val="100000"/>
                  </a:srgbClr>
                </a:solidFill>
                <a:latin typeface="微软雅黑" panose="020B0503020204020204" charset="-122"/>
                <a:ea typeface="微软雅黑" panose="020B0503020204020204" charset="-122"/>
                <a:cs typeface="微软雅黑" panose="020B0503020204020204" charset="-122"/>
              </a:rPr>
              <a:t>  </a:t>
            </a:r>
            <a:endParaRPr sz="1800" dirty="0">
              <a:latin typeface="微软雅黑" panose="020B0503020204020204" charset="-122"/>
              <a:ea typeface="微软雅黑" panose="020B0503020204020204" charset="-122"/>
              <a:cs typeface="微软雅黑" panose="020B0503020204020204" charset="-122"/>
            </a:endParaRPr>
          </a:p>
        </p:txBody>
      </p:sp>
      <p:sp>
        <p:nvSpPr>
          <p:cNvPr id="136" name="path 136"/>
          <p:cNvSpPr/>
          <p:nvPr/>
        </p:nvSpPr>
        <p:spPr>
          <a:xfrm>
            <a:off x="319679" y="1384786"/>
            <a:ext cx="11548109" cy="9525"/>
          </a:xfrm>
          <a:custGeom>
            <a:avLst/>
            <a:gdLst/>
            <a:ahLst/>
            <a:cxnLst/>
            <a:rect l="0" t="0" r="0" b="0"/>
            <a:pathLst>
              <a:path w="18185" h="15">
                <a:moveTo>
                  <a:pt x="0" y="7"/>
                </a:moveTo>
                <a:lnTo>
                  <a:pt x="18185" y="7"/>
                </a:lnTo>
              </a:path>
            </a:pathLst>
          </a:custGeom>
          <a:noFill/>
          <a:ln w="9525" cap="flat">
            <a:solidFill>
              <a:srgbClr val="B02323"/>
            </a:solidFill>
            <a:prstDash val="solid"/>
            <a:round/>
          </a:ln>
        </p:spPr>
        <p:txBody>
          <a:bodyPr rtlCol="0"/>
          <a:lstStyle/>
          <a:p>
            <a:pPr algn="ctr"/>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6" name="table 476"/>
          <p:cNvGraphicFramePr>
            <a:graphicFrameLocks noGrp="1"/>
          </p:cNvGraphicFramePr>
          <p:nvPr/>
        </p:nvGraphicFramePr>
        <p:xfrm>
          <a:off x="351701" y="1420495"/>
          <a:ext cx="11487150" cy="4815840"/>
        </p:xfrm>
        <a:graphic>
          <a:graphicData uri="http://schemas.openxmlformats.org/drawingml/2006/table">
            <a:tbl>
              <a:tblPr/>
              <a:tblGrid>
                <a:gridCol w="1737360"/>
                <a:gridCol w="1308735"/>
                <a:gridCol w="8441055"/>
              </a:tblGrid>
              <a:tr h="312420">
                <a:tc>
                  <a:txBody>
                    <a:bodyPr/>
                    <a:lstStyle/>
                    <a:p>
                      <a:pPr algn="l" rtl="0" eaLnBrk="0">
                        <a:lnSpc>
                          <a:spcPct val="122000"/>
                        </a:lnSpc>
                      </a:pPr>
                      <a:endParaRPr sz="400" dirty="0">
                        <a:latin typeface="Arial" panose="020B0604020202020204" pitchFamily="34" charset="0"/>
                        <a:ea typeface="Arial" panose="020B0604020202020204" pitchFamily="34" charset="0"/>
                        <a:cs typeface="Arial" panose="020B0604020202020204" pitchFamily="34" charset="0"/>
                      </a:endParaRPr>
                    </a:p>
                    <a:p>
                      <a:pPr marL="712470" algn="l" rtl="0" eaLnBrk="0">
                        <a:lnSpc>
                          <a:spcPct val="84000"/>
                        </a:lnSpc>
                      </a:pPr>
                      <a:r>
                        <a:rPr sz="1400" b="1" kern="0" spc="-50" dirty="0">
                          <a:solidFill>
                            <a:srgbClr val="FFFFFF">
                              <a:alpha val="100000"/>
                            </a:srgbClr>
                          </a:solidFill>
                          <a:latin typeface="楷体" panose="02010609060101010101" charset="-122"/>
                          <a:ea typeface="楷体" panose="02010609060101010101" charset="-122"/>
                          <a:cs typeface="楷体" panose="02010609060101010101" charset="-122"/>
                        </a:rPr>
                        <a:t>阶段</a:t>
                      </a:r>
                      <a:endParaRPr sz="14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C30F1B"/>
                    </a:solidFill>
                  </a:tcPr>
                </a:tc>
                <a:tc>
                  <a:txBody>
                    <a:bodyPr/>
                    <a:lstStyle/>
                    <a:p>
                      <a:pPr algn="l" rtl="0" eaLnBrk="0">
                        <a:lnSpc>
                          <a:spcPct val="122000"/>
                        </a:lnSpc>
                      </a:pPr>
                      <a:endParaRPr sz="400" dirty="0">
                        <a:latin typeface="Arial" panose="020B0604020202020204" pitchFamily="34" charset="0"/>
                        <a:ea typeface="Arial" panose="020B0604020202020204" pitchFamily="34" charset="0"/>
                        <a:cs typeface="Arial" panose="020B0604020202020204" pitchFamily="34" charset="0"/>
                      </a:endParaRPr>
                    </a:p>
                    <a:p>
                      <a:pPr marL="495300" algn="l" rtl="0" eaLnBrk="0">
                        <a:lnSpc>
                          <a:spcPct val="84000"/>
                        </a:lnSpc>
                      </a:pPr>
                      <a:r>
                        <a:rPr sz="1400" b="1" kern="0" spc="-50" dirty="0">
                          <a:solidFill>
                            <a:srgbClr val="FFFFFF">
                              <a:alpha val="100000"/>
                            </a:srgbClr>
                          </a:solidFill>
                          <a:latin typeface="楷体" panose="02010609060101010101" charset="-122"/>
                          <a:ea typeface="楷体" panose="02010609060101010101" charset="-122"/>
                          <a:cs typeface="楷体" panose="02010609060101010101" charset="-122"/>
                        </a:rPr>
                        <a:t>时间</a:t>
                      </a:r>
                      <a:endParaRPr sz="14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C30F1B"/>
                    </a:solidFill>
                  </a:tcPr>
                </a:tc>
                <a:tc>
                  <a:txBody>
                    <a:bodyPr/>
                    <a:lstStyle/>
                    <a:p>
                      <a:pPr algn="l" rtl="0" eaLnBrk="0">
                        <a:lnSpc>
                          <a:spcPct val="124000"/>
                        </a:lnSpc>
                      </a:pPr>
                      <a:endParaRPr sz="400" dirty="0">
                        <a:latin typeface="Arial" panose="020B0604020202020204" pitchFamily="34" charset="0"/>
                        <a:ea typeface="Arial" panose="020B0604020202020204" pitchFamily="34" charset="0"/>
                        <a:cs typeface="Arial" panose="020B0604020202020204" pitchFamily="34" charset="0"/>
                      </a:endParaRPr>
                    </a:p>
                    <a:p>
                      <a:pPr marL="4071620" algn="l" rtl="0" eaLnBrk="0">
                        <a:lnSpc>
                          <a:spcPct val="84000"/>
                        </a:lnSpc>
                        <a:spcBef>
                          <a:spcPts val="5"/>
                        </a:spcBef>
                      </a:pPr>
                      <a:r>
                        <a:rPr sz="1400" b="1" kern="0" spc="-80" dirty="0">
                          <a:solidFill>
                            <a:srgbClr val="FFFFFF">
                              <a:alpha val="100000"/>
                            </a:srgbClr>
                          </a:solidFill>
                          <a:latin typeface="楷体" panose="02010609060101010101" charset="-122"/>
                          <a:ea typeface="楷体" panose="02010609060101010101" charset="-122"/>
                          <a:cs typeface="楷体" panose="02010609060101010101" charset="-122"/>
                        </a:rPr>
                        <a:t>内容</a:t>
                      </a:r>
                      <a:endParaRPr sz="14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C30F1B"/>
                    </a:solidFill>
                  </a:tcPr>
                </a:tc>
              </a:tr>
              <a:tr h="389254">
                <a:tc rowSpan="3">
                  <a:txBody>
                    <a:bodyPr/>
                    <a:lstStyle/>
                    <a:p>
                      <a:pPr algn="l" rtl="0" eaLnBrk="0">
                        <a:lnSpc>
                          <a:spcPct val="123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23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2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8000"/>
                        </a:lnSpc>
                      </a:pPr>
                      <a:endParaRPr sz="100" dirty="0">
                        <a:latin typeface="Arial" panose="020B0604020202020204" pitchFamily="34" charset="0"/>
                        <a:ea typeface="Arial" panose="020B0604020202020204" pitchFamily="34" charset="0"/>
                        <a:cs typeface="Arial" panose="020B0604020202020204" pitchFamily="34" charset="0"/>
                      </a:endParaRPr>
                    </a:p>
                    <a:p>
                      <a:pPr marL="258445" algn="l" rtl="0" eaLnBrk="0">
                        <a:lnSpc>
                          <a:spcPct val="85000"/>
                        </a:lnSpc>
                      </a:pPr>
                      <a:r>
                        <a:rPr sz="1400" b="1" kern="0" spc="-30" dirty="0">
                          <a:solidFill>
                            <a:srgbClr val="000000">
                              <a:alpha val="100000"/>
                            </a:srgbClr>
                          </a:solidFill>
                          <a:latin typeface="楷体" panose="02010609060101010101" charset="-122"/>
                          <a:ea typeface="楷体" panose="02010609060101010101" charset="-122"/>
                          <a:cs typeface="楷体" panose="02010609060101010101" charset="-122"/>
                        </a:rPr>
                        <a:t>前期研究与铺垫</a:t>
                      </a:r>
                      <a:endParaRPr sz="14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CCCC"/>
                    </a:solidFill>
                  </a:tcPr>
                </a:tc>
                <a:tc>
                  <a:txBody>
                    <a:bodyPr/>
                    <a:lstStyle/>
                    <a:p>
                      <a:pPr algn="l" rtl="0" eaLnBrk="0">
                        <a:lnSpc>
                          <a:spcPct val="107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332740" algn="l" rtl="0" eaLnBrk="0">
                        <a:lnSpc>
                          <a:spcPct val="78000"/>
                        </a:lnSpc>
                      </a:pPr>
                      <a:r>
                        <a:rPr sz="1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2022-01</a:t>
                      </a:r>
                      <a:endParaRPr sz="14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CCCC"/>
                    </a:solidFill>
                  </a:tcPr>
                </a:tc>
                <a:tc>
                  <a:txBody>
                    <a:bodyPr/>
                    <a:lstStyle/>
                    <a:p>
                      <a:pPr algn="l" rtl="0" eaLnBrk="0">
                        <a:lnSpc>
                          <a:spcPct val="103000"/>
                        </a:lnSpc>
                      </a:pPr>
                      <a:endParaRPr sz="700" dirty="0">
                        <a:latin typeface="Arial" panose="020B0604020202020204" pitchFamily="34" charset="0"/>
                        <a:ea typeface="Arial" panose="020B0604020202020204" pitchFamily="34" charset="0"/>
                        <a:cs typeface="Arial" panose="020B0604020202020204" pitchFamily="34" charset="0"/>
                      </a:endParaRPr>
                    </a:p>
                    <a:p>
                      <a:pPr marL="105410" algn="l" rtl="0" eaLnBrk="0">
                        <a:lnSpc>
                          <a:spcPct val="85000"/>
                        </a:lnSpc>
                        <a:spcBef>
                          <a:spcPts val="5"/>
                        </a:spcBef>
                      </a:pPr>
                      <a:r>
                        <a:rPr sz="14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HKMA</a:t>
                      </a:r>
                      <a:r>
                        <a:rPr sz="1400" kern="0" spc="0" dirty="0">
                          <a:solidFill>
                            <a:srgbClr val="000000">
                              <a:alpha val="100000"/>
                            </a:srgbClr>
                          </a:solidFill>
                          <a:latin typeface="楷体" panose="02010609060101010101" charset="-122"/>
                          <a:ea typeface="楷体" panose="02010609060101010101" charset="-122"/>
                          <a:cs typeface="楷体" panose="02010609060101010101" charset="-122"/>
                        </a:rPr>
                        <a:t>发布加密资产</a:t>
                      </a:r>
                      <a:r>
                        <a:rPr sz="1400" kern="0" spc="-10" dirty="0">
                          <a:solidFill>
                            <a:srgbClr val="000000">
                              <a:alpha val="100000"/>
                            </a:srgbClr>
                          </a:solidFill>
                          <a:latin typeface="楷体" panose="02010609060101010101" charset="-122"/>
                          <a:ea typeface="楷体" panose="02010609060101010101" charset="-122"/>
                          <a:cs typeface="楷体" panose="02010609060101010101" charset="-122"/>
                        </a:rPr>
                        <a:t>和稳定币讨论文件</a:t>
                      </a:r>
                      <a:endParaRPr sz="14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CCCC"/>
                    </a:solidFill>
                  </a:tcPr>
                </a:tc>
              </a:tr>
              <a:tr h="388620">
                <a:tc vMerge="1">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eaLnBrk="0">
                        <a:lnSpc>
                          <a:spcPct val="107000"/>
                        </a:lnSpc>
                      </a:pPr>
                      <a:endParaRPr sz="800" dirty="0">
                        <a:latin typeface="Arial" panose="020B0604020202020204" pitchFamily="34" charset="0"/>
                        <a:ea typeface="Arial" panose="020B0604020202020204" pitchFamily="34" charset="0"/>
                        <a:cs typeface="Arial" panose="020B0604020202020204" pitchFamily="34" charset="0"/>
                      </a:endParaRPr>
                    </a:p>
                    <a:p>
                      <a:pPr marL="332740" algn="l" rtl="0" eaLnBrk="0">
                        <a:lnSpc>
                          <a:spcPct val="78000"/>
                        </a:lnSpc>
                        <a:spcBef>
                          <a:spcPts val="5"/>
                        </a:spcBef>
                      </a:pPr>
                      <a:r>
                        <a:rPr sz="1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2022-10</a:t>
                      </a:r>
                      <a:endParaRPr sz="14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E7E7"/>
                    </a:solidFill>
                  </a:tcPr>
                </a:tc>
                <a:tc>
                  <a:txBody>
                    <a:bodyPr/>
                    <a:lstStyle/>
                    <a:p>
                      <a:pPr algn="l" rtl="0" eaLnBrk="0">
                        <a:lnSpc>
                          <a:spcPct val="102000"/>
                        </a:lnSpc>
                      </a:pPr>
                      <a:endParaRPr sz="700" dirty="0">
                        <a:latin typeface="Arial" panose="020B0604020202020204" pitchFamily="34" charset="0"/>
                        <a:ea typeface="Arial" panose="020B0604020202020204" pitchFamily="34" charset="0"/>
                        <a:cs typeface="Arial" panose="020B0604020202020204" pitchFamily="34" charset="0"/>
                      </a:endParaRPr>
                    </a:p>
                    <a:p>
                      <a:pPr marL="100330" algn="l" rtl="0" eaLnBrk="0">
                        <a:lnSpc>
                          <a:spcPct val="87000"/>
                        </a:lnSpc>
                        <a:spcBef>
                          <a:spcPts val="5"/>
                        </a:spcBef>
                      </a:pPr>
                      <a:r>
                        <a:rPr sz="1400" kern="0" spc="0" dirty="0">
                          <a:solidFill>
                            <a:srgbClr val="000000">
                              <a:alpha val="100000"/>
                            </a:srgbClr>
                          </a:solidFill>
                          <a:latin typeface="楷体" panose="02010609060101010101" charset="-122"/>
                          <a:ea typeface="楷体" panose="02010609060101010101" charset="-122"/>
                          <a:cs typeface="楷体" panose="02010609060101010101" charset="-122"/>
                        </a:rPr>
                        <a:t>香港发布《有关香港虚拟资产</a:t>
                      </a:r>
                      <a:r>
                        <a:rPr sz="1400" kern="0" spc="-10" dirty="0">
                          <a:solidFill>
                            <a:srgbClr val="000000">
                              <a:alpha val="100000"/>
                            </a:srgbClr>
                          </a:solidFill>
                          <a:latin typeface="楷体" panose="02010609060101010101" charset="-122"/>
                          <a:ea typeface="楷体" panose="02010609060101010101" charset="-122"/>
                          <a:cs typeface="楷体" panose="02010609060101010101" charset="-122"/>
                        </a:rPr>
                        <a:t>发展的政策宣言》</a:t>
                      </a:r>
                      <a:endParaRPr sz="14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E7E7"/>
                    </a:solidFill>
                  </a:tcPr>
                </a:tc>
              </a:tr>
              <a:tr h="520065">
                <a:tc vMerge="1">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eaLnBrk="0">
                        <a:lnSpc>
                          <a:spcPct val="129000"/>
                        </a:lnSpc>
                      </a:pPr>
                      <a:endParaRPr sz="1000" dirty="0">
                        <a:latin typeface="Arial" panose="020B0604020202020204" pitchFamily="34" charset="0"/>
                        <a:ea typeface="Arial" panose="020B0604020202020204" pitchFamily="34" charset="0"/>
                        <a:cs typeface="Arial" panose="020B0604020202020204" pitchFamily="34" charset="0"/>
                      </a:endParaRPr>
                    </a:p>
                    <a:p>
                      <a:pPr marL="332740" algn="l" rtl="0" eaLnBrk="0">
                        <a:lnSpc>
                          <a:spcPct val="78000"/>
                        </a:lnSpc>
                        <a:spcBef>
                          <a:spcPts val="5"/>
                        </a:spcBef>
                      </a:pPr>
                      <a:r>
                        <a:rPr sz="1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2023-01</a:t>
                      </a:r>
                      <a:endParaRPr sz="14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CCCC"/>
                    </a:solidFill>
                  </a:tcPr>
                </a:tc>
                <a:tc>
                  <a:txBody>
                    <a:bodyPr/>
                    <a:lstStyle/>
                    <a:p>
                      <a:pPr algn="l" rtl="0" eaLnBrk="0">
                        <a:lnSpc>
                          <a:spcPct val="105000"/>
                        </a:lnSpc>
                      </a:pPr>
                      <a:endParaRPr sz="400" dirty="0">
                        <a:latin typeface="Arial" panose="020B0604020202020204" pitchFamily="34" charset="0"/>
                        <a:ea typeface="Arial" panose="020B0604020202020204" pitchFamily="34" charset="0"/>
                        <a:cs typeface="Arial" panose="020B0604020202020204" pitchFamily="34" charset="0"/>
                      </a:endParaRPr>
                    </a:p>
                    <a:p>
                      <a:pPr marL="99060" indent="6350" algn="l" rtl="0" eaLnBrk="0">
                        <a:lnSpc>
                          <a:spcPct val="93000"/>
                        </a:lnSpc>
                        <a:spcBef>
                          <a:spcPts val="5"/>
                        </a:spcBef>
                      </a:pPr>
                      <a:r>
                        <a:rPr sz="14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HKMA</a:t>
                      </a:r>
                      <a:r>
                        <a:rPr sz="1400" kern="0" spc="0" dirty="0">
                          <a:solidFill>
                            <a:srgbClr val="000000">
                              <a:alpha val="100000"/>
                            </a:srgbClr>
                          </a:solidFill>
                          <a:latin typeface="楷体" panose="02010609060101010101" charset="-122"/>
                          <a:ea typeface="楷体" panose="02010609060101010101" charset="-122"/>
                          <a:cs typeface="楷体" panose="02010609060101010101" charset="-122"/>
                        </a:rPr>
                        <a:t>发布加密资产和稳定币讨论文件总结，支持以风险为本和灵活的方式监管稳定</a:t>
                      </a:r>
                      <a:r>
                        <a:rPr sz="1400" kern="0" spc="-10" dirty="0">
                          <a:solidFill>
                            <a:srgbClr val="000000">
                              <a:alpha val="100000"/>
                            </a:srgbClr>
                          </a:solidFill>
                          <a:latin typeface="楷体" panose="02010609060101010101" charset="-122"/>
                          <a:ea typeface="楷体" panose="02010609060101010101" charset="-122"/>
                          <a:cs typeface="楷体" panose="02010609060101010101" charset="-122"/>
                        </a:rPr>
                        <a:t>币，亦普遍支持在建</a:t>
                      </a:r>
                      <a:r>
                        <a:rPr sz="14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1400" kern="0" spc="0" dirty="0">
                          <a:solidFill>
                            <a:srgbClr val="000000">
                              <a:alpha val="100000"/>
                            </a:srgbClr>
                          </a:solidFill>
                          <a:latin typeface="楷体" panose="02010609060101010101" charset="-122"/>
                          <a:ea typeface="楷体" panose="02010609060101010101" charset="-122"/>
                          <a:cs typeface="楷体" panose="02010609060101010101" charset="-122"/>
                        </a:rPr>
                        <a:t>构有关监管制度时，应考虑市场最新发展和参考国际监管组织的</a:t>
                      </a:r>
                      <a:r>
                        <a:rPr sz="1400" kern="0" spc="-10" dirty="0">
                          <a:solidFill>
                            <a:srgbClr val="000000">
                              <a:alpha val="100000"/>
                            </a:srgbClr>
                          </a:solidFill>
                          <a:latin typeface="楷体" panose="02010609060101010101" charset="-122"/>
                          <a:ea typeface="楷体" panose="02010609060101010101" charset="-122"/>
                          <a:cs typeface="楷体" panose="02010609060101010101" charset="-122"/>
                        </a:rPr>
                        <a:t>讨论</a:t>
                      </a:r>
                      <a:endParaRPr sz="14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CCCC"/>
                    </a:solidFill>
                  </a:tcPr>
                </a:tc>
              </a:tr>
              <a:tr h="388620">
                <a:tc rowSpan="4">
                  <a:txBody>
                    <a:bodyPr/>
                    <a:lstStyle/>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2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2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2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2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2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169545" algn="l" rtl="0" eaLnBrk="0">
                        <a:lnSpc>
                          <a:spcPct val="85000"/>
                        </a:lnSpc>
                      </a:pPr>
                      <a:r>
                        <a:rPr sz="1400" b="1" kern="0" spc="-20" dirty="0">
                          <a:solidFill>
                            <a:srgbClr val="000000">
                              <a:alpha val="100000"/>
                            </a:srgbClr>
                          </a:solidFill>
                          <a:latin typeface="楷体" panose="02010609060101010101" charset="-122"/>
                          <a:ea typeface="楷体" panose="02010609060101010101" charset="-122"/>
                          <a:cs typeface="楷体" panose="02010609060101010101" charset="-122"/>
                        </a:rPr>
                        <a:t>逐步构建具体制度</a:t>
                      </a:r>
                      <a:endParaRPr sz="14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E7E7"/>
                    </a:solidFill>
                  </a:tcPr>
                </a:tc>
                <a:tc>
                  <a:txBody>
                    <a:bodyPr/>
                    <a:lstStyle/>
                    <a:p>
                      <a:pPr algn="l" rtl="0" eaLnBrk="0">
                        <a:lnSpc>
                          <a:spcPct val="108000"/>
                        </a:lnSpc>
                      </a:pPr>
                      <a:endParaRPr sz="800" dirty="0">
                        <a:latin typeface="Arial" panose="020B0604020202020204" pitchFamily="34" charset="0"/>
                        <a:ea typeface="Arial" panose="020B0604020202020204" pitchFamily="34" charset="0"/>
                        <a:cs typeface="Arial" panose="020B0604020202020204" pitchFamily="34" charset="0"/>
                      </a:endParaRPr>
                    </a:p>
                    <a:p>
                      <a:pPr marL="332740" algn="l" rtl="0" eaLnBrk="0">
                        <a:lnSpc>
                          <a:spcPct val="78000"/>
                        </a:lnSpc>
                        <a:spcBef>
                          <a:spcPts val="5"/>
                        </a:spcBef>
                      </a:pPr>
                      <a:r>
                        <a:rPr sz="1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2023-06</a:t>
                      </a:r>
                      <a:endParaRPr sz="14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E7E7"/>
                    </a:solidFill>
                  </a:tcPr>
                </a:tc>
                <a:tc>
                  <a:txBody>
                    <a:bodyPr/>
                    <a:lstStyle/>
                    <a:p>
                      <a:pPr algn="l" rtl="0" eaLnBrk="0">
                        <a:lnSpc>
                          <a:spcPct val="103000"/>
                        </a:lnSpc>
                      </a:pPr>
                      <a:endParaRPr sz="700" dirty="0">
                        <a:latin typeface="Arial" panose="020B0604020202020204" pitchFamily="34" charset="0"/>
                        <a:ea typeface="Arial" panose="020B0604020202020204" pitchFamily="34" charset="0"/>
                        <a:cs typeface="Arial" panose="020B0604020202020204" pitchFamily="34" charset="0"/>
                      </a:endParaRPr>
                    </a:p>
                    <a:p>
                      <a:pPr algn="l" rtl="0" eaLnBrk="0">
                        <a:lnSpc>
                          <a:spcPct val="6000"/>
                        </a:lnSpc>
                      </a:pPr>
                      <a:endParaRPr sz="100" dirty="0">
                        <a:latin typeface="Arial" panose="020B0604020202020204" pitchFamily="34" charset="0"/>
                        <a:ea typeface="Arial" panose="020B0604020202020204" pitchFamily="34" charset="0"/>
                        <a:cs typeface="Arial" panose="020B0604020202020204" pitchFamily="34" charset="0"/>
                      </a:endParaRPr>
                    </a:p>
                    <a:p>
                      <a:pPr marL="100330" algn="l" rtl="0" eaLnBrk="0">
                        <a:lnSpc>
                          <a:spcPct val="85000"/>
                        </a:lnSpc>
                      </a:pPr>
                      <a:r>
                        <a:rPr sz="1400" b="1" kern="0" spc="-20" dirty="0">
                          <a:solidFill>
                            <a:srgbClr val="000000">
                              <a:alpha val="100000"/>
                            </a:srgbClr>
                          </a:solidFill>
                          <a:latin typeface="楷体" panose="02010609060101010101" charset="-122"/>
                          <a:ea typeface="楷体" panose="02010609060101010101" charset="-122"/>
                          <a:cs typeface="楷体" panose="02010609060101010101" charset="-122"/>
                        </a:rPr>
                        <a:t>香港虚拟资产交易平台发牌制度实施，</a:t>
                      </a:r>
                      <a:r>
                        <a:rPr sz="1400" b="1" kern="0" spc="-3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VASP</a:t>
                      </a:r>
                      <a:r>
                        <a:rPr sz="1400" b="1" kern="0" spc="-30" dirty="0">
                          <a:solidFill>
                            <a:srgbClr val="000000">
                              <a:alpha val="100000"/>
                            </a:srgbClr>
                          </a:solidFill>
                          <a:latin typeface="楷体" panose="02010609060101010101" charset="-122"/>
                          <a:ea typeface="楷体" panose="02010609060101010101" charset="-122"/>
                          <a:cs typeface="楷体" panose="02010609060101010101" charset="-122"/>
                        </a:rPr>
                        <a:t>、</a:t>
                      </a:r>
                      <a:r>
                        <a:rPr sz="1400" b="1" kern="0" spc="-3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VATP</a:t>
                      </a:r>
                      <a:endParaRPr sz="14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E7E7"/>
                    </a:solidFill>
                  </a:tcPr>
                </a:tc>
              </a:tr>
              <a:tr h="520065">
                <a:tc vMerge="1">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302260" algn="l" rtl="0" eaLnBrk="0">
                        <a:lnSpc>
                          <a:spcPct val="78000"/>
                        </a:lnSpc>
                        <a:spcBef>
                          <a:spcPts val="0"/>
                        </a:spcBef>
                      </a:pPr>
                      <a:r>
                        <a:rPr sz="1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2023-12-</a:t>
                      </a:r>
                      <a:endParaRPr sz="1400" dirty="0">
                        <a:latin typeface="Arial" panose="020B0604020202020204" pitchFamily="34" charset="0"/>
                        <a:ea typeface="Arial" panose="020B0604020202020204" pitchFamily="34" charset="0"/>
                        <a:cs typeface="Arial" panose="020B0604020202020204" pitchFamily="34" charset="0"/>
                      </a:endParaRPr>
                    </a:p>
                    <a:p>
                      <a:pPr marL="332740" algn="l" rtl="0" eaLnBrk="0">
                        <a:lnSpc>
                          <a:spcPct val="78000"/>
                        </a:lnSpc>
                        <a:spcBef>
                          <a:spcPts val="370"/>
                        </a:spcBef>
                      </a:pPr>
                      <a:r>
                        <a:rPr sz="1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2024-12</a:t>
                      </a:r>
                      <a:endParaRPr sz="14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CCCC"/>
                    </a:solidFill>
                  </a:tcPr>
                </a:tc>
                <a:tc>
                  <a:txBody>
                    <a:bodyPr/>
                    <a:lstStyle/>
                    <a:p>
                      <a:pPr algn="l" rtl="0" eaLnBrk="0">
                        <a:lnSpc>
                          <a:spcPct val="116000"/>
                        </a:lnSpc>
                      </a:pPr>
                      <a:endParaRPr sz="1000" dirty="0">
                        <a:latin typeface="Arial" panose="020B0604020202020204" pitchFamily="34" charset="0"/>
                        <a:ea typeface="Arial" panose="020B0604020202020204" pitchFamily="34" charset="0"/>
                        <a:cs typeface="Arial" panose="020B0604020202020204" pitchFamily="34" charset="0"/>
                      </a:endParaRPr>
                    </a:p>
                    <a:p>
                      <a:pPr marL="100330" algn="l" rtl="0" eaLnBrk="0">
                        <a:lnSpc>
                          <a:spcPct val="86000"/>
                        </a:lnSpc>
                        <a:spcBef>
                          <a:spcPts val="0"/>
                        </a:spcBef>
                      </a:pPr>
                      <a:r>
                        <a:rPr sz="1400" kern="0" spc="0" dirty="0">
                          <a:solidFill>
                            <a:srgbClr val="000000">
                              <a:alpha val="100000"/>
                            </a:srgbClr>
                          </a:solidFill>
                          <a:latin typeface="楷体" panose="02010609060101010101" charset="-122"/>
                          <a:ea typeface="楷体" panose="02010609060101010101" charset="-122"/>
                          <a:cs typeface="楷体" panose="02010609060101010101" charset="-122"/>
                        </a:rPr>
                        <a:t>香港财经事务及库务局和</a:t>
                      </a:r>
                      <a:r>
                        <a:rPr sz="14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HKMA</a:t>
                      </a:r>
                      <a:r>
                        <a:rPr sz="1400" kern="0" spc="0" dirty="0">
                          <a:solidFill>
                            <a:srgbClr val="000000">
                              <a:alpha val="100000"/>
                            </a:srgbClr>
                          </a:solidFill>
                          <a:latin typeface="楷体" panose="02010609060101010101" charset="-122"/>
                          <a:ea typeface="楷体" panose="02010609060101010101" charset="-122"/>
                          <a:cs typeface="楷体" panose="02010609060101010101" charset="-122"/>
                        </a:rPr>
                        <a:t>联合发布公众咨询文件，就有关监管稳定币发行人的立法建议收集意见</a:t>
                      </a:r>
                      <a:endParaRPr sz="14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CCCC"/>
                    </a:solidFill>
                  </a:tcPr>
                </a:tc>
              </a:tr>
              <a:tr h="388620">
                <a:tc vMerge="1">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eaLnBrk="0">
                        <a:lnSpc>
                          <a:spcPct val="109000"/>
                        </a:lnSpc>
                      </a:pPr>
                      <a:endParaRPr sz="800" dirty="0">
                        <a:latin typeface="Arial" panose="020B0604020202020204" pitchFamily="34" charset="0"/>
                        <a:ea typeface="Arial" panose="020B0604020202020204" pitchFamily="34" charset="0"/>
                        <a:cs typeface="Arial" panose="020B0604020202020204" pitchFamily="34" charset="0"/>
                      </a:endParaRPr>
                    </a:p>
                    <a:p>
                      <a:pPr marL="332740" algn="l" rtl="0" eaLnBrk="0">
                        <a:lnSpc>
                          <a:spcPct val="78000"/>
                        </a:lnSpc>
                      </a:pPr>
                      <a:r>
                        <a:rPr sz="1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2024-03</a:t>
                      </a:r>
                      <a:endParaRPr sz="14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E7E7"/>
                    </a:solidFill>
                  </a:tcPr>
                </a:tc>
                <a:tc>
                  <a:txBody>
                    <a:bodyPr/>
                    <a:lstStyle/>
                    <a:p>
                      <a:pPr algn="l" rtl="0" eaLnBrk="0">
                        <a:lnSpc>
                          <a:spcPct val="104000"/>
                        </a:lnSpc>
                      </a:pPr>
                      <a:endParaRPr sz="700" dirty="0">
                        <a:latin typeface="Arial" panose="020B0604020202020204" pitchFamily="34" charset="0"/>
                        <a:ea typeface="Arial" panose="020B0604020202020204" pitchFamily="34" charset="0"/>
                        <a:cs typeface="Arial" panose="020B0604020202020204" pitchFamily="34" charset="0"/>
                      </a:endParaRPr>
                    </a:p>
                    <a:p>
                      <a:pPr marL="105410" algn="l" rtl="0" eaLnBrk="0">
                        <a:lnSpc>
                          <a:spcPct val="85000"/>
                        </a:lnSpc>
                        <a:spcBef>
                          <a:spcPts val="0"/>
                        </a:spcBef>
                      </a:pPr>
                      <a:r>
                        <a:rPr sz="1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HKMA</a:t>
                      </a:r>
                      <a:r>
                        <a:rPr sz="1400" kern="0" spc="-10" dirty="0">
                          <a:solidFill>
                            <a:srgbClr val="000000">
                              <a:alpha val="100000"/>
                            </a:srgbClr>
                          </a:solidFill>
                          <a:latin typeface="楷体" panose="02010609060101010101" charset="-122"/>
                          <a:ea typeface="楷体" panose="02010609060101010101" charset="-122"/>
                          <a:cs typeface="楷体" panose="02010609060101010101" charset="-122"/>
                        </a:rPr>
                        <a:t>推出稳定币发行人沙盒</a:t>
                      </a:r>
                      <a:endParaRPr sz="14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E7E7"/>
                    </a:solidFill>
                  </a:tcPr>
                </a:tc>
              </a:tr>
              <a:tr h="734694">
                <a:tc vMerge="1">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8000"/>
                        </a:lnSpc>
                      </a:pPr>
                      <a:endParaRPr sz="100" dirty="0">
                        <a:latin typeface="Arial" panose="020B0604020202020204" pitchFamily="34" charset="0"/>
                        <a:ea typeface="Arial" panose="020B0604020202020204" pitchFamily="34" charset="0"/>
                        <a:cs typeface="Arial" panose="020B0604020202020204" pitchFamily="34" charset="0"/>
                      </a:endParaRPr>
                    </a:p>
                    <a:p>
                      <a:pPr marL="332740" algn="l" rtl="0" eaLnBrk="0">
                        <a:lnSpc>
                          <a:spcPct val="78000"/>
                        </a:lnSpc>
                      </a:pPr>
                      <a:r>
                        <a:rPr sz="1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2024-07</a:t>
                      </a:r>
                      <a:endParaRPr sz="14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CCCC"/>
                    </a:solidFill>
                  </a:tcPr>
                </a:tc>
                <a:tc>
                  <a:txBody>
                    <a:bodyPr/>
                    <a:lstStyle/>
                    <a:p>
                      <a:pPr algn="l" rtl="0" eaLnBrk="0">
                        <a:lnSpc>
                          <a:spcPct val="115000"/>
                        </a:lnSpc>
                      </a:pPr>
                      <a:endParaRPr sz="400" dirty="0">
                        <a:latin typeface="Arial" panose="020B0604020202020204" pitchFamily="34" charset="0"/>
                        <a:ea typeface="Arial" panose="020B0604020202020204" pitchFamily="34" charset="0"/>
                        <a:cs typeface="Arial" panose="020B0604020202020204" pitchFamily="34" charset="0"/>
                      </a:endParaRPr>
                    </a:p>
                    <a:p>
                      <a:pPr marL="96520" indent="13335" algn="l" rtl="0" eaLnBrk="0">
                        <a:lnSpc>
                          <a:spcPct val="95000"/>
                        </a:lnSpc>
                      </a:pPr>
                      <a:r>
                        <a:rPr sz="14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1</a:t>
                      </a:r>
                      <a:r>
                        <a:rPr sz="1400" kern="0" spc="0" dirty="0">
                          <a:solidFill>
                            <a:srgbClr val="000000">
                              <a:alpha val="100000"/>
                            </a:srgbClr>
                          </a:solidFill>
                          <a:latin typeface="楷体" panose="02010609060101010101" charset="-122"/>
                          <a:ea typeface="楷体" panose="02010609060101010101" charset="-122"/>
                          <a:cs typeface="楷体" panose="02010609060101010101" charset="-122"/>
                        </a:rPr>
                        <a:t>）对前期公众咨询收到的反馈进行总结，市</a:t>
                      </a:r>
                      <a:r>
                        <a:rPr sz="1400" kern="0" spc="-10" dirty="0">
                          <a:solidFill>
                            <a:srgbClr val="000000">
                              <a:alpha val="100000"/>
                            </a:srgbClr>
                          </a:solidFill>
                          <a:latin typeface="楷体" panose="02010609060101010101" charset="-122"/>
                          <a:ea typeface="楷体" panose="02010609060101010101" charset="-122"/>
                          <a:cs typeface="楷体" panose="02010609060101010101" charset="-122"/>
                        </a:rPr>
                        <a:t>场均对政策的目的和主要建议表示支持，同意良好的监管环</a:t>
                      </a:r>
                      <a:r>
                        <a:rPr sz="1400" kern="0" spc="-10" dirty="0">
                          <a:solidFill>
                            <a:srgbClr val="000000">
                              <a:alpha val="100000"/>
                            </a:srgbClr>
                          </a:solidFill>
                          <a:latin typeface="楷体" panose="02010609060101010101" charset="-122"/>
                          <a:ea typeface="楷体" panose="02010609060101010101" charset="-122"/>
                          <a:cs typeface="楷体" panose="02010609060101010101" charset="-122"/>
                        </a:rPr>
                        <a:t>  </a:t>
                      </a:r>
                      <a:r>
                        <a:rPr sz="1400" kern="0" spc="0" dirty="0">
                          <a:solidFill>
                            <a:srgbClr val="000000">
                              <a:alpha val="100000"/>
                            </a:srgbClr>
                          </a:solidFill>
                          <a:latin typeface="楷体" panose="02010609060101010101" charset="-122"/>
                          <a:ea typeface="楷体" panose="02010609060101010101" charset="-122"/>
                          <a:cs typeface="楷体" panose="02010609060101010101" charset="-122"/>
                        </a:rPr>
                        <a:t>境是一切发展的先决条件。</a:t>
                      </a:r>
                      <a:r>
                        <a:rPr sz="14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2</a:t>
                      </a:r>
                      <a:r>
                        <a:rPr sz="1400" kern="0" spc="0" dirty="0">
                          <a:solidFill>
                            <a:srgbClr val="000000">
                              <a:alpha val="100000"/>
                            </a:srgbClr>
                          </a:solidFill>
                          <a:latin typeface="楷体" panose="02010609060101010101" charset="-122"/>
                          <a:ea typeface="楷体" panose="02010609060101010101" charset="-122"/>
                          <a:cs typeface="楷体" panose="02010609060101010101" charset="-122"/>
                        </a:rPr>
                        <a:t>）</a:t>
                      </a:r>
                      <a:r>
                        <a:rPr sz="1400" b="1"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HK</a:t>
                      </a:r>
                      <a:r>
                        <a:rPr sz="1400" b="1"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MA</a:t>
                      </a:r>
                      <a:r>
                        <a:rPr sz="1400" b="1" kern="0" spc="-10" dirty="0">
                          <a:solidFill>
                            <a:srgbClr val="000000">
                              <a:alpha val="100000"/>
                            </a:srgbClr>
                          </a:solidFill>
                          <a:latin typeface="楷体" panose="02010609060101010101" charset="-122"/>
                          <a:ea typeface="楷体" panose="02010609060101010101" charset="-122"/>
                          <a:cs typeface="楷体" panose="02010609060101010101" charset="-122"/>
                        </a:rPr>
                        <a:t>公布稳定币沙盒参与者：京东币链、圆币创新科技（众安持股</a:t>
                      </a:r>
                      <a:endParaRPr sz="1400" dirty="0">
                        <a:latin typeface="楷体" panose="02010609060101010101" charset="-122"/>
                        <a:ea typeface="楷体" panose="02010609060101010101" charset="-122"/>
                        <a:cs typeface="楷体" panose="02010609060101010101" charset="-122"/>
                      </a:endParaRPr>
                    </a:p>
                    <a:p>
                      <a:pPr marL="98425" algn="l" rtl="0" eaLnBrk="0">
                        <a:lnSpc>
                          <a:spcPct val="89000"/>
                        </a:lnSpc>
                        <a:spcBef>
                          <a:spcPts val="185"/>
                        </a:spcBef>
                      </a:pPr>
                      <a:r>
                        <a:rPr sz="1400" b="1"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8.7%</a:t>
                      </a:r>
                      <a:r>
                        <a:rPr sz="1400" b="1" kern="0" spc="-10" dirty="0">
                          <a:solidFill>
                            <a:srgbClr val="000000">
                              <a:alpha val="100000"/>
                            </a:srgbClr>
                          </a:solidFill>
                          <a:latin typeface="楷体" panose="02010609060101010101" charset="-122"/>
                          <a:ea typeface="楷体" panose="02010609060101010101" charset="-122"/>
                          <a:cs typeface="楷体" panose="02010609060101010101" charset="-122"/>
                        </a:rPr>
                        <a:t>）、渣打银行、安拟集团、香</a:t>
                      </a:r>
                      <a:r>
                        <a:rPr sz="1400" b="1" kern="0" spc="-20" dirty="0">
                          <a:solidFill>
                            <a:srgbClr val="000000">
                              <a:alpha val="100000"/>
                            </a:srgbClr>
                          </a:solidFill>
                          <a:latin typeface="楷体" panose="02010609060101010101" charset="-122"/>
                          <a:ea typeface="楷体" panose="02010609060101010101" charset="-122"/>
                          <a:cs typeface="楷体" panose="02010609060101010101" charset="-122"/>
                        </a:rPr>
                        <a:t>港电讯</a:t>
                      </a:r>
                      <a:endParaRPr sz="14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CCCC"/>
                    </a:solidFill>
                  </a:tcPr>
                </a:tc>
              </a:tr>
              <a:tr h="388620">
                <a:tc rowSpan="3">
                  <a:txBody>
                    <a:bodyPr/>
                    <a:lstStyle/>
                    <a:p>
                      <a:pPr algn="l" rtl="0" eaLnBrk="0">
                        <a:lnSpc>
                          <a:spcPct val="109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9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10000"/>
                        </a:lnSpc>
                      </a:pPr>
                      <a:endParaRPr sz="1000" dirty="0">
                        <a:latin typeface="Arial" panose="020B0604020202020204" pitchFamily="34" charset="0"/>
                        <a:ea typeface="Arial" panose="020B0604020202020204" pitchFamily="34" charset="0"/>
                        <a:cs typeface="Arial" panose="020B0604020202020204" pitchFamily="34" charset="0"/>
                      </a:endParaRPr>
                    </a:p>
                    <a:p>
                      <a:pPr marL="260350" algn="l" rtl="0" eaLnBrk="0">
                        <a:lnSpc>
                          <a:spcPct val="88000"/>
                        </a:lnSpc>
                        <a:spcBef>
                          <a:spcPts val="5"/>
                        </a:spcBef>
                      </a:pPr>
                      <a:r>
                        <a:rPr sz="1400" b="1" kern="0" spc="-30" dirty="0">
                          <a:solidFill>
                            <a:srgbClr val="000000">
                              <a:alpha val="100000"/>
                            </a:srgbClr>
                          </a:solidFill>
                          <a:latin typeface="楷体" panose="02010609060101010101" charset="-122"/>
                          <a:ea typeface="楷体" panose="02010609060101010101" charset="-122"/>
                          <a:cs typeface="楷体" panose="02010609060101010101" charset="-122"/>
                        </a:rPr>
                        <a:t>草案推进与落地</a:t>
                      </a:r>
                      <a:endParaRPr sz="14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E7E7"/>
                    </a:solidFill>
                  </a:tcPr>
                </a:tc>
                <a:tc>
                  <a:txBody>
                    <a:bodyPr/>
                    <a:lstStyle/>
                    <a:p>
                      <a:pPr algn="l" rtl="0" eaLnBrk="0">
                        <a:lnSpc>
                          <a:spcPct val="109000"/>
                        </a:lnSpc>
                      </a:pPr>
                      <a:endParaRPr sz="800" dirty="0">
                        <a:latin typeface="Arial" panose="020B0604020202020204" pitchFamily="34" charset="0"/>
                        <a:ea typeface="Arial" panose="020B0604020202020204" pitchFamily="34" charset="0"/>
                        <a:cs typeface="Arial" panose="020B0604020202020204" pitchFamily="34" charset="0"/>
                      </a:endParaRPr>
                    </a:p>
                    <a:p>
                      <a:pPr marL="332740" algn="l" rtl="0" eaLnBrk="0">
                        <a:lnSpc>
                          <a:spcPct val="78000"/>
                        </a:lnSpc>
                        <a:spcBef>
                          <a:spcPts val="0"/>
                        </a:spcBef>
                      </a:pPr>
                      <a:r>
                        <a:rPr sz="1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2024-12</a:t>
                      </a:r>
                      <a:endParaRPr sz="14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E7E7"/>
                    </a:solidFill>
                  </a:tcPr>
                </a:tc>
                <a:tc>
                  <a:txBody>
                    <a:bodyPr/>
                    <a:lstStyle/>
                    <a:p>
                      <a:pPr algn="l" rtl="0" eaLnBrk="0">
                        <a:lnSpc>
                          <a:spcPct val="105000"/>
                        </a:lnSpc>
                      </a:pPr>
                      <a:endParaRPr sz="700" dirty="0">
                        <a:latin typeface="Arial" panose="020B0604020202020204" pitchFamily="34" charset="0"/>
                        <a:ea typeface="Arial" panose="020B0604020202020204" pitchFamily="34" charset="0"/>
                        <a:cs typeface="Arial" panose="020B0604020202020204" pitchFamily="34" charset="0"/>
                      </a:endParaRPr>
                    </a:p>
                    <a:p>
                      <a:pPr marL="100330" algn="l" rtl="0" eaLnBrk="0">
                        <a:lnSpc>
                          <a:spcPct val="89000"/>
                        </a:lnSpc>
                        <a:spcBef>
                          <a:spcPts val="5"/>
                        </a:spcBef>
                      </a:pPr>
                      <a:r>
                        <a:rPr sz="1400" kern="0" spc="0" dirty="0">
                          <a:solidFill>
                            <a:srgbClr val="000000">
                              <a:alpha val="100000"/>
                            </a:srgbClr>
                          </a:solidFill>
                          <a:latin typeface="楷体" panose="02010609060101010101" charset="-122"/>
                          <a:ea typeface="楷体" panose="02010609060101010101" charset="-122"/>
                          <a:cs typeface="楷体" panose="02010609060101010101" charset="-122"/>
                        </a:rPr>
                        <a:t>香港特首指令向立法会提交《稳定币条例草案》，</a:t>
                      </a:r>
                      <a:r>
                        <a:rPr sz="14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12</a:t>
                      </a:r>
                      <a:r>
                        <a:rPr sz="1400" kern="0" spc="0" dirty="0">
                          <a:solidFill>
                            <a:srgbClr val="000000">
                              <a:alpha val="100000"/>
                            </a:srgbClr>
                          </a:solidFill>
                          <a:latin typeface="楷体" panose="02010609060101010101" charset="-122"/>
                          <a:ea typeface="楷体" panose="02010609060101010101" charset="-122"/>
                          <a:cs typeface="楷体" panose="02010609060101010101" charset="-122"/>
                        </a:rPr>
                        <a:t>月</a:t>
                      </a:r>
                      <a:r>
                        <a:rPr sz="14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18</a:t>
                      </a:r>
                      <a:r>
                        <a:rPr sz="1400" kern="0" spc="0" dirty="0">
                          <a:solidFill>
                            <a:srgbClr val="000000">
                              <a:alpha val="100000"/>
                            </a:srgbClr>
                          </a:solidFill>
                          <a:latin typeface="楷体" panose="02010609060101010101" charset="-122"/>
                          <a:ea typeface="楷体" panose="02010609060101010101" charset="-122"/>
                          <a:cs typeface="楷体" panose="02010609060101010101" charset="-122"/>
                        </a:rPr>
                        <a:t>日，香港立法会首读《稳定</a:t>
                      </a:r>
                      <a:r>
                        <a:rPr sz="1400" kern="0" spc="-10" dirty="0">
                          <a:solidFill>
                            <a:srgbClr val="000000">
                              <a:alpha val="100000"/>
                            </a:srgbClr>
                          </a:solidFill>
                          <a:latin typeface="楷体" panose="02010609060101010101" charset="-122"/>
                          <a:ea typeface="楷体" panose="02010609060101010101" charset="-122"/>
                          <a:cs typeface="楷体" panose="02010609060101010101" charset="-122"/>
                        </a:rPr>
                        <a:t>币条例草案》</a:t>
                      </a:r>
                      <a:endParaRPr sz="14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E7E7"/>
                    </a:solidFill>
                  </a:tcPr>
                </a:tc>
              </a:tr>
              <a:tr h="389254">
                <a:tc vMerge="1">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eaLnBrk="0">
                        <a:lnSpc>
                          <a:spcPct val="109000"/>
                        </a:lnSpc>
                      </a:pPr>
                      <a:endParaRPr sz="800" dirty="0">
                        <a:latin typeface="Arial" panose="020B0604020202020204" pitchFamily="34" charset="0"/>
                        <a:ea typeface="Arial" panose="020B0604020202020204" pitchFamily="34" charset="0"/>
                        <a:cs typeface="Arial" panose="020B0604020202020204" pitchFamily="34" charset="0"/>
                      </a:endParaRPr>
                    </a:p>
                    <a:p>
                      <a:pPr marL="381635" algn="l" rtl="0" eaLnBrk="0">
                        <a:lnSpc>
                          <a:spcPct val="78000"/>
                        </a:lnSpc>
                        <a:spcBef>
                          <a:spcPts val="5"/>
                        </a:spcBef>
                      </a:pPr>
                      <a:r>
                        <a:rPr sz="1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2025-1</a:t>
                      </a:r>
                      <a:endParaRPr sz="14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CCCC"/>
                    </a:solidFill>
                  </a:tcPr>
                </a:tc>
                <a:tc>
                  <a:txBody>
                    <a:bodyPr/>
                    <a:lstStyle/>
                    <a:p>
                      <a:pPr algn="l" rtl="0" eaLnBrk="0">
                        <a:lnSpc>
                          <a:spcPct val="104000"/>
                        </a:lnSpc>
                      </a:pPr>
                      <a:endParaRPr sz="700" dirty="0">
                        <a:latin typeface="Arial" panose="020B0604020202020204" pitchFamily="34" charset="0"/>
                        <a:ea typeface="Arial" panose="020B0604020202020204" pitchFamily="34" charset="0"/>
                        <a:cs typeface="Arial" panose="020B0604020202020204" pitchFamily="34" charset="0"/>
                      </a:endParaRPr>
                    </a:p>
                    <a:p>
                      <a:pPr marL="100330" algn="l" rtl="0" eaLnBrk="0">
                        <a:lnSpc>
                          <a:spcPct val="88000"/>
                        </a:lnSpc>
                        <a:spcBef>
                          <a:spcPts val="5"/>
                        </a:spcBef>
                      </a:pPr>
                      <a:r>
                        <a:rPr sz="1400" kern="0" spc="0" dirty="0">
                          <a:solidFill>
                            <a:srgbClr val="000000">
                              <a:alpha val="100000"/>
                            </a:srgbClr>
                          </a:solidFill>
                          <a:latin typeface="楷体" panose="02010609060101010101" charset="-122"/>
                          <a:ea typeface="楷体" panose="02010609060101010101" charset="-122"/>
                          <a:cs typeface="楷体" panose="02010609060101010101" charset="-122"/>
                        </a:rPr>
                        <a:t>香港立法会内务委员会和法案委员会考虑</a:t>
                      </a:r>
                      <a:r>
                        <a:rPr sz="1400" kern="0" spc="-10" dirty="0">
                          <a:solidFill>
                            <a:srgbClr val="000000">
                              <a:alpha val="100000"/>
                            </a:srgbClr>
                          </a:solidFill>
                          <a:latin typeface="楷体" panose="02010609060101010101" charset="-122"/>
                          <a:ea typeface="楷体" panose="02010609060101010101" charset="-122"/>
                          <a:cs typeface="楷体" panose="02010609060101010101" charset="-122"/>
                        </a:rPr>
                        <a:t>《稳定币条例草案》</a:t>
                      </a:r>
                      <a:endParaRPr sz="14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CCCC"/>
                    </a:solidFill>
                  </a:tcPr>
                </a:tc>
              </a:tr>
              <a:tr h="395604">
                <a:tc vMerge="1">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eaLnBrk="0">
                        <a:lnSpc>
                          <a:spcPct val="109000"/>
                        </a:lnSpc>
                      </a:pPr>
                      <a:endParaRPr sz="800" dirty="0">
                        <a:latin typeface="Arial" panose="020B0604020202020204" pitchFamily="34" charset="0"/>
                        <a:ea typeface="Arial" panose="020B0604020202020204" pitchFamily="34" charset="0"/>
                        <a:cs typeface="Arial" panose="020B0604020202020204" pitchFamily="34" charset="0"/>
                      </a:endParaRPr>
                    </a:p>
                    <a:p>
                      <a:pPr marL="381635" algn="l" rtl="0" eaLnBrk="0">
                        <a:lnSpc>
                          <a:spcPct val="78000"/>
                        </a:lnSpc>
                        <a:spcBef>
                          <a:spcPts val="5"/>
                        </a:spcBef>
                      </a:pPr>
                      <a:r>
                        <a:rPr sz="1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2025-5</a:t>
                      </a:r>
                      <a:endParaRPr sz="14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E7E7"/>
                    </a:solidFill>
                  </a:tcPr>
                </a:tc>
                <a:tc>
                  <a:txBody>
                    <a:bodyPr/>
                    <a:lstStyle/>
                    <a:p>
                      <a:pPr algn="l" rtl="0" eaLnBrk="0">
                        <a:lnSpc>
                          <a:spcPct val="105000"/>
                        </a:lnSpc>
                      </a:pPr>
                      <a:endParaRPr sz="700" dirty="0">
                        <a:latin typeface="Arial" panose="020B0604020202020204" pitchFamily="34" charset="0"/>
                        <a:ea typeface="Arial" panose="020B0604020202020204" pitchFamily="34" charset="0"/>
                        <a:cs typeface="Arial" panose="020B0604020202020204" pitchFamily="34" charset="0"/>
                      </a:endParaRPr>
                    </a:p>
                    <a:p>
                      <a:pPr marL="100330" algn="l" rtl="0" eaLnBrk="0">
                        <a:lnSpc>
                          <a:spcPct val="89000"/>
                        </a:lnSpc>
                        <a:spcBef>
                          <a:spcPts val="5"/>
                        </a:spcBef>
                      </a:pPr>
                      <a:r>
                        <a:rPr sz="1400" kern="0" spc="0" dirty="0">
                          <a:solidFill>
                            <a:srgbClr val="000000">
                              <a:alpha val="100000"/>
                            </a:srgbClr>
                          </a:solidFill>
                          <a:latin typeface="楷体" panose="02010609060101010101" charset="-122"/>
                          <a:ea typeface="楷体" panose="02010609060101010101" charset="-122"/>
                          <a:cs typeface="楷体" panose="02010609060101010101" charset="-122"/>
                        </a:rPr>
                        <a:t>香港立法会二读</a:t>
                      </a:r>
                      <a:r>
                        <a:rPr sz="14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1400" kern="0" spc="0" dirty="0">
                          <a:solidFill>
                            <a:srgbClr val="000000">
                              <a:alpha val="100000"/>
                            </a:srgbClr>
                          </a:solidFill>
                          <a:latin typeface="楷体" panose="02010609060101010101" charset="-122"/>
                          <a:ea typeface="楷体" panose="02010609060101010101" charset="-122"/>
                          <a:cs typeface="楷体" panose="02010609060101010101" charset="-122"/>
                        </a:rPr>
                        <a:t>三读通过《稳定币条例草案》，并与</a:t>
                      </a:r>
                      <a:r>
                        <a:rPr sz="14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5</a:t>
                      </a:r>
                      <a:r>
                        <a:rPr sz="1400" kern="0" spc="0" dirty="0">
                          <a:solidFill>
                            <a:srgbClr val="000000">
                              <a:alpha val="100000"/>
                            </a:srgbClr>
                          </a:solidFill>
                          <a:latin typeface="楷体" panose="02010609060101010101" charset="-122"/>
                          <a:ea typeface="楷体" panose="02010609060101010101" charset="-122"/>
                          <a:cs typeface="楷体" panose="02010609060101010101" charset="-122"/>
                        </a:rPr>
                        <a:t>月</a:t>
                      </a:r>
                      <a:r>
                        <a:rPr sz="14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30</a:t>
                      </a:r>
                      <a:r>
                        <a:rPr sz="1400" kern="0" spc="0" dirty="0">
                          <a:solidFill>
                            <a:srgbClr val="000000">
                              <a:alpha val="100000"/>
                            </a:srgbClr>
                          </a:solidFill>
                          <a:latin typeface="楷体" panose="02010609060101010101" charset="-122"/>
                          <a:ea typeface="楷体" panose="02010609060101010101" charset="-122"/>
                          <a:cs typeface="楷体" panose="02010609060101010101" charset="-122"/>
                        </a:rPr>
                        <a:t>日在宪报刊登《</a:t>
                      </a:r>
                      <a:r>
                        <a:rPr sz="1400" kern="0" spc="-10" dirty="0">
                          <a:solidFill>
                            <a:srgbClr val="000000">
                              <a:alpha val="100000"/>
                            </a:srgbClr>
                          </a:solidFill>
                          <a:latin typeface="楷体" panose="02010609060101010101" charset="-122"/>
                          <a:ea typeface="楷体" panose="02010609060101010101" charset="-122"/>
                          <a:cs typeface="楷体" panose="02010609060101010101" charset="-122"/>
                        </a:rPr>
                        <a:t>稳定币条例》</a:t>
                      </a:r>
                      <a:endParaRPr sz="14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E7E7"/>
                    </a:solidFill>
                  </a:tcPr>
                </a:tc>
              </a:tr>
            </a:tbl>
          </a:graphicData>
        </a:graphic>
      </p:graphicFrame>
      <p:sp>
        <p:nvSpPr>
          <p:cNvPr id="478" name="textbox 478"/>
          <p:cNvSpPr/>
          <p:nvPr/>
        </p:nvSpPr>
        <p:spPr>
          <a:xfrm>
            <a:off x="394810" y="264042"/>
            <a:ext cx="6867525" cy="453390"/>
          </a:xfrm>
          <a:prstGeom prst="rect">
            <a:avLst/>
          </a:prstGeom>
          <a:noFill/>
          <a:ln w="0" cap="flat">
            <a:noFill/>
            <a:prstDash val="solid"/>
            <a:miter lim="0"/>
          </a:ln>
        </p:spPr>
        <p:txBody>
          <a:bodyPr vert="horz" wrap="square" lIns="0" tIns="0" rIns="0" bIns="0"/>
          <a:lstStyle/>
          <a:p>
            <a:pPr algn="l" rtl="0" eaLnBrk="0">
              <a:lnSpc>
                <a:spcPct val="105000"/>
              </a:lnSpc>
            </a:pPr>
            <a:endParaRPr sz="400" dirty="0">
              <a:latin typeface="Arial" panose="020B0604020202020204" pitchFamily="34" charset="0"/>
              <a:ea typeface="Arial" panose="020B0604020202020204" pitchFamily="34" charset="0"/>
              <a:cs typeface="Arial" panose="020B0604020202020204" pitchFamily="34" charset="0"/>
            </a:endParaRPr>
          </a:p>
          <a:p>
            <a:pPr marL="695960" algn="l" defTabSz="0" rtl="0" eaLnBrk="0">
              <a:lnSpc>
                <a:spcPct val="89000"/>
              </a:lnSpc>
              <a:tabLst>
                <a:tab pos="941705" algn="l"/>
              </a:tabLst>
            </a:pPr>
            <a:r>
              <a:rPr sz="2400" b="1" kern="0" spc="-10" dirty="0">
                <a:solidFill>
                  <a:srgbClr val="000000">
                    <a:alpha val="100000"/>
                  </a:srgbClr>
                </a:solidFill>
                <a:latin typeface="楷体" panose="02010609060101010101" charset="-122"/>
                <a:ea typeface="楷体" panose="02010609060101010101" charset="-122"/>
                <a:cs typeface="楷体" panose="02010609060101010101" charset="-122"/>
              </a:rPr>
              <a:t>中国与香港的“双轨突围”与沙盒实践</a:t>
            </a:r>
            <a:endParaRPr sz="2400" b="1" kern="0" spc="-10" dirty="0">
              <a:solidFill>
                <a:srgbClr val="000000">
                  <a:alpha val="100000"/>
                </a:srgbClr>
              </a:solidFill>
              <a:latin typeface="楷体" panose="02010609060101010101" charset="-122"/>
              <a:ea typeface="楷体" panose="02010609060101010101" charset="-122"/>
              <a:cs typeface="楷体" panose="02010609060101010101" charset="-122"/>
            </a:endParaRPr>
          </a:p>
          <a:p>
            <a:pPr marL="695960" algn="l" defTabSz="0" rtl="0" eaLnBrk="0">
              <a:lnSpc>
                <a:spcPct val="89000"/>
              </a:lnSpc>
              <a:tabLst>
                <a:tab pos="941705" algn="l"/>
              </a:tabLst>
            </a:pPr>
            <a:r>
              <a:rPr sz="2400" b="1" kern="0" spc="-10" dirty="0">
                <a:solidFill>
                  <a:srgbClr val="000000">
                    <a:alpha val="100000"/>
                  </a:srgbClr>
                </a:solidFill>
                <a:latin typeface="楷体" panose="02010609060101010101" charset="-122"/>
                <a:ea typeface="楷体" panose="02010609060101010101" charset="-122"/>
                <a:cs typeface="楷体" panose="02010609060101010101" charset="-122"/>
              </a:rPr>
              <a:t>中国香港稳定币立法过程历时三年有</a:t>
            </a:r>
            <a:r>
              <a:rPr sz="2400" b="1" kern="0" spc="-20" dirty="0">
                <a:solidFill>
                  <a:srgbClr val="000000">
                    <a:alpha val="100000"/>
                  </a:srgbClr>
                </a:solidFill>
                <a:latin typeface="楷体" panose="02010609060101010101" charset="-122"/>
                <a:ea typeface="楷体" panose="02010609060101010101" charset="-122"/>
                <a:cs typeface="楷体" panose="02010609060101010101" charset="-122"/>
              </a:rPr>
              <a:t>余</a:t>
            </a:r>
            <a:endParaRPr sz="2400" dirty="0">
              <a:latin typeface="楷体" panose="02010609060101010101" charset="-122"/>
              <a:ea typeface="楷体" panose="02010609060101010101" charset="-122"/>
              <a:cs typeface="楷体" panose="02010609060101010101" charset="-122"/>
            </a:endParaRPr>
          </a:p>
        </p:txBody>
      </p:sp>
      <p:pic>
        <p:nvPicPr>
          <p:cNvPr id="480" name="picture 480"/>
          <p:cNvPicPr>
            <a:picLocks noChangeAspect="1"/>
          </p:cNvPicPr>
          <p:nvPr/>
        </p:nvPicPr>
        <p:blipFill>
          <a:blip r:embed="rId1"/>
          <a:stretch>
            <a:fillRect/>
          </a:stretch>
        </p:blipFill>
        <p:spPr>
          <a:xfrm rot="21600000">
            <a:off x="407510" y="276742"/>
            <a:ext cx="683414" cy="427691"/>
          </a:xfrm>
          <a:prstGeom prst="rect">
            <a:avLst/>
          </a:prstGeom>
        </p:spPr>
      </p:pic>
      <p:sp>
        <p:nvSpPr>
          <p:cNvPr id="484" name="textbox 484"/>
          <p:cNvSpPr/>
          <p:nvPr/>
        </p:nvSpPr>
        <p:spPr>
          <a:xfrm>
            <a:off x="438841" y="1123562"/>
            <a:ext cx="3514090" cy="215900"/>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89000"/>
              </a:lnSpc>
            </a:pPr>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表6：中国香港稳定币监管条例的制定时间线</a:t>
            </a:r>
            <a:endParaRPr sz="1400" dirty="0">
              <a:latin typeface="微软雅黑" panose="020B0503020204020204" charset="-122"/>
              <a:ea typeface="微软雅黑" panose="020B0503020204020204" charset="-122"/>
              <a:cs typeface="微软雅黑" panose="020B0503020204020204" charset="-122"/>
            </a:endParaRPr>
          </a:p>
        </p:txBody>
      </p:sp>
      <p:sp>
        <p:nvSpPr>
          <p:cNvPr id="486" name="path 486"/>
          <p:cNvSpPr/>
          <p:nvPr/>
        </p:nvSpPr>
        <p:spPr>
          <a:xfrm>
            <a:off x="359397" y="984157"/>
            <a:ext cx="11473180" cy="17999"/>
          </a:xfrm>
          <a:custGeom>
            <a:avLst/>
            <a:gdLst/>
            <a:ahLst/>
            <a:cxnLst/>
            <a:rect l="0" t="0" r="0" b="0"/>
            <a:pathLst>
              <a:path w="18068" h="28">
                <a:moveTo>
                  <a:pt x="0" y="28"/>
                </a:moveTo>
                <a:lnTo>
                  <a:pt x="18068" y="28"/>
                </a:lnTo>
                <a:lnTo>
                  <a:pt x="18068" y="0"/>
                </a:lnTo>
                <a:lnTo>
                  <a:pt x="0" y="0"/>
                </a:lnTo>
                <a:lnTo>
                  <a:pt x="0" y="28"/>
                </a:lnTo>
                <a:close/>
              </a:path>
            </a:pathLst>
          </a:custGeom>
          <a:solidFill>
            <a:srgbClr val="C30F1B">
              <a:alpha val="100000"/>
            </a:srgbClr>
          </a:solidFill>
          <a:ln w="0" cap="flat">
            <a:noFill/>
            <a:prstDash val="solid"/>
            <a:miter lim="0"/>
          </a:ln>
        </p:spPr>
        <p:txBody>
          <a:bodyPr rtlCol="0"/>
          <a:lstStyle/>
          <a:p>
            <a:pPr algn="ctr"/>
            <a:endParaRPr lang="zh-CN" altLang="en-US"/>
          </a:p>
        </p:txBody>
      </p:sp>
      <p:sp>
        <p:nvSpPr>
          <p:cNvPr id="488" name="path 488"/>
          <p:cNvSpPr/>
          <p:nvPr/>
        </p:nvSpPr>
        <p:spPr>
          <a:xfrm>
            <a:off x="359397" y="6450596"/>
            <a:ext cx="11473192" cy="6350"/>
          </a:xfrm>
          <a:custGeom>
            <a:avLst/>
            <a:gdLst/>
            <a:ahLst/>
            <a:cxnLst/>
            <a:rect l="0" t="0" r="0" b="0"/>
            <a:pathLst>
              <a:path w="18068" h="10">
                <a:moveTo>
                  <a:pt x="0" y="5"/>
                </a:moveTo>
                <a:lnTo>
                  <a:pt x="18068" y="5"/>
                </a:lnTo>
              </a:path>
            </a:pathLst>
          </a:custGeom>
          <a:noFill/>
          <a:ln w="6350" cap="flat">
            <a:solidFill>
              <a:srgbClr val="000000"/>
            </a:solidFill>
            <a:prstDash val="solid"/>
            <a:miter lim="1000000"/>
          </a:ln>
        </p:spPr>
        <p:txBody>
          <a:bodyPr rtlCol="0"/>
          <a:lstStyle/>
          <a:p>
            <a:pPr algn="ctr"/>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 name="picture 348"/>
          <p:cNvPicPr>
            <a:picLocks noChangeAspect="1"/>
          </p:cNvPicPr>
          <p:nvPr/>
        </p:nvPicPr>
        <p:blipFill>
          <a:blip r:embed="rId1"/>
          <a:stretch>
            <a:fillRect/>
          </a:stretch>
        </p:blipFill>
        <p:spPr>
          <a:xfrm rot="21600000">
            <a:off x="1565910" y="2982595"/>
            <a:ext cx="9982200" cy="2887344"/>
          </a:xfrm>
          <a:prstGeom prst="rect">
            <a:avLst/>
          </a:prstGeom>
        </p:spPr>
      </p:pic>
      <p:graphicFrame>
        <p:nvGraphicFramePr>
          <p:cNvPr id="350" name="table 350"/>
          <p:cNvGraphicFramePr>
            <a:graphicFrameLocks noGrp="1"/>
          </p:cNvGraphicFramePr>
          <p:nvPr/>
        </p:nvGraphicFramePr>
        <p:xfrm>
          <a:off x="237172" y="962342"/>
          <a:ext cx="11954509" cy="1898650"/>
        </p:xfrm>
        <a:graphic>
          <a:graphicData uri="http://schemas.openxmlformats.org/drawingml/2006/table">
            <a:tbl>
              <a:tblPr/>
              <a:tblGrid>
                <a:gridCol w="11954509"/>
              </a:tblGrid>
              <a:tr h="1889125">
                <a:tc>
                  <a:txBody>
                    <a:bodyPr/>
                    <a:lstStyle/>
                    <a:p>
                      <a:pPr algn="l" rtl="0" eaLnBrk="0">
                        <a:lnSpc>
                          <a:spcPct val="107000"/>
                        </a:lnSpc>
                      </a:pPr>
                      <a:endParaRPr sz="600" dirty="0">
                        <a:latin typeface="Arial" panose="020B0604020202020204" pitchFamily="34" charset="0"/>
                        <a:ea typeface="Arial" panose="020B0604020202020204" pitchFamily="34" charset="0"/>
                        <a:cs typeface="Arial" panose="020B0604020202020204" pitchFamily="34" charset="0"/>
                      </a:endParaRPr>
                    </a:p>
                    <a:p>
                      <a:pPr marL="113030" algn="l" rtl="0" eaLnBrk="0">
                        <a:lnSpc>
                          <a:spcPts val="2060"/>
                        </a:lnSpc>
                        <a:spcBef>
                          <a:spcPts val="0"/>
                        </a:spcBef>
                      </a:pPr>
                      <a:r>
                        <a:rPr sz="1500" b="1" kern="0" spc="80" dirty="0">
                          <a:solidFill>
                            <a:srgbClr val="B12727">
                              <a:alpha val="100000"/>
                            </a:srgbClr>
                          </a:solidFill>
                          <a:latin typeface="Wingdings" panose="05000000000000000000" pitchFamily="2" charset="2"/>
                          <a:ea typeface="Wingdings" panose="05000000000000000000" pitchFamily="2" charset="2"/>
                          <a:cs typeface="Wingdings" panose="05000000000000000000" pitchFamily="2" charset="2"/>
                        </a:rPr>
                        <a:t>n</a:t>
                      </a:r>
                      <a:r>
                        <a:rPr sz="1500" kern="0" spc="-420" dirty="0">
                          <a:solidFill>
                            <a:srgbClr val="B12727">
                              <a:alpha val="100000"/>
                            </a:srgbClr>
                          </a:solidFill>
                          <a:latin typeface="Wingdings" panose="05000000000000000000" pitchFamily="2" charset="2"/>
                          <a:ea typeface="Wingdings" panose="05000000000000000000" pitchFamily="2" charset="2"/>
                          <a:cs typeface="Wingdings" panose="05000000000000000000" pitchFamily="2" charset="2"/>
                        </a:rPr>
                        <a:t> </a:t>
                      </a:r>
                      <a:r>
                        <a:rPr sz="1500" b="1" kern="0" spc="80" dirty="0">
                          <a:solidFill>
                            <a:srgbClr val="12181D">
                              <a:alpha val="100000"/>
                            </a:srgbClr>
                          </a:solidFill>
                          <a:latin typeface="微软雅黑" panose="020B0503020204020204" charset="-122"/>
                          <a:ea typeface="微软雅黑" panose="020B0503020204020204" charset="-122"/>
                          <a:cs typeface="微软雅黑" panose="020B0503020204020204" charset="-122"/>
                        </a:rPr>
                        <a:t>牌照制度： </a:t>
                      </a:r>
                      <a:r>
                        <a:rPr sz="1500" kern="0" spc="80" dirty="0">
                          <a:solidFill>
                            <a:srgbClr val="12181D">
                              <a:alpha val="100000"/>
                            </a:srgbClr>
                          </a:solidFill>
                          <a:latin typeface="微软雅黑" panose="020B0503020204020204" charset="-122"/>
                          <a:ea typeface="微软雅黑" panose="020B0503020204020204" charset="-122"/>
                          <a:cs typeface="微软雅黑" panose="020B0503020204020204" charset="-122"/>
                        </a:rPr>
                        <a:t>实施三级牌照制度</a:t>
                      </a:r>
                      <a:r>
                        <a:rPr sz="1500" kern="0" spc="80" dirty="0">
                          <a:solidFill>
                            <a:srgbClr val="12181D">
                              <a:alpha val="100000"/>
                            </a:srgbClr>
                          </a:solidFill>
                          <a:highlight>
                            <a:srgbClr val="FFFF00"/>
                          </a:highlight>
                          <a:latin typeface="微软雅黑" panose="020B0503020204020204" charset="-122"/>
                          <a:ea typeface="微软雅黑" panose="020B0503020204020204" charset="-122"/>
                          <a:cs typeface="微软雅黑" panose="020B0503020204020204" charset="-122"/>
                        </a:rPr>
                        <a:t>（全牌照/限牌照/沙盒牌照</a:t>
                      </a:r>
                      <a:r>
                        <a:rPr sz="1500" kern="0" spc="0" dirty="0">
                          <a:solidFill>
                            <a:srgbClr val="12181D">
                              <a:alpha val="100000"/>
                            </a:srgbClr>
                          </a:solidFill>
                          <a:highlight>
                            <a:srgbClr val="FFFF00"/>
                          </a:highlight>
                          <a:latin typeface="微软雅黑" panose="020B0503020204020204" charset="-122"/>
                          <a:ea typeface="微软雅黑" panose="020B0503020204020204" charset="-122"/>
                          <a:cs typeface="微软雅黑" panose="020B0503020204020204" charset="-122"/>
                        </a:rPr>
                        <a:t>）</a:t>
                      </a:r>
                      <a:r>
                        <a:rPr sz="1500" kern="0" spc="0" dirty="0">
                          <a:solidFill>
                            <a:srgbClr val="12181D">
                              <a:alpha val="100000"/>
                            </a:srgbClr>
                          </a:solidFill>
                          <a:latin typeface="微软雅黑" panose="020B0503020204020204" charset="-122"/>
                          <a:ea typeface="微软雅黑" panose="020B0503020204020204" charset="-122"/>
                          <a:cs typeface="微软雅黑" panose="020B0503020204020204" charset="-122"/>
                        </a:rPr>
                        <a:t>，</a:t>
                      </a:r>
                      <a:r>
                        <a:rPr sz="1500" kern="0" spc="-120" dirty="0">
                          <a:solidFill>
                            <a:srgbClr val="12181D">
                              <a:alpha val="100000"/>
                            </a:srgbClr>
                          </a:solidFill>
                          <a:latin typeface="微软雅黑" panose="020B0503020204020204" charset="-122"/>
                          <a:ea typeface="微软雅黑" panose="020B0503020204020204" charset="-122"/>
                          <a:cs typeface="微软雅黑" panose="020B0503020204020204" charset="-122"/>
                        </a:rPr>
                        <a:t> </a:t>
                      </a:r>
                      <a:r>
                        <a:rPr sz="1500" kern="0" spc="80" dirty="0">
                          <a:solidFill>
                            <a:srgbClr val="12181D">
                              <a:alpha val="100000"/>
                            </a:srgbClr>
                          </a:solidFill>
                          <a:latin typeface="微软雅黑" panose="020B0503020204020204" charset="-122"/>
                          <a:ea typeface="微软雅黑" panose="020B0503020204020204" charset="-122"/>
                          <a:cs typeface="微软雅黑" panose="020B0503020204020204" charset="-122"/>
                        </a:rPr>
                        <a:t>对发行主体设置最低资本要求（1-5亿港</a:t>
                      </a:r>
                      <a:r>
                        <a:rPr sz="1500" kern="0" spc="70" dirty="0">
                          <a:solidFill>
                            <a:srgbClr val="12181D">
                              <a:alpha val="100000"/>
                            </a:srgbClr>
                          </a:solidFill>
                          <a:latin typeface="微软雅黑" panose="020B0503020204020204" charset="-122"/>
                          <a:ea typeface="微软雅黑" panose="020B0503020204020204" charset="-122"/>
                          <a:cs typeface="微软雅黑" panose="020B0503020204020204" charset="-122"/>
                        </a:rPr>
                        <a:t>元）和技术审计门槛</a:t>
                      </a:r>
                      <a:endParaRPr sz="1500" dirty="0">
                        <a:latin typeface="微软雅黑" panose="020B0503020204020204" charset="-122"/>
                        <a:ea typeface="微软雅黑" panose="020B0503020204020204" charset="-122"/>
                        <a:cs typeface="微软雅黑" panose="020B0503020204020204" charset="-122"/>
                      </a:endParaRPr>
                    </a:p>
                    <a:p>
                      <a:pPr marL="113030" algn="l" rtl="0" eaLnBrk="0">
                        <a:lnSpc>
                          <a:spcPts val="2060"/>
                        </a:lnSpc>
                        <a:spcBef>
                          <a:spcPts val="640"/>
                        </a:spcBef>
                      </a:pPr>
                      <a:r>
                        <a:rPr sz="1500" b="1" kern="0" spc="90" dirty="0">
                          <a:solidFill>
                            <a:srgbClr val="B12727">
                              <a:alpha val="100000"/>
                            </a:srgbClr>
                          </a:solidFill>
                          <a:latin typeface="Wingdings" panose="05000000000000000000" pitchFamily="2" charset="2"/>
                          <a:ea typeface="Wingdings" panose="05000000000000000000" pitchFamily="2" charset="2"/>
                          <a:cs typeface="Wingdings" panose="05000000000000000000" pitchFamily="2" charset="2"/>
                        </a:rPr>
                        <a:t>n</a:t>
                      </a:r>
                      <a:r>
                        <a:rPr sz="1500" kern="0" spc="-420" dirty="0">
                          <a:solidFill>
                            <a:srgbClr val="B12727">
                              <a:alpha val="100000"/>
                            </a:srgbClr>
                          </a:solidFill>
                          <a:latin typeface="Wingdings" panose="05000000000000000000" pitchFamily="2" charset="2"/>
                          <a:ea typeface="Wingdings" panose="05000000000000000000" pitchFamily="2" charset="2"/>
                          <a:cs typeface="Wingdings" panose="05000000000000000000" pitchFamily="2" charset="2"/>
                        </a:rPr>
                        <a:t> </a:t>
                      </a:r>
                      <a:r>
                        <a:rPr sz="1500" b="1" kern="0" spc="90" dirty="0">
                          <a:solidFill>
                            <a:srgbClr val="12181D">
                              <a:alpha val="100000"/>
                            </a:srgbClr>
                          </a:solidFill>
                          <a:latin typeface="微软雅黑" panose="020B0503020204020204" charset="-122"/>
                          <a:ea typeface="微软雅黑" panose="020B0503020204020204" charset="-122"/>
                          <a:cs typeface="微软雅黑" panose="020B0503020204020204" charset="-122"/>
                        </a:rPr>
                        <a:t>储备资产监管</a:t>
                      </a:r>
                      <a:r>
                        <a:rPr sz="1500" kern="0" spc="90" dirty="0">
                          <a:solidFill>
                            <a:srgbClr val="12181D">
                              <a:alpha val="100000"/>
                            </a:srgbClr>
                          </a:solidFill>
                          <a:latin typeface="微软雅黑" panose="020B0503020204020204" charset="-122"/>
                          <a:ea typeface="微软雅黑" panose="020B0503020204020204" charset="-122"/>
                          <a:cs typeface="微软雅黑" panose="020B0503020204020204" charset="-122"/>
                        </a:rPr>
                        <a:t>：储备资产必须80%以上为现金且100%足额抵押，由持牌机构托管并接</a:t>
                      </a:r>
                      <a:r>
                        <a:rPr sz="1500" kern="0" spc="80" dirty="0">
                          <a:solidFill>
                            <a:srgbClr val="12181D">
                              <a:alpha val="100000"/>
                            </a:srgbClr>
                          </a:solidFill>
                          <a:latin typeface="微软雅黑" panose="020B0503020204020204" charset="-122"/>
                          <a:ea typeface="微软雅黑" panose="020B0503020204020204" charset="-122"/>
                          <a:cs typeface="微软雅黑" panose="020B0503020204020204" charset="-122"/>
                        </a:rPr>
                        <a:t>受双重审计</a:t>
                      </a:r>
                      <a:endParaRPr sz="1500" dirty="0">
                        <a:latin typeface="微软雅黑" panose="020B0503020204020204" charset="-122"/>
                        <a:ea typeface="微软雅黑" panose="020B0503020204020204" charset="-122"/>
                        <a:cs typeface="微软雅黑" panose="020B0503020204020204" charset="-122"/>
                      </a:endParaRPr>
                    </a:p>
                    <a:p>
                      <a:pPr marL="113030" algn="l" rtl="0" eaLnBrk="0">
                        <a:lnSpc>
                          <a:spcPts val="2060"/>
                        </a:lnSpc>
                        <a:spcBef>
                          <a:spcPts val="640"/>
                        </a:spcBef>
                      </a:pPr>
                      <a:r>
                        <a:rPr sz="1500" b="1" kern="0" spc="80" dirty="0">
                          <a:solidFill>
                            <a:srgbClr val="B12727">
                              <a:alpha val="100000"/>
                            </a:srgbClr>
                          </a:solidFill>
                          <a:latin typeface="Wingdings" panose="05000000000000000000" pitchFamily="2" charset="2"/>
                          <a:ea typeface="Wingdings" panose="05000000000000000000" pitchFamily="2" charset="2"/>
                          <a:cs typeface="Wingdings" panose="05000000000000000000" pitchFamily="2" charset="2"/>
                        </a:rPr>
                        <a:t>n</a:t>
                      </a:r>
                      <a:r>
                        <a:rPr sz="1500" kern="0" spc="-420" dirty="0">
                          <a:solidFill>
                            <a:srgbClr val="B12727">
                              <a:alpha val="100000"/>
                            </a:srgbClr>
                          </a:solidFill>
                          <a:latin typeface="Wingdings" panose="05000000000000000000" pitchFamily="2" charset="2"/>
                          <a:ea typeface="Wingdings" panose="05000000000000000000" pitchFamily="2" charset="2"/>
                          <a:cs typeface="Wingdings" panose="05000000000000000000" pitchFamily="2" charset="2"/>
                        </a:rPr>
                        <a:t> </a:t>
                      </a:r>
                      <a:r>
                        <a:rPr sz="1500" b="1" kern="0" spc="80" dirty="0">
                          <a:solidFill>
                            <a:srgbClr val="12181D">
                              <a:alpha val="100000"/>
                            </a:srgbClr>
                          </a:solidFill>
                          <a:latin typeface="微软雅黑" panose="020B0503020204020204" charset="-122"/>
                          <a:ea typeface="微软雅黑" panose="020B0503020204020204" charset="-122"/>
                          <a:cs typeface="微软雅黑" panose="020B0503020204020204" charset="-122"/>
                        </a:rPr>
                        <a:t>赎回机制</a:t>
                      </a:r>
                      <a:r>
                        <a:rPr sz="1500" b="1" kern="0" spc="-150" dirty="0">
                          <a:solidFill>
                            <a:srgbClr val="12181D">
                              <a:alpha val="100000"/>
                            </a:srgbClr>
                          </a:solidFill>
                          <a:latin typeface="微软雅黑" panose="020B0503020204020204" charset="-122"/>
                          <a:ea typeface="微软雅黑" panose="020B0503020204020204" charset="-122"/>
                          <a:cs typeface="微软雅黑" panose="020B0503020204020204" charset="-122"/>
                        </a:rPr>
                        <a:t> </a:t>
                      </a:r>
                      <a:r>
                        <a:rPr sz="1500" kern="0" spc="80" dirty="0">
                          <a:solidFill>
                            <a:srgbClr val="12181D">
                              <a:alpha val="100000"/>
                            </a:srgbClr>
                          </a:solidFill>
                          <a:latin typeface="微软雅黑" panose="020B0503020204020204" charset="-122"/>
                          <a:ea typeface="微软雅黑" panose="020B0503020204020204" charset="-122"/>
                          <a:cs typeface="微软雅黑" panose="020B0503020204020204" charset="-122"/>
                        </a:rPr>
                        <a:t>：T+0全额赎回保障和±2%脱锚熔断机制，</a:t>
                      </a:r>
                      <a:r>
                        <a:rPr sz="1500" kern="0" spc="-100" dirty="0">
                          <a:solidFill>
                            <a:srgbClr val="12181D">
                              <a:alpha val="100000"/>
                            </a:srgbClr>
                          </a:solidFill>
                          <a:latin typeface="微软雅黑" panose="020B0503020204020204" charset="-122"/>
                          <a:ea typeface="微软雅黑" panose="020B0503020204020204" charset="-122"/>
                          <a:cs typeface="微软雅黑" panose="020B0503020204020204" charset="-122"/>
                        </a:rPr>
                        <a:t> </a:t>
                      </a:r>
                      <a:r>
                        <a:rPr sz="1500" kern="0" spc="70" dirty="0">
                          <a:solidFill>
                            <a:srgbClr val="12181D">
                              <a:alpha val="100000"/>
                            </a:srgbClr>
                          </a:solidFill>
                          <a:latin typeface="微软雅黑" panose="020B0503020204020204" charset="-122"/>
                          <a:ea typeface="微软雅黑" panose="020B0503020204020204" charset="-122"/>
                          <a:cs typeface="微软雅黑" panose="020B0503020204020204" charset="-122"/>
                        </a:rPr>
                        <a:t>并通过每日链上披露和实时监管沙盒监控风险</a:t>
                      </a:r>
                      <a:endParaRPr sz="1500" dirty="0">
                        <a:latin typeface="微软雅黑" panose="020B0503020204020204" charset="-122"/>
                        <a:ea typeface="微软雅黑" panose="020B0503020204020204" charset="-122"/>
                        <a:cs typeface="微软雅黑" panose="020B0503020204020204" charset="-122"/>
                      </a:endParaRPr>
                    </a:p>
                    <a:p>
                      <a:pPr marL="385445" indent="-272415" algn="l" rtl="0" eaLnBrk="0">
                        <a:lnSpc>
                          <a:spcPct val="148000"/>
                        </a:lnSpc>
                        <a:spcBef>
                          <a:spcPts val="35"/>
                        </a:spcBef>
                      </a:pPr>
                      <a:r>
                        <a:rPr sz="1500" b="1" kern="0" spc="90" dirty="0">
                          <a:solidFill>
                            <a:srgbClr val="B12727">
                              <a:alpha val="100000"/>
                            </a:srgbClr>
                          </a:solidFill>
                          <a:latin typeface="Wingdings" panose="05000000000000000000" pitchFamily="2" charset="2"/>
                          <a:ea typeface="Wingdings" panose="05000000000000000000" pitchFamily="2" charset="2"/>
                          <a:cs typeface="Wingdings" panose="05000000000000000000" pitchFamily="2" charset="2"/>
                        </a:rPr>
                        <a:t>n</a:t>
                      </a:r>
                      <a:r>
                        <a:rPr sz="1500" kern="0" spc="-410" dirty="0">
                          <a:solidFill>
                            <a:srgbClr val="B12727">
                              <a:alpha val="100000"/>
                            </a:srgbClr>
                          </a:solidFill>
                          <a:latin typeface="Wingdings" panose="05000000000000000000" pitchFamily="2" charset="2"/>
                          <a:ea typeface="Wingdings" panose="05000000000000000000" pitchFamily="2" charset="2"/>
                          <a:cs typeface="Wingdings" panose="05000000000000000000" pitchFamily="2" charset="2"/>
                        </a:rPr>
                        <a:t> </a:t>
                      </a:r>
                      <a:r>
                        <a:rPr sz="1500" b="1" kern="0" spc="90" dirty="0">
                          <a:solidFill>
                            <a:srgbClr val="12181D">
                              <a:alpha val="100000"/>
                            </a:srgbClr>
                          </a:solidFill>
                          <a:latin typeface="微软雅黑" panose="020B0503020204020204" charset="-122"/>
                          <a:ea typeface="微软雅黑" panose="020B0503020204020204" charset="-122"/>
                          <a:cs typeface="微软雅黑" panose="020B0503020204020204" charset="-122"/>
                        </a:rPr>
                        <a:t>跨境交易</a:t>
                      </a:r>
                      <a:r>
                        <a:rPr sz="1500" kern="0" spc="90" dirty="0">
                          <a:solidFill>
                            <a:srgbClr val="12181D">
                              <a:alpha val="100000"/>
                            </a:srgbClr>
                          </a:solidFill>
                          <a:latin typeface="微软雅黑" panose="020B0503020204020204" charset="-122"/>
                          <a:ea typeface="微软雅黑" panose="020B0503020204020204" charset="-122"/>
                          <a:cs typeface="微软雅黑" panose="020B0503020204020204" charset="-122"/>
                        </a:rPr>
                        <a:t>：多币种稳定币公示权重并实施外汇对冲，同时为粤港澳大湾区支付场景提供沙盒豁免；</a:t>
                      </a:r>
                      <a:r>
                        <a:rPr sz="1500" kern="0" spc="-120" dirty="0">
                          <a:solidFill>
                            <a:srgbClr val="12181D">
                              <a:alpha val="100000"/>
                            </a:srgbClr>
                          </a:solidFill>
                          <a:latin typeface="微软雅黑" panose="020B0503020204020204" charset="-122"/>
                          <a:ea typeface="微软雅黑" panose="020B0503020204020204" charset="-122"/>
                          <a:cs typeface="微软雅黑" panose="020B0503020204020204" charset="-122"/>
                        </a:rPr>
                        <a:t> </a:t>
                      </a:r>
                      <a:r>
                        <a:rPr sz="1500" kern="0" spc="90" dirty="0">
                          <a:solidFill>
                            <a:srgbClr val="12181D">
                              <a:alpha val="100000"/>
                            </a:srgbClr>
                          </a:solidFill>
                          <a:latin typeface="微软雅黑" panose="020B0503020204020204" charset="-122"/>
                          <a:ea typeface="微软雅黑" panose="020B0503020204020204" charset="-122"/>
                          <a:cs typeface="微软雅黑" panose="020B0503020204020204" charset="-122"/>
                        </a:rPr>
                        <a:t>违规行为将</a:t>
                      </a:r>
                      <a:r>
                        <a:rPr sz="1500" kern="0" spc="80" dirty="0">
                          <a:solidFill>
                            <a:srgbClr val="12181D">
                              <a:alpha val="100000"/>
                            </a:srgbClr>
                          </a:solidFill>
                          <a:latin typeface="微软雅黑" panose="020B0503020204020204" charset="-122"/>
                          <a:ea typeface="微软雅黑" panose="020B0503020204020204" charset="-122"/>
                          <a:cs typeface="微软雅黑" panose="020B0503020204020204" charset="-122"/>
                        </a:rPr>
                        <a:t>面临最高每日1%发</a:t>
                      </a:r>
                      <a:r>
                        <a:rPr sz="1500" kern="0" spc="50" dirty="0">
                          <a:solidFill>
                            <a:srgbClr val="12181D">
                              <a:alpha val="100000"/>
                            </a:srgbClr>
                          </a:solidFill>
                          <a:latin typeface="微软雅黑" panose="020B0503020204020204" charset="-122"/>
                          <a:ea typeface="微软雅黑" panose="020B0503020204020204" charset="-122"/>
                          <a:cs typeface="微软雅黑" panose="020B0503020204020204" charset="-122"/>
                        </a:rPr>
                        <a:t>行量罚款或刑事追责。</a:t>
                      </a:r>
                      <a:endParaRPr sz="1500" dirty="0">
                        <a:latin typeface="微软雅黑" panose="020B0503020204020204" charset="-122"/>
                        <a:ea typeface="微软雅黑" panose="020B0503020204020204" charset="-122"/>
                        <a:cs typeface="微软雅黑" panose="020B0503020204020204" charset="-122"/>
                      </a:endParaRPr>
                    </a:p>
                  </a:txBody>
                  <a:tcPr marL="0" marR="0" marT="0" marB="0" vert="horz">
                    <a:lnL w="9525" cap="flat" cmpd="sng" algn="ctr">
                      <a:solidFill>
                        <a:srgbClr val="FFFFFF"/>
                      </a:solidFill>
                      <a:prstDash val="solid"/>
                      <a:round/>
                      <a:headEnd type="none" w="med" len="med"/>
                      <a:tailEnd type="none" w="med" len="med"/>
                    </a:lnL>
                    <a:lnR>
                      <a:noFill/>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r>
            </a:tbl>
          </a:graphicData>
        </a:graphic>
      </p:graphicFrame>
      <p:sp>
        <p:nvSpPr>
          <p:cNvPr id="352" name="textbox 352"/>
          <p:cNvSpPr/>
          <p:nvPr/>
        </p:nvSpPr>
        <p:spPr>
          <a:xfrm>
            <a:off x="21590" y="200003"/>
            <a:ext cx="11989434" cy="52831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797560" algn="l" defTabSz="0" rtl="0" eaLnBrk="0">
              <a:lnSpc>
                <a:spcPts val="3690"/>
              </a:lnSpc>
              <a:tabLst>
                <a:tab pos="1019175" algn="l"/>
              </a:tabLst>
            </a:pPr>
            <a:r>
              <a:rPr sz="27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	</a:t>
            </a:r>
            <a:r>
              <a:rPr sz="2700" b="1" kern="0" spc="550" dirty="0">
                <a:solidFill>
                  <a:srgbClr val="C00000">
                    <a:alpha val="100000"/>
                  </a:srgbClr>
                </a:solidFill>
                <a:latin typeface="微软雅黑" panose="020B0503020204020204" charset="-122"/>
                <a:ea typeface="微软雅黑" panose="020B0503020204020204" charset="-122"/>
                <a:cs typeface="微软雅黑" panose="020B0503020204020204" charset="-122"/>
              </a:rPr>
              <a:t> </a:t>
            </a:r>
            <a:r>
              <a:rPr sz="2700" b="1" kern="0" spc="-30" dirty="0">
                <a:solidFill>
                  <a:srgbClr val="C00000">
                    <a:alpha val="100000"/>
                  </a:srgbClr>
                </a:solidFill>
                <a:latin typeface="微软雅黑" panose="020B0503020204020204" charset="-122"/>
                <a:ea typeface="微软雅黑" panose="020B0503020204020204" charset="-122"/>
                <a:cs typeface="微软雅黑" panose="020B0503020204020204" charset="-122"/>
              </a:rPr>
              <a:t>《稳定币条例》核心要</a:t>
            </a:r>
            <a:r>
              <a:rPr sz="2700" b="1" kern="0" spc="-40" dirty="0">
                <a:solidFill>
                  <a:srgbClr val="C00000">
                    <a:alpha val="100000"/>
                  </a:srgbClr>
                </a:solidFill>
                <a:latin typeface="微软雅黑" panose="020B0503020204020204" charset="-122"/>
                <a:ea typeface="微软雅黑" panose="020B0503020204020204" charset="-122"/>
                <a:cs typeface="微软雅黑" panose="020B0503020204020204" charset="-122"/>
              </a:rPr>
              <a:t>点</a:t>
            </a:r>
            <a:r>
              <a:rPr sz="27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                                               </a:t>
            </a:r>
            <a:endParaRPr sz="2700" dirty="0">
              <a:latin typeface="微软雅黑" panose="020B0503020204020204" charset="-122"/>
              <a:ea typeface="微软雅黑" panose="020B0503020204020204" charset="-122"/>
              <a:cs typeface="微软雅黑" panose="020B0503020204020204" charset="-122"/>
            </a:endParaRPr>
          </a:p>
        </p:txBody>
      </p:sp>
      <p:grpSp>
        <p:nvGrpSpPr>
          <p:cNvPr id="48" name="group 48"/>
          <p:cNvGrpSpPr/>
          <p:nvPr/>
        </p:nvGrpSpPr>
        <p:grpSpPr>
          <a:xfrm rot="21600000">
            <a:off x="34290" y="237337"/>
            <a:ext cx="785266" cy="478129"/>
            <a:chOff x="0" y="0"/>
            <a:chExt cx="785266" cy="478129"/>
          </a:xfrm>
        </p:grpSpPr>
        <p:sp>
          <p:nvSpPr>
            <p:cNvPr id="356" name="path 356"/>
            <p:cNvSpPr/>
            <p:nvPr/>
          </p:nvSpPr>
          <p:spPr>
            <a:xfrm>
              <a:off x="0" y="0"/>
              <a:ext cx="124879" cy="478129"/>
            </a:xfrm>
            <a:custGeom>
              <a:avLst/>
              <a:gdLst/>
              <a:ahLst/>
              <a:cxnLst/>
              <a:rect l="0" t="0" r="0" b="0"/>
              <a:pathLst>
                <a:path w="196" h="752">
                  <a:moveTo>
                    <a:pt x="0" y="0"/>
                  </a:moveTo>
                  <a:lnTo>
                    <a:pt x="196" y="0"/>
                  </a:lnTo>
                  <a:lnTo>
                    <a:pt x="196" y="752"/>
                  </a:lnTo>
                  <a:lnTo>
                    <a:pt x="0" y="752"/>
                  </a:lnTo>
                  <a:lnTo>
                    <a:pt x="0" y="0"/>
                  </a:lnTo>
                  <a:close/>
                </a:path>
              </a:pathLst>
            </a:custGeom>
            <a:solidFill>
              <a:srgbClr val="475F77">
                <a:alpha val="100000"/>
              </a:srgbClr>
            </a:solidFill>
            <a:ln w="0" cap="flat">
              <a:noFill/>
              <a:prstDash val="solid"/>
              <a:miter lim="0"/>
            </a:ln>
          </p:spPr>
          <p:txBody>
            <a:bodyPr rtlCol="0"/>
            <a:lstStyle/>
            <a:p>
              <a:pPr algn="ctr"/>
              <a:endParaRPr lang="zh-CN" altLang="en-US"/>
            </a:p>
          </p:txBody>
        </p:sp>
        <p:sp>
          <p:nvSpPr>
            <p:cNvPr id="358" name="path 358"/>
            <p:cNvSpPr/>
            <p:nvPr/>
          </p:nvSpPr>
          <p:spPr>
            <a:xfrm>
              <a:off x="146050" y="0"/>
              <a:ext cx="639216" cy="478129"/>
            </a:xfrm>
            <a:custGeom>
              <a:avLst/>
              <a:gdLst/>
              <a:ahLst/>
              <a:cxnLst/>
              <a:rect l="0" t="0" r="0" b="0"/>
              <a:pathLst>
                <a:path w="1006" h="752">
                  <a:moveTo>
                    <a:pt x="0" y="0"/>
                  </a:moveTo>
                  <a:lnTo>
                    <a:pt x="1006" y="0"/>
                  </a:lnTo>
                  <a:lnTo>
                    <a:pt x="1006" y="752"/>
                  </a:lnTo>
                  <a:lnTo>
                    <a:pt x="0" y="752"/>
                  </a:lnTo>
                  <a:lnTo>
                    <a:pt x="0" y="0"/>
                  </a:lnTo>
                  <a:close/>
                </a:path>
              </a:pathLst>
            </a:custGeom>
            <a:solidFill>
              <a:srgbClr val="CD2D2D">
                <a:alpha val="100000"/>
              </a:srgbClr>
            </a:solidFill>
            <a:ln w="0" cap="flat">
              <a:noFill/>
              <a:prstDash val="solid"/>
              <a:miter lim="0"/>
            </a:ln>
          </p:spPr>
          <p:txBody>
            <a:bodyPr rtlCol="0"/>
            <a:lstStyle/>
            <a:p>
              <a:pPr algn="ctr"/>
              <a:endParaRPr lang="zh-CN" altLang="en-US"/>
            </a:p>
          </p:txBody>
        </p:sp>
      </p:grpSp>
      <p:sp>
        <p:nvSpPr>
          <p:cNvPr id="362" name="textbox 362"/>
          <p:cNvSpPr/>
          <p:nvPr/>
        </p:nvSpPr>
        <p:spPr>
          <a:xfrm>
            <a:off x="678180" y="3041015"/>
            <a:ext cx="495300" cy="2821939"/>
          </a:xfrm>
          <a:prstGeom prst="rect">
            <a:avLst/>
          </a:prstGeom>
          <a:solidFill>
            <a:srgbClr val="CD2D2D">
              <a:alpha val="100000"/>
            </a:srgbClr>
          </a:solidFill>
          <a:ln w="0" cap="flat">
            <a:noFill/>
            <a:prstDash val="solid"/>
            <a:miter lim="0"/>
          </a:ln>
        </p:spPr>
        <p:txBody>
          <a:bodyPr vert="horz" wrap="square" lIns="0" tIns="0" rIns="0" bIns="0"/>
          <a:lstStyle/>
          <a:p>
            <a:pPr algn="l" rtl="0" eaLnBrk="0">
              <a:lnSpc>
                <a:spcPct val="104000"/>
              </a:lnSpc>
            </a:pPr>
            <a:endParaRPr sz="800" dirty="0">
              <a:latin typeface="Arial" panose="020B0604020202020204" pitchFamily="34" charset="0"/>
              <a:ea typeface="Arial" panose="020B0604020202020204" pitchFamily="34" charset="0"/>
              <a:cs typeface="Arial" panose="020B0604020202020204" pitchFamily="34" charset="0"/>
            </a:endParaRPr>
          </a:p>
          <a:p>
            <a:pPr marL="155575" algn="l" rtl="0" eaLnBrk="0">
              <a:lnSpc>
                <a:spcPct val="82000"/>
              </a:lnSpc>
              <a:spcBef>
                <a:spcPts val="0"/>
              </a:spcBef>
            </a:pPr>
            <a:r>
              <a:rPr sz="1500" kern="0" spc="-10" dirty="0">
                <a:solidFill>
                  <a:srgbClr val="FFFFFF">
                    <a:alpha val="100000"/>
                  </a:srgbClr>
                </a:solidFill>
                <a:latin typeface="微软雅黑" panose="020B0503020204020204" charset="-122"/>
                <a:ea typeface="微软雅黑" panose="020B0503020204020204" charset="-122"/>
                <a:cs typeface="微软雅黑" panose="020B0503020204020204" charset="-122"/>
              </a:rPr>
              <a:t>图</a:t>
            </a:r>
            <a:endParaRPr sz="1500" dirty="0">
              <a:latin typeface="微软雅黑" panose="020B0503020204020204" charset="-122"/>
              <a:ea typeface="微软雅黑" panose="020B0503020204020204" charset="-122"/>
              <a:cs typeface="微软雅黑" panose="020B0503020204020204" charset="-122"/>
            </a:endParaRPr>
          </a:p>
          <a:p>
            <a:pPr marL="144780" algn="l" rtl="0" eaLnBrk="0">
              <a:lnSpc>
                <a:spcPct val="96000"/>
              </a:lnSpc>
              <a:spcBef>
                <a:spcPts val="15"/>
              </a:spcBef>
            </a:pPr>
            <a:r>
              <a:rPr sz="1500" kern="0" spc="60" dirty="0">
                <a:solidFill>
                  <a:srgbClr val="FFFFFF">
                    <a:alpha val="100000"/>
                  </a:srgbClr>
                </a:solidFill>
                <a:latin typeface="微软雅黑" panose="020B0503020204020204" charset="-122"/>
                <a:ea typeface="微软雅黑" panose="020B0503020204020204" charset="-122"/>
                <a:cs typeface="微软雅黑" panose="020B0503020204020204" charset="-122"/>
              </a:rPr>
              <a:t>表</a:t>
            </a:r>
            <a:endParaRPr sz="1500" dirty="0">
              <a:latin typeface="微软雅黑" panose="020B0503020204020204" charset="-122"/>
              <a:ea typeface="微软雅黑" panose="020B0503020204020204" charset="-122"/>
              <a:cs typeface="微软雅黑" panose="020B0503020204020204" charset="-122"/>
            </a:endParaRPr>
          </a:p>
          <a:p>
            <a:pPr marL="180340" algn="l" rtl="0" eaLnBrk="0">
              <a:lnSpc>
                <a:spcPts val="1035"/>
              </a:lnSpc>
              <a:spcBef>
                <a:spcPts val="1100"/>
              </a:spcBef>
            </a:pPr>
            <a:r>
              <a:rPr sz="1500" kern="0" spc="-20" dirty="0">
                <a:solidFill>
                  <a:srgbClr val="FFFFFF">
                    <a:alpha val="100000"/>
                  </a:srgbClr>
                </a:solidFill>
                <a:latin typeface="微软雅黑" panose="020B0503020204020204" charset="-122"/>
                <a:ea typeface="微软雅黑" panose="020B0503020204020204" charset="-122"/>
                <a:cs typeface="微软雅黑" panose="020B0503020204020204" charset="-122"/>
              </a:rPr>
              <a:t>:</a:t>
            </a:r>
            <a:endParaRPr sz="1500" dirty="0">
              <a:latin typeface="微软雅黑" panose="020B0503020204020204" charset="-122"/>
              <a:ea typeface="微软雅黑" panose="020B0503020204020204" charset="-122"/>
              <a:cs typeface="微软雅黑" panose="020B0503020204020204" charset="-122"/>
            </a:endParaRPr>
          </a:p>
          <a:p>
            <a:pPr marL="146050" algn="l" rtl="0" eaLnBrk="0">
              <a:lnSpc>
                <a:spcPct val="84000"/>
              </a:lnSpc>
              <a:spcBef>
                <a:spcPts val="895"/>
              </a:spcBef>
            </a:pPr>
            <a:r>
              <a:rPr sz="1500" kern="0" spc="50" dirty="0">
                <a:solidFill>
                  <a:srgbClr val="FFFFFF">
                    <a:alpha val="100000"/>
                  </a:srgbClr>
                </a:solidFill>
                <a:latin typeface="微软雅黑" panose="020B0503020204020204" charset="-122"/>
                <a:ea typeface="微软雅黑" panose="020B0503020204020204" charset="-122"/>
                <a:cs typeface="微软雅黑" panose="020B0503020204020204" charset="-122"/>
              </a:rPr>
              <a:t>监</a:t>
            </a:r>
            <a:endParaRPr sz="1500" dirty="0">
              <a:latin typeface="微软雅黑" panose="020B0503020204020204" charset="-122"/>
              <a:ea typeface="微软雅黑" panose="020B0503020204020204" charset="-122"/>
              <a:cs typeface="微软雅黑" panose="020B0503020204020204" charset="-122"/>
            </a:endParaRPr>
          </a:p>
          <a:p>
            <a:pPr marL="145415" algn="l" rtl="0" eaLnBrk="0">
              <a:lnSpc>
                <a:spcPct val="99000"/>
              </a:lnSpc>
              <a:spcBef>
                <a:spcPts val="0"/>
              </a:spcBef>
            </a:pPr>
            <a:r>
              <a:rPr sz="1500" kern="0" spc="60" dirty="0">
                <a:solidFill>
                  <a:srgbClr val="FFFFFF">
                    <a:alpha val="100000"/>
                  </a:srgbClr>
                </a:solidFill>
                <a:latin typeface="微软雅黑" panose="020B0503020204020204" charset="-122"/>
                <a:ea typeface="微软雅黑" panose="020B0503020204020204" charset="-122"/>
                <a:cs typeface="微软雅黑" panose="020B0503020204020204" charset="-122"/>
              </a:rPr>
              <a:t>管</a:t>
            </a:r>
            <a:endParaRPr sz="1500" dirty="0">
              <a:latin typeface="微软雅黑" panose="020B0503020204020204" charset="-122"/>
              <a:ea typeface="微软雅黑" panose="020B0503020204020204" charset="-122"/>
              <a:cs typeface="微软雅黑" panose="020B0503020204020204" charset="-122"/>
            </a:endParaRPr>
          </a:p>
          <a:p>
            <a:pPr marL="144145" algn="l" rtl="0" eaLnBrk="0">
              <a:lnSpc>
                <a:spcPct val="94000"/>
              </a:lnSpc>
              <a:spcBef>
                <a:spcPts val="15"/>
              </a:spcBef>
            </a:pPr>
            <a:r>
              <a:rPr sz="1500" kern="0" spc="60" dirty="0">
                <a:solidFill>
                  <a:srgbClr val="FFFFFF">
                    <a:alpha val="100000"/>
                  </a:srgbClr>
                </a:solidFill>
                <a:latin typeface="微软雅黑" panose="020B0503020204020204" charset="-122"/>
                <a:ea typeface="微软雅黑" panose="020B0503020204020204" charset="-122"/>
                <a:cs typeface="微软雅黑" panose="020B0503020204020204" charset="-122"/>
              </a:rPr>
              <a:t>逻</a:t>
            </a:r>
            <a:endParaRPr sz="1500" dirty="0">
              <a:latin typeface="微软雅黑" panose="020B0503020204020204" charset="-122"/>
              <a:ea typeface="微软雅黑" panose="020B0503020204020204" charset="-122"/>
              <a:cs typeface="微软雅黑" panose="020B0503020204020204" charset="-122"/>
            </a:endParaRPr>
          </a:p>
          <a:p>
            <a:pPr marL="144780" algn="l" rtl="0" eaLnBrk="0">
              <a:lnSpc>
                <a:spcPct val="97000"/>
              </a:lnSpc>
              <a:spcBef>
                <a:spcPts val="5"/>
              </a:spcBef>
            </a:pPr>
            <a:r>
              <a:rPr sz="1500" kern="0" spc="60" dirty="0">
                <a:solidFill>
                  <a:srgbClr val="FFFFFF">
                    <a:alpha val="100000"/>
                  </a:srgbClr>
                </a:solidFill>
                <a:latin typeface="微软雅黑" panose="020B0503020204020204" charset="-122"/>
                <a:ea typeface="微软雅黑" panose="020B0503020204020204" charset="-122"/>
                <a:cs typeface="微软雅黑" panose="020B0503020204020204" charset="-122"/>
              </a:rPr>
              <a:t>辑</a:t>
            </a:r>
            <a:endParaRPr sz="1500" dirty="0">
              <a:latin typeface="微软雅黑" panose="020B0503020204020204" charset="-122"/>
              <a:ea typeface="微软雅黑" panose="020B0503020204020204" charset="-122"/>
              <a:cs typeface="微软雅黑" panose="020B0503020204020204" charset="-122"/>
            </a:endParaRPr>
          </a:p>
          <a:p>
            <a:pPr marL="155575" algn="l" rtl="0" eaLnBrk="0">
              <a:lnSpc>
                <a:spcPct val="95000"/>
              </a:lnSpc>
              <a:spcBef>
                <a:spcPts val="10"/>
              </a:spcBef>
            </a:pPr>
            <a:r>
              <a:rPr sz="1500" kern="0" spc="-10" dirty="0">
                <a:solidFill>
                  <a:srgbClr val="FFFFFF">
                    <a:alpha val="100000"/>
                  </a:srgbClr>
                </a:solidFill>
                <a:latin typeface="微软雅黑" panose="020B0503020204020204" charset="-122"/>
                <a:ea typeface="微软雅黑" panose="020B0503020204020204" charset="-122"/>
                <a:cs typeface="微软雅黑" panose="020B0503020204020204" charset="-122"/>
              </a:rPr>
              <a:t>图</a:t>
            </a:r>
            <a:endParaRPr sz="1500" dirty="0">
              <a:latin typeface="微软雅黑" panose="020B0503020204020204" charset="-122"/>
              <a:ea typeface="微软雅黑" panose="020B0503020204020204" charset="-122"/>
              <a:cs typeface="微软雅黑" panose="020B0503020204020204" charset="-122"/>
            </a:endParaRPr>
          </a:p>
          <a:p>
            <a:pPr marL="144145" algn="l" rtl="0" eaLnBrk="0">
              <a:lnSpc>
                <a:spcPct val="96000"/>
              </a:lnSpc>
              <a:spcBef>
                <a:spcPts val="10"/>
              </a:spcBef>
            </a:pPr>
            <a:r>
              <a:rPr sz="1500" kern="0" spc="60" dirty="0">
                <a:solidFill>
                  <a:srgbClr val="FFFFFF">
                    <a:alpha val="100000"/>
                  </a:srgbClr>
                </a:solidFill>
                <a:latin typeface="微软雅黑" panose="020B0503020204020204" charset="-122"/>
                <a:ea typeface="微软雅黑" panose="020B0503020204020204" charset="-122"/>
                <a:cs typeface="微软雅黑" panose="020B0503020204020204" charset="-122"/>
              </a:rPr>
              <a:t>解</a:t>
            </a:r>
            <a:endParaRPr sz="1500" dirty="0">
              <a:latin typeface="微软雅黑" panose="020B0503020204020204" charset="-122"/>
              <a:ea typeface="微软雅黑" panose="020B0503020204020204" charset="-122"/>
              <a:cs typeface="微软雅黑" panose="020B0503020204020204" charset="-122"/>
            </a:endParaRPr>
          </a:p>
        </p:txBody>
      </p:sp>
      <p:sp>
        <p:nvSpPr>
          <p:cNvPr id="364" name="textbox 364"/>
          <p:cNvSpPr/>
          <p:nvPr/>
        </p:nvSpPr>
        <p:spPr>
          <a:xfrm>
            <a:off x="467096" y="6198634"/>
            <a:ext cx="3616959" cy="18922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ts val="1285"/>
              </a:lnSpc>
            </a:pPr>
            <a:r>
              <a:rPr sz="9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资料来源：</a:t>
            </a:r>
            <a:r>
              <a:rPr sz="900" kern="0" spc="2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9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2023年支</a:t>
            </a:r>
            <a:r>
              <a:rPr sz="9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付系统及稳定币条例草案</a:t>
            </a:r>
            <a:r>
              <a:rPr sz="9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sz="900" dirty="0">
              <a:latin typeface="微软雅黑" panose="020B0503020204020204" charset="-122"/>
              <a:ea typeface="微软雅黑" panose="020B0503020204020204" charset="-122"/>
              <a:cs typeface="微软雅黑" panose="020B0503020204020204" charset="-122"/>
            </a:endParaRPr>
          </a:p>
        </p:txBody>
      </p:sp>
      <p:sp>
        <p:nvSpPr>
          <p:cNvPr id="366" name="path 366"/>
          <p:cNvSpPr/>
          <p:nvPr/>
        </p:nvSpPr>
        <p:spPr>
          <a:xfrm>
            <a:off x="1274627" y="838839"/>
            <a:ext cx="8762816" cy="21590"/>
          </a:xfrm>
          <a:custGeom>
            <a:avLst/>
            <a:gdLst/>
            <a:ahLst/>
            <a:cxnLst/>
            <a:rect l="0" t="0" r="0" b="0"/>
            <a:pathLst>
              <a:path w="13799" h="34">
                <a:moveTo>
                  <a:pt x="0" y="15"/>
                </a:moveTo>
                <a:lnTo>
                  <a:pt x="13799" y="19"/>
                </a:lnTo>
              </a:path>
            </a:pathLst>
          </a:custGeom>
          <a:noFill/>
          <a:ln w="19050" cap="flat">
            <a:solidFill>
              <a:srgbClr val="BFBFBF"/>
            </a:solidFill>
            <a:prstDash val="dash"/>
            <a:round/>
          </a:ln>
        </p:spPr>
        <p:txBody>
          <a:bodyPr rtlCol="0"/>
          <a:lstStyle/>
          <a:p>
            <a:pPr algn="ctr"/>
            <a:endParaRPr lang="zh-CN" altLang="en-US"/>
          </a:p>
        </p:txBody>
      </p:sp>
      <p:sp>
        <p:nvSpPr>
          <p:cNvPr id="368" name="path 368"/>
          <p:cNvSpPr/>
          <p:nvPr/>
        </p:nvSpPr>
        <p:spPr>
          <a:xfrm>
            <a:off x="418092" y="6094817"/>
            <a:ext cx="11388090" cy="9525"/>
          </a:xfrm>
          <a:custGeom>
            <a:avLst/>
            <a:gdLst/>
            <a:ahLst/>
            <a:cxnLst/>
            <a:rect l="0" t="0" r="0" b="0"/>
            <a:pathLst>
              <a:path w="17934" h="15">
                <a:moveTo>
                  <a:pt x="0" y="7"/>
                </a:moveTo>
                <a:lnTo>
                  <a:pt x="17934" y="7"/>
                </a:lnTo>
              </a:path>
            </a:pathLst>
          </a:custGeom>
          <a:noFill/>
          <a:ln w="9525" cap="flat">
            <a:solidFill>
              <a:srgbClr val="B02323"/>
            </a:solidFill>
            <a:prstDash val="solid"/>
            <a:round/>
          </a:ln>
        </p:spPr>
        <p:txBody>
          <a:bodyPr rtlCol="0"/>
          <a:lstStyle/>
          <a:p>
            <a:pPr algn="ctr"/>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32" name="table 532"/>
          <p:cNvGraphicFramePr>
            <a:graphicFrameLocks noGrp="1"/>
          </p:cNvGraphicFramePr>
          <p:nvPr/>
        </p:nvGraphicFramePr>
        <p:xfrm>
          <a:off x="414566" y="2405760"/>
          <a:ext cx="11424284" cy="3931919"/>
        </p:xfrm>
        <a:graphic>
          <a:graphicData uri="http://schemas.openxmlformats.org/drawingml/2006/table">
            <a:tbl>
              <a:tblPr/>
              <a:tblGrid>
                <a:gridCol w="499744"/>
                <a:gridCol w="827405"/>
                <a:gridCol w="856615"/>
                <a:gridCol w="7220584"/>
                <a:gridCol w="2019935"/>
              </a:tblGrid>
              <a:tr h="265429">
                <a:tc>
                  <a:txBody>
                    <a:bodyPr/>
                    <a:lstStyle/>
                    <a:p>
                      <a:pPr algn="l" rtl="0" eaLnBrk="0">
                        <a:lnSpc>
                          <a:spcPct val="112000"/>
                        </a:lnSpc>
                      </a:pPr>
                      <a:endParaRPr sz="400" dirty="0">
                        <a:latin typeface="Arial" panose="020B0604020202020204" pitchFamily="34" charset="0"/>
                        <a:ea typeface="Arial" panose="020B0604020202020204" pitchFamily="34" charset="0"/>
                        <a:cs typeface="Arial" panose="020B0604020202020204" pitchFamily="34" charset="0"/>
                      </a:endParaRPr>
                    </a:p>
                    <a:p>
                      <a:pPr marL="123825" algn="l" rtl="0" eaLnBrk="0">
                        <a:lnSpc>
                          <a:spcPct val="84000"/>
                        </a:lnSpc>
                        <a:spcBef>
                          <a:spcPts val="5"/>
                        </a:spcBef>
                      </a:pPr>
                      <a:r>
                        <a:rPr sz="1100" b="1" kern="0" spc="-30" dirty="0">
                          <a:solidFill>
                            <a:srgbClr val="FFFFFF">
                              <a:alpha val="100000"/>
                            </a:srgbClr>
                          </a:solidFill>
                          <a:latin typeface="楷体" panose="02010609060101010101" charset="-122"/>
                          <a:ea typeface="楷体" panose="02010609060101010101" charset="-122"/>
                          <a:cs typeface="楷体" panose="02010609060101010101" charset="-122"/>
                        </a:rPr>
                        <a:t>组合</a:t>
                      </a:r>
                      <a:endParaRPr sz="11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C30F1B"/>
                    </a:solidFill>
                  </a:tcPr>
                </a:tc>
                <a:tc>
                  <a:txBody>
                    <a:bodyPr/>
                    <a:lstStyle/>
                    <a:p>
                      <a:pPr algn="l" rtl="0" eaLnBrk="0">
                        <a:lnSpc>
                          <a:spcPct val="112000"/>
                        </a:lnSpc>
                      </a:pPr>
                      <a:endParaRPr sz="400" dirty="0">
                        <a:latin typeface="Arial" panose="020B0604020202020204" pitchFamily="34" charset="0"/>
                        <a:ea typeface="Arial" panose="020B0604020202020204" pitchFamily="34" charset="0"/>
                        <a:cs typeface="Arial" panose="020B0604020202020204" pitchFamily="34" charset="0"/>
                      </a:endParaRPr>
                    </a:p>
                    <a:p>
                      <a:pPr marL="274320" algn="l" rtl="0" eaLnBrk="0">
                        <a:lnSpc>
                          <a:spcPct val="84000"/>
                        </a:lnSpc>
                        <a:spcBef>
                          <a:spcPts val="5"/>
                        </a:spcBef>
                      </a:pPr>
                      <a:r>
                        <a:rPr sz="1100" b="1" kern="0" spc="-20" dirty="0">
                          <a:solidFill>
                            <a:srgbClr val="FFFFFF">
                              <a:alpha val="100000"/>
                            </a:srgbClr>
                          </a:solidFill>
                          <a:latin typeface="楷体" panose="02010609060101010101" charset="-122"/>
                          <a:ea typeface="楷体" panose="02010609060101010101" charset="-122"/>
                          <a:cs typeface="楷体" panose="02010609060101010101" charset="-122"/>
                        </a:rPr>
                        <a:t>公司</a:t>
                      </a:r>
                      <a:endParaRPr sz="11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C30F1B"/>
                    </a:solidFill>
                  </a:tcPr>
                </a:tc>
                <a:tc>
                  <a:txBody>
                    <a:bodyPr/>
                    <a:lstStyle/>
                    <a:p>
                      <a:pPr algn="l" rtl="0" eaLnBrk="0">
                        <a:lnSpc>
                          <a:spcPct val="112000"/>
                        </a:lnSpc>
                      </a:pPr>
                      <a:endParaRPr sz="400" dirty="0">
                        <a:latin typeface="Arial" panose="020B0604020202020204" pitchFamily="34" charset="0"/>
                        <a:ea typeface="Arial" panose="020B0604020202020204" pitchFamily="34" charset="0"/>
                        <a:cs typeface="Arial" panose="020B0604020202020204" pitchFamily="34" charset="0"/>
                      </a:endParaRPr>
                    </a:p>
                    <a:p>
                      <a:pPr marL="149225" algn="l" rtl="0" eaLnBrk="0">
                        <a:lnSpc>
                          <a:spcPct val="84000"/>
                        </a:lnSpc>
                        <a:spcBef>
                          <a:spcPts val="5"/>
                        </a:spcBef>
                      </a:pPr>
                      <a:r>
                        <a:rPr sz="1100" b="1" kern="0" spc="-10" dirty="0">
                          <a:solidFill>
                            <a:srgbClr val="FFFFFF">
                              <a:alpha val="100000"/>
                            </a:srgbClr>
                          </a:solidFill>
                          <a:latin typeface="楷体" panose="02010609060101010101" charset="-122"/>
                          <a:ea typeface="楷体" panose="02010609060101010101" charset="-122"/>
                          <a:cs typeface="楷体" panose="02010609060101010101" charset="-122"/>
                        </a:rPr>
                        <a:t>公司属性</a:t>
                      </a:r>
                      <a:endParaRPr sz="11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C30F1B"/>
                    </a:solidFill>
                  </a:tcPr>
                </a:tc>
                <a:tc>
                  <a:txBody>
                    <a:bodyPr/>
                    <a:lstStyle/>
                    <a:p>
                      <a:pPr algn="l" rtl="0" eaLnBrk="0">
                        <a:lnSpc>
                          <a:spcPct val="114000"/>
                        </a:lnSpc>
                      </a:pPr>
                      <a:endParaRPr sz="400" dirty="0">
                        <a:latin typeface="Arial" panose="020B0604020202020204" pitchFamily="34" charset="0"/>
                        <a:ea typeface="Arial" panose="020B0604020202020204" pitchFamily="34" charset="0"/>
                        <a:cs typeface="Arial" panose="020B0604020202020204" pitchFamily="34" charset="0"/>
                      </a:endParaRPr>
                    </a:p>
                    <a:p>
                      <a:pPr marL="2843530" algn="l" rtl="0" eaLnBrk="0">
                        <a:lnSpc>
                          <a:spcPct val="85000"/>
                        </a:lnSpc>
                      </a:pPr>
                      <a:r>
                        <a:rPr sz="1100" b="1" kern="0" spc="-10" dirty="0">
                          <a:solidFill>
                            <a:srgbClr val="FFFFFF">
                              <a:alpha val="100000"/>
                            </a:srgbClr>
                          </a:solidFill>
                          <a:latin typeface="楷体" panose="02010609060101010101" charset="-122"/>
                          <a:ea typeface="楷体" panose="02010609060101010101" charset="-122"/>
                          <a:cs typeface="楷体" panose="02010609060101010101" charset="-122"/>
                        </a:rPr>
                        <a:t>公司背景与目前项目近况</a:t>
                      </a:r>
                      <a:endParaRPr sz="11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C30F1B"/>
                    </a:solidFill>
                  </a:tcPr>
                </a:tc>
                <a:tc>
                  <a:txBody>
                    <a:bodyPr/>
                    <a:lstStyle/>
                    <a:p>
                      <a:pPr algn="l" rtl="0" eaLnBrk="0">
                        <a:lnSpc>
                          <a:spcPct val="114000"/>
                        </a:lnSpc>
                      </a:pPr>
                      <a:endParaRPr sz="400" dirty="0">
                        <a:latin typeface="Arial" panose="020B0604020202020204" pitchFamily="34" charset="0"/>
                        <a:ea typeface="Arial" panose="020B0604020202020204" pitchFamily="34" charset="0"/>
                        <a:cs typeface="Arial" panose="020B0604020202020204" pitchFamily="34" charset="0"/>
                      </a:endParaRPr>
                    </a:p>
                    <a:p>
                      <a:pPr marL="601345" algn="l" rtl="0" eaLnBrk="0">
                        <a:lnSpc>
                          <a:spcPct val="84000"/>
                        </a:lnSpc>
                        <a:spcBef>
                          <a:spcPts val="5"/>
                        </a:spcBef>
                      </a:pPr>
                      <a:r>
                        <a:rPr sz="1100" b="1" kern="0" spc="-30" dirty="0">
                          <a:solidFill>
                            <a:srgbClr val="FFFFFF">
                              <a:alpha val="100000"/>
                            </a:srgbClr>
                          </a:solidFill>
                          <a:latin typeface="楷体" panose="02010609060101010101" charset="-122"/>
                          <a:ea typeface="楷体" panose="02010609060101010101" charset="-122"/>
                          <a:cs typeface="楷体" panose="02010609060101010101" charset="-122"/>
                        </a:rPr>
                        <a:t>关联上市公司</a:t>
                      </a:r>
                      <a:endParaRPr sz="11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C30F1B"/>
                    </a:solidFill>
                  </a:tcPr>
                </a:tc>
              </a:tr>
              <a:tr h="939800">
                <a:tc>
                  <a:txBody>
                    <a:bodyPr/>
                    <a:lstStyle/>
                    <a:p>
                      <a:pPr algn="l" rtl="0" eaLnBrk="0">
                        <a:lnSpc>
                          <a:spcPct val="13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38000"/>
                        </a:lnSpc>
                      </a:pPr>
                      <a:endParaRPr sz="1000" dirty="0">
                        <a:latin typeface="Arial" panose="020B0604020202020204" pitchFamily="34" charset="0"/>
                        <a:ea typeface="Arial" panose="020B0604020202020204" pitchFamily="34" charset="0"/>
                        <a:cs typeface="Arial" panose="020B0604020202020204" pitchFamily="34" charset="0"/>
                      </a:endParaRPr>
                    </a:p>
                    <a:p>
                      <a:pPr marL="229235" algn="l" rtl="0" eaLnBrk="0">
                        <a:lnSpc>
                          <a:spcPct val="79000"/>
                        </a:lnSpc>
                        <a:spcBef>
                          <a:spcPts val="5"/>
                        </a:spcBef>
                      </a:pPr>
                      <a:r>
                        <a:rPr sz="1100" kern="0" spc="-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1</a:t>
                      </a:r>
                      <a:endParaRPr sz="11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CCCC"/>
                    </a:solidFill>
                  </a:tcPr>
                </a:tc>
                <a:tc>
                  <a:txBody>
                    <a:bodyPr/>
                    <a:lstStyle/>
                    <a:p>
                      <a:pPr algn="l" rtl="0" eaLnBrk="0">
                        <a:lnSpc>
                          <a:spcPct val="159000"/>
                        </a:lnSpc>
                      </a:pPr>
                      <a:endParaRPr sz="1000" b="1" dirty="0">
                        <a:latin typeface="Arial" panose="020B0604020202020204" pitchFamily="34" charset="0"/>
                        <a:ea typeface="Arial" panose="020B0604020202020204" pitchFamily="34" charset="0"/>
                        <a:cs typeface="Arial" panose="020B0604020202020204" pitchFamily="34" charset="0"/>
                      </a:endParaRPr>
                    </a:p>
                    <a:p>
                      <a:pPr algn="l" rtl="0" eaLnBrk="0">
                        <a:lnSpc>
                          <a:spcPct val="9000"/>
                        </a:lnSpc>
                      </a:pPr>
                      <a:endParaRPr sz="100" b="1" dirty="0">
                        <a:latin typeface="Arial" panose="020B0604020202020204" pitchFamily="34" charset="0"/>
                        <a:ea typeface="Arial" panose="020B0604020202020204" pitchFamily="34" charset="0"/>
                        <a:cs typeface="Arial" panose="020B0604020202020204" pitchFamily="34" charset="0"/>
                      </a:endParaRPr>
                    </a:p>
                    <a:p>
                      <a:pPr marL="142240" algn="l" rtl="0" eaLnBrk="0">
                        <a:lnSpc>
                          <a:spcPct val="85000"/>
                        </a:lnSpc>
                      </a:pPr>
                      <a:r>
                        <a:rPr sz="1100" b="1" kern="0" spc="-20" dirty="0">
                          <a:solidFill>
                            <a:srgbClr val="000000">
                              <a:alpha val="100000"/>
                            </a:srgbClr>
                          </a:solidFill>
                          <a:latin typeface="楷体" panose="02010609060101010101" charset="-122"/>
                          <a:ea typeface="楷体" panose="02010609060101010101" charset="-122"/>
                          <a:cs typeface="楷体" panose="02010609060101010101" charset="-122"/>
                        </a:rPr>
                        <a:t>京东币链</a:t>
                      </a:r>
                      <a:endParaRPr sz="1100" b="1" dirty="0">
                        <a:latin typeface="楷体" panose="02010609060101010101" charset="-122"/>
                        <a:ea typeface="楷体" panose="02010609060101010101" charset="-122"/>
                        <a:cs typeface="楷体" panose="02010609060101010101" charset="-122"/>
                      </a:endParaRPr>
                    </a:p>
                    <a:p>
                      <a:pPr marL="135890" algn="l" rtl="0" eaLnBrk="0">
                        <a:lnSpc>
                          <a:spcPct val="84000"/>
                        </a:lnSpc>
                        <a:spcBef>
                          <a:spcPts val="195"/>
                        </a:spcBef>
                      </a:pPr>
                      <a:r>
                        <a:rPr sz="1100" b="1" kern="0" spc="-10" dirty="0">
                          <a:solidFill>
                            <a:srgbClr val="000000">
                              <a:alpha val="100000"/>
                            </a:srgbClr>
                          </a:solidFill>
                          <a:latin typeface="楷体" panose="02010609060101010101" charset="-122"/>
                          <a:ea typeface="楷体" panose="02010609060101010101" charset="-122"/>
                          <a:cs typeface="楷体" panose="02010609060101010101" charset="-122"/>
                        </a:rPr>
                        <a:t>科技（香</a:t>
                      </a:r>
                      <a:endParaRPr sz="1100" b="1" dirty="0">
                        <a:latin typeface="楷体" panose="02010609060101010101" charset="-122"/>
                        <a:ea typeface="楷体" panose="02010609060101010101" charset="-122"/>
                        <a:cs typeface="楷体" panose="02010609060101010101" charset="-122"/>
                      </a:endParaRPr>
                    </a:p>
                    <a:p>
                      <a:pPr marL="286385" algn="l" rtl="0" eaLnBrk="0">
                        <a:lnSpc>
                          <a:spcPct val="92000"/>
                        </a:lnSpc>
                        <a:spcBef>
                          <a:spcPts val="160"/>
                        </a:spcBef>
                      </a:pPr>
                      <a:r>
                        <a:rPr sz="1000" b="1" kern="0" spc="-100" dirty="0">
                          <a:solidFill>
                            <a:srgbClr val="000000">
                              <a:alpha val="100000"/>
                            </a:srgbClr>
                          </a:solidFill>
                          <a:latin typeface="楷体" panose="02010609060101010101" charset="-122"/>
                          <a:ea typeface="楷体" panose="02010609060101010101" charset="-122"/>
                          <a:cs typeface="楷体" panose="02010609060101010101" charset="-122"/>
                        </a:rPr>
                        <a:t>港）</a:t>
                      </a:r>
                      <a:endParaRPr sz="1000" b="1"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CCCC"/>
                    </a:solidFill>
                  </a:tcPr>
                </a:tc>
                <a:tc>
                  <a:txBody>
                    <a:bodyPr/>
                    <a:lstStyle/>
                    <a:p>
                      <a:pPr algn="l" rtl="0" eaLnBrk="0">
                        <a:lnSpc>
                          <a:spcPct val="160000"/>
                        </a:lnSpc>
                      </a:pPr>
                      <a:endParaRPr sz="1000" b="1" dirty="0">
                        <a:latin typeface="Arial" panose="020B0604020202020204" pitchFamily="34" charset="0"/>
                        <a:ea typeface="Arial" panose="020B0604020202020204" pitchFamily="34" charset="0"/>
                        <a:cs typeface="Arial" panose="020B0604020202020204" pitchFamily="34" charset="0"/>
                      </a:endParaRPr>
                    </a:p>
                    <a:p>
                      <a:pPr marL="106680" algn="l" rtl="0" eaLnBrk="0">
                        <a:lnSpc>
                          <a:spcPct val="85000"/>
                        </a:lnSpc>
                        <a:spcBef>
                          <a:spcPts val="5"/>
                        </a:spcBef>
                      </a:pPr>
                      <a:r>
                        <a:rPr sz="1100" b="1" kern="0" spc="-30" dirty="0">
                          <a:solidFill>
                            <a:srgbClr val="000000">
                              <a:alpha val="100000"/>
                            </a:srgbClr>
                          </a:solidFill>
                          <a:latin typeface="楷体" panose="02010609060101010101" charset="-122"/>
                          <a:ea typeface="楷体" panose="02010609060101010101" charset="-122"/>
                          <a:cs typeface="楷体" panose="02010609060101010101" charset="-122"/>
                        </a:rPr>
                        <a:t>头部电商</a:t>
                      </a:r>
                      <a:endParaRPr sz="1100" b="1" dirty="0">
                        <a:latin typeface="楷体" panose="02010609060101010101" charset="-122"/>
                        <a:ea typeface="楷体" panose="02010609060101010101" charset="-122"/>
                        <a:cs typeface="楷体" panose="02010609060101010101" charset="-122"/>
                      </a:endParaRPr>
                    </a:p>
                    <a:p>
                      <a:pPr marL="93980" algn="l" rtl="0" eaLnBrk="0">
                        <a:lnSpc>
                          <a:spcPct val="84000"/>
                        </a:lnSpc>
                        <a:spcBef>
                          <a:spcPts val="190"/>
                        </a:spcBef>
                      </a:pPr>
                      <a:r>
                        <a:rPr sz="1100" b="1" kern="0" spc="-10" dirty="0">
                          <a:solidFill>
                            <a:srgbClr val="000000">
                              <a:alpha val="100000"/>
                            </a:srgbClr>
                          </a:solidFill>
                          <a:latin typeface="楷体" panose="02010609060101010101" charset="-122"/>
                          <a:ea typeface="楷体" panose="02010609060101010101" charset="-122"/>
                          <a:cs typeface="楷体" panose="02010609060101010101" charset="-122"/>
                        </a:rPr>
                        <a:t>科技子公</a:t>
                      </a:r>
                      <a:endParaRPr sz="1100" b="1" dirty="0">
                        <a:latin typeface="楷体" panose="02010609060101010101" charset="-122"/>
                        <a:ea typeface="楷体" panose="02010609060101010101" charset="-122"/>
                        <a:cs typeface="楷体" panose="02010609060101010101" charset="-122"/>
                      </a:endParaRPr>
                    </a:p>
                    <a:p>
                      <a:pPr marL="115570" algn="l" rtl="0" eaLnBrk="0">
                        <a:lnSpc>
                          <a:spcPct val="95000"/>
                        </a:lnSpc>
                        <a:spcBef>
                          <a:spcPts val="10"/>
                        </a:spcBef>
                      </a:pPr>
                      <a:r>
                        <a:rPr sz="1100" b="1" kern="0" spc="-10" dirty="0">
                          <a:solidFill>
                            <a:srgbClr val="000000">
                              <a:alpha val="100000"/>
                            </a:srgbClr>
                          </a:solidFill>
                          <a:latin typeface="楷体" panose="02010609060101010101" charset="-122"/>
                          <a:ea typeface="楷体" panose="02010609060101010101" charset="-122"/>
                          <a:cs typeface="楷体" panose="02010609060101010101" charset="-122"/>
                        </a:rPr>
                        <a:t>司</a:t>
                      </a:r>
                      <a:endParaRPr sz="1100" b="1"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CCCC"/>
                    </a:solidFill>
                  </a:tcPr>
                </a:tc>
                <a:tc>
                  <a:txBody>
                    <a:bodyPr/>
                    <a:lstStyle/>
                    <a:p>
                      <a:pPr algn="l" rtl="0" eaLnBrk="0">
                        <a:lnSpc>
                          <a:spcPct val="110000"/>
                        </a:lnSpc>
                      </a:pPr>
                      <a:endParaRPr sz="9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92710" indent="6985" algn="l" rtl="0" eaLnBrk="0">
                        <a:lnSpc>
                          <a:spcPct val="96000"/>
                        </a:lnSpc>
                      </a:pPr>
                      <a:r>
                        <a:rPr sz="1100" kern="0" spc="0" dirty="0">
                          <a:solidFill>
                            <a:srgbClr val="000000">
                              <a:alpha val="100000"/>
                            </a:srgbClr>
                          </a:solidFill>
                          <a:latin typeface="楷体" panose="02010609060101010101" charset="-122"/>
                          <a:ea typeface="楷体" panose="02010609060101010101" charset="-122"/>
                          <a:cs typeface="楷体" panose="02010609060101010101" charset="-122"/>
                        </a:rPr>
                        <a:t>京东科技集团子公司，主要业务包括数字货币支付系统和区块链基础设施建设。京东币链科技</a:t>
                      </a:r>
                      <a:r>
                        <a:rPr sz="1100" kern="0" spc="-240" dirty="0">
                          <a:solidFill>
                            <a:srgbClr val="000000">
                              <a:alpha val="100000"/>
                            </a:srgbClr>
                          </a:solidFill>
                          <a:latin typeface="楷体" panose="02010609060101010101" charset="-122"/>
                          <a:ea typeface="楷体" panose="02010609060101010101" charset="-122"/>
                          <a:cs typeface="楷体" panose="02010609060101010101" charset="-122"/>
                        </a:rPr>
                        <a:t> </a:t>
                      </a:r>
                      <a:r>
                        <a:rPr sz="11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CE</a:t>
                      </a:r>
                      <a:r>
                        <a:rPr sz="11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O </a:t>
                      </a:r>
                      <a:r>
                        <a:rPr sz="1100" kern="0" spc="-10" dirty="0">
                          <a:solidFill>
                            <a:srgbClr val="000000">
                              <a:alpha val="100000"/>
                            </a:srgbClr>
                          </a:solidFill>
                          <a:latin typeface="楷体" panose="02010609060101010101" charset="-122"/>
                          <a:ea typeface="楷体" panose="02010609060101010101" charset="-122"/>
                          <a:cs typeface="楷体" panose="02010609060101010101" charset="-122"/>
                        </a:rPr>
                        <a:t>刘鹏谈到京东</a:t>
                      </a:r>
                      <a:r>
                        <a:rPr sz="1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1100" kern="0" spc="0" dirty="0">
                          <a:solidFill>
                            <a:srgbClr val="000000">
                              <a:alpha val="100000"/>
                            </a:srgbClr>
                          </a:solidFill>
                          <a:latin typeface="楷体" panose="02010609060101010101" charset="-122"/>
                          <a:ea typeface="楷体" panose="02010609060101010101" charset="-122"/>
                          <a:cs typeface="楷体" panose="02010609060101010101" charset="-122"/>
                        </a:rPr>
                        <a:t>稳定币现状：京东稳定币是一种基于公链并与港元（</a:t>
                      </a:r>
                      <a:r>
                        <a:rPr sz="11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HKD</a:t>
                      </a:r>
                      <a:r>
                        <a:rPr sz="1100" kern="0" spc="0" dirty="0">
                          <a:solidFill>
                            <a:srgbClr val="000000">
                              <a:alpha val="100000"/>
                            </a:srgbClr>
                          </a:solidFill>
                          <a:latin typeface="楷体" panose="02010609060101010101" charset="-122"/>
                          <a:ea typeface="楷体" panose="02010609060101010101" charset="-122"/>
                          <a:cs typeface="楷体" panose="02010609060101010101" charset="-122"/>
                        </a:rPr>
                        <a:t>）或美元</a:t>
                      </a:r>
                      <a:r>
                        <a:rPr sz="1100" kern="0" spc="-10" dirty="0">
                          <a:solidFill>
                            <a:srgbClr val="000000">
                              <a:alpha val="100000"/>
                            </a:srgbClr>
                          </a:solidFill>
                          <a:latin typeface="楷体" panose="02010609060101010101" charset="-122"/>
                          <a:ea typeface="楷体" panose="02010609060101010101" charset="-122"/>
                          <a:cs typeface="楷体" panose="02010609060101010101" charset="-122"/>
                        </a:rPr>
                        <a:t>（</a:t>
                      </a:r>
                      <a:r>
                        <a:rPr sz="11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USD</a:t>
                      </a:r>
                      <a:r>
                        <a:rPr sz="1100" kern="0" spc="-10" dirty="0">
                          <a:solidFill>
                            <a:srgbClr val="000000">
                              <a:alpha val="100000"/>
                            </a:srgbClr>
                          </a:solidFill>
                          <a:latin typeface="楷体" panose="02010609060101010101" charset="-122"/>
                          <a:ea typeface="楷体" panose="02010609060101010101" charset="-122"/>
                          <a:cs typeface="楷体" panose="02010609060101010101" charset="-122"/>
                        </a:rPr>
                        <a:t>）等法币</a:t>
                      </a:r>
                      <a:r>
                        <a:rPr sz="1100" kern="0" spc="-10" dirty="0">
                          <a:solidFill>
                            <a:srgbClr val="000000">
                              <a:alpha val="100000"/>
                            </a:srgbClr>
                          </a:solidFill>
                          <a:latin typeface="楷体" panose="02010609060101010101" charset="-122"/>
                          <a:ea typeface="楷体" panose="02010609060101010101" charset="-122"/>
                          <a:cs typeface="楷体" panose="02010609060101010101" charset="-122"/>
                        </a:rPr>
                        <a:t> </a:t>
                      </a:r>
                      <a:r>
                        <a:rPr sz="11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1</a:t>
                      </a:r>
                      <a:r>
                        <a:rPr sz="1100" kern="0" spc="-10" dirty="0">
                          <a:solidFill>
                            <a:srgbClr val="000000">
                              <a:alpha val="100000"/>
                            </a:srgbClr>
                          </a:solidFill>
                          <a:latin typeface="楷体" panose="02010609060101010101" charset="-122"/>
                          <a:ea typeface="楷体" panose="02010609060101010101" charset="-122"/>
                          <a:cs typeface="楷体" panose="02010609060101010101" charset="-122"/>
                        </a:rPr>
                        <a:t>：</a:t>
                      </a:r>
                      <a:r>
                        <a:rPr sz="11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1 </a:t>
                      </a:r>
                      <a:r>
                        <a:rPr sz="1100" kern="0" spc="-10" dirty="0">
                          <a:solidFill>
                            <a:srgbClr val="000000">
                              <a:alpha val="100000"/>
                            </a:srgbClr>
                          </a:solidFill>
                          <a:latin typeface="楷体" panose="02010609060101010101" charset="-122"/>
                          <a:ea typeface="楷体" panose="02010609060101010101" charset="-122"/>
                          <a:cs typeface="楷体" panose="02010609060101010101" charset="-122"/>
                        </a:rPr>
                        <a:t>挂钩的稳定币，目前已经</a:t>
                      </a:r>
                      <a:r>
                        <a:rPr sz="1100" kern="0" spc="-10" dirty="0">
                          <a:solidFill>
                            <a:srgbClr val="000000">
                              <a:alpha val="100000"/>
                            </a:srgbClr>
                          </a:solidFill>
                          <a:latin typeface="楷体" panose="02010609060101010101" charset="-122"/>
                          <a:ea typeface="楷体" panose="02010609060101010101" charset="-122"/>
                          <a:cs typeface="楷体" panose="02010609060101010101" charset="-122"/>
                        </a:rPr>
                        <a:t> </a:t>
                      </a:r>
                      <a:r>
                        <a:rPr sz="1100" kern="0" spc="0" dirty="0">
                          <a:solidFill>
                            <a:srgbClr val="000000">
                              <a:alpha val="100000"/>
                            </a:srgbClr>
                          </a:solidFill>
                          <a:latin typeface="楷体" panose="02010609060101010101" charset="-122"/>
                          <a:ea typeface="楷体" panose="02010609060101010101" charset="-122"/>
                          <a:cs typeface="楷体" panose="02010609060101010101" charset="-122"/>
                        </a:rPr>
                        <a:t>进入沙盒测试第二阶段，将面向零售和机构提供移动端及</a:t>
                      </a:r>
                      <a:r>
                        <a:rPr sz="1100" kern="0" spc="-170" dirty="0">
                          <a:solidFill>
                            <a:srgbClr val="000000">
                              <a:alpha val="100000"/>
                            </a:srgbClr>
                          </a:solidFill>
                          <a:latin typeface="楷体" panose="02010609060101010101" charset="-122"/>
                          <a:ea typeface="楷体" panose="02010609060101010101" charset="-122"/>
                          <a:cs typeface="楷体" panose="02010609060101010101" charset="-122"/>
                        </a:rPr>
                        <a:t> </a:t>
                      </a:r>
                      <a:r>
                        <a:rPr sz="11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PC </a:t>
                      </a:r>
                      <a:r>
                        <a:rPr sz="1100" kern="0" spc="0" dirty="0">
                          <a:solidFill>
                            <a:srgbClr val="000000">
                              <a:alpha val="100000"/>
                            </a:srgbClr>
                          </a:solidFill>
                          <a:latin typeface="楷体" panose="02010609060101010101" charset="-122"/>
                          <a:ea typeface="楷体" panose="02010609060101010101" charset="-122"/>
                          <a:cs typeface="楷体" panose="02010609060101010101" charset="-122"/>
                        </a:rPr>
                        <a:t>端应用产品，测试场景主要包</a:t>
                      </a:r>
                      <a:r>
                        <a:rPr sz="1100" kern="0" spc="-10" dirty="0">
                          <a:solidFill>
                            <a:srgbClr val="000000">
                              <a:alpha val="100000"/>
                            </a:srgbClr>
                          </a:solidFill>
                          <a:latin typeface="楷体" panose="02010609060101010101" charset="-122"/>
                          <a:ea typeface="楷体" panose="02010609060101010101" charset="-122"/>
                          <a:cs typeface="楷体" panose="02010609060101010101" charset="-122"/>
                        </a:rPr>
                        <a:t>括跨境支付、投资交易、</a:t>
                      </a:r>
                      <a:r>
                        <a:rPr sz="1100" kern="0" spc="0" dirty="0">
                          <a:solidFill>
                            <a:srgbClr val="000000">
                              <a:alpha val="100000"/>
                            </a:srgbClr>
                          </a:solidFill>
                          <a:latin typeface="楷体" panose="02010609060101010101" charset="-122"/>
                          <a:ea typeface="楷体" panose="02010609060101010101" charset="-122"/>
                          <a:cs typeface="楷体" panose="02010609060101010101" charset="-122"/>
                        </a:rPr>
                        <a:t>零售支付等；正在与头部合规交易所进行合作；在零售支付场景，正在与京东港澳站等收单</a:t>
                      </a:r>
                      <a:r>
                        <a:rPr sz="1100" kern="0" spc="-10" dirty="0">
                          <a:solidFill>
                            <a:srgbClr val="000000">
                              <a:alpha val="100000"/>
                            </a:srgbClr>
                          </a:solidFill>
                          <a:latin typeface="楷体" panose="02010609060101010101" charset="-122"/>
                          <a:ea typeface="楷体" panose="02010609060101010101" charset="-122"/>
                          <a:cs typeface="楷体" panose="02010609060101010101" charset="-122"/>
                        </a:rPr>
                        <a:t>场景进行对接和测试。</a:t>
                      </a:r>
                      <a:endParaRPr sz="11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CCCC"/>
                    </a:solidFill>
                  </a:tcPr>
                </a:tc>
                <a:tc>
                  <a:txBody>
                    <a:bodyPr/>
                    <a:lstStyle/>
                    <a:p>
                      <a:pPr algn="l" rtl="0" eaLnBrk="0">
                        <a:lnSpc>
                          <a:spcPct val="155000"/>
                        </a:lnSpc>
                      </a:pPr>
                      <a:endParaRPr sz="1000" dirty="0">
                        <a:latin typeface="Arial" panose="020B0604020202020204" pitchFamily="34" charset="0"/>
                        <a:ea typeface="Arial" panose="020B0604020202020204" pitchFamily="34" charset="0"/>
                        <a:cs typeface="Arial" panose="020B0604020202020204" pitchFamily="34" charset="0"/>
                      </a:endParaRPr>
                    </a:p>
                    <a:p>
                      <a:pPr marL="107315" algn="l" rtl="0" eaLnBrk="0">
                        <a:lnSpc>
                          <a:spcPct val="89000"/>
                        </a:lnSpc>
                        <a:spcBef>
                          <a:spcPts val="5"/>
                        </a:spcBef>
                      </a:pPr>
                      <a:r>
                        <a:rPr sz="11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1</a:t>
                      </a:r>
                      <a:r>
                        <a:rPr sz="1100" kern="0" spc="-10" dirty="0">
                          <a:solidFill>
                            <a:srgbClr val="000000">
                              <a:alpha val="100000"/>
                            </a:srgbClr>
                          </a:solidFill>
                          <a:latin typeface="楷体" panose="02010609060101010101" charset="-122"/>
                          <a:ea typeface="楷体" panose="02010609060101010101" charset="-122"/>
                          <a:cs typeface="楷体" panose="02010609060101010101" charset="-122"/>
                        </a:rPr>
                        <a:t>、京东集团</a:t>
                      </a:r>
                      <a:r>
                        <a:rPr sz="11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-SW</a:t>
                      </a:r>
                      <a:r>
                        <a:rPr sz="1100" kern="0" spc="-10" dirty="0">
                          <a:solidFill>
                            <a:srgbClr val="000000">
                              <a:alpha val="100000"/>
                            </a:srgbClr>
                          </a:solidFill>
                          <a:latin typeface="楷体" panose="02010609060101010101" charset="-122"/>
                          <a:ea typeface="楷体" panose="02010609060101010101" charset="-122"/>
                          <a:cs typeface="楷体" panose="02010609060101010101" charset="-122"/>
                        </a:rPr>
                        <a:t>（</a:t>
                      </a:r>
                      <a:r>
                        <a:rPr sz="11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9618.HK</a:t>
                      </a:r>
                      <a:r>
                        <a:rPr sz="1100" kern="0" spc="-10" dirty="0">
                          <a:solidFill>
                            <a:srgbClr val="000000">
                              <a:alpha val="100000"/>
                            </a:srgbClr>
                          </a:solidFill>
                          <a:latin typeface="楷体" panose="02010609060101010101" charset="-122"/>
                          <a:ea typeface="楷体" panose="02010609060101010101" charset="-122"/>
                          <a:cs typeface="楷体" panose="02010609060101010101" charset="-122"/>
                        </a:rPr>
                        <a:t>）</a:t>
                      </a:r>
                      <a:endParaRPr sz="1100" dirty="0">
                        <a:latin typeface="楷体" panose="02010609060101010101" charset="-122"/>
                        <a:ea typeface="楷体" panose="02010609060101010101" charset="-122"/>
                        <a:cs typeface="楷体" panose="02010609060101010101" charset="-122"/>
                      </a:endParaRPr>
                    </a:p>
                    <a:p>
                      <a:pPr marL="92075" indent="3810" algn="l" rtl="0" eaLnBrk="0">
                        <a:lnSpc>
                          <a:spcPct val="92000"/>
                        </a:lnSpc>
                        <a:spcBef>
                          <a:spcPts val="140"/>
                        </a:spcBef>
                      </a:pPr>
                      <a:r>
                        <a:rPr sz="11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2</a:t>
                      </a:r>
                      <a:r>
                        <a:rPr sz="1100" kern="0" spc="0" dirty="0">
                          <a:solidFill>
                            <a:srgbClr val="000000">
                              <a:alpha val="100000"/>
                            </a:srgbClr>
                          </a:solidFill>
                          <a:latin typeface="楷体" panose="02010609060101010101" charset="-122"/>
                          <a:ea typeface="楷体" panose="02010609060101010101" charset="-122"/>
                          <a:cs typeface="楷体" panose="02010609060101010101" charset="-122"/>
                        </a:rPr>
                        <a:t>、和京东深度合作的一系</a:t>
                      </a:r>
                      <a:r>
                        <a:rPr sz="1100" kern="0" spc="-10" dirty="0">
                          <a:solidFill>
                            <a:srgbClr val="000000">
                              <a:alpha val="100000"/>
                            </a:srgbClr>
                          </a:solidFill>
                          <a:latin typeface="楷体" panose="02010609060101010101" charset="-122"/>
                          <a:ea typeface="楷体" panose="02010609060101010101" charset="-122"/>
                          <a:cs typeface="楷体" panose="02010609060101010101" charset="-122"/>
                        </a:rPr>
                        <a:t>列</a:t>
                      </a:r>
                      <a:r>
                        <a:rPr sz="1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11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a:t>
                      </a:r>
                      <a:r>
                        <a:rPr sz="1100" kern="0" spc="0" dirty="0">
                          <a:solidFill>
                            <a:srgbClr val="000000">
                              <a:alpha val="100000"/>
                            </a:srgbClr>
                          </a:solidFill>
                          <a:latin typeface="楷体" panose="02010609060101010101" charset="-122"/>
                          <a:ea typeface="楷体" panose="02010609060101010101" charset="-122"/>
                          <a:cs typeface="楷体" panose="02010609060101010101" charset="-122"/>
                        </a:rPr>
                        <a:t>股上市的技术供应商</a:t>
                      </a:r>
                      <a:endParaRPr sz="11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CCCC"/>
                    </a:solidFill>
                  </a:tcPr>
                </a:tc>
              </a:tr>
              <a:tr h="929639">
                <a:tc>
                  <a:txBody>
                    <a:bodyPr/>
                    <a:lstStyle/>
                    <a:p>
                      <a:pPr algn="l" rtl="0" eaLnBrk="0">
                        <a:lnSpc>
                          <a:spcPct val="13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37000"/>
                        </a:lnSpc>
                      </a:pPr>
                      <a:endParaRPr sz="1000" dirty="0">
                        <a:latin typeface="Arial" panose="020B0604020202020204" pitchFamily="34" charset="0"/>
                        <a:ea typeface="Arial" panose="020B0604020202020204" pitchFamily="34" charset="0"/>
                        <a:cs typeface="Arial" panose="020B0604020202020204" pitchFamily="34" charset="0"/>
                      </a:endParaRPr>
                    </a:p>
                    <a:p>
                      <a:pPr marL="217805" algn="l" rtl="0" eaLnBrk="0">
                        <a:lnSpc>
                          <a:spcPct val="78000"/>
                        </a:lnSpc>
                        <a:spcBef>
                          <a:spcPts val="5"/>
                        </a:spcBef>
                      </a:pPr>
                      <a:r>
                        <a:rPr sz="1100" kern="0" spc="-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2</a:t>
                      </a:r>
                      <a:endParaRPr sz="11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E7E7"/>
                    </a:solidFill>
                  </a:tcPr>
                </a:tc>
                <a:tc>
                  <a:txBody>
                    <a:bodyPr/>
                    <a:lstStyle/>
                    <a:p>
                      <a:pPr algn="l" rtl="0" eaLnBrk="0">
                        <a:lnSpc>
                          <a:spcPct val="10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marL="276225" indent="-120015" algn="l" rtl="0" eaLnBrk="0">
                        <a:lnSpc>
                          <a:spcPct val="90000"/>
                        </a:lnSpc>
                      </a:pPr>
                      <a:r>
                        <a:rPr sz="1100" b="1" kern="0" spc="-50" dirty="0">
                          <a:solidFill>
                            <a:srgbClr val="000000">
                              <a:alpha val="100000"/>
                            </a:srgbClr>
                          </a:solidFill>
                          <a:latin typeface="楷体" panose="02010609060101010101" charset="-122"/>
                          <a:ea typeface="楷体" panose="02010609060101010101" charset="-122"/>
                          <a:cs typeface="楷体" panose="02010609060101010101" charset="-122"/>
                        </a:rPr>
                        <a:t>圆币创新</a:t>
                      </a:r>
                      <a:r>
                        <a:rPr sz="1100" kern="0" spc="-10" dirty="0">
                          <a:solidFill>
                            <a:srgbClr val="000000">
                              <a:alpha val="100000"/>
                            </a:srgbClr>
                          </a:solidFill>
                          <a:latin typeface="楷体" panose="02010609060101010101" charset="-122"/>
                          <a:ea typeface="楷体" panose="02010609060101010101" charset="-122"/>
                          <a:cs typeface="楷体" panose="02010609060101010101" charset="-122"/>
                        </a:rPr>
                        <a:t> </a:t>
                      </a:r>
                      <a:r>
                        <a:rPr sz="1100" b="1" kern="0" spc="-20" dirty="0">
                          <a:solidFill>
                            <a:srgbClr val="000000">
                              <a:alpha val="100000"/>
                            </a:srgbClr>
                          </a:solidFill>
                          <a:latin typeface="楷体" panose="02010609060101010101" charset="-122"/>
                          <a:ea typeface="楷体" panose="02010609060101010101" charset="-122"/>
                          <a:cs typeface="楷体" panose="02010609060101010101" charset="-122"/>
                        </a:rPr>
                        <a:t>科技</a:t>
                      </a:r>
                      <a:endParaRPr sz="11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E7E7"/>
                    </a:solidFill>
                  </a:tcPr>
                </a:tc>
                <a:tc>
                  <a:txBody>
                    <a:bodyPr/>
                    <a:lstStyle/>
                    <a:p>
                      <a:pPr algn="l" rtl="0" eaLnBrk="0">
                        <a:lnSpc>
                          <a:spcPct val="163000"/>
                        </a:lnSpc>
                      </a:pPr>
                      <a:endParaRPr sz="1000" dirty="0">
                        <a:latin typeface="Arial" panose="020B0604020202020204" pitchFamily="34" charset="0"/>
                        <a:ea typeface="Arial" panose="020B0604020202020204" pitchFamily="34" charset="0"/>
                        <a:cs typeface="Arial" panose="020B0604020202020204" pitchFamily="34" charset="0"/>
                      </a:endParaRPr>
                    </a:p>
                    <a:p>
                      <a:pPr marL="92710" algn="l" rtl="0" eaLnBrk="0">
                        <a:lnSpc>
                          <a:spcPct val="74000"/>
                        </a:lnSpc>
                        <a:spcBef>
                          <a:spcPts val="0"/>
                        </a:spcBef>
                      </a:pPr>
                      <a:r>
                        <a:rPr sz="11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Web2+We</a:t>
                      </a:r>
                      <a:endParaRPr sz="1100" dirty="0">
                        <a:latin typeface="Arial" panose="020B0604020202020204" pitchFamily="34" charset="0"/>
                        <a:ea typeface="Arial" panose="020B0604020202020204" pitchFamily="34" charset="0"/>
                        <a:cs typeface="Arial" panose="020B0604020202020204" pitchFamily="34" charset="0"/>
                      </a:endParaRPr>
                    </a:p>
                    <a:p>
                      <a:pPr marL="97790" indent="1905" algn="l" rtl="0" eaLnBrk="0">
                        <a:lnSpc>
                          <a:spcPct val="92000"/>
                        </a:lnSpc>
                        <a:spcBef>
                          <a:spcPts val="205"/>
                        </a:spcBef>
                      </a:pPr>
                      <a:r>
                        <a:rPr sz="1100" kern="0" spc="-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b3-</a:t>
                      </a:r>
                      <a:r>
                        <a:rPr sz="1100" kern="0" spc="-20" dirty="0">
                          <a:solidFill>
                            <a:srgbClr val="000000">
                              <a:alpha val="100000"/>
                            </a:srgbClr>
                          </a:solidFill>
                          <a:latin typeface="楷体" panose="02010609060101010101" charset="-122"/>
                          <a:ea typeface="楷体" panose="02010609060101010101" charset="-122"/>
                          <a:cs typeface="楷体" panose="02010609060101010101" charset="-122"/>
                        </a:rPr>
                        <a:t>金融科</a:t>
                      </a:r>
                      <a:r>
                        <a:rPr sz="1100" kern="0" spc="10" dirty="0">
                          <a:solidFill>
                            <a:srgbClr val="000000">
                              <a:alpha val="100000"/>
                            </a:srgbClr>
                          </a:solidFill>
                          <a:latin typeface="楷体" panose="02010609060101010101" charset="-122"/>
                          <a:ea typeface="楷体" panose="02010609060101010101" charset="-122"/>
                          <a:cs typeface="楷体" panose="02010609060101010101" charset="-122"/>
                        </a:rPr>
                        <a:t> </a:t>
                      </a:r>
                      <a:r>
                        <a:rPr sz="1100" kern="0" spc="-10" dirty="0">
                          <a:solidFill>
                            <a:srgbClr val="000000">
                              <a:alpha val="100000"/>
                            </a:srgbClr>
                          </a:solidFill>
                          <a:latin typeface="楷体" panose="02010609060101010101" charset="-122"/>
                          <a:ea typeface="楷体" panose="02010609060101010101" charset="-122"/>
                          <a:cs typeface="楷体" panose="02010609060101010101" charset="-122"/>
                        </a:rPr>
                        <a:t>技</a:t>
                      </a:r>
                      <a:endParaRPr sz="11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E7E7"/>
                    </a:solidFill>
                  </a:tcPr>
                </a:tc>
                <a:tc>
                  <a:txBody>
                    <a:bodyPr/>
                    <a:lstStyle/>
                    <a:p>
                      <a:pPr algn="l" rtl="0" eaLnBrk="0">
                        <a:lnSpc>
                          <a:spcPct val="107000"/>
                        </a:lnSpc>
                      </a:pPr>
                      <a:endParaRPr sz="900" dirty="0">
                        <a:latin typeface="Arial" panose="020B0604020202020204" pitchFamily="34" charset="0"/>
                        <a:ea typeface="Arial" panose="020B0604020202020204" pitchFamily="34" charset="0"/>
                        <a:cs typeface="Arial" panose="020B0604020202020204" pitchFamily="34" charset="0"/>
                      </a:endParaRPr>
                    </a:p>
                    <a:p>
                      <a:pPr marL="114300" algn="l" rtl="0" eaLnBrk="0">
                        <a:lnSpc>
                          <a:spcPct val="86000"/>
                        </a:lnSpc>
                        <a:spcBef>
                          <a:spcPts val="0"/>
                        </a:spcBef>
                      </a:pPr>
                      <a:r>
                        <a:rPr sz="1100" kern="0" spc="0" dirty="0">
                          <a:solidFill>
                            <a:srgbClr val="000000">
                              <a:alpha val="100000"/>
                            </a:srgbClr>
                          </a:solidFill>
                          <a:latin typeface="楷体" panose="02010609060101010101" charset="-122"/>
                          <a:ea typeface="楷体" panose="02010609060101010101" charset="-122"/>
                          <a:cs typeface="楷体" panose="02010609060101010101" charset="-122"/>
                        </a:rPr>
                        <a:t>圆币科技子公司。圆币科技建基于香港，使命是令企业能够更简便、</a:t>
                      </a:r>
                      <a:r>
                        <a:rPr sz="1100" kern="0" spc="-10" dirty="0">
                          <a:solidFill>
                            <a:srgbClr val="000000">
                              <a:alpha val="100000"/>
                            </a:srgbClr>
                          </a:solidFill>
                          <a:latin typeface="楷体" panose="02010609060101010101" charset="-122"/>
                          <a:ea typeface="楷体" panose="02010609060101010101" charset="-122"/>
                          <a:cs typeface="楷体" panose="02010609060101010101" charset="-122"/>
                        </a:rPr>
                        <a:t>更便宜地进行跨境支付与获得金融服务，有</a:t>
                      </a:r>
                      <a:endParaRPr sz="1100" dirty="0">
                        <a:latin typeface="楷体" panose="02010609060101010101" charset="-122"/>
                        <a:ea typeface="楷体" panose="02010609060101010101" charset="-122"/>
                        <a:cs typeface="楷体" panose="02010609060101010101" charset="-122"/>
                      </a:endParaRPr>
                    </a:p>
                    <a:p>
                      <a:pPr marL="92075" indent="9525" algn="l" rtl="0" eaLnBrk="0">
                        <a:lnSpc>
                          <a:spcPct val="95000"/>
                        </a:lnSpc>
                        <a:spcBef>
                          <a:spcPts val="175"/>
                        </a:spcBef>
                      </a:pPr>
                      <a:r>
                        <a:rPr sz="11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DeFi</a:t>
                      </a:r>
                      <a:r>
                        <a:rPr sz="1100" kern="0" spc="0" dirty="0">
                          <a:solidFill>
                            <a:srgbClr val="000000">
                              <a:alpha val="100000"/>
                            </a:srgbClr>
                          </a:solidFill>
                          <a:latin typeface="楷体" panose="02010609060101010101" charset="-122"/>
                          <a:ea typeface="楷体" panose="02010609060101010101" charset="-122"/>
                          <a:cs typeface="楷体" panose="02010609060101010101" charset="-122"/>
                        </a:rPr>
                        <a:t>、数字支付和金融科技背景，圆币创新科技在</a:t>
                      </a:r>
                      <a:r>
                        <a:rPr sz="1100" kern="0" spc="-200" dirty="0">
                          <a:solidFill>
                            <a:srgbClr val="000000">
                              <a:alpha val="100000"/>
                            </a:srgbClr>
                          </a:solidFill>
                          <a:latin typeface="楷体" panose="02010609060101010101" charset="-122"/>
                          <a:ea typeface="楷体" panose="02010609060101010101" charset="-122"/>
                          <a:cs typeface="楷体" panose="02010609060101010101" charset="-122"/>
                        </a:rPr>
                        <a:t> </a:t>
                      </a:r>
                      <a:r>
                        <a:rPr sz="11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HK</a:t>
                      </a:r>
                      <a:r>
                        <a:rPr sz="11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MA</a:t>
                      </a:r>
                      <a:r>
                        <a:rPr sz="1100" kern="0" spc="14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1100" kern="0" spc="-10" dirty="0">
                          <a:solidFill>
                            <a:srgbClr val="000000">
                              <a:alpha val="100000"/>
                            </a:srgbClr>
                          </a:solidFill>
                          <a:latin typeface="楷体" panose="02010609060101010101" charset="-122"/>
                          <a:ea typeface="楷体" panose="02010609060101010101" charset="-122"/>
                          <a:cs typeface="楷体" panose="02010609060101010101" charset="-122"/>
                        </a:rPr>
                        <a:t>沙盒中测试其港元稳定币营运计划，同时圆币科技的另</a:t>
                      </a:r>
                      <a:r>
                        <a:rPr sz="1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1100" kern="0" spc="0" dirty="0">
                          <a:solidFill>
                            <a:srgbClr val="000000">
                              <a:alpha val="100000"/>
                            </a:srgbClr>
                          </a:solidFill>
                          <a:latin typeface="楷体" panose="02010609060101010101" charset="-122"/>
                          <a:ea typeface="楷体" panose="02010609060101010101" charset="-122"/>
                          <a:cs typeface="楷体" panose="02010609060101010101" charset="-122"/>
                        </a:rPr>
                        <a:t>一家子公司圆币钱包科技有限公司已获金管局发出的储值支付工具（</a:t>
                      </a:r>
                      <a:r>
                        <a:rPr sz="11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SVF</a:t>
                      </a:r>
                      <a:r>
                        <a:rPr sz="1100" kern="0" spc="0" dirty="0">
                          <a:solidFill>
                            <a:srgbClr val="000000">
                              <a:alpha val="100000"/>
                            </a:srgbClr>
                          </a:solidFill>
                          <a:latin typeface="楷体" panose="02010609060101010101" charset="-122"/>
                          <a:ea typeface="楷体" panose="02010609060101010101" charset="-122"/>
                          <a:cs typeface="楷体" panose="02010609060101010101" charset="-122"/>
                        </a:rPr>
                        <a:t>）牌照并在</a:t>
                      </a:r>
                      <a:r>
                        <a:rPr sz="11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2023</a:t>
                      </a:r>
                      <a:r>
                        <a:rPr sz="1100" kern="0" spc="0" dirty="0">
                          <a:solidFill>
                            <a:srgbClr val="000000">
                              <a:alpha val="100000"/>
                            </a:srgbClr>
                          </a:solidFill>
                          <a:latin typeface="楷体" panose="02010609060101010101" charset="-122"/>
                          <a:ea typeface="楷体" panose="02010609060101010101" charset="-122"/>
                          <a:cs typeface="楷体" panose="02010609060101010101" charset="-122"/>
                        </a:rPr>
                        <a:t>年底正式运营。借助各子</a:t>
                      </a:r>
                      <a:r>
                        <a:rPr sz="1100" kern="0" spc="0" dirty="0">
                          <a:solidFill>
                            <a:srgbClr val="000000">
                              <a:alpha val="100000"/>
                            </a:srgbClr>
                          </a:solidFill>
                          <a:latin typeface="楷体" panose="02010609060101010101" charset="-122"/>
                          <a:ea typeface="楷体" panose="02010609060101010101" charset="-122"/>
                          <a:cs typeface="楷体" panose="02010609060101010101" charset="-122"/>
                        </a:rPr>
                        <a:t>公司的平台和能力，圆币科技正在积极建设一个可信且合规的金融平台</a:t>
                      </a:r>
                      <a:r>
                        <a:rPr sz="1100" kern="0" spc="-10" dirty="0">
                          <a:solidFill>
                            <a:srgbClr val="000000">
                              <a:alpha val="100000"/>
                            </a:srgbClr>
                          </a:solidFill>
                          <a:latin typeface="楷体" panose="02010609060101010101" charset="-122"/>
                          <a:ea typeface="楷体" panose="02010609060101010101" charset="-122"/>
                          <a:cs typeface="楷体" panose="02010609060101010101" charset="-122"/>
                        </a:rPr>
                        <a:t>网络。</a:t>
                      </a:r>
                      <a:endParaRPr sz="11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E7E7"/>
                    </a:solidFill>
                  </a:tcPr>
                </a:tc>
                <a:tc>
                  <a:txBody>
                    <a:bodyPr/>
                    <a:lstStyle/>
                    <a:p>
                      <a:pPr algn="l" rtl="0" eaLnBrk="0">
                        <a:lnSpc>
                          <a:spcPct val="101000"/>
                        </a:lnSpc>
                      </a:pPr>
                      <a:endParaRPr sz="400" dirty="0">
                        <a:latin typeface="Arial" panose="020B0604020202020204" pitchFamily="34" charset="0"/>
                        <a:ea typeface="Arial" panose="020B0604020202020204" pitchFamily="34" charset="0"/>
                        <a:cs typeface="Arial" panose="020B0604020202020204" pitchFamily="34" charset="0"/>
                      </a:endParaRPr>
                    </a:p>
                    <a:p>
                      <a:pPr marL="102870" indent="3810" algn="l" rtl="0" eaLnBrk="0">
                        <a:lnSpc>
                          <a:spcPct val="95000"/>
                        </a:lnSpc>
                        <a:spcBef>
                          <a:spcPts val="0"/>
                        </a:spcBef>
                      </a:pPr>
                      <a:r>
                        <a:rPr sz="11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1</a:t>
                      </a:r>
                      <a:r>
                        <a:rPr sz="1100" kern="0" spc="-10" dirty="0">
                          <a:solidFill>
                            <a:srgbClr val="000000">
                              <a:alpha val="100000"/>
                            </a:srgbClr>
                          </a:solidFill>
                          <a:latin typeface="楷体" panose="02010609060101010101" charset="-122"/>
                          <a:ea typeface="楷体" panose="02010609060101010101" charset="-122"/>
                          <a:cs typeface="楷体" panose="02010609060101010101" charset="-122"/>
                        </a:rPr>
                        <a:t>、众安在线（</a:t>
                      </a:r>
                      <a:r>
                        <a:rPr sz="11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6060.HK</a:t>
                      </a:r>
                      <a:r>
                        <a:rPr sz="1100" kern="0" spc="-10" dirty="0">
                          <a:solidFill>
                            <a:srgbClr val="000000">
                              <a:alpha val="100000"/>
                            </a:srgbClr>
                          </a:solidFill>
                          <a:latin typeface="楷体" panose="02010609060101010101" charset="-122"/>
                          <a:ea typeface="楷体" panose="02010609060101010101" charset="-122"/>
                          <a:cs typeface="楷体" panose="02010609060101010101" charset="-122"/>
                        </a:rPr>
                        <a:t>）</a:t>
                      </a:r>
                      <a:r>
                        <a:rPr sz="1100" kern="0" spc="-10" dirty="0">
                          <a:solidFill>
                            <a:srgbClr val="C00000">
                              <a:alpha val="100000"/>
                            </a:srgbClr>
                          </a:solidFill>
                          <a:latin typeface="楷体" panose="02010609060101010101" charset="-122"/>
                          <a:ea typeface="楷体" panose="02010609060101010101" charset="-122"/>
                          <a:cs typeface="楷体" panose="02010609060101010101" charset="-122"/>
                        </a:rPr>
                        <a:t>持</a:t>
                      </a:r>
                      <a:r>
                        <a:rPr sz="1100" kern="0" spc="10" dirty="0">
                          <a:solidFill>
                            <a:srgbClr val="C00000">
                              <a:alpha val="100000"/>
                            </a:srgbClr>
                          </a:solidFill>
                          <a:latin typeface="楷体" panose="02010609060101010101" charset="-122"/>
                          <a:ea typeface="楷体" panose="02010609060101010101" charset="-122"/>
                          <a:cs typeface="楷体" panose="02010609060101010101" charset="-122"/>
                        </a:rPr>
                        <a:t> </a:t>
                      </a:r>
                      <a:r>
                        <a:rPr sz="1100" kern="0" spc="-10" dirty="0">
                          <a:solidFill>
                            <a:srgbClr val="C00000">
                              <a:alpha val="100000"/>
                            </a:srgbClr>
                          </a:solidFill>
                          <a:latin typeface="楷体" panose="02010609060101010101" charset="-122"/>
                          <a:ea typeface="楷体" panose="02010609060101010101" charset="-122"/>
                          <a:cs typeface="楷体" panose="02010609060101010101" charset="-122"/>
                        </a:rPr>
                        <a:t>圆币</a:t>
                      </a:r>
                      <a:r>
                        <a:rPr sz="1100" kern="0" spc="-10" dirty="0">
                          <a:solidFill>
                            <a:srgbClr val="C00000">
                              <a:alpha val="100000"/>
                            </a:srgbClr>
                          </a:solidFill>
                          <a:latin typeface="Arial" panose="020B0604020202020204" pitchFamily="34" charset="0"/>
                          <a:ea typeface="Arial" panose="020B0604020202020204" pitchFamily="34" charset="0"/>
                          <a:cs typeface="Arial" panose="020B0604020202020204" pitchFamily="34" charset="0"/>
                        </a:rPr>
                        <a:t>8.7%</a:t>
                      </a:r>
                      <a:r>
                        <a:rPr sz="1100" kern="0" spc="-10" dirty="0">
                          <a:solidFill>
                            <a:srgbClr val="C00000">
                              <a:alpha val="100000"/>
                            </a:srgbClr>
                          </a:solidFill>
                          <a:latin typeface="楷体" panose="02010609060101010101" charset="-122"/>
                          <a:ea typeface="楷体" panose="02010609060101010101" charset="-122"/>
                          <a:cs typeface="楷体" panose="02010609060101010101" charset="-122"/>
                        </a:rPr>
                        <a:t>原始股，之后或作</a:t>
                      </a:r>
                      <a:r>
                        <a:rPr sz="1100" kern="0" spc="10" dirty="0">
                          <a:solidFill>
                            <a:srgbClr val="C00000">
                              <a:alpha val="100000"/>
                            </a:srgbClr>
                          </a:solidFill>
                          <a:latin typeface="楷体" panose="02010609060101010101" charset="-122"/>
                          <a:ea typeface="楷体" panose="02010609060101010101" charset="-122"/>
                          <a:cs typeface="楷体" panose="02010609060101010101" charset="-122"/>
                        </a:rPr>
                        <a:t>  </a:t>
                      </a:r>
                      <a:r>
                        <a:rPr sz="1100" kern="0" spc="-20" dirty="0">
                          <a:solidFill>
                            <a:srgbClr val="C00000">
                              <a:alpha val="100000"/>
                            </a:srgbClr>
                          </a:solidFill>
                          <a:latin typeface="楷体" panose="02010609060101010101" charset="-122"/>
                          <a:ea typeface="楷体" panose="02010609060101010101" charset="-122"/>
                          <a:cs typeface="楷体" panose="02010609060101010101" charset="-122"/>
                        </a:rPr>
                        <a:t>为其稳定币托管方</a:t>
                      </a:r>
                      <a:endParaRPr sz="1100" dirty="0">
                        <a:latin typeface="楷体" panose="02010609060101010101" charset="-122"/>
                        <a:ea typeface="楷体" panose="02010609060101010101" charset="-122"/>
                        <a:cs typeface="楷体" panose="02010609060101010101" charset="-122"/>
                      </a:endParaRPr>
                    </a:p>
                    <a:p>
                      <a:pPr marL="94615" indent="1270" algn="l" rtl="0" eaLnBrk="0">
                        <a:lnSpc>
                          <a:spcPct val="92000"/>
                        </a:lnSpc>
                        <a:spcBef>
                          <a:spcPts val="210"/>
                        </a:spcBef>
                      </a:pPr>
                      <a:r>
                        <a:rPr sz="11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2</a:t>
                      </a:r>
                      <a:r>
                        <a:rPr sz="1100" kern="0" spc="0" dirty="0">
                          <a:solidFill>
                            <a:srgbClr val="000000">
                              <a:alpha val="100000"/>
                            </a:srgbClr>
                          </a:solidFill>
                          <a:latin typeface="楷体" panose="02010609060101010101" charset="-122"/>
                          <a:ea typeface="楷体" panose="02010609060101010101" charset="-122"/>
                          <a:cs typeface="楷体" panose="02010609060101010101" charset="-122"/>
                        </a:rPr>
                        <a:t>、连连数字（</a:t>
                      </a:r>
                      <a:r>
                        <a:rPr sz="11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2598.HK</a:t>
                      </a:r>
                      <a:r>
                        <a:rPr sz="1100" kern="0" spc="-10" dirty="0">
                          <a:solidFill>
                            <a:srgbClr val="000000">
                              <a:alpha val="100000"/>
                            </a:srgbClr>
                          </a:solidFill>
                          <a:latin typeface="楷体" panose="02010609060101010101" charset="-122"/>
                          <a:ea typeface="楷体" panose="02010609060101010101" charset="-122"/>
                          <a:cs typeface="楷体" panose="02010609060101010101" charset="-122"/>
                        </a:rPr>
                        <a:t>）</a:t>
                      </a:r>
                      <a:r>
                        <a:rPr sz="1100" kern="0" spc="-10" dirty="0">
                          <a:solidFill>
                            <a:srgbClr val="C00000">
                              <a:alpha val="100000"/>
                            </a:srgbClr>
                          </a:solidFill>
                          <a:latin typeface="楷体" panose="02010609060101010101" charset="-122"/>
                          <a:ea typeface="楷体" panose="02010609060101010101" charset="-122"/>
                          <a:cs typeface="楷体" panose="02010609060101010101" charset="-122"/>
                        </a:rPr>
                        <a:t>合</a:t>
                      </a:r>
                      <a:r>
                        <a:rPr sz="1100" kern="0" spc="0" dirty="0">
                          <a:solidFill>
                            <a:srgbClr val="C00000">
                              <a:alpha val="100000"/>
                            </a:srgbClr>
                          </a:solidFill>
                          <a:latin typeface="楷体" panose="02010609060101010101" charset="-122"/>
                          <a:ea typeface="楷体" panose="02010609060101010101" charset="-122"/>
                          <a:cs typeface="楷体" panose="02010609060101010101" charset="-122"/>
                        </a:rPr>
                        <a:t> </a:t>
                      </a:r>
                      <a:r>
                        <a:rPr sz="1100" kern="0" spc="0" dirty="0">
                          <a:solidFill>
                            <a:srgbClr val="C00000">
                              <a:alpha val="100000"/>
                            </a:srgbClr>
                          </a:solidFill>
                          <a:latin typeface="楷体" panose="02010609060101010101" charset="-122"/>
                          <a:ea typeface="楷体" panose="02010609060101010101" charset="-122"/>
                          <a:cs typeface="楷体" panose="02010609060101010101" charset="-122"/>
                        </a:rPr>
                        <a:t>作“易信连”和“圆币</a:t>
                      </a:r>
                      <a:r>
                        <a:rPr sz="1100" kern="0" spc="-10" dirty="0">
                          <a:solidFill>
                            <a:srgbClr val="C00000">
                              <a:alpha val="100000"/>
                            </a:srgbClr>
                          </a:solidFill>
                          <a:latin typeface="楷体" panose="02010609060101010101" charset="-122"/>
                          <a:ea typeface="楷体" panose="02010609060101010101" charset="-122"/>
                          <a:cs typeface="楷体" panose="02010609060101010101" charset="-122"/>
                        </a:rPr>
                        <a:t>钱包”</a:t>
                      </a:r>
                      <a:endParaRPr sz="11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E7E7"/>
                    </a:solidFill>
                  </a:tcPr>
                </a:tc>
              </a:tr>
              <a:tr h="426719">
                <a:tc rowSpan="3">
                  <a:txBody>
                    <a:bodyPr/>
                    <a:lstStyle/>
                    <a:p>
                      <a:pPr algn="l" rtl="0" eaLnBrk="0">
                        <a:lnSpc>
                          <a:spcPct val="11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1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1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1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12000"/>
                        </a:lnSpc>
                      </a:pPr>
                      <a:endParaRPr sz="10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8000"/>
                        </a:lnSpc>
                        <a:spcBef>
                          <a:spcPts val="0"/>
                        </a:spcBef>
                      </a:pPr>
                      <a:r>
                        <a:rPr sz="1100" kern="0" spc="-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3</a:t>
                      </a:r>
                      <a:endParaRPr sz="11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CCCC"/>
                    </a:solidFill>
                  </a:tcPr>
                </a:tc>
                <a:tc>
                  <a:txBody>
                    <a:bodyPr/>
                    <a:lstStyle/>
                    <a:p>
                      <a:pPr algn="l" rtl="0" eaLnBrk="0">
                        <a:lnSpc>
                          <a:spcPct val="100000"/>
                        </a:lnSpc>
                      </a:pPr>
                      <a:endParaRPr sz="400" dirty="0">
                        <a:latin typeface="Arial" panose="020B0604020202020204" pitchFamily="34" charset="0"/>
                        <a:ea typeface="Arial" panose="020B0604020202020204" pitchFamily="34" charset="0"/>
                        <a:cs typeface="Arial" panose="020B0604020202020204" pitchFamily="34" charset="0"/>
                      </a:endParaRPr>
                    </a:p>
                    <a:p>
                      <a:pPr marL="217805" indent="-74930" algn="l" rtl="0" eaLnBrk="0">
                        <a:lnSpc>
                          <a:spcPct val="97000"/>
                        </a:lnSpc>
                        <a:spcBef>
                          <a:spcPts val="5"/>
                        </a:spcBef>
                      </a:pPr>
                      <a:r>
                        <a:rPr sz="1100" b="1" kern="0" spc="-30" dirty="0">
                          <a:solidFill>
                            <a:srgbClr val="000000">
                              <a:alpha val="100000"/>
                            </a:srgbClr>
                          </a:solidFill>
                          <a:latin typeface="楷体" panose="02010609060101010101" charset="-122"/>
                          <a:ea typeface="楷体" panose="02010609060101010101" charset="-122"/>
                          <a:cs typeface="楷体" panose="02010609060101010101" charset="-122"/>
                        </a:rPr>
                        <a:t>渣打银行</a:t>
                      </a:r>
                      <a:r>
                        <a:rPr sz="1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1000" b="1" kern="0" spc="-60" dirty="0">
                          <a:solidFill>
                            <a:srgbClr val="000000">
                              <a:alpha val="100000"/>
                            </a:srgbClr>
                          </a:solidFill>
                          <a:latin typeface="楷体" panose="02010609060101010101" charset="-122"/>
                          <a:ea typeface="楷体" panose="02010609060101010101" charset="-122"/>
                          <a:cs typeface="楷体" panose="02010609060101010101" charset="-122"/>
                        </a:rPr>
                        <a:t>（香港）</a:t>
                      </a:r>
                      <a:endParaRPr sz="10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CCCC"/>
                    </a:solidFill>
                  </a:tcPr>
                </a:tc>
                <a:tc>
                  <a:txBody>
                    <a:bodyPr/>
                    <a:lstStyle/>
                    <a:p>
                      <a:pPr algn="l" rtl="0" eaLnBrk="0">
                        <a:lnSpc>
                          <a:spcPct val="104000"/>
                        </a:lnSpc>
                      </a:pPr>
                      <a:endParaRPr sz="400" dirty="0">
                        <a:latin typeface="Arial" panose="020B0604020202020204" pitchFamily="34" charset="0"/>
                        <a:ea typeface="Arial" panose="020B0604020202020204" pitchFamily="34" charset="0"/>
                        <a:cs typeface="Arial" panose="020B0604020202020204" pitchFamily="34" charset="0"/>
                      </a:endParaRPr>
                    </a:p>
                    <a:p>
                      <a:pPr marL="97155" algn="l" rtl="0" eaLnBrk="0">
                        <a:lnSpc>
                          <a:spcPct val="85000"/>
                        </a:lnSpc>
                        <a:spcBef>
                          <a:spcPts val="0"/>
                        </a:spcBef>
                      </a:pPr>
                      <a:r>
                        <a:rPr sz="1100" kern="0" spc="-10" dirty="0">
                          <a:solidFill>
                            <a:srgbClr val="000000">
                              <a:alpha val="100000"/>
                            </a:srgbClr>
                          </a:solidFill>
                          <a:latin typeface="楷体" panose="02010609060101010101" charset="-122"/>
                          <a:ea typeface="楷体" panose="02010609060101010101" charset="-122"/>
                          <a:cs typeface="楷体" panose="02010609060101010101" charset="-122"/>
                        </a:rPr>
                        <a:t>银行</a:t>
                      </a:r>
                      <a:r>
                        <a:rPr sz="11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1100" kern="0" spc="-10" dirty="0">
                          <a:solidFill>
                            <a:srgbClr val="000000">
                              <a:alpha val="100000"/>
                            </a:srgbClr>
                          </a:solidFill>
                          <a:latin typeface="楷体" panose="02010609060101010101" charset="-122"/>
                          <a:ea typeface="楷体" panose="02010609060101010101" charset="-122"/>
                          <a:cs typeface="楷体" panose="02010609060101010101" charset="-122"/>
                        </a:rPr>
                        <a:t>在港</a:t>
                      </a:r>
                      <a:endParaRPr sz="1100" dirty="0">
                        <a:latin typeface="楷体" panose="02010609060101010101" charset="-122"/>
                        <a:ea typeface="楷体" panose="02010609060101010101" charset="-122"/>
                        <a:cs typeface="楷体" panose="02010609060101010101" charset="-122"/>
                      </a:endParaRPr>
                    </a:p>
                    <a:p>
                      <a:pPr marL="98425" algn="l" rtl="0" eaLnBrk="0">
                        <a:lnSpc>
                          <a:spcPct val="84000"/>
                        </a:lnSpc>
                        <a:spcBef>
                          <a:spcPts val="200"/>
                        </a:spcBef>
                      </a:pPr>
                      <a:r>
                        <a:rPr sz="1100" kern="0" spc="-20" dirty="0">
                          <a:solidFill>
                            <a:srgbClr val="000000">
                              <a:alpha val="100000"/>
                            </a:srgbClr>
                          </a:solidFill>
                          <a:latin typeface="楷体" panose="02010609060101010101" charset="-122"/>
                          <a:ea typeface="楷体" panose="02010609060101010101" charset="-122"/>
                          <a:cs typeface="楷体" panose="02010609060101010101" charset="-122"/>
                        </a:rPr>
                        <a:t>分支机构</a:t>
                      </a:r>
                      <a:endParaRPr sz="11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CCCC"/>
                    </a:solidFill>
                  </a:tcPr>
                </a:tc>
                <a:tc>
                  <a:txBody>
                    <a:bodyPr/>
                    <a:lstStyle/>
                    <a:p>
                      <a:pPr algn="l" rtl="0" eaLnBrk="0">
                        <a:lnSpc>
                          <a:spcPct val="103000"/>
                        </a:lnSpc>
                      </a:pPr>
                      <a:endParaRPr sz="400" dirty="0">
                        <a:latin typeface="Arial" panose="020B0604020202020204" pitchFamily="34" charset="0"/>
                        <a:ea typeface="Arial" panose="020B0604020202020204" pitchFamily="34" charset="0"/>
                        <a:cs typeface="Arial" panose="020B0604020202020204" pitchFamily="34" charset="0"/>
                      </a:endParaRPr>
                    </a:p>
                    <a:p>
                      <a:pPr marL="106045" indent="-5080" algn="l" rtl="0" eaLnBrk="0">
                        <a:lnSpc>
                          <a:spcPct val="95000"/>
                        </a:lnSpc>
                        <a:spcBef>
                          <a:spcPts val="0"/>
                        </a:spcBef>
                      </a:pPr>
                      <a:r>
                        <a:rPr sz="1100" kern="0" spc="0" dirty="0">
                          <a:solidFill>
                            <a:srgbClr val="000000">
                              <a:alpha val="100000"/>
                            </a:srgbClr>
                          </a:solidFill>
                          <a:latin typeface="楷体" panose="02010609060101010101" charset="-122"/>
                          <a:ea typeface="楷体" panose="02010609060101010101" charset="-122"/>
                          <a:cs typeface="楷体" panose="02010609060101010101" charset="-122"/>
                        </a:rPr>
                        <a:t>渣打银行是一家领先的国际银行集团，总部位</a:t>
                      </a:r>
                      <a:r>
                        <a:rPr sz="1100" kern="0" spc="-10" dirty="0">
                          <a:solidFill>
                            <a:srgbClr val="000000">
                              <a:alpha val="100000"/>
                            </a:srgbClr>
                          </a:solidFill>
                          <a:latin typeface="楷体" panose="02010609060101010101" charset="-122"/>
                          <a:ea typeface="楷体" panose="02010609060101010101" charset="-122"/>
                          <a:cs typeface="楷体" panose="02010609060101010101" charset="-122"/>
                        </a:rPr>
                        <a:t>于英国伦敦，是扎根中国历史最悠久的国际性银行之一。渣打银行自</a:t>
                      </a:r>
                      <a:r>
                        <a:rPr sz="1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11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1859 </a:t>
                      </a:r>
                      <a:r>
                        <a:rPr sz="1100" kern="0" spc="0" dirty="0">
                          <a:solidFill>
                            <a:srgbClr val="000000">
                              <a:alpha val="100000"/>
                            </a:srgbClr>
                          </a:solidFill>
                          <a:latin typeface="楷体" panose="02010609060101010101" charset="-122"/>
                          <a:ea typeface="楷体" panose="02010609060101010101" charset="-122"/>
                          <a:cs typeface="楷体" panose="02010609060101010101" charset="-122"/>
                        </a:rPr>
                        <a:t>年在香港开展业务，现为香港</a:t>
                      </a:r>
                      <a:r>
                        <a:rPr sz="1100" kern="0" spc="-10" dirty="0">
                          <a:solidFill>
                            <a:srgbClr val="000000">
                              <a:alpha val="100000"/>
                            </a:srgbClr>
                          </a:solidFill>
                          <a:latin typeface="楷体" panose="02010609060101010101" charset="-122"/>
                          <a:ea typeface="楷体" panose="02010609060101010101" charset="-122"/>
                          <a:cs typeface="楷体" panose="02010609060101010101" charset="-122"/>
                        </a:rPr>
                        <a:t>三家发钞银行之一。</a:t>
                      </a:r>
                      <a:endParaRPr sz="11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CCCC"/>
                    </a:solidFill>
                  </a:tcPr>
                </a:tc>
                <a:tc>
                  <a:txBody>
                    <a:bodyPr/>
                    <a:lstStyle/>
                    <a:p>
                      <a:pPr algn="l" rtl="0" eaLnBrk="0">
                        <a:lnSpc>
                          <a:spcPct val="103000"/>
                        </a:lnSpc>
                      </a:pPr>
                      <a:endParaRPr sz="400" dirty="0">
                        <a:latin typeface="Arial" panose="020B0604020202020204" pitchFamily="34" charset="0"/>
                        <a:ea typeface="Arial" panose="020B0604020202020204" pitchFamily="34" charset="0"/>
                        <a:cs typeface="Arial" panose="020B0604020202020204" pitchFamily="34" charset="0"/>
                      </a:endParaRPr>
                    </a:p>
                    <a:p>
                      <a:pPr marL="102870" indent="-635" algn="l" rtl="0" eaLnBrk="0">
                        <a:lnSpc>
                          <a:spcPct val="92000"/>
                        </a:lnSpc>
                        <a:spcBef>
                          <a:spcPts val="5"/>
                        </a:spcBef>
                      </a:pPr>
                      <a:r>
                        <a:rPr sz="1100" kern="0" spc="0" dirty="0">
                          <a:solidFill>
                            <a:srgbClr val="000000">
                              <a:alpha val="100000"/>
                            </a:srgbClr>
                          </a:solidFill>
                          <a:latin typeface="楷体" panose="02010609060101010101" charset="-122"/>
                          <a:ea typeface="楷体" panose="02010609060101010101" charset="-122"/>
                          <a:cs typeface="楷体" panose="02010609060101010101" charset="-122"/>
                        </a:rPr>
                        <a:t>渣打集团（</a:t>
                      </a:r>
                      <a:r>
                        <a:rPr sz="11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2888.</a:t>
                      </a:r>
                      <a:r>
                        <a:rPr sz="11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HK</a:t>
                      </a:r>
                      <a:r>
                        <a:rPr sz="1100" kern="0" spc="-10" dirty="0">
                          <a:solidFill>
                            <a:srgbClr val="000000">
                              <a:alpha val="100000"/>
                            </a:srgbClr>
                          </a:solidFill>
                          <a:latin typeface="楷体" panose="02010609060101010101" charset="-122"/>
                          <a:ea typeface="楷体" panose="02010609060101010101" charset="-122"/>
                          <a:cs typeface="楷体" panose="02010609060101010101" charset="-122"/>
                        </a:rPr>
                        <a:t>）</a:t>
                      </a:r>
                      <a:r>
                        <a:rPr sz="1100" kern="0" spc="-10" dirty="0">
                          <a:solidFill>
                            <a:srgbClr val="C00000">
                              <a:alpha val="100000"/>
                            </a:srgbClr>
                          </a:solidFill>
                          <a:latin typeface="楷体" panose="02010609060101010101" charset="-122"/>
                          <a:ea typeface="楷体" panose="02010609060101010101" charset="-122"/>
                          <a:cs typeface="楷体" panose="02010609060101010101" charset="-122"/>
                        </a:rPr>
                        <a:t>未来或</a:t>
                      </a:r>
                      <a:r>
                        <a:rPr sz="1100" kern="0" spc="-10" dirty="0">
                          <a:solidFill>
                            <a:srgbClr val="C00000">
                              <a:alpha val="100000"/>
                            </a:srgbClr>
                          </a:solidFill>
                          <a:latin typeface="楷体" panose="02010609060101010101" charset="-122"/>
                          <a:ea typeface="楷体" panose="02010609060101010101" charset="-122"/>
                          <a:cs typeface="楷体" panose="02010609060101010101" charset="-122"/>
                        </a:rPr>
                        <a:t>为合资公司稳定币托管方</a:t>
                      </a:r>
                      <a:endParaRPr sz="11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CCCC"/>
                    </a:solidFill>
                  </a:tcPr>
                </a:tc>
              </a:tr>
              <a:tr h="769619">
                <a:tc vMerge="1">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eaLnBrk="0">
                        <a:lnSpc>
                          <a:spcPct val="123000"/>
                        </a:lnSpc>
                      </a:pPr>
                      <a:endParaRPr sz="400" b="1" dirty="0">
                        <a:latin typeface="Arial" panose="020B0604020202020204" pitchFamily="34" charset="0"/>
                        <a:ea typeface="Arial" panose="020B0604020202020204" pitchFamily="34" charset="0"/>
                        <a:cs typeface="Arial" panose="020B0604020202020204" pitchFamily="34" charset="0"/>
                      </a:endParaRPr>
                    </a:p>
                    <a:p>
                      <a:pPr marL="140335" algn="l" rtl="0" eaLnBrk="0">
                        <a:lnSpc>
                          <a:spcPct val="84000"/>
                        </a:lnSpc>
                        <a:spcBef>
                          <a:spcPts val="5"/>
                        </a:spcBef>
                      </a:pPr>
                      <a:r>
                        <a:rPr sz="1100" b="1" kern="0" spc="-20" dirty="0">
                          <a:solidFill>
                            <a:srgbClr val="000000">
                              <a:alpha val="100000"/>
                            </a:srgbClr>
                          </a:solidFill>
                          <a:latin typeface="楷体" panose="02010609060101010101" charset="-122"/>
                          <a:ea typeface="楷体" panose="02010609060101010101" charset="-122"/>
                          <a:cs typeface="楷体" panose="02010609060101010101" charset="-122"/>
                        </a:rPr>
                        <a:t>安拟集团</a:t>
                      </a:r>
                      <a:endParaRPr sz="1100" b="1" dirty="0">
                        <a:latin typeface="楷体" panose="02010609060101010101" charset="-122"/>
                        <a:ea typeface="楷体" panose="02010609060101010101" charset="-122"/>
                        <a:cs typeface="楷体" panose="02010609060101010101" charset="-122"/>
                      </a:endParaRPr>
                    </a:p>
                    <a:p>
                      <a:pPr marL="212090" algn="l" rtl="0" eaLnBrk="0">
                        <a:lnSpc>
                          <a:spcPct val="92000"/>
                        </a:lnSpc>
                        <a:spcBef>
                          <a:spcPts val="150"/>
                        </a:spcBef>
                      </a:pPr>
                      <a:r>
                        <a:rPr sz="1000" b="1" kern="0" spc="-50" dirty="0">
                          <a:solidFill>
                            <a:srgbClr val="000000">
                              <a:alpha val="100000"/>
                            </a:srgbClr>
                          </a:solidFill>
                          <a:latin typeface="楷体" panose="02010609060101010101" charset="-122"/>
                          <a:ea typeface="楷体" panose="02010609060101010101" charset="-122"/>
                          <a:cs typeface="楷体" panose="02010609060101010101" charset="-122"/>
                        </a:rPr>
                        <a:t>（</a:t>
                      </a:r>
                      <a:r>
                        <a:rPr sz="1000" b="1" kern="0" spc="-5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Animo</a:t>
                      </a:r>
                      <a:endParaRPr sz="1000" b="1" dirty="0">
                        <a:latin typeface="Arial" panose="020B0604020202020204" pitchFamily="34" charset="0"/>
                        <a:ea typeface="Arial" panose="020B0604020202020204" pitchFamily="34" charset="0"/>
                        <a:cs typeface="Arial" panose="020B0604020202020204" pitchFamily="34" charset="0"/>
                      </a:endParaRPr>
                    </a:p>
                    <a:p>
                      <a:pPr marL="341630" algn="l" rtl="0" eaLnBrk="0">
                        <a:lnSpc>
                          <a:spcPct val="78000"/>
                        </a:lnSpc>
                        <a:spcBef>
                          <a:spcPts val="355"/>
                        </a:spcBef>
                      </a:pPr>
                      <a:r>
                        <a:rPr sz="1100" b="1" kern="0" spc="-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ca</a:t>
                      </a:r>
                      <a:endParaRPr sz="1100" b="1" dirty="0">
                        <a:latin typeface="Arial" panose="020B0604020202020204" pitchFamily="34" charset="0"/>
                        <a:ea typeface="Arial" panose="020B0604020202020204" pitchFamily="34" charset="0"/>
                        <a:cs typeface="Arial" panose="020B0604020202020204" pitchFamily="34" charset="0"/>
                      </a:endParaRPr>
                    </a:p>
                    <a:p>
                      <a:pPr marL="111760" algn="l" rtl="0" eaLnBrk="0">
                        <a:lnSpc>
                          <a:spcPct val="84000"/>
                        </a:lnSpc>
                        <a:spcBef>
                          <a:spcPts val="145"/>
                        </a:spcBef>
                      </a:pPr>
                      <a:r>
                        <a:rPr sz="1100" b="1" kern="0" spc="-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Brands</a:t>
                      </a:r>
                      <a:r>
                        <a:rPr sz="1100" b="1" kern="0" spc="-20" dirty="0">
                          <a:solidFill>
                            <a:srgbClr val="000000">
                              <a:alpha val="100000"/>
                            </a:srgbClr>
                          </a:solidFill>
                          <a:latin typeface="楷体" panose="02010609060101010101" charset="-122"/>
                          <a:ea typeface="楷体" panose="02010609060101010101" charset="-122"/>
                          <a:cs typeface="楷体" panose="02010609060101010101" charset="-122"/>
                        </a:rPr>
                        <a:t>）</a:t>
                      </a:r>
                      <a:endParaRPr sz="1100" b="1"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E7E7"/>
                    </a:solidFill>
                  </a:tcPr>
                </a:tc>
                <a:tc>
                  <a:txBody>
                    <a:bodyPr/>
                    <a:lstStyle/>
                    <a:p>
                      <a:pPr algn="l" rtl="0" eaLnBrk="0">
                        <a:lnSpc>
                          <a:spcPct val="154000"/>
                        </a:lnSpc>
                      </a:pPr>
                      <a:endParaRPr sz="1000" b="1" dirty="0">
                        <a:latin typeface="Arial" panose="020B0604020202020204" pitchFamily="34" charset="0"/>
                        <a:ea typeface="Arial" panose="020B0604020202020204" pitchFamily="34" charset="0"/>
                        <a:cs typeface="Arial" panose="020B0604020202020204" pitchFamily="34" charset="0"/>
                      </a:endParaRPr>
                    </a:p>
                    <a:p>
                      <a:pPr marL="92710" algn="l" rtl="0" eaLnBrk="0">
                        <a:lnSpc>
                          <a:spcPct val="84000"/>
                        </a:lnSpc>
                        <a:spcBef>
                          <a:spcPts val="0"/>
                        </a:spcBef>
                      </a:pPr>
                      <a:r>
                        <a:rPr sz="1100" b="1"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Web3-</a:t>
                      </a:r>
                      <a:r>
                        <a:rPr sz="1100" b="1" kern="0" spc="0" dirty="0">
                          <a:solidFill>
                            <a:srgbClr val="000000">
                              <a:alpha val="100000"/>
                            </a:srgbClr>
                          </a:solidFill>
                          <a:latin typeface="楷体" panose="02010609060101010101" charset="-122"/>
                          <a:ea typeface="楷体" panose="02010609060101010101" charset="-122"/>
                          <a:cs typeface="楷体" panose="02010609060101010101" charset="-122"/>
                        </a:rPr>
                        <a:t>元</a:t>
                      </a:r>
                      <a:endParaRPr sz="1100" b="1" dirty="0">
                        <a:latin typeface="楷体" panose="02010609060101010101" charset="-122"/>
                        <a:ea typeface="楷体" panose="02010609060101010101" charset="-122"/>
                        <a:cs typeface="楷体" panose="02010609060101010101" charset="-122"/>
                      </a:endParaRPr>
                    </a:p>
                    <a:p>
                      <a:pPr marL="108585" algn="l" rtl="0" eaLnBrk="0">
                        <a:lnSpc>
                          <a:spcPts val="1460"/>
                        </a:lnSpc>
                      </a:pPr>
                      <a:r>
                        <a:rPr sz="1100" b="1" kern="0" spc="-40" dirty="0">
                          <a:solidFill>
                            <a:srgbClr val="000000">
                              <a:alpha val="100000"/>
                            </a:srgbClr>
                          </a:solidFill>
                          <a:latin typeface="楷体" panose="02010609060101010101" charset="-122"/>
                          <a:ea typeface="楷体" panose="02010609060101010101" charset="-122"/>
                          <a:cs typeface="楷体" panose="02010609060101010101" charset="-122"/>
                        </a:rPr>
                        <a:t>宇宙</a:t>
                      </a:r>
                      <a:endParaRPr sz="1100" b="1"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E7E7"/>
                    </a:solidFill>
                  </a:tcPr>
                </a:tc>
                <a:tc>
                  <a:txBody>
                    <a:bodyPr/>
                    <a:lstStyle/>
                    <a:p>
                      <a:pPr algn="l" rtl="0" eaLnBrk="0">
                        <a:lnSpc>
                          <a:spcPct val="108000"/>
                        </a:lnSpc>
                      </a:pPr>
                      <a:endParaRPr sz="900" dirty="0">
                        <a:latin typeface="Arial" panose="020B0604020202020204" pitchFamily="34" charset="0"/>
                        <a:ea typeface="Arial" panose="020B0604020202020204" pitchFamily="34" charset="0"/>
                        <a:cs typeface="Arial" panose="020B0604020202020204" pitchFamily="34" charset="0"/>
                      </a:endParaRPr>
                    </a:p>
                    <a:p>
                      <a:pPr algn="l" rtl="0" eaLnBrk="0">
                        <a:lnSpc>
                          <a:spcPct val="6000"/>
                        </a:lnSpc>
                      </a:pPr>
                      <a:endParaRPr sz="100" dirty="0">
                        <a:latin typeface="Arial" panose="020B0604020202020204" pitchFamily="34" charset="0"/>
                        <a:ea typeface="Arial" panose="020B0604020202020204" pitchFamily="34" charset="0"/>
                        <a:cs typeface="Arial" panose="020B0604020202020204" pitchFamily="34" charset="0"/>
                      </a:endParaRPr>
                    </a:p>
                    <a:p>
                      <a:pPr marL="99060" indent="-3810" algn="l" rtl="0" eaLnBrk="0">
                        <a:lnSpc>
                          <a:spcPct val="97000"/>
                        </a:lnSpc>
                      </a:pPr>
                      <a:r>
                        <a:rPr sz="1100" b="1" kern="0" spc="0" dirty="0">
                          <a:solidFill>
                            <a:srgbClr val="000000">
                              <a:alpha val="100000"/>
                            </a:srgbClr>
                          </a:solidFill>
                          <a:latin typeface="楷体" panose="02010609060101010101" charset="-122"/>
                          <a:ea typeface="楷体" panose="02010609060101010101" charset="-122"/>
                          <a:cs typeface="楷体" panose="02010609060101010101" charset="-122"/>
                        </a:rPr>
                        <a:t>是元宇宙游戏平台</a:t>
                      </a:r>
                      <a:r>
                        <a:rPr sz="1100" b="1"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The Sandbox</a:t>
                      </a:r>
                      <a:r>
                        <a:rPr sz="1100" b="1" kern="0" spc="0" dirty="0">
                          <a:solidFill>
                            <a:srgbClr val="000000">
                              <a:alpha val="100000"/>
                            </a:srgbClr>
                          </a:solidFill>
                          <a:latin typeface="楷体" panose="02010609060101010101" charset="-122"/>
                          <a:ea typeface="楷体" panose="02010609060101010101" charset="-122"/>
                          <a:cs typeface="楷体" panose="02010609060101010101" charset="-122"/>
                        </a:rPr>
                        <a:t>的母公司，</a:t>
                      </a:r>
                      <a:r>
                        <a:rPr sz="1100" b="1"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2014</a:t>
                      </a:r>
                      <a:r>
                        <a:rPr sz="1100" b="1" kern="0" spc="0" dirty="0">
                          <a:solidFill>
                            <a:srgbClr val="000000">
                              <a:alpha val="100000"/>
                            </a:srgbClr>
                          </a:solidFill>
                          <a:latin typeface="楷体" panose="02010609060101010101" charset="-122"/>
                          <a:ea typeface="楷体" panose="02010609060101010101" charset="-122"/>
                          <a:cs typeface="楷体" panose="02010609060101010101" charset="-122"/>
                        </a:rPr>
                        <a:t>年正式创立，最早做手游研发，凭借发行</a:t>
                      </a:r>
                      <a:r>
                        <a:rPr sz="1100" b="1"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100</a:t>
                      </a:r>
                      <a:r>
                        <a:rPr sz="1100" b="1" kern="0" spc="0" dirty="0">
                          <a:solidFill>
                            <a:srgbClr val="000000">
                              <a:alpha val="100000"/>
                            </a:srgbClr>
                          </a:solidFill>
                          <a:latin typeface="楷体" panose="02010609060101010101" charset="-122"/>
                          <a:ea typeface="楷体" panose="02010609060101010101" charset="-122"/>
                          <a:cs typeface="楷体" panose="02010609060101010101" charset="-122"/>
                        </a:rPr>
                        <a:t>多款游戏、累计上</a:t>
                      </a:r>
                      <a:r>
                        <a:rPr sz="1100" b="1" kern="0" spc="-10" dirty="0">
                          <a:solidFill>
                            <a:srgbClr val="000000">
                              <a:alpha val="100000"/>
                            </a:srgbClr>
                          </a:solidFill>
                          <a:latin typeface="楷体" panose="02010609060101010101" charset="-122"/>
                          <a:ea typeface="楷体" panose="02010609060101010101" charset="-122"/>
                          <a:cs typeface="楷体" panose="02010609060101010101" charset="-122"/>
                        </a:rPr>
                        <a:t>亿</a:t>
                      </a:r>
                      <a:r>
                        <a:rPr sz="1100" b="1" kern="0" spc="0" dirty="0">
                          <a:solidFill>
                            <a:srgbClr val="000000">
                              <a:alpha val="100000"/>
                            </a:srgbClr>
                          </a:solidFill>
                          <a:latin typeface="楷体" panose="02010609060101010101" charset="-122"/>
                          <a:ea typeface="楷体" panose="02010609060101010101" charset="-122"/>
                          <a:cs typeface="楷体" panose="02010609060101010101" charset="-122"/>
                        </a:rPr>
                        <a:t> 次下载，在澳洲证交所借壳上市，</a:t>
                      </a:r>
                      <a:r>
                        <a:rPr sz="1100" b="1"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2018</a:t>
                      </a:r>
                      <a:r>
                        <a:rPr sz="1100" b="1" kern="0" spc="0" dirty="0">
                          <a:solidFill>
                            <a:srgbClr val="000000">
                              <a:alpha val="100000"/>
                            </a:srgbClr>
                          </a:solidFill>
                          <a:latin typeface="楷体" panose="02010609060101010101" charset="-122"/>
                          <a:ea typeface="楷体" panose="02010609060101010101" charset="-122"/>
                          <a:cs typeface="楷体" panose="02010609060101010101" charset="-122"/>
                        </a:rPr>
                        <a:t>年后，公司开始转型做区块链，</a:t>
                      </a:r>
                      <a:r>
                        <a:rPr sz="1100" b="1"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2020</a:t>
                      </a:r>
                      <a:r>
                        <a:rPr sz="1100" b="1" kern="0" spc="0" dirty="0">
                          <a:solidFill>
                            <a:srgbClr val="000000">
                              <a:alpha val="100000"/>
                            </a:srgbClr>
                          </a:solidFill>
                          <a:latin typeface="楷体" panose="02010609060101010101" charset="-122"/>
                          <a:ea typeface="楷体" panose="02010609060101010101" charset="-122"/>
                          <a:cs typeface="楷体" panose="02010609060101010101" charset="-122"/>
                        </a:rPr>
                        <a:t>年后因参与加密货币交易涉嫌</a:t>
                      </a:r>
                      <a:r>
                        <a:rPr sz="1100" b="1" kern="0" spc="-10" dirty="0">
                          <a:solidFill>
                            <a:srgbClr val="000000">
                              <a:alpha val="100000"/>
                            </a:srgbClr>
                          </a:solidFill>
                          <a:latin typeface="楷体" panose="02010609060101010101" charset="-122"/>
                          <a:ea typeface="楷体" panose="02010609060101010101" charset="-122"/>
                          <a:cs typeface="楷体" panose="02010609060101010101" charset="-122"/>
                        </a:rPr>
                        <a:t>违规等  </a:t>
                      </a:r>
                      <a:r>
                        <a:rPr sz="1100" b="1" kern="0" spc="0" dirty="0">
                          <a:solidFill>
                            <a:srgbClr val="000000">
                              <a:alpha val="100000"/>
                            </a:srgbClr>
                          </a:solidFill>
                          <a:latin typeface="楷体" panose="02010609060101010101" charset="-122"/>
                          <a:ea typeface="楷体" panose="02010609060101010101" charset="-122"/>
                          <a:cs typeface="楷体" panose="02010609060101010101" charset="-122"/>
                        </a:rPr>
                        <a:t>问题被澳交所除牌，但退市后公司针对</a:t>
                      </a:r>
                      <a:r>
                        <a:rPr sz="1100" b="1"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Web3</a:t>
                      </a:r>
                      <a:r>
                        <a:rPr sz="1100" b="1" kern="0" spc="0" dirty="0">
                          <a:solidFill>
                            <a:srgbClr val="000000">
                              <a:alpha val="100000"/>
                            </a:srgbClr>
                          </a:solidFill>
                          <a:latin typeface="楷体" panose="02010609060101010101" charset="-122"/>
                          <a:ea typeface="楷体" panose="02010609060101010101" charset="-122"/>
                          <a:cs typeface="楷体" panose="02010609060101010101" charset="-122"/>
                        </a:rPr>
                        <a:t>的投资不减反增，累计投资项目达</a:t>
                      </a:r>
                      <a:r>
                        <a:rPr sz="1100" b="1"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540</a:t>
                      </a:r>
                      <a:r>
                        <a:rPr sz="1100" b="1" kern="0" spc="-10" dirty="0">
                          <a:solidFill>
                            <a:srgbClr val="000000">
                              <a:alpha val="100000"/>
                            </a:srgbClr>
                          </a:solidFill>
                          <a:latin typeface="楷体" panose="02010609060101010101" charset="-122"/>
                          <a:ea typeface="楷体" panose="02010609060101010101" charset="-122"/>
                          <a:cs typeface="楷体" panose="02010609060101010101" charset="-122"/>
                        </a:rPr>
                        <a:t>多个。</a:t>
                      </a:r>
                      <a:endParaRPr sz="1100" b="1"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E7E7"/>
                    </a:solidFill>
                  </a:tcPr>
                </a:tc>
                <a:tc>
                  <a:txBody>
                    <a:bodyPr/>
                    <a:lstStyle/>
                    <a:p>
                      <a:pPr algn="l" rtl="0" eaLnBrk="0">
                        <a:lnSpc>
                          <a:spcPct val="155000"/>
                        </a:lnSpc>
                      </a:pPr>
                      <a:endParaRPr sz="1000" dirty="0">
                        <a:latin typeface="Arial" panose="020B0604020202020204" pitchFamily="34" charset="0"/>
                        <a:ea typeface="Arial" panose="020B0604020202020204" pitchFamily="34" charset="0"/>
                        <a:cs typeface="Arial" panose="020B0604020202020204" pitchFamily="34" charset="0"/>
                      </a:endParaRPr>
                    </a:p>
                    <a:p>
                      <a:pPr marL="107315" algn="l" rtl="0" eaLnBrk="0">
                        <a:lnSpc>
                          <a:spcPct val="89000"/>
                        </a:lnSpc>
                      </a:pPr>
                      <a:r>
                        <a:rPr sz="1100" kern="0" spc="-10" dirty="0">
                          <a:solidFill>
                            <a:srgbClr val="000000">
                              <a:alpha val="100000"/>
                            </a:srgbClr>
                          </a:solidFill>
                          <a:latin typeface="楷体" panose="02010609060101010101" charset="-122"/>
                          <a:ea typeface="楷体" panose="02010609060101010101" charset="-122"/>
                          <a:cs typeface="楷体" panose="02010609060101010101" charset="-122"/>
                        </a:rPr>
                        <a:t>掌趣科技（</a:t>
                      </a:r>
                      <a:r>
                        <a:rPr sz="11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300315.SZ</a:t>
                      </a:r>
                      <a:r>
                        <a:rPr sz="1100" kern="0" spc="-10" dirty="0">
                          <a:solidFill>
                            <a:srgbClr val="000000">
                              <a:alpha val="100000"/>
                            </a:srgbClr>
                          </a:solidFill>
                          <a:latin typeface="楷体" panose="02010609060101010101" charset="-122"/>
                          <a:ea typeface="楷体" panose="02010609060101010101" charset="-122"/>
                          <a:cs typeface="楷体" panose="02010609060101010101" charset="-122"/>
                        </a:rPr>
                        <a:t>）</a:t>
                      </a:r>
                      <a:endParaRPr sz="1100" dirty="0">
                        <a:latin typeface="楷体" panose="02010609060101010101" charset="-122"/>
                        <a:ea typeface="楷体" panose="02010609060101010101" charset="-122"/>
                        <a:cs typeface="楷体" panose="02010609060101010101" charset="-122"/>
                      </a:endParaRPr>
                    </a:p>
                    <a:p>
                      <a:pPr marL="97155" algn="l" rtl="0" eaLnBrk="0">
                        <a:lnSpc>
                          <a:spcPct val="89000"/>
                        </a:lnSpc>
                        <a:spcBef>
                          <a:spcPts val="145"/>
                        </a:spcBef>
                      </a:pPr>
                      <a:r>
                        <a:rPr sz="1100" kern="0" spc="-10" dirty="0">
                          <a:solidFill>
                            <a:srgbClr val="C00000">
                              <a:alpha val="100000"/>
                            </a:srgbClr>
                          </a:solidFill>
                          <a:latin typeface="楷体" panose="02010609060101010101" charset="-122"/>
                          <a:ea typeface="楷体" panose="02010609060101010101" charset="-122"/>
                          <a:cs typeface="楷体" panose="02010609060101010101" charset="-122"/>
                        </a:rPr>
                        <a:t>持安拟</a:t>
                      </a:r>
                      <a:r>
                        <a:rPr sz="1100" kern="0" spc="-10" dirty="0">
                          <a:solidFill>
                            <a:srgbClr val="C00000">
                              <a:alpha val="100000"/>
                            </a:srgbClr>
                          </a:solidFill>
                          <a:latin typeface="Arial" panose="020B0604020202020204" pitchFamily="34" charset="0"/>
                          <a:ea typeface="Arial" panose="020B0604020202020204" pitchFamily="34" charset="0"/>
                          <a:cs typeface="Arial" panose="020B0604020202020204" pitchFamily="34" charset="0"/>
                        </a:rPr>
                        <a:t>11.1%</a:t>
                      </a:r>
                      <a:r>
                        <a:rPr sz="1100" kern="0" spc="-10" dirty="0">
                          <a:solidFill>
                            <a:srgbClr val="C00000">
                              <a:alpha val="100000"/>
                            </a:srgbClr>
                          </a:solidFill>
                          <a:latin typeface="楷体" panose="02010609060101010101" charset="-122"/>
                          <a:ea typeface="楷体" panose="02010609060101010101" charset="-122"/>
                          <a:cs typeface="楷体" panose="02010609060101010101" charset="-122"/>
                        </a:rPr>
                        <a:t>股份</a:t>
                      </a:r>
                      <a:endParaRPr sz="11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E7E7"/>
                    </a:solidFill>
                  </a:tcPr>
                </a:tc>
              </a:tr>
              <a:tr h="600709">
                <a:tc vMerge="1">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6000"/>
                        </a:lnSpc>
                      </a:pPr>
                      <a:endParaRPr sz="100" dirty="0">
                        <a:latin typeface="Arial" panose="020B0604020202020204" pitchFamily="34" charset="0"/>
                        <a:ea typeface="Arial" panose="020B0604020202020204" pitchFamily="34" charset="0"/>
                        <a:cs typeface="Arial" panose="020B0604020202020204" pitchFamily="34" charset="0"/>
                      </a:endParaRPr>
                    </a:p>
                    <a:p>
                      <a:pPr marL="251460" indent="-111125" algn="l" rtl="0" eaLnBrk="0">
                        <a:lnSpc>
                          <a:spcPct val="97000"/>
                        </a:lnSpc>
                      </a:pPr>
                      <a:r>
                        <a:rPr sz="1100" b="1" kern="0" spc="-20" dirty="0">
                          <a:solidFill>
                            <a:srgbClr val="000000">
                              <a:alpha val="100000"/>
                            </a:srgbClr>
                          </a:solidFill>
                          <a:latin typeface="楷体" panose="02010609060101010101" charset="-122"/>
                          <a:ea typeface="楷体" panose="02010609060101010101" charset="-122"/>
                          <a:cs typeface="楷体" panose="02010609060101010101" charset="-122"/>
                        </a:rPr>
                        <a:t>香港电讯</a:t>
                      </a:r>
                      <a:r>
                        <a:rPr sz="1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1000" b="1" kern="0" spc="-70" dirty="0">
                          <a:solidFill>
                            <a:srgbClr val="000000">
                              <a:alpha val="100000"/>
                            </a:srgbClr>
                          </a:solidFill>
                          <a:latin typeface="楷体" panose="02010609060101010101" charset="-122"/>
                          <a:ea typeface="楷体" panose="02010609060101010101" charset="-122"/>
                          <a:cs typeface="楷体" panose="02010609060101010101" charset="-122"/>
                        </a:rPr>
                        <a:t>（</a:t>
                      </a:r>
                      <a:r>
                        <a:rPr sz="1000" b="1" kern="0" spc="-7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hkt</a:t>
                      </a:r>
                      <a:r>
                        <a:rPr sz="1000" b="1" kern="0" spc="-70" dirty="0">
                          <a:solidFill>
                            <a:srgbClr val="000000">
                              <a:alpha val="100000"/>
                            </a:srgbClr>
                          </a:solidFill>
                          <a:latin typeface="楷体" panose="02010609060101010101" charset="-122"/>
                          <a:ea typeface="楷体" panose="02010609060101010101" charset="-122"/>
                          <a:cs typeface="楷体" panose="02010609060101010101" charset="-122"/>
                        </a:rPr>
                        <a:t>）</a:t>
                      </a:r>
                      <a:endParaRPr sz="10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CCCC"/>
                    </a:solidFill>
                  </a:tcPr>
                </a:tc>
                <a:tc>
                  <a:txBody>
                    <a:bodyPr/>
                    <a:lstStyle/>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marL="109855" algn="l" rtl="0" eaLnBrk="0">
                        <a:lnSpc>
                          <a:spcPct val="84000"/>
                        </a:lnSpc>
                        <a:spcBef>
                          <a:spcPts val="5"/>
                        </a:spcBef>
                      </a:pPr>
                      <a:r>
                        <a:rPr sz="1100" kern="0" spc="-30" dirty="0">
                          <a:solidFill>
                            <a:srgbClr val="000000">
                              <a:alpha val="100000"/>
                            </a:srgbClr>
                          </a:solidFill>
                          <a:latin typeface="楷体" panose="02010609060101010101" charset="-122"/>
                          <a:ea typeface="楷体" panose="02010609060101010101" charset="-122"/>
                          <a:cs typeface="楷体" panose="02010609060101010101" charset="-122"/>
                        </a:rPr>
                        <a:t>电讯服务</a:t>
                      </a:r>
                      <a:endParaRPr sz="1100" dirty="0">
                        <a:latin typeface="楷体" panose="02010609060101010101" charset="-122"/>
                        <a:ea typeface="楷体" panose="02010609060101010101" charset="-122"/>
                        <a:cs typeface="楷体" panose="02010609060101010101" charset="-122"/>
                      </a:endParaRPr>
                    </a:p>
                    <a:p>
                      <a:pPr marL="91440" algn="l" rtl="0" eaLnBrk="0">
                        <a:lnSpc>
                          <a:spcPct val="95000"/>
                        </a:lnSpc>
                        <a:spcBef>
                          <a:spcPts val="5"/>
                        </a:spcBef>
                      </a:pPr>
                      <a:r>
                        <a:rPr sz="1100" kern="0" spc="0" dirty="0">
                          <a:solidFill>
                            <a:srgbClr val="000000">
                              <a:alpha val="100000"/>
                            </a:srgbClr>
                          </a:solidFill>
                          <a:latin typeface="楷体" panose="02010609060101010101" charset="-122"/>
                          <a:ea typeface="楷体" panose="02010609060101010101" charset="-122"/>
                          <a:cs typeface="楷体" panose="02010609060101010101" charset="-122"/>
                        </a:rPr>
                        <a:t>供应商</a:t>
                      </a:r>
                      <a:endParaRPr sz="11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CCCC"/>
                    </a:solidFill>
                  </a:tcPr>
                </a:tc>
                <a:tc>
                  <a:txBody>
                    <a:bodyPr/>
                    <a:lstStyle/>
                    <a:p>
                      <a:pPr algn="l" rtl="0" eaLnBrk="0">
                        <a:lnSpc>
                          <a:spcPct val="152000"/>
                        </a:lnSpc>
                      </a:pPr>
                      <a:endParaRPr sz="1000" dirty="0">
                        <a:latin typeface="Arial" panose="020B0604020202020204" pitchFamily="34" charset="0"/>
                        <a:ea typeface="Arial" panose="020B0604020202020204" pitchFamily="34" charset="0"/>
                        <a:cs typeface="Arial" panose="020B0604020202020204" pitchFamily="34" charset="0"/>
                      </a:endParaRPr>
                    </a:p>
                    <a:p>
                      <a:pPr marL="100330" algn="l" rtl="0" eaLnBrk="0">
                        <a:lnSpc>
                          <a:spcPct val="89000"/>
                        </a:lnSpc>
                        <a:spcBef>
                          <a:spcPts val="5"/>
                        </a:spcBef>
                      </a:pPr>
                      <a:r>
                        <a:rPr sz="1100" kern="0" spc="0" dirty="0">
                          <a:solidFill>
                            <a:srgbClr val="000000">
                              <a:alpha val="100000"/>
                            </a:srgbClr>
                          </a:solidFill>
                          <a:latin typeface="楷体" panose="02010609060101010101" charset="-122"/>
                          <a:ea typeface="楷体" panose="02010609060101010101" charset="-122"/>
                          <a:cs typeface="楷体" panose="02010609060101010101" charset="-122"/>
                        </a:rPr>
                        <a:t>扎根香港逾</a:t>
                      </a:r>
                      <a:r>
                        <a:rPr sz="11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150</a:t>
                      </a:r>
                      <a:r>
                        <a:rPr sz="1100" kern="0" spc="0" dirty="0">
                          <a:solidFill>
                            <a:srgbClr val="000000">
                              <a:alpha val="100000"/>
                            </a:srgbClr>
                          </a:solidFill>
                          <a:latin typeface="楷体" panose="02010609060101010101" charset="-122"/>
                          <a:ea typeface="楷体" panose="02010609060101010101" charset="-122"/>
                          <a:cs typeface="楷体" panose="02010609060101010101" charset="-122"/>
                        </a:rPr>
                        <a:t>年，是香港最大的综合电讯提</a:t>
                      </a:r>
                      <a:r>
                        <a:rPr sz="1100" kern="0" spc="-10" dirty="0">
                          <a:solidFill>
                            <a:srgbClr val="000000">
                              <a:alpha val="100000"/>
                            </a:srgbClr>
                          </a:solidFill>
                          <a:latin typeface="楷体" panose="02010609060101010101" charset="-122"/>
                          <a:ea typeface="楷体" panose="02010609060101010101" charset="-122"/>
                          <a:cs typeface="楷体" panose="02010609060101010101" charset="-122"/>
                        </a:rPr>
                        <a:t>供商之一。</a:t>
                      </a:r>
                      <a:endParaRPr sz="11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CCCC"/>
                    </a:solidFill>
                  </a:tcPr>
                </a:tc>
                <a:tc>
                  <a:txBody>
                    <a:bodyPr/>
                    <a:lstStyle/>
                    <a:p>
                      <a:pPr algn="l" rtl="0" eaLnBrk="0">
                        <a:lnSpc>
                          <a:spcPct val="101000"/>
                        </a:lnSpc>
                      </a:pPr>
                      <a:endParaRPr sz="400" dirty="0">
                        <a:latin typeface="Arial" panose="020B0604020202020204" pitchFamily="34" charset="0"/>
                        <a:ea typeface="Arial" panose="020B0604020202020204" pitchFamily="34" charset="0"/>
                        <a:cs typeface="Arial" panose="020B0604020202020204" pitchFamily="34" charset="0"/>
                      </a:endParaRPr>
                    </a:p>
                    <a:p>
                      <a:pPr marL="95250" indent="3810" algn="l" rtl="0" eaLnBrk="0">
                        <a:lnSpc>
                          <a:spcPct val="95000"/>
                        </a:lnSpc>
                        <a:spcBef>
                          <a:spcPts val="0"/>
                        </a:spcBef>
                      </a:pPr>
                      <a:r>
                        <a:rPr sz="1100" kern="0" spc="0" dirty="0">
                          <a:solidFill>
                            <a:srgbClr val="000000">
                              <a:alpha val="100000"/>
                            </a:srgbClr>
                          </a:solidFill>
                          <a:latin typeface="楷体" panose="02010609060101010101" charset="-122"/>
                          <a:ea typeface="楷体" panose="02010609060101010101" charset="-122"/>
                          <a:cs typeface="楷体" panose="02010609060101010101" charset="-122"/>
                        </a:rPr>
                        <a:t>香港电讯（</a:t>
                      </a:r>
                      <a:r>
                        <a:rPr sz="11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6823.HK</a:t>
                      </a:r>
                      <a:r>
                        <a:rPr sz="1100" kern="0" spc="-10" dirty="0">
                          <a:solidFill>
                            <a:srgbClr val="000000">
                              <a:alpha val="100000"/>
                            </a:srgbClr>
                          </a:solidFill>
                          <a:latin typeface="楷体" panose="02010609060101010101" charset="-122"/>
                          <a:ea typeface="楷体" panose="02010609060101010101" charset="-122"/>
                          <a:cs typeface="楷体" panose="02010609060101010101" charset="-122"/>
                        </a:rPr>
                        <a:t>）</a:t>
                      </a:r>
                      <a:r>
                        <a:rPr sz="1100" kern="0" spc="-10" dirty="0">
                          <a:solidFill>
                            <a:srgbClr val="C00000">
                              <a:alpha val="100000"/>
                            </a:srgbClr>
                          </a:solidFill>
                          <a:latin typeface="楷体" panose="02010609060101010101" charset="-122"/>
                          <a:ea typeface="楷体" panose="02010609060101010101" charset="-122"/>
                          <a:cs typeface="楷体" panose="02010609060101010101" charset="-122"/>
                        </a:rPr>
                        <a:t>未来或</a:t>
                      </a:r>
                      <a:r>
                        <a:rPr sz="1100" kern="0" spc="0" dirty="0">
                          <a:solidFill>
                            <a:srgbClr val="C00000">
                              <a:alpha val="100000"/>
                            </a:srgbClr>
                          </a:solidFill>
                          <a:latin typeface="楷体" panose="02010609060101010101" charset="-122"/>
                          <a:ea typeface="楷体" panose="02010609060101010101" charset="-122"/>
                          <a:cs typeface="楷体" panose="02010609060101010101" charset="-122"/>
                        </a:rPr>
                        <a:t>在稳定币流通相关的基</a:t>
                      </a:r>
                      <a:r>
                        <a:rPr sz="1100" kern="0" spc="-10" dirty="0">
                          <a:solidFill>
                            <a:srgbClr val="C00000">
                              <a:alpha val="100000"/>
                            </a:srgbClr>
                          </a:solidFill>
                          <a:latin typeface="楷体" panose="02010609060101010101" charset="-122"/>
                          <a:ea typeface="楷体" panose="02010609060101010101" charset="-122"/>
                          <a:cs typeface="楷体" panose="02010609060101010101" charset="-122"/>
                        </a:rPr>
                        <a:t>础设施</a:t>
                      </a:r>
                      <a:r>
                        <a:rPr sz="1100" kern="0" spc="-10" dirty="0">
                          <a:solidFill>
                            <a:srgbClr val="C00000">
                              <a:alpha val="100000"/>
                            </a:srgbClr>
                          </a:solidFill>
                          <a:latin typeface="楷体" panose="02010609060101010101" charset="-122"/>
                          <a:ea typeface="楷体" panose="02010609060101010101" charset="-122"/>
                          <a:cs typeface="楷体" panose="02010609060101010101" charset="-122"/>
                        </a:rPr>
                        <a:t>发挥作用</a:t>
                      </a:r>
                      <a:endParaRPr sz="1100" dirty="0">
                        <a:latin typeface="楷体" panose="02010609060101010101" charset="-122"/>
                        <a:ea typeface="楷体" panose="02010609060101010101" charset="-122"/>
                        <a:cs typeface="楷体" panose="02010609060101010101" charset="-122"/>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CCCC"/>
                    </a:solidFill>
                  </a:tcPr>
                </a:tc>
              </a:tr>
            </a:tbl>
          </a:graphicData>
        </a:graphic>
      </p:graphicFrame>
      <p:sp>
        <p:nvSpPr>
          <p:cNvPr id="534" name="textbox 534"/>
          <p:cNvSpPr/>
          <p:nvPr/>
        </p:nvSpPr>
        <p:spPr>
          <a:xfrm>
            <a:off x="384497" y="1185792"/>
            <a:ext cx="11545569" cy="560705"/>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89000"/>
              </a:lnSpc>
              <a:tabLst>
                <a:tab pos="156210" algn="l"/>
                <a:tab pos="11531600" algn="l"/>
              </a:tabLst>
            </a:pPr>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b="1"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目前参与香港稳定币沙盒项目的机构主要有以下几家：</a:t>
            </a:r>
            <a:r>
              <a:rPr sz="1400" u="sng"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400" u="sng"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）京东币链科技（香港</a:t>
            </a:r>
            <a:r>
              <a:rPr sz="1400" u="sng"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400" u="sng" kern="0" spc="-3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u="sng"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sz="1400" u="sng" kern="0" spc="-2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u="sng"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圆币创新科技；</a:t>
            </a:r>
            <a:r>
              <a:rPr sz="1400" u="sng" kern="0" spc="-2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u="sng"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3）渣打银行（香港</a:t>
            </a:r>
            <a:r>
              <a:rPr sz="1400" u="sng"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400" u="sng"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u="sng"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400" u="sng"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4）安拟集团；</a:t>
            </a:r>
            <a:r>
              <a:rPr sz="1400" u="sng"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sz="1400" dirty="0">
              <a:latin typeface="微软雅黑" panose="020B0503020204020204" charset="-122"/>
              <a:ea typeface="微软雅黑" panose="020B0503020204020204" charset="-122"/>
              <a:cs typeface="微软雅黑" panose="020B0503020204020204" charset="-122"/>
            </a:endParaRPr>
          </a:p>
          <a:p>
            <a:pPr marL="299085" algn="l" rtl="0" eaLnBrk="0">
              <a:lnSpc>
                <a:spcPct val="155000"/>
              </a:lnSpc>
              <a:spcBef>
                <a:spcPts val="10"/>
              </a:spcBef>
            </a:pPr>
            <a:r>
              <a:rPr sz="1400" u="sng"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5）香港电讯（hkt）。</a:t>
            </a:r>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其中</a:t>
            </a:r>
            <a:r>
              <a:rPr sz="1400" kern="0" spc="-2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渣打、安拟、香港电讯共同成立合资公司参与稳定币发行的沙盒测试，</a:t>
            </a:r>
            <a:r>
              <a:rPr sz="1400" kern="0" spc="-3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因此总共涉及三个组合。</a:t>
            </a:r>
            <a:endParaRPr sz="1400" dirty="0">
              <a:latin typeface="微软雅黑" panose="020B0503020204020204" charset="-122"/>
              <a:ea typeface="微软雅黑" panose="020B0503020204020204" charset="-122"/>
              <a:cs typeface="微软雅黑" panose="020B0503020204020204" charset="-122"/>
            </a:endParaRPr>
          </a:p>
        </p:txBody>
      </p:sp>
      <p:pic>
        <p:nvPicPr>
          <p:cNvPr id="536" name="picture 536"/>
          <p:cNvPicPr>
            <a:picLocks noChangeAspect="1"/>
          </p:cNvPicPr>
          <p:nvPr/>
        </p:nvPicPr>
        <p:blipFill>
          <a:blip r:embed="rId1"/>
          <a:stretch>
            <a:fillRect/>
          </a:stretch>
        </p:blipFill>
        <p:spPr>
          <a:xfrm rot="21600000">
            <a:off x="397197" y="1212400"/>
            <a:ext cx="143894" cy="130878"/>
          </a:xfrm>
          <a:prstGeom prst="rect">
            <a:avLst/>
          </a:prstGeom>
        </p:spPr>
      </p:pic>
      <p:sp>
        <p:nvSpPr>
          <p:cNvPr id="538" name="textbox 538"/>
          <p:cNvSpPr/>
          <p:nvPr/>
        </p:nvSpPr>
        <p:spPr>
          <a:xfrm>
            <a:off x="384497" y="1826126"/>
            <a:ext cx="8800465" cy="486409"/>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89000"/>
              </a:lnSpc>
              <a:tabLst>
                <a:tab pos="156210" algn="l"/>
              </a:tabLst>
            </a:pPr>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b="1"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多元合作模式是香港金管局提倡的</a:t>
            </a:r>
            <a:r>
              <a:rPr sz="1400" b="1" kern="0" spc="-2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，建议关注更多潜在的</a:t>
            </a:r>
            <a:r>
              <a:rPr sz="1400" b="1" u="sng"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“银行”+“科</a:t>
            </a:r>
            <a:r>
              <a:rPr sz="1400" b="1" u="sng"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技”+“通讯”+“X”</a:t>
            </a:r>
            <a:r>
              <a:rPr sz="14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的合作组合。</a:t>
            </a:r>
            <a:endParaRPr sz="1400" dirty="0">
              <a:latin typeface="微软雅黑" panose="020B0503020204020204" charset="-122"/>
              <a:ea typeface="微软雅黑" panose="020B0503020204020204" charset="-122"/>
              <a:cs typeface="微软雅黑" panose="020B0503020204020204" charset="-122"/>
            </a:endParaRPr>
          </a:p>
          <a:p>
            <a:pPr algn="l" rtl="0" eaLnBrk="0">
              <a:lnSpc>
                <a:spcPct val="106000"/>
              </a:lnSpc>
            </a:pPr>
            <a:endParaRPr sz="500" dirty="0">
              <a:latin typeface="Arial" panose="020B0604020202020204" pitchFamily="34" charset="0"/>
              <a:ea typeface="Arial" panose="020B0604020202020204" pitchFamily="34" charset="0"/>
              <a:cs typeface="Arial" panose="020B0604020202020204" pitchFamily="34" charset="0"/>
            </a:endParaRPr>
          </a:p>
          <a:p>
            <a:pPr marL="66675" algn="l" rtl="0" eaLnBrk="0">
              <a:lnSpc>
                <a:spcPct val="89000"/>
              </a:lnSpc>
              <a:spcBef>
                <a:spcPts val="5"/>
              </a:spcBef>
            </a:pPr>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表：香港稳定币沙盒项目一览</a:t>
            </a:r>
            <a:endParaRPr sz="1400" dirty="0">
              <a:latin typeface="微软雅黑" panose="020B0503020204020204" charset="-122"/>
              <a:ea typeface="微软雅黑" panose="020B0503020204020204" charset="-122"/>
              <a:cs typeface="微软雅黑" panose="020B0503020204020204" charset="-122"/>
            </a:endParaRPr>
          </a:p>
        </p:txBody>
      </p:sp>
      <p:pic>
        <p:nvPicPr>
          <p:cNvPr id="540" name="picture 540"/>
          <p:cNvPicPr>
            <a:picLocks noChangeAspect="1"/>
          </p:cNvPicPr>
          <p:nvPr/>
        </p:nvPicPr>
        <p:blipFill>
          <a:blip r:embed="rId1"/>
          <a:stretch>
            <a:fillRect/>
          </a:stretch>
        </p:blipFill>
        <p:spPr>
          <a:xfrm rot="21600000">
            <a:off x="397197" y="1852734"/>
            <a:ext cx="143894" cy="130878"/>
          </a:xfrm>
          <a:prstGeom prst="rect">
            <a:avLst/>
          </a:prstGeom>
        </p:spPr>
      </p:pic>
      <p:sp>
        <p:nvSpPr>
          <p:cNvPr id="542" name="textbox 542"/>
          <p:cNvSpPr/>
          <p:nvPr/>
        </p:nvSpPr>
        <p:spPr>
          <a:xfrm>
            <a:off x="394810" y="264042"/>
            <a:ext cx="6877684" cy="453390"/>
          </a:xfrm>
          <a:prstGeom prst="rect">
            <a:avLst/>
          </a:prstGeom>
          <a:noFill/>
          <a:ln w="0" cap="flat">
            <a:noFill/>
            <a:prstDash val="solid"/>
            <a:miter lim="0"/>
          </a:ln>
        </p:spPr>
        <p:txBody>
          <a:bodyPr vert="horz" wrap="square" lIns="0" tIns="0" rIns="0" bIns="0"/>
          <a:lstStyle/>
          <a:p>
            <a:pPr algn="l" rtl="0" eaLnBrk="0">
              <a:lnSpc>
                <a:spcPct val="105000"/>
              </a:lnSpc>
            </a:pPr>
            <a:endParaRPr sz="400" dirty="0">
              <a:latin typeface="Arial" panose="020B0604020202020204" pitchFamily="34" charset="0"/>
              <a:ea typeface="Arial" panose="020B0604020202020204" pitchFamily="34" charset="0"/>
              <a:cs typeface="Arial" panose="020B0604020202020204" pitchFamily="34" charset="0"/>
            </a:endParaRPr>
          </a:p>
          <a:p>
            <a:pPr marL="695960" algn="l" defTabSz="0" rtl="0" eaLnBrk="0">
              <a:lnSpc>
                <a:spcPct val="89000"/>
              </a:lnSpc>
              <a:tabLst>
                <a:tab pos="941705" algn="l"/>
              </a:tabLst>
            </a:pPr>
            <a:endParaRPr sz="2400" dirty="0">
              <a:latin typeface="楷体" panose="02010609060101010101" charset="-122"/>
              <a:ea typeface="楷体" panose="02010609060101010101" charset="-122"/>
              <a:cs typeface="楷体" panose="02010609060101010101" charset="-122"/>
            </a:endParaRPr>
          </a:p>
        </p:txBody>
      </p:sp>
      <p:pic>
        <p:nvPicPr>
          <p:cNvPr id="544" name="picture 544"/>
          <p:cNvPicPr>
            <a:picLocks noChangeAspect="1"/>
          </p:cNvPicPr>
          <p:nvPr/>
        </p:nvPicPr>
        <p:blipFill>
          <a:blip r:embed="rId2"/>
          <a:stretch>
            <a:fillRect/>
          </a:stretch>
        </p:blipFill>
        <p:spPr>
          <a:xfrm rot="21600000">
            <a:off x="407510" y="276742"/>
            <a:ext cx="683414" cy="427691"/>
          </a:xfrm>
          <a:prstGeom prst="rect">
            <a:avLst/>
          </a:prstGeom>
        </p:spPr>
      </p:pic>
      <p:sp>
        <p:nvSpPr>
          <p:cNvPr id="548" name="path 548"/>
          <p:cNvSpPr/>
          <p:nvPr/>
        </p:nvSpPr>
        <p:spPr>
          <a:xfrm>
            <a:off x="359397" y="984157"/>
            <a:ext cx="11473180" cy="17999"/>
          </a:xfrm>
          <a:custGeom>
            <a:avLst/>
            <a:gdLst/>
            <a:ahLst/>
            <a:cxnLst/>
            <a:rect l="0" t="0" r="0" b="0"/>
            <a:pathLst>
              <a:path w="18068" h="28">
                <a:moveTo>
                  <a:pt x="0" y="28"/>
                </a:moveTo>
                <a:lnTo>
                  <a:pt x="18068" y="28"/>
                </a:lnTo>
                <a:lnTo>
                  <a:pt x="18068" y="0"/>
                </a:lnTo>
                <a:lnTo>
                  <a:pt x="0" y="0"/>
                </a:lnTo>
                <a:lnTo>
                  <a:pt x="0" y="28"/>
                </a:lnTo>
                <a:close/>
              </a:path>
            </a:pathLst>
          </a:custGeom>
          <a:solidFill>
            <a:srgbClr val="C30F1B">
              <a:alpha val="100000"/>
            </a:srgbClr>
          </a:solidFill>
          <a:ln w="0" cap="flat">
            <a:noFill/>
            <a:prstDash val="solid"/>
            <a:miter lim="0"/>
          </a:ln>
        </p:spPr>
        <p:txBody>
          <a:bodyPr rtlCol="0"/>
          <a:lstStyle/>
          <a:p>
            <a:pPr algn="ctr"/>
            <a:endParaRPr lang="zh-CN" altLang="en-US"/>
          </a:p>
        </p:txBody>
      </p:sp>
      <p:sp>
        <p:nvSpPr>
          <p:cNvPr id="550" name="path 550"/>
          <p:cNvSpPr/>
          <p:nvPr/>
        </p:nvSpPr>
        <p:spPr>
          <a:xfrm>
            <a:off x="359397" y="6450596"/>
            <a:ext cx="11473192" cy="6350"/>
          </a:xfrm>
          <a:custGeom>
            <a:avLst/>
            <a:gdLst/>
            <a:ahLst/>
            <a:cxnLst/>
            <a:rect l="0" t="0" r="0" b="0"/>
            <a:pathLst>
              <a:path w="18068" h="10">
                <a:moveTo>
                  <a:pt x="0" y="5"/>
                </a:moveTo>
                <a:lnTo>
                  <a:pt x="18068" y="5"/>
                </a:lnTo>
              </a:path>
            </a:pathLst>
          </a:custGeom>
          <a:noFill/>
          <a:ln w="6350" cap="flat">
            <a:solidFill>
              <a:srgbClr val="000000"/>
            </a:solidFill>
            <a:prstDash val="solid"/>
            <a:miter lim="1000000"/>
          </a:ln>
        </p:spPr>
        <p:txBody>
          <a:bodyPr rtlCol="0"/>
          <a:lstStyle/>
          <a:p>
            <a:pPr algn="ctr"/>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rot="21600000">
            <a:off x="0" y="658"/>
            <a:ext cx="12192000" cy="6856728"/>
          </a:xfrm>
          <a:prstGeom prst="rect">
            <a:avLst/>
          </a:prstGeom>
        </p:spPr>
      </p:pic>
      <p:pic>
        <p:nvPicPr>
          <p:cNvPr id="4" name="picture 4"/>
          <p:cNvPicPr>
            <a:picLocks noChangeAspect="1"/>
          </p:cNvPicPr>
          <p:nvPr/>
        </p:nvPicPr>
        <p:blipFill>
          <a:blip r:embed="rId2"/>
          <a:stretch>
            <a:fillRect/>
          </a:stretch>
        </p:blipFill>
        <p:spPr>
          <a:xfrm rot="21600000">
            <a:off x="1318132" y="505846"/>
            <a:ext cx="10062971" cy="6058293"/>
          </a:xfrm>
          <a:prstGeom prst="rect">
            <a:avLst/>
          </a:prstGeom>
        </p:spPr>
      </p:pic>
      <p:sp>
        <p:nvSpPr>
          <p:cNvPr id="6" name="textbox 6"/>
          <p:cNvSpPr/>
          <p:nvPr/>
        </p:nvSpPr>
        <p:spPr>
          <a:xfrm>
            <a:off x="1589405" y="2566035"/>
            <a:ext cx="9340215" cy="1092200"/>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pitchFamily="34" charset="0"/>
              <a:ea typeface="Arial" panose="020B0604020202020204" pitchFamily="34" charset="0"/>
              <a:cs typeface="Arial" panose="020B0604020202020204" pitchFamily="34" charset="0"/>
            </a:endParaRPr>
          </a:p>
          <a:p>
            <a:pPr marL="29845" algn="l" rtl="0" eaLnBrk="0">
              <a:lnSpc>
                <a:spcPct val="86000"/>
              </a:lnSpc>
            </a:pPr>
            <a:endParaRPr sz="3200" dirty="0">
              <a:latin typeface="楷体" panose="02010609060101010101" charset="-122"/>
              <a:ea typeface="楷体" panose="02010609060101010101" charset="-122"/>
              <a:cs typeface="楷体" panose="02010609060101010101" charset="-122"/>
            </a:endParaRPr>
          </a:p>
          <a:p>
            <a:pPr algn="l" rtl="0" eaLnBrk="0">
              <a:lnSpc>
                <a:spcPct val="104000"/>
              </a:lnSpc>
            </a:pPr>
            <a:r>
              <a:rPr lang="zh-CN" altLang="en-US" sz="3600" b="1" kern="0" spc="-20" dirty="0">
                <a:solidFill>
                  <a:srgbClr val="FBFBFC">
                    <a:alpha val="100000"/>
                  </a:srgbClr>
                </a:solidFill>
                <a:latin typeface="楷体" panose="02010609060101010101" charset="-122"/>
                <a:ea typeface="楷体" panose="02010609060101010101" charset="-122"/>
                <a:cs typeface="楷体" panose="02010609060101010101" charset="-122"/>
                <a:sym typeface="+mn-ea"/>
              </a:rPr>
              <a:t>Part 4: 国际货币政策的“合作实践与难题”</a:t>
            </a:r>
            <a:endParaRPr lang="zh-CN" altLang="en-US" sz="3600" b="1" kern="0" spc="-20" dirty="0">
              <a:solidFill>
                <a:srgbClr val="FBFBFC">
                  <a:alpha val="100000"/>
                </a:srgbClr>
              </a:solidFill>
              <a:latin typeface="楷体" panose="02010609060101010101" charset="-122"/>
              <a:ea typeface="楷体" panose="02010609060101010101" charset="-122"/>
              <a:cs typeface="楷体" panose="02010609060101010101" charset="-122"/>
            </a:endParaRPr>
          </a:p>
          <a:p>
            <a:pPr algn="l" rtl="0" eaLnBrk="0">
              <a:lnSpc>
                <a:spcPct val="104000"/>
              </a:lnSpc>
            </a:pPr>
            <a:endParaRPr lang="zh-CN" altLang="en-US" sz="3600" b="1" kern="0" spc="-20" dirty="0">
              <a:solidFill>
                <a:schemeClr val="bg1"/>
              </a:solidFill>
              <a:latin typeface="华文楷体" panose="02010600040101010101" charset="-122"/>
              <a:ea typeface="华文楷体" panose="02010600040101010101" charset="-122"/>
              <a:cs typeface="华文楷体" panose="02010600040101010101" charset="-122"/>
            </a:endParaRPr>
          </a:p>
        </p:txBody>
      </p:sp>
      <p:pic>
        <p:nvPicPr>
          <p:cNvPr id="10" name="picture 10"/>
          <p:cNvPicPr>
            <a:picLocks noChangeAspect="1"/>
          </p:cNvPicPr>
          <p:nvPr/>
        </p:nvPicPr>
        <p:blipFill>
          <a:blip r:embed="rId3"/>
          <a:stretch>
            <a:fillRect/>
          </a:stretch>
        </p:blipFill>
        <p:spPr>
          <a:xfrm rot="21600000">
            <a:off x="9027245" y="4694442"/>
            <a:ext cx="1902037" cy="1157539"/>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textbox 82"/>
          <p:cNvSpPr/>
          <p:nvPr/>
        </p:nvSpPr>
        <p:spPr>
          <a:xfrm>
            <a:off x="394970" y="264160"/>
            <a:ext cx="10084435" cy="453390"/>
          </a:xfrm>
          <a:prstGeom prst="rect">
            <a:avLst/>
          </a:prstGeom>
          <a:noFill/>
          <a:ln w="0" cap="flat">
            <a:noFill/>
            <a:prstDash val="solid"/>
            <a:miter lim="0"/>
          </a:ln>
        </p:spPr>
        <p:txBody>
          <a:bodyPr vert="horz" wrap="square" lIns="0" tIns="0" rIns="0" bIns="0"/>
          <a:lstStyle/>
          <a:p>
            <a:pPr algn="l" rtl="0" eaLnBrk="0">
              <a:lnSpc>
                <a:spcPct val="105000"/>
              </a:lnSpc>
            </a:pPr>
            <a:endParaRPr sz="400" dirty="0">
              <a:latin typeface="Arial" panose="020B0604020202020204" pitchFamily="34" charset="0"/>
              <a:ea typeface="Arial" panose="020B0604020202020204" pitchFamily="34" charset="0"/>
              <a:cs typeface="Arial" panose="020B0604020202020204" pitchFamily="34" charset="0"/>
            </a:endParaRPr>
          </a:p>
          <a:p>
            <a:pPr marL="695960" algn="l" defTabSz="0" rtl="0" eaLnBrk="0">
              <a:lnSpc>
                <a:spcPct val="89000"/>
              </a:lnSpc>
              <a:tabLst>
                <a:tab pos="935355" algn="l"/>
              </a:tabLst>
            </a:pPr>
            <a:r>
              <a:rPr sz="2400" b="1"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lang="zh-CN" altLang="en-US" sz="2400" b="1" kern="0" spc="0" dirty="0">
                <a:solidFill>
                  <a:srgbClr val="000000">
                    <a:alpha val="100000"/>
                  </a:srgbClr>
                </a:solidFill>
                <a:latin typeface="楷体" panose="02010609060101010101" charset="-122"/>
                <a:ea typeface="楷体" panose="02010609060101010101" charset="-122"/>
                <a:cs typeface="楷体" panose="02010609060101010101" charset="-122"/>
              </a:rPr>
              <a:t>合作难题一：监管套利与“逐底竞争”</a:t>
            </a:r>
            <a:endParaRPr lang="zh-CN" altLang="en-US" sz="2400" b="1" kern="0" spc="0" dirty="0">
              <a:solidFill>
                <a:srgbClr val="000000">
                  <a:alpha val="100000"/>
                </a:srgbClr>
              </a:solidFill>
              <a:latin typeface="楷体" panose="02010609060101010101" charset="-122"/>
              <a:ea typeface="楷体" panose="02010609060101010101" charset="-122"/>
              <a:cs typeface="楷体" panose="02010609060101010101" charset="-122"/>
            </a:endParaRPr>
          </a:p>
          <a:p>
            <a:pPr marL="695960" algn="l" defTabSz="0" rtl="0" eaLnBrk="0">
              <a:lnSpc>
                <a:spcPct val="89000"/>
              </a:lnSpc>
              <a:tabLst>
                <a:tab pos="935355" algn="l"/>
              </a:tabLst>
            </a:pPr>
            <a:r>
              <a:rPr sz="2400" b="1" kern="0" spc="0" dirty="0">
                <a:solidFill>
                  <a:srgbClr val="000000">
                    <a:alpha val="100000"/>
                  </a:srgbClr>
                </a:solidFill>
                <a:latin typeface="楷体" panose="02010609060101010101" charset="-122"/>
                <a:ea typeface="楷体" panose="02010609060101010101" charset="-122"/>
                <a:cs typeface="楷体" panose="02010609060101010101" charset="-122"/>
              </a:rPr>
              <a:t>监管格局：各地监管进度不一，</a:t>
            </a:r>
            <a:r>
              <a:rPr sz="2400" b="1" kern="0" spc="-10" dirty="0">
                <a:solidFill>
                  <a:srgbClr val="000000">
                    <a:alpha val="100000"/>
                  </a:srgbClr>
                </a:solidFill>
                <a:latin typeface="楷体" panose="02010609060101010101" charset="-122"/>
                <a:ea typeface="楷体" panose="02010609060101010101" charset="-122"/>
                <a:cs typeface="楷体" panose="02010609060101010101" charset="-122"/>
              </a:rPr>
              <a:t>欧盟与亚洲相对领先</a:t>
            </a:r>
            <a:endParaRPr sz="2400" dirty="0">
              <a:latin typeface="楷体" panose="02010609060101010101" charset="-122"/>
              <a:ea typeface="楷体" panose="02010609060101010101" charset="-122"/>
              <a:cs typeface="楷体" panose="02010609060101010101" charset="-122"/>
            </a:endParaRPr>
          </a:p>
        </p:txBody>
      </p:sp>
      <p:pic>
        <p:nvPicPr>
          <p:cNvPr id="84" name="picture 84"/>
          <p:cNvPicPr>
            <a:picLocks noChangeAspect="1"/>
          </p:cNvPicPr>
          <p:nvPr/>
        </p:nvPicPr>
        <p:blipFill>
          <a:blip r:embed="rId1"/>
          <a:stretch>
            <a:fillRect/>
          </a:stretch>
        </p:blipFill>
        <p:spPr>
          <a:xfrm rot="21600000">
            <a:off x="407510" y="276742"/>
            <a:ext cx="683414" cy="427691"/>
          </a:xfrm>
          <a:prstGeom prst="rect">
            <a:avLst/>
          </a:prstGeom>
        </p:spPr>
      </p:pic>
      <p:sp>
        <p:nvSpPr>
          <p:cNvPr id="96" name="path 96"/>
          <p:cNvSpPr/>
          <p:nvPr/>
        </p:nvSpPr>
        <p:spPr>
          <a:xfrm>
            <a:off x="359397" y="984157"/>
            <a:ext cx="11473180" cy="17999"/>
          </a:xfrm>
          <a:custGeom>
            <a:avLst/>
            <a:gdLst/>
            <a:ahLst/>
            <a:cxnLst/>
            <a:rect l="0" t="0" r="0" b="0"/>
            <a:pathLst>
              <a:path w="18068" h="28">
                <a:moveTo>
                  <a:pt x="0" y="28"/>
                </a:moveTo>
                <a:lnTo>
                  <a:pt x="18068" y="28"/>
                </a:lnTo>
                <a:lnTo>
                  <a:pt x="18068" y="0"/>
                </a:lnTo>
                <a:lnTo>
                  <a:pt x="0" y="0"/>
                </a:lnTo>
                <a:lnTo>
                  <a:pt x="0" y="28"/>
                </a:lnTo>
                <a:close/>
              </a:path>
            </a:pathLst>
          </a:custGeom>
          <a:solidFill>
            <a:srgbClr val="C30F1B">
              <a:alpha val="100000"/>
            </a:srgbClr>
          </a:solidFill>
          <a:ln w="0" cap="flat">
            <a:noFill/>
            <a:prstDash val="solid"/>
            <a:miter lim="0"/>
          </a:ln>
        </p:spPr>
        <p:txBody>
          <a:bodyPr rtlCol="0"/>
          <a:lstStyle/>
          <a:p>
            <a:pPr algn="ctr"/>
            <a:endParaRPr lang="zh-CN" altLang="en-US"/>
          </a:p>
        </p:txBody>
      </p:sp>
      <p:sp>
        <p:nvSpPr>
          <p:cNvPr id="98" name="path 98"/>
          <p:cNvSpPr/>
          <p:nvPr/>
        </p:nvSpPr>
        <p:spPr>
          <a:xfrm>
            <a:off x="359397" y="6450596"/>
            <a:ext cx="11473192" cy="6350"/>
          </a:xfrm>
          <a:custGeom>
            <a:avLst/>
            <a:gdLst/>
            <a:ahLst/>
            <a:cxnLst/>
            <a:rect l="0" t="0" r="0" b="0"/>
            <a:pathLst>
              <a:path w="18068" h="10">
                <a:moveTo>
                  <a:pt x="0" y="5"/>
                </a:moveTo>
                <a:lnTo>
                  <a:pt x="18068" y="5"/>
                </a:lnTo>
              </a:path>
            </a:pathLst>
          </a:custGeom>
          <a:noFill/>
          <a:ln w="6350" cap="flat">
            <a:solidFill>
              <a:srgbClr val="000000"/>
            </a:solidFill>
            <a:prstDash val="solid"/>
            <a:miter lim="1000000"/>
          </a:ln>
        </p:spPr>
        <p:txBody>
          <a:bodyPr rtlCol="0"/>
          <a:lstStyle/>
          <a:p>
            <a:pPr algn="ctr"/>
            <a:endParaRPr lang="zh-CN" altLang="en-US"/>
          </a:p>
        </p:txBody>
      </p:sp>
      <p:sp>
        <p:nvSpPr>
          <p:cNvPr id="3" name="文本框 2"/>
          <p:cNvSpPr txBox="1"/>
          <p:nvPr/>
        </p:nvSpPr>
        <p:spPr>
          <a:xfrm>
            <a:off x="634365" y="1390650"/>
            <a:ext cx="5624195" cy="4246245"/>
          </a:xfrm>
          <a:prstGeom prst="rect">
            <a:avLst/>
          </a:prstGeom>
          <a:noFill/>
        </p:spPr>
        <p:txBody>
          <a:bodyPr wrap="square" rtlCol="0">
            <a:spAutoFit/>
          </a:bodyPr>
          <a:p>
            <a:r>
              <a:rPr lang="zh-CN" altLang="en-US"/>
              <a:t>1. 难题表象：规则的撕裂与不平等</a:t>
            </a:r>
            <a:endParaRPr lang="zh-CN" altLang="en-US"/>
          </a:p>
          <a:p>
            <a:r>
              <a:rPr lang="zh-CN" altLang="en-US"/>
              <a:t>各国对稳定币的监管门槛存在着巨大的‘代差’。</a:t>
            </a:r>
            <a:endParaRPr lang="zh-CN" altLang="en-US"/>
          </a:p>
          <a:p>
            <a:r>
              <a:rPr lang="zh-CN" altLang="en-US"/>
              <a:t>根据</a:t>
            </a:r>
            <a:r>
              <a:rPr lang="en-US" altLang="zh-CN"/>
              <a:t>IMF</a:t>
            </a:r>
            <a:r>
              <a:rPr lang="zh-CN" altLang="en-US"/>
              <a:t>最新发布的《</a:t>
            </a:r>
            <a:r>
              <a:rPr lang="en-US" altLang="zh-CN"/>
              <a:t>Understanding Stablecoins》</a:t>
            </a:r>
            <a:r>
              <a:rPr lang="zh-CN" altLang="en-US"/>
              <a:t>报告，全球主要经济体的准备金要求完全不同：</a:t>
            </a:r>
            <a:endParaRPr lang="zh-CN" altLang="en-US"/>
          </a:p>
          <a:p>
            <a:endParaRPr lang="zh-CN" altLang="en-US"/>
          </a:p>
          <a:p>
            <a:r>
              <a:rPr lang="zh-CN" altLang="en-US"/>
              <a:t>日本要求50%的储备必须是短期国债或可赎回定期存款；</a:t>
            </a:r>
            <a:endParaRPr lang="zh-CN" altLang="en-US"/>
          </a:p>
          <a:p>
            <a:endParaRPr lang="zh-CN" altLang="en-US"/>
          </a:p>
          <a:p>
            <a:r>
              <a:rPr lang="zh-CN" altLang="en-US"/>
              <a:t>英国更激进，提议系统性稳定币必须将40%的准备金作为无息存款存在英国央行（</a:t>
            </a:r>
            <a:r>
              <a:rPr lang="en-US" altLang="zh-CN"/>
              <a:t>BoE）；</a:t>
            </a:r>
            <a:endParaRPr lang="en-US" altLang="zh-CN"/>
          </a:p>
          <a:p>
            <a:endParaRPr lang="en-US" altLang="zh-CN"/>
          </a:p>
          <a:p>
            <a:r>
              <a:rPr lang="zh-CN" altLang="en-US"/>
              <a:t>美国（</a:t>
            </a:r>
            <a:r>
              <a:rPr lang="en-US" altLang="zh-CN"/>
              <a:t>GENIUS Act</a:t>
            </a:r>
            <a:r>
              <a:rPr lang="zh-CN" altLang="en-US"/>
              <a:t>法案）则允许使用国债和逆回购；</a:t>
            </a:r>
            <a:endParaRPr lang="zh-CN" altLang="en-US"/>
          </a:p>
          <a:p>
            <a:endParaRPr lang="zh-CN" altLang="en-US"/>
          </a:p>
          <a:p>
            <a:r>
              <a:rPr lang="zh-CN" altLang="en-US"/>
              <a:t>而欧盟（</a:t>
            </a:r>
            <a:r>
              <a:rPr lang="en-US" altLang="zh-CN"/>
              <a:t>MiCA</a:t>
            </a:r>
            <a:r>
              <a:rPr lang="zh-CN" altLang="en-US"/>
              <a:t>法案）甚至要求稳定币发行方必须在欧盟境内设立独立法人实体并存放储备。</a:t>
            </a:r>
            <a:endParaRPr lang="zh-CN" altLang="en-US"/>
          </a:p>
        </p:txBody>
      </p:sp>
      <p:pic>
        <p:nvPicPr>
          <p:cNvPr id="4" name="图片 3"/>
          <p:cNvPicPr>
            <a:picLocks noChangeAspect="1"/>
          </p:cNvPicPr>
          <p:nvPr/>
        </p:nvPicPr>
        <p:blipFill>
          <a:blip r:embed="rId2"/>
          <a:stretch>
            <a:fillRect/>
          </a:stretch>
        </p:blipFill>
        <p:spPr>
          <a:xfrm>
            <a:off x="6595745" y="1604010"/>
            <a:ext cx="5143500" cy="382905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textbox 82"/>
          <p:cNvSpPr/>
          <p:nvPr/>
        </p:nvSpPr>
        <p:spPr>
          <a:xfrm>
            <a:off x="394970" y="264160"/>
            <a:ext cx="10084435" cy="453390"/>
          </a:xfrm>
          <a:prstGeom prst="rect">
            <a:avLst/>
          </a:prstGeom>
          <a:noFill/>
          <a:ln w="0" cap="flat">
            <a:noFill/>
            <a:prstDash val="solid"/>
            <a:miter lim="0"/>
          </a:ln>
        </p:spPr>
        <p:txBody>
          <a:bodyPr vert="horz" wrap="square" lIns="0" tIns="0" rIns="0" bIns="0"/>
          <a:lstStyle/>
          <a:p>
            <a:pPr algn="l" rtl="0" eaLnBrk="0">
              <a:lnSpc>
                <a:spcPct val="105000"/>
              </a:lnSpc>
            </a:pPr>
            <a:endParaRPr sz="400" dirty="0">
              <a:latin typeface="Arial" panose="020B0604020202020204" pitchFamily="34" charset="0"/>
              <a:ea typeface="Arial" panose="020B0604020202020204" pitchFamily="34" charset="0"/>
              <a:cs typeface="Arial" panose="020B0604020202020204" pitchFamily="34" charset="0"/>
            </a:endParaRPr>
          </a:p>
          <a:p>
            <a:pPr marL="695960" algn="l" defTabSz="0" rtl="0" eaLnBrk="0">
              <a:lnSpc>
                <a:spcPct val="89000"/>
              </a:lnSpc>
              <a:tabLst>
                <a:tab pos="935355" algn="l"/>
              </a:tabLst>
            </a:pPr>
            <a:r>
              <a:rPr sz="2400" b="1"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lang="zh-CN" altLang="en-US" sz="2400" b="1" kern="0" spc="0" dirty="0">
                <a:solidFill>
                  <a:srgbClr val="000000">
                    <a:alpha val="100000"/>
                  </a:srgbClr>
                </a:solidFill>
                <a:latin typeface="楷体" panose="02010609060101010101" charset="-122"/>
                <a:ea typeface="楷体" panose="02010609060101010101" charset="-122"/>
                <a:cs typeface="楷体" panose="02010609060101010101" charset="-122"/>
              </a:rPr>
              <a:t>合作难题一：监管套利与“逐底竞争”</a:t>
            </a:r>
            <a:endParaRPr lang="zh-CN" altLang="en-US" sz="2400" b="1" kern="0" spc="0" dirty="0">
              <a:solidFill>
                <a:srgbClr val="000000">
                  <a:alpha val="100000"/>
                </a:srgbClr>
              </a:solidFill>
              <a:latin typeface="楷体" panose="02010609060101010101" charset="-122"/>
              <a:ea typeface="楷体" panose="02010609060101010101" charset="-122"/>
              <a:cs typeface="楷体" panose="02010609060101010101" charset="-122"/>
            </a:endParaRPr>
          </a:p>
          <a:p>
            <a:pPr marL="695960" algn="l" defTabSz="0" rtl="0" eaLnBrk="0">
              <a:lnSpc>
                <a:spcPct val="89000"/>
              </a:lnSpc>
              <a:tabLst>
                <a:tab pos="935355" algn="l"/>
              </a:tabLst>
            </a:pPr>
            <a:r>
              <a:rPr sz="2400" b="1" kern="0" spc="0" dirty="0">
                <a:solidFill>
                  <a:srgbClr val="000000">
                    <a:alpha val="100000"/>
                  </a:srgbClr>
                </a:solidFill>
                <a:latin typeface="楷体" panose="02010609060101010101" charset="-122"/>
                <a:ea typeface="楷体" panose="02010609060101010101" charset="-122"/>
                <a:cs typeface="楷体" panose="02010609060101010101" charset="-122"/>
              </a:rPr>
              <a:t>监管格局：各地监管进度不一，</a:t>
            </a:r>
            <a:r>
              <a:rPr sz="2400" b="1" kern="0" spc="-10" dirty="0">
                <a:solidFill>
                  <a:srgbClr val="000000">
                    <a:alpha val="100000"/>
                  </a:srgbClr>
                </a:solidFill>
                <a:latin typeface="楷体" panose="02010609060101010101" charset="-122"/>
                <a:ea typeface="楷体" panose="02010609060101010101" charset="-122"/>
                <a:cs typeface="楷体" panose="02010609060101010101" charset="-122"/>
              </a:rPr>
              <a:t>欧盟与亚洲相对领先</a:t>
            </a:r>
            <a:endParaRPr sz="2400" dirty="0">
              <a:latin typeface="楷体" panose="02010609060101010101" charset="-122"/>
              <a:ea typeface="楷体" panose="02010609060101010101" charset="-122"/>
              <a:cs typeface="楷体" panose="02010609060101010101" charset="-122"/>
            </a:endParaRPr>
          </a:p>
        </p:txBody>
      </p:sp>
      <p:pic>
        <p:nvPicPr>
          <p:cNvPr id="84" name="picture 84"/>
          <p:cNvPicPr>
            <a:picLocks noChangeAspect="1"/>
          </p:cNvPicPr>
          <p:nvPr/>
        </p:nvPicPr>
        <p:blipFill>
          <a:blip r:embed="rId1"/>
          <a:stretch>
            <a:fillRect/>
          </a:stretch>
        </p:blipFill>
        <p:spPr>
          <a:xfrm rot="21600000">
            <a:off x="407510" y="276742"/>
            <a:ext cx="683414" cy="427691"/>
          </a:xfrm>
          <a:prstGeom prst="rect">
            <a:avLst/>
          </a:prstGeom>
        </p:spPr>
      </p:pic>
      <p:sp>
        <p:nvSpPr>
          <p:cNvPr id="96" name="path 96"/>
          <p:cNvSpPr/>
          <p:nvPr/>
        </p:nvSpPr>
        <p:spPr>
          <a:xfrm>
            <a:off x="359397" y="984157"/>
            <a:ext cx="11473180" cy="17999"/>
          </a:xfrm>
          <a:custGeom>
            <a:avLst/>
            <a:gdLst/>
            <a:ahLst/>
            <a:cxnLst/>
            <a:rect l="0" t="0" r="0" b="0"/>
            <a:pathLst>
              <a:path w="18068" h="28">
                <a:moveTo>
                  <a:pt x="0" y="28"/>
                </a:moveTo>
                <a:lnTo>
                  <a:pt x="18068" y="28"/>
                </a:lnTo>
                <a:lnTo>
                  <a:pt x="18068" y="0"/>
                </a:lnTo>
                <a:lnTo>
                  <a:pt x="0" y="0"/>
                </a:lnTo>
                <a:lnTo>
                  <a:pt x="0" y="28"/>
                </a:lnTo>
                <a:close/>
              </a:path>
            </a:pathLst>
          </a:custGeom>
          <a:solidFill>
            <a:srgbClr val="C30F1B">
              <a:alpha val="100000"/>
            </a:srgbClr>
          </a:solidFill>
          <a:ln w="0" cap="flat">
            <a:noFill/>
            <a:prstDash val="solid"/>
            <a:miter lim="0"/>
          </a:ln>
        </p:spPr>
        <p:txBody>
          <a:bodyPr rtlCol="0"/>
          <a:lstStyle/>
          <a:p>
            <a:pPr algn="ctr"/>
            <a:endParaRPr lang="zh-CN" altLang="en-US"/>
          </a:p>
        </p:txBody>
      </p:sp>
      <p:sp>
        <p:nvSpPr>
          <p:cNvPr id="98" name="path 98"/>
          <p:cNvSpPr/>
          <p:nvPr/>
        </p:nvSpPr>
        <p:spPr>
          <a:xfrm>
            <a:off x="359397" y="6450596"/>
            <a:ext cx="11473192" cy="6350"/>
          </a:xfrm>
          <a:custGeom>
            <a:avLst/>
            <a:gdLst/>
            <a:ahLst/>
            <a:cxnLst/>
            <a:rect l="0" t="0" r="0" b="0"/>
            <a:pathLst>
              <a:path w="18068" h="10">
                <a:moveTo>
                  <a:pt x="0" y="5"/>
                </a:moveTo>
                <a:lnTo>
                  <a:pt x="18068" y="5"/>
                </a:lnTo>
              </a:path>
            </a:pathLst>
          </a:custGeom>
          <a:noFill/>
          <a:ln w="6350" cap="flat">
            <a:solidFill>
              <a:srgbClr val="000000"/>
            </a:solidFill>
            <a:prstDash val="solid"/>
            <a:miter lim="1000000"/>
          </a:ln>
        </p:spPr>
        <p:txBody>
          <a:bodyPr rtlCol="0"/>
          <a:lstStyle/>
          <a:p>
            <a:pPr algn="ctr"/>
            <a:endParaRPr lang="zh-CN" altLang="en-US"/>
          </a:p>
        </p:txBody>
      </p:sp>
      <p:sp>
        <p:nvSpPr>
          <p:cNvPr id="3" name="文本框 2"/>
          <p:cNvSpPr txBox="1"/>
          <p:nvPr/>
        </p:nvSpPr>
        <p:spPr>
          <a:xfrm>
            <a:off x="312420" y="1390650"/>
            <a:ext cx="9875520" cy="3692525"/>
          </a:xfrm>
          <a:prstGeom prst="rect">
            <a:avLst/>
          </a:prstGeom>
          <a:noFill/>
        </p:spPr>
        <p:txBody>
          <a:bodyPr wrap="square" rtlCol="0">
            <a:spAutoFit/>
          </a:bodyPr>
          <a:p>
            <a:r>
              <a:rPr lang="zh-CN" altLang="en-US"/>
              <a:t>在统一标准缺失的情况下，稳定币市场必然出现‘逐底竞争’。因为稳定币发行商是逐利的私人机构，资本天生会流向监管成本最低的洼地。</a:t>
            </a:r>
            <a:endParaRPr lang="zh-CN" altLang="en-US"/>
          </a:p>
          <a:p>
            <a:r>
              <a:rPr lang="zh-CN" altLang="en-US"/>
              <a:t>稳定币发行方存在着强烈的加杠杆动机，他们极易演变成数字时代的‘野猫银行</a:t>
            </a:r>
            <a:r>
              <a:rPr lang="en-US" altLang="zh-CN"/>
              <a:t>。</a:t>
            </a:r>
            <a:endParaRPr lang="en-US" altLang="zh-CN"/>
          </a:p>
          <a:p>
            <a:r>
              <a:rPr lang="zh-CN" altLang="en-US"/>
              <a:t>目前市场份额最大的稳定币</a:t>
            </a:r>
            <a:r>
              <a:rPr lang="en-US" altLang="zh-CN"/>
              <a:t>USDT（Tether），</a:t>
            </a:r>
            <a:r>
              <a:rPr lang="zh-CN" altLang="en-US"/>
              <a:t>它就注册在离岸地区。相比于美国本土发行的</a:t>
            </a:r>
            <a:r>
              <a:rPr lang="en-US" altLang="zh-CN"/>
              <a:t>USDC</a:t>
            </a:r>
            <a:r>
              <a:rPr lang="zh-CN" altLang="en-US"/>
              <a:t>实现了100%的合规准备金，</a:t>
            </a:r>
            <a:r>
              <a:rPr lang="en-US" altLang="zh-CN"/>
              <a:t>Tether</a:t>
            </a:r>
            <a:r>
              <a:rPr lang="zh-CN" altLang="en-US"/>
              <a:t>有近20%的储备资产属于不透明的投资或风险资产（如比特币、贵金属等），完全不符合美国《稳定币引导与创新法案》的规定。但是，这20%恰恰是</a:t>
            </a:r>
            <a:r>
              <a:rPr lang="en-US" altLang="zh-CN"/>
              <a:t>Tether</a:t>
            </a:r>
            <a:r>
              <a:rPr lang="zh-CN" altLang="en-US"/>
              <a:t>超额利润的核心来源。</a:t>
            </a:r>
            <a:endParaRPr lang="zh-CN" altLang="en-US"/>
          </a:p>
          <a:p>
            <a:endParaRPr lang="zh-CN" altLang="en-US"/>
          </a:p>
          <a:p>
            <a:r>
              <a:rPr lang="zh-CN" altLang="en-US"/>
              <a:t>这种监管套利导致了经典的‘公地悲剧</a:t>
            </a:r>
            <a:endParaRPr lang="en-US" altLang="zh-CN"/>
          </a:p>
          <a:p>
            <a:r>
              <a:rPr lang="zh-CN" altLang="en-US"/>
              <a:t>什么是这里的‘公地’？是全球金融系统的稳定性。离岸群岛享受了稳定币公司注册带来的税收和经济利益，发行商赚取了巨额的高息利差（净息差），但一旦发生挤兑或黑天鹅事件，随之而来的流动性危机、</a:t>
            </a:r>
            <a:r>
              <a:rPr lang="zh-CN" altLang="en-US">
                <a:highlight>
                  <a:srgbClr val="FF00FF"/>
                </a:highlight>
              </a:rPr>
              <a:t>美债市场抛售风险（</a:t>
            </a:r>
            <a:r>
              <a:rPr lang="en-US" altLang="zh-CN">
                <a:highlight>
                  <a:srgbClr val="FF00FF"/>
                </a:highlight>
              </a:rPr>
              <a:t>IMF</a:t>
            </a:r>
            <a:r>
              <a:rPr lang="zh-CN" altLang="en-US">
                <a:highlight>
                  <a:srgbClr val="FF00FF"/>
                </a:highlight>
              </a:rPr>
              <a:t>报告第24页指出的大规模储备资产火线抛售），却要由全球金融体系来买单。</a:t>
            </a:r>
            <a:endParaRPr lang="zh-CN" altLang="en-US">
              <a:highlight>
                <a:srgbClr val="FF00FF"/>
              </a:highlight>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textbox 82"/>
          <p:cNvSpPr/>
          <p:nvPr/>
        </p:nvSpPr>
        <p:spPr>
          <a:xfrm>
            <a:off x="394970" y="490220"/>
            <a:ext cx="10084435" cy="453390"/>
          </a:xfrm>
          <a:prstGeom prst="rect">
            <a:avLst/>
          </a:prstGeom>
          <a:noFill/>
          <a:ln w="0" cap="flat">
            <a:noFill/>
            <a:prstDash val="solid"/>
            <a:miter lim="0"/>
          </a:ln>
        </p:spPr>
        <p:txBody>
          <a:bodyPr vert="horz" wrap="square" lIns="0" tIns="0" rIns="0" bIns="0"/>
          <a:lstStyle/>
          <a:p>
            <a:pPr algn="l" rtl="0" eaLnBrk="0">
              <a:lnSpc>
                <a:spcPct val="105000"/>
              </a:lnSpc>
            </a:pPr>
            <a:endParaRPr sz="400" dirty="0">
              <a:latin typeface="Arial" panose="020B0604020202020204" pitchFamily="34" charset="0"/>
              <a:ea typeface="Arial" panose="020B0604020202020204" pitchFamily="34" charset="0"/>
              <a:cs typeface="Arial" panose="020B0604020202020204" pitchFamily="34" charset="0"/>
            </a:endParaRPr>
          </a:p>
          <a:p>
            <a:pPr marL="695960" algn="l" defTabSz="0" rtl="0" eaLnBrk="0">
              <a:lnSpc>
                <a:spcPct val="89000"/>
              </a:lnSpc>
              <a:tabLst>
                <a:tab pos="935355" algn="l"/>
              </a:tabLst>
            </a:pPr>
            <a:r>
              <a:rPr sz="2400" b="1"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lang="zh-CN" altLang="en-US" sz="2400" b="1" kern="0" dirty="0">
                <a:solidFill>
                  <a:srgbClr val="000000">
                    <a:alpha val="100000"/>
                  </a:srgbClr>
                </a:solidFill>
                <a:latin typeface="楷体" panose="02010609060101010101" charset="-122"/>
                <a:ea typeface="楷体" panose="02010609060101010101" charset="-122"/>
                <a:cs typeface="楷体" panose="02010609060101010101" charset="-122"/>
              </a:rPr>
              <a:t>合作难题二：铸币税转移与发展中国家主权危机</a:t>
            </a:r>
            <a:endParaRPr lang="zh-CN" altLang="en-US" sz="2400" b="1" kern="0" dirty="0">
              <a:solidFill>
                <a:srgbClr val="000000">
                  <a:alpha val="100000"/>
                </a:srgbClr>
              </a:solidFill>
              <a:latin typeface="楷体" panose="02010609060101010101" charset="-122"/>
              <a:ea typeface="楷体" panose="02010609060101010101" charset="-122"/>
              <a:cs typeface="楷体" panose="02010609060101010101" charset="-122"/>
            </a:endParaRPr>
          </a:p>
        </p:txBody>
      </p:sp>
      <p:pic>
        <p:nvPicPr>
          <p:cNvPr id="84" name="picture 84"/>
          <p:cNvPicPr>
            <a:picLocks noChangeAspect="1"/>
          </p:cNvPicPr>
          <p:nvPr/>
        </p:nvPicPr>
        <p:blipFill>
          <a:blip r:embed="rId1"/>
          <a:stretch>
            <a:fillRect/>
          </a:stretch>
        </p:blipFill>
        <p:spPr>
          <a:xfrm rot="21600000">
            <a:off x="407510" y="276742"/>
            <a:ext cx="683414" cy="427691"/>
          </a:xfrm>
          <a:prstGeom prst="rect">
            <a:avLst/>
          </a:prstGeom>
        </p:spPr>
      </p:pic>
      <p:sp>
        <p:nvSpPr>
          <p:cNvPr id="96" name="path 96"/>
          <p:cNvSpPr/>
          <p:nvPr/>
        </p:nvSpPr>
        <p:spPr>
          <a:xfrm>
            <a:off x="359397" y="984157"/>
            <a:ext cx="11473180" cy="17999"/>
          </a:xfrm>
          <a:custGeom>
            <a:avLst/>
            <a:gdLst/>
            <a:ahLst/>
            <a:cxnLst/>
            <a:rect l="0" t="0" r="0" b="0"/>
            <a:pathLst>
              <a:path w="18068" h="28">
                <a:moveTo>
                  <a:pt x="0" y="28"/>
                </a:moveTo>
                <a:lnTo>
                  <a:pt x="18068" y="28"/>
                </a:lnTo>
                <a:lnTo>
                  <a:pt x="18068" y="0"/>
                </a:lnTo>
                <a:lnTo>
                  <a:pt x="0" y="0"/>
                </a:lnTo>
                <a:lnTo>
                  <a:pt x="0" y="28"/>
                </a:lnTo>
                <a:close/>
              </a:path>
            </a:pathLst>
          </a:custGeom>
          <a:solidFill>
            <a:srgbClr val="C30F1B">
              <a:alpha val="100000"/>
            </a:srgbClr>
          </a:solidFill>
          <a:ln w="0" cap="flat">
            <a:noFill/>
            <a:prstDash val="solid"/>
            <a:miter lim="0"/>
          </a:ln>
        </p:spPr>
        <p:txBody>
          <a:bodyPr rtlCol="0"/>
          <a:lstStyle/>
          <a:p>
            <a:pPr algn="ctr"/>
            <a:endParaRPr lang="zh-CN" altLang="en-US"/>
          </a:p>
        </p:txBody>
      </p:sp>
      <p:sp>
        <p:nvSpPr>
          <p:cNvPr id="98" name="path 98"/>
          <p:cNvSpPr/>
          <p:nvPr/>
        </p:nvSpPr>
        <p:spPr>
          <a:xfrm>
            <a:off x="359397" y="6450596"/>
            <a:ext cx="11473192" cy="6350"/>
          </a:xfrm>
          <a:custGeom>
            <a:avLst/>
            <a:gdLst/>
            <a:ahLst/>
            <a:cxnLst/>
            <a:rect l="0" t="0" r="0" b="0"/>
            <a:pathLst>
              <a:path w="18068" h="10">
                <a:moveTo>
                  <a:pt x="0" y="5"/>
                </a:moveTo>
                <a:lnTo>
                  <a:pt x="18068" y="5"/>
                </a:lnTo>
              </a:path>
            </a:pathLst>
          </a:custGeom>
          <a:noFill/>
          <a:ln w="6350" cap="flat">
            <a:solidFill>
              <a:srgbClr val="000000"/>
            </a:solidFill>
            <a:prstDash val="solid"/>
            <a:miter lim="1000000"/>
          </a:ln>
        </p:spPr>
        <p:txBody>
          <a:bodyPr rtlCol="0"/>
          <a:lstStyle/>
          <a:p>
            <a:pPr algn="ctr"/>
            <a:endParaRPr lang="zh-CN" altLang="en-US"/>
          </a:p>
        </p:txBody>
      </p:sp>
      <p:sp>
        <p:nvSpPr>
          <p:cNvPr id="3" name="文本框 2"/>
          <p:cNvSpPr txBox="1"/>
          <p:nvPr/>
        </p:nvSpPr>
        <p:spPr>
          <a:xfrm>
            <a:off x="634365" y="1390650"/>
            <a:ext cx="10192385" cy="4646295"/>
          </a:xfrm>
          <a:prstGeom prst="rect">
            <a:avLst/>
          </a:prstGeom>
          <a:noFill/>
        </p:spPr>
        <p:txBody>
          <a:bodyPr wrap="square" rtlCol="0">
            <a:spAutoFit/>
          </a:bodyPr>
          <a:p>
            <a:r>
              <a:rPr lang="zh-CN" altLang="en-US" sz="28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难题表象： 稳定币在通胀高企的新兴市场（如拉美、非洲）被广泛用于日常支付</a:t>
            </a:r>
            <a:endParaRPr lang="zh-CN" altLang="en-US" sz="28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endParaRPr>
          </a:p>
          <a:p>
            <a:r>
              <a:rPr lang="en-US" altLang="zh-CN" sz="24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1.</a:t>
            </a:r>
            <a:r>
              <a:rPr lang="zh-CN" altLang="en-US" sz="24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全球货币竞争为零和博弈，美元稳定币的扩张，直接对应其他国家货币主权的让渡</a:t>
            </a:r>
            <a:endParaRPr lang="zh-CN" altLang="en-US" sz="24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endParaRPr>
          </a:p>
          <a:p>
            <a:endParaRPr lang="zh-CN" altLang="en-US" sz="24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endParaRPr>
          </a:p>
          <a:p>
            <a:r>
              <a:rPr lang="en-US" altLang="zh-CN" sz="24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2.</a:t>
            </a:r>
            <a:r>
              <a:rPr lang="zh-CN" altLang="en-US" sz="24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核心冲击对象</a:t>
            </a:r>
            <a:endParaRPr lang="zh-CN" altLang="en-US" sz="24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endParaRPr>
          </a:p>
          <a:p>
            <a:r>
              <a:rPr lang="zh-CN" altLang="en-US" sz="24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金融体系薄弱、经济体量小、通胀与汇率波动剧烈的发展中国家</a:t>
            </a:r>
            <a:endParaRPr lang="zh-CN" altLang="en-US" sz="24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endParaRPr>
          </a:p>
          <a:p>
            <a:r>
              <a:rPr lang="zh-CN" altLang="en-US" sz="24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实施资本账户管制的国家</a:t>
            </a:r>
            <a:endParaRPr lang="zh-CN" altLang="en-US" sz="24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endParaRPr>
          </a:p>
          <a:p>
            <a:endParaRPr lang="zh-CN" altLang="en-US" sz="24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endParaRPr>
          </a:p>
          <a:p>
            <a:r>
              <a:rPr lang="en-US" altLang="zh-CN" sz="24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3.</a:t>
            </a:r>
            <a:r>
              <a:rPr lang="zh-CN" altLang="en-US" sz="24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对冲击国的两大核心损失</a:t>
            </a:r>
            <a:endParaRPr lang="zh-CN" altLang="en-US" sz="24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endParaRPr>
          </a:p>
          <a:p>
            <a:r>
              <a:rPr lang="zh-CN" altLang="en-US" sz="24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铸币税及相关收益流失：收益由</a:t>
            </a:r>
            <a:r>
              <a:rPr lang="zh-CN" altLang="en-US" sz="2400" b="1" kern="0" spc="-10" dirty="0">
                <a:solidFill>
                  <a:srgbClr val="262626">
                    <a:alpha val="100000"/>
                  </a:srgbClr>
                </a:solidFill>
                <a:highlight>
                  <a:srgbClr val="FFFF00"/>
                </a:highlight>
                <a:latin typeface="华文仿宋" panose="02010600040101010101" charset="-122"/>
                <a:ea typeface="华文仿宋" panose="02010600040101010101" charset="-122"/>
                <a:cs typeface="华文仿宋" panose="02010600040101010101" charset="-122"/>
              </a:rPr>
              <a:t>稳定币发行方与美国政府</a:t>
            </a:r>
            <a:r>
              <a:rPr lang="zh-CN" altLang="en-US" sz="24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获取</a:t>
            </a:r>
            <a:endParaRPr lang="zh-CN" altLang="en-US" sz="24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endParaRPr>
          </a:p>
          <a:p>
            <a:r>
              <a:rPr lang="zh-CN" altLang="en-US" sz="24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本国货币政策的调控有效性显著下降</a:t>
            </a:r>
            <a:endParaRPr lang="zh-CN" altLang="en-US" sz="2400" b="1"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textbox 178"/>
          <p:cNvSpPr/>
          <p:nvPr/>
        </p:nvSpPr>
        <p:spPr>
          <a:xfrm>
            <a:off x="663481" y="1007299"/>
            <a:ext cx="10962005" cy="4714875"/>
          </a:xfrm>
          <a:prstGeom prst="rect">
            <a:avLst/>
          </a:prstGeom>
          <a:noFill/>
          <a:ln w="0" cap="flat">
            <a:noFill/>
            <a:prstDash val="solid"/>
            <a:miter lim="0"/>
          </a:ln>
        </p:spPr>
        <p:txBody>
          <a:bodyPr vert="horz" wrap="square" lIns="0" tIns="0" rIns="0" bIns="0"/>
          <a:lstStyle/>
          <a:p>
            <a:pPr algn="l" defTabSz="0" rtl="0" eaLnBrk="0">
              <a:lnSpc>
                <a:spcPct val="87000"/>
              </a:lnSpc>
            </a:pPr>
            <a:endParaRPr sz="1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25000"/>
              </a:lnSpc>
            </a:pPr>
            <a:endParaRPr sz="1000" dirty="0">
              <a:latin typeface="Arial" panose="020B0604020202020204" pitchFamily="34" charset="0"/>
              <a:ea typeface="Arial" panose="020B0604020202020204" pitchFamily="34" charset="0"/>
              <a:cs typeface="Arial" panose="020B0604020202020204" pitchFamily="34" charset="0"/>
            </a:endParaRPr>
          </a:p>
          <a:p>
            <a:pPr marL="187960" algn="l" defTabSz="0" rtl="0" eaLnBrk="0">
              <a:lnSpc>
                <a:spcPts val="3120"/>
              </a:lnSpc>
              <a:spcBef>
                <a:spcPts val="700"/>
              </a:spcBef>
            </a:pPr>
            <a:r>
              <a:rPr sz="2300" b="1" kern="0" spc="10" dirty="0">
                <a:solidFill>
                  <a:srgbClr val="262626">
                    <a:alpha val="100000"/>
                  </a:srgbClr>
                </a:solidFill>
                <a:latin typeface="华文楷体" panose="02010600040101010101" charset="-122"/>
                <a:ea typeface="华文楷体" panose="02010600040101010101" charset="-122"/>
                <a:cs typeface="华文楷体" panose="02010600040101010101" charset="-122"/>
              </a:rPr>
              <a:t>稳定币在侵蚀</a:t>
            </a:r>
            <a:r>
              <a:rPr sz="2300" b="1" kern="0" spc="0" dirty="0">
                <a:solidFill>
                  <a:srgbClr val="262626">
                    <a:alpha val="100000"/>
                  </a:srgbClr>
                </a:solidFill>
                <a:latin typeface="华文楷体" panose="02010600040101010101" charset="-122"/>
                <a:ea typeface="华文楷体" panose="02010600040101010101" charset="-122"/>
                <a:cs typeface="华文楷体" panose="02010600040101010101" charset="-122"/>
              </a:rPr>
              <a:t>货币主权边界中的风险</a:t>
            </a:r>
            <a:endParaRPr sz="2300" dirty="0">
              <a:latin typeface="华文楷体" panose="02010600040101010101" charset="-122"/>
              <a:ea typeface="华文楷体" panose="02010600040101010101" charset="-122"/>
              <a:cs typeface="华文楷体" panose="02010600040101010101" charset="-122"/>
            </a:endParaRPr>
          </a:p>
          <a:p>
            <a:pPr marL="252730" algn="l" defTabSz="0" rtl="0" eaLnBrk="0">
              <a:lnSpc>
                <a:spcPct val="82000"/>
              </a:lnSpc>
              <a:spcBef>
                <a:spcPts val="1035"/>
              </a:spcBef>
            </a:pPr>
            <a:r>
              <a:rPr sz="2300" b="1" kern="0" spc="10" dirty="0">
                <a:solidFill>
                  <a:srgbClr val="262626">
                    <a:alpha val="100000"/>
                  </a:srgbClr>
                </a:solidFill>
                <a:latin typeface="华文楷体" panose="02010600040101010101" charset="-122"/>
                <a:ea typeface="华文楷体" panose="02010600040101010101" charset="-122"/>
                <a:cs typeface="华文楷体" panose="02010600040101010101" charset="-122"/>
              </a:rPr>
              <a:t>1.影响货币发行主权：</a:t>
            </a:r>
            <a:r>
              <a:rPr sz="2300" kern="0" spc="-360" dirty="0">
                <a:solidFill>
                  <a:srgbClr val="262626">
                    <a:alpha val="100000"/>
                  </a:srgbClr>
                </a:solidFill>
                <a:latin typeface="华文楷体" panose="02010600040101010101" charset="-122"/>
                <a:ea typeface="华文楷体" panose="02010600040101010101" charset="-122"/>
                <a:cs typeface="华文楷体" panose="02010600040101010101" charset="-122"/>
              </a:rPr>
              <a:t> </a:t>
            </a:r>
            <a:r>
              <a:rPr sz="2000" kern="0" spc="10" dirty="0">
                <a:solidFill>
                  <a:srgbClr val="FF0000">
                    <a:alpha val="100000"/>
                  </a:srgbClr>
                </a:solidFill>
                <a:latin typeface="华文仿宋" panose="02010600040101010101" charset="-122"/>
                <a:ea typeface="华文仿宋" panose="02010600040101010101" charset="-122"/>
                <a:cs typeface="华文仿宋" panose="02010600040101010101" charset="-122"/>
              </a:rPr>
              <a:t>稳定币具有一定的侵蚀货币主权的风险，</a:t>
            </a:r>
            <a:r>
              <a:rPr sz="2000" kern="0" spc="-39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kern="0" spc="10" dirty="0">
                <a:solidFill>
                  <a:srgbClr val="FF0000">
                    <a:alpha val="100000"/>
                  </a:srgbClr>
                </a:solidFill>
                <a:latin typeface="华文仿宋" panose="02010600040101010101" charset="-122"/>
                <a:ea typeface="华文仿宋" panose="02010600040101010101" charset="-122"/>
                <a:cs typeface="华文仿宋" panose="02010600040101010101" charset="-122"/>
              </a:rPr>
              <a:t>这种功能来自技</a:t>
            </a:r>
            <a:r>
              <a:rPr sz="2000" kern="0" spc="0" dirty="0">
                <a:solidFill>
                  <a:srgbClr val="FF0000">
                    <a:alpha val="100000"/>
                  </a:srgbClr>
                </a:solidFill>
                <a:latin typeface="华文仿宋" panose="02010600040101010101" charset="-122"/>
                <a:ea typeface="华文仿宋" panose="02010600040101010101" charset="-122"/>
                <a:cs typeface="华文仿宋" panose="02010600040101010101" charset="-122"/>
              </a:rPr>
              <a:t>术的非国家</a:t>
            </a:r>
            <a:endParaRPr sz="2000" dirty="0">
              <a:latin typeface="华文仿宋" panose="02010600040101010101" charset="-122"/>
              <a:ea typeface="华文仿宋" panose="02010600040101010101" charset="-122"/>
              <a:cs typeface="华文仿宋" panose="02010600040101010101" charset="-122"/>
            </a:endParaRPr>
          </a:p>
          <a:p>
            <a:pPr marL="23495" algn="l" defTabSz="0" rtl="0" eaLnBrk="0">
              <a:lnSpc>
                <a:spcPct val="83000"/>
              </a:lnSpc>
              <a:spcBef>
                <a:spcPts val="200"/>
              </a:spcBef>
            </a:pPr>
            <a:r>
              <a:rPr sz="2000"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主权性</a:t>
            </a:r>
            <a:r>
              <a:rPr sz="2000" kern="0" spc="-16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36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稳定币是市场创新的结果，</a:t>
            </a:r>
            <a:r>
              <a:rPr sz="2000" kern="0" spc="-37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其全球市场的竞争性使其天然具有超越主权市场的属性。</a:t>
            </a:r>
            <a:endParaRPr sz="2000" dirty="0">
              <a:latin typeface="华文仿宋" panose="02010600040101010101" charset="-122"/>
              <a:ea typeface="华文仿宋" panose="02010600040101010101" charset="-122"/>
              <a:cs typeface="华文仿宋" panose="02010600040101010101" charset="-122"/>
            </a:endParaRPr>
          </a:p>
          <a:p>
            <a:pPr algn="l" defTabSz="0" rtl="0" eaLnBrk="0">
              <a:lnSpc>
                <a:spcPct val="104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04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04000"/>
              </a:lnSpc>
            </a:pPr>
            <a:endParaRPr sz="1000" dirty="0">
              <a:latin typeface="Arial" panose="020B0604020202020204" pitchFamily="34" charset="0"/>
              <a:ea typeface="Arial" panose="020B0604020202020204" pitchFamily="34" charset="0"/>
              <a:cs typeface="Arial" panose="020B0604020202020204" pitchFamily="34" charset="0"/>
            </a:endParaRPr>
          </a:p>
          <a:p>
            <a:pPr marL="13335" indent="142875" algn="l" defTabSz="0" rtl="0" eaLnBrk="0">
              <a:lnSpc>
                <a:spcPct val="88000"/>
              </a:lnSpc>
              <a:spcBef>
                <a:spcPts val="605"/>
              </a:spcBef>
            </a:pPr>
            <a:r>
              <a:rPr sz="2000" kern="0" spc="0" dirty="0">
                <a:solidFill>
                  <a:srgbClr val="262626">
                    <a:alpha val="100000"/>
                  </a:srgbClr>
                </a:solidFill>
                <a:latin typeface="华文仿宋" panose="02010600040101010101" charset="-122"/>
                <a:ea typeface="华文仿宋" panose="02010600040101010101" charset="-122"/>
                <a:cs typeface="华文仿宋" panose="02010600040101010101" charset="-122"/>
              </a:rPr>
              <a:t>非账户属性决定了消费者在网络世界更</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大的选择权：储备资产属性在很大程度上代表了主权货币</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属性，</a:t>
            </a:r>
            <a:r>
              <a:rPr sz="2000" kern="0" spc="-36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稳定币在很大程度上代表了主权货币在网络数字世界的竞争，</a:t>
            </a:r>
            <a:r>
              <a:rPr sz="2000" kern="0" spc="-31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主权信用货币的优胜劣汰被置</a:t>
            </a:r>
            <a:r>
              <a:rPr sz="2000" b="1"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身于全球网络数字市场之中，</a:t>
            </a:r>
            <a:r>
              <a:rPr sz="2000" kern="0" spc="-38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在允许资本完全自由流动的背景下，</a:t>
            </a:r>
            <a:r>
              <a:rPr sz="2000" kern="0" spc="-33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某种稳定币商业模式越成功</a:t>
            </a:r>
            <a:r>
              <a:rPr sz="2000" b="1" kern="0" spc="-30" dirty="0">
                <a:solidFill>
                  <a:srgbClr val="FF0000">
                    <a:alpha val="100000"/>
                  </a:srgbClr>
                </a:solidFill>
                <a:latin typeface="华文仿宋" panose="02010600040101010101" charset="-122"/>
                <a:ea typeface="华文仿宋" panose="02010600040101010101" charset="-122"/>
                <a:cs typeface="华文仿宋" panose="02010600040101010101" charset="-122"/>
              </a:rPr>
              <a:t>，</a:t>
            </a:r>
            <a:r>
              <a:rPr sz="2000" kern="0" spc="-36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30" dirty="0">
                <a:solidFill>
                  <a:srgbClr val="FF0000">
                    <a:alpha val="100000"/>
                  </a:srgbClr>
                </a:solidFill>
                <a:latin typeface="华文仿宋" panose="02010600040101010101" charset="-122"/>
                <a:ea typeface="华文仿宋" panose="02010600040101010101" charset="-122"/>
                <a:cs typeface="华文仿宋" panose="02010600040101010101" charset="-122"/>
              </a:rPr>
              <a:t>其</a:t>
            </a:r>
            <a:r>
              <a:rPr sz="2000" b="1" kern="0" spc="-10" dirty="0">
                <a:solidFill>
                  <a:srgbClr val="FF0000">
                    <a:alpha val="100000"/>
                  </a:srgbClr>
                </a:solidFill>
                <a:latin typeface="华文仿宋" panose="02010600040101010101" charset="-122"/>
                <a:ea typeface="华文仿宋" panose="02010600040101010101" charset="-122"/>
                <a:cs typeface="华文仿宋" panose="02010600040101010101" charset="-122"/>
              </a:rPr>
              <a:t>储备资产代表的主权货币影响力</a:t>
            </a:r>
            <a:r>
              <a:rPr sz="2000" b="1"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越大，</a:t>
            </a:r>
            <a:r>
              <a:rPr sz="2000" kern="0" spc="-38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对其他货币主权的侵蚀作用越大。</a:t>
            </a:r>
            <a:endParaRPr sz="2000" dirty="0">
              <a:latin typeface="华文仿宋" panose="02010600040101010101" charset="-122"/>
              <a:ea typeface="华文仿宋" panose="02010600040101010101" charset="-122"/>
              <a:cs typeface="华文仿宋" panose="02010600040101010101" charset="-122"/>
            </a:endParaRPr>
          </a:p>
          <a:p>
            <a:pPr algn="l" defTabSz="0" rtl="0" eaLnBrk="0">
              <a:lnSpc>
                <a:spcPct val="103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03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03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01000"/>
              </a:lnSpc>
            </a:pPr>
            <a:endParaRPr sz="500" dirty="0">
              <a:latin typeface="Arial" panose="020B0604020202020204" pitchFamily="34" charset="0"/>
              <a:ea typeface="Arial" panose="020B0604020202020204" pitchFamily="34" charset="0"/>
              <a:cs typeface="Arial" panose="020B0604020202020204" pitchFamily="34" charset="0"/>
            </a:endParaRPr>
          </a:p>
          <a:p>
            <a:pPr marL="12700" indent="195580" algn="l" defTabSz="0" rtl="0" eaLnBrk="0">
              <a:lnSpc>
                <a:spcPct val="88000"/>
              </a:lnSpc>
              <a:spcBef>
                <a:spcPts val="5"/>
              </a:spcBef>
            </a:pPr>
            <a:r>
              <a:rPr sz="2000"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稳定币创造了一种“</a:t>
            </a:r>
            <a:r>
              <a:rPr sz="2000" kern="0" spc="-33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30" dirty="0">
                <a:solidFill>
                  <a:srgbClr val="FF0000">
                    <a:alpha val="100000"/>
                  </a:srgbClr>
                </a:solidFill>
                <a:latin typeface="华文仿宋" panose="02010600040101010101" charset="-122"/>
                <a:ea typeface="华文仿宋" panose="02010600040101010101" charset="-122"/>
                <a:cs typeface="华文仿宋" panose="02010600040101010101" charset="-122"/>
              </a:rPr>
              <a:t>新型货币替代路径</a:t>
            </a:r>
            <a:r>
              <a:rPr sz="2000" kern="0" spc="-33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kern="0" spc="-30" dirty="0">
                <a:solidFill>
                  <a:srgbClr val="FF0000">
                    <a:alpha val="100000"/>
                  </a:srgbClr>
                </a:solidFill>
                <a:latin typeface="华文仿宋" panose="02010600040101010101" charset="-122"/>
                <a:ea typeface="华文仿宋" panose="02010600040101010101" charset="-122"/>
                <a:cs typeface="华文仿宋" panose="02010600040101010101" charset="-122"/>
              </a:rPr>
              <a:t>”</a:t>
            </a:r>
            <a:r>
              <a:rPr sz="2000"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24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rPr>
              <a:t>与传统外币化不同，</a:t>
            </a:r>
            <a:r>
              <a:rPr sz="2000" kern="0" spc="-18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rPr>
              <a:t>它们可以绕开本地银行系统，</a:t>
            </a:r>
            <a:r>
              <a:rPr sz="2000" kern="0" spc="-14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rPr>
              <a:t>以</a:t>
            </a:r>
            <a:r>
              <a:rPr sz="2000" kern="0" spc="-10" dirty="0">
                <a:solidFill>
                  <a:srgbClr val="FF0000">
                    <a:alpha val="100000"/>
                  </a:srgbClr>
                </a:solidFill>
                <a:latin typeface="华文仿宋" panose="02010600040101010101" charset="-122"/>
                <a:ea typeface="华文仿宋" panose="02010600040101010101" charset="-122"/>
                <a:cs typeface="华文仿宋" panose="02010600040101010101" charset="-122"/>
              </a:rPr>
              <a:t>链上方式渗透进一国经济金融体系，</a:t>
            </a:r>
            <a:r>
              <a:rPr sz="2000" kern="0" spc="-38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kern="0" spc="-10" dirty="0">
                <a:solidFill>
                  <a:srgbClr val="FF0000">
                    <a:alpha val="100000"/>
                  </a:srgbClr>
                </a:solidFill>
                <a:latin typeface="华文仿宋" panose="02010600040101010101" charset="-122"/>
                <a:ea typeface="华文仿宋" panose="02010600040101010101" charset="-122"/>
                <a:cs typeface="华文仿宋" panose="02010600040101010101" charset="-122"/>
              </a:rPr>
              <a:t>侵蚀一国央</a:t>
            </a:r>
            <a:r>
              <a:rPr sz="2000"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行货币发行权</a:t>
            </a:r>
            <a:r>
              <a:rPr sz="2000" kern="0" spc="-24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35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稳定币可能成为削弱货币主权的新</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渠道，</a:t>
            </a:r>
            <a:r>
              <a:rPr sz="2000" kern="0" spc="-33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10" dirty="0">
                <a:solidFill>
                  <a:srgbClr val="262626">
                    <a:alpha val="100000"/>
                  </a:srgbClr>
                </a:solidFill>
                <a:latin typeface="华文仿宋" panose="02010600040101010101" charset="-122"/>
                <a:ea typeface="华文仿宋" panose="02010600040101010101" charset="-122"/>
                <a:cs typeface="华文仿宋" panose="02010600040101010101" charset="-122"/>
              </a:rPr>
              <a:t>尤其是在那些本币不稳定、</a:t>
            </a:r>
            <a:r>
              <a:rPr sz="2000" kern="0" spc="-38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金融基础设施薄弱、</a:t>
            </a:r>
            <a:r>
              <a:rPr sz="2000" kern="0" spc="-34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监管能力有限的经济体中。</a:t>
            </a:r>
            <a:endParaRPr sz="2000" dirty="0">
              <a:latin typeface="华文仿宋" panose="02010600040101010101" charset="-122"/>
              <a:ea typeface="华文仿宋" panose="02010600040101010101" charset="-122"/>
              <a:cs typeface="华文仿宋" panose="02010600040101010101" charset="-122"/>
            </a:endParaRPr>
          </a:p>
        </p:txBody>
      </p:sp>
      <p:sp>
        <p:nvSpPr>
          <p:cNvPr id="180" name="rect 180"/>
          <p:cNvSpPr/>
          <p:nvPr/>
        </p:nvSpPr>
        <p:spPr>
          <a:xfrm>
            <a:off x="0" y="6556247"/>
            <a:ext cx="12192000" cy="301752"/>
          </a:xfrm>
          <a:prstGeom prst="rect">
            <a:avLst/>
          </a:prstGeom>
          <a:solidFill>
            <a:srgbClr val="AE0B2A">
              <a:alpha val="100000"/>
            </a:srgbClr>
          </a:solidFill>
          <a:ln w="0" cap="flat">
            <a:noFill/>
            <a:prstDash val="solid"/>
            <a:miter lim="0"/>
          </a:ln>
        </p:spPr>
        <p:txBody>
          <a:bodyPr rtlCol="0"/>
          <a:lstStyle/>
          <a:p>
            <a:pPr algn="ctr"/>
            <a:endParaRPr lang="zh-CN" altLang="en-US"/>
          </a:p>
        </p:txBody>
      </p:sp>
      <p:pic>
        <p:nvPicPr>
          <p:cNvPr id="184" name="picture 184"/>
          <p:cNvPicPr>
            <a:picLocks noChangeAspect="1"/>
          </p:cNvPicPr>
          <p:nvPr/>
        </p:nvPicPr>
        <p:blipFill>
          <a:blip r:embed="rId1"/>
          <a:stretch>
            <a:fillRect/>
          </a:stretch>
        </p:blipFill>
        <p:spPr>
          <a:xfrm rot="21600000">
            <a:off x="2752725" y="451954"/>
            <a:ext cx="9439275" cy="1905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textbox 188"/>
          <p:cNvSpPr/>
          <p:nvPr/>
        </p:nvSpPr>
        <p:spPr>
          <a:xfrm>
            <a:off x="717603" y="1007299"/>
            <a:ext cx="10951844" cy="4766309"/>
          </a:xfrm>
          <a:prstGeom prst="rect">
            <a:avLst/>
          </a:prstGeom>
          <a:noFill/>
          <a:ln w="0" cap="flat">
            <a:noFill/>
            <a:prstDash val="solid"/>
            <a:miter lim="0"/>
          </a:ln>
        </p:spPr>
        <p:txBody>
          <a:bodyPr vert="horz" wrap="square" lIns="0" tIns="0" rIns="0" bIns="0"/>
          <a:lstStyle/>
          <a:p>
            <a:pPr algn="l" defTabSz="0" rtl="0" eaLnBrk="0">
              <a:lnSpc>
                <a:spcPct val="87000"/>
              </a:lnSpc>
            </a:pPr>
            <a:endParaRPr sz="100" dirty="0">
              <a:latin typeface="Arial" panose="020B0604020202020204" pitchFamily="34" charset="0"/>
              <a:ea typeface="Arial" panose="020B0604020202020204" pitchFamily="34" charset="0"/>
              <a:cs typeface="Arial" panose="020B0604020202020204" pitchFamily="34" charset="0"/>
            </a:endParaRPr>
          </a:p>
          <a:p>
            <a:pPr marL="179705" algn="l" defTabSz="0" rtl="0" eaLnBrk="0">
              <a:lnSpc>
                <a:spcPts val="3120"/>
              </a:lnSpc>
              <a:spcBef>
                <a:spcPts val="1175"/>
              </a:spcBef>
            </a:pPr>
            <a:r>
              <a:rPr sz="2300" b="1" kern="0" spc="10" dirty="0">
                <a:solidFill>
                  <a:srgbClr val="262626">
                    <a:alpha val="100000"/>
                  </a:srgbClr>
                </a:solidFill>
                <a:latin typeface="华文楷体" panose="02010600040101010101" charset="-122"/>
                <a:ea typeface="华文楷体" panose="02010600040101010101" charset="-122"/>
                <a:cs typeface="华文楷体" panose="02010600040101010101" charset="-122"/>
              </a:rPr>
              <a:t>稳定币在侵蚀</a:t>
            </a:r>
            <a:r>
              <a:rPr sz="2300" b="1" kern="0" spc="0" dirty="0">
                <a:solidFill>
                  <a:srgbClr val="262626">
                    <a:alpha val="100000"/>
                  </a:srgbClr>
                </a:solidFill>
                <a:latin typeface="华文楷体" panose="02010600040101010101" charset="-122"/>
                <a:ea typeface="华文楷体" panose="02010600040101010101" charset="-122"/>
                <a:cs typeface="华文楷体" panose="02010600040101010101" charset="-122"/>
              </a:rPr>
              <a:t>货币主权边界中的风险</a:t>
            </a:r>
            <a:endParaRPr sz="2300" dirty="0">
              <a:latin typeface="华文楷体" panose="02010600040101010101" charset="-122"/>
              <a:ea typeface="华文楷体" panose="02010600040101010101" charset="-122"/>
              <a:cs typeface="华文楷体" panose="02010600040101010101" charset="-122"/>
            </a:endParaRPr>
          </a:p>
          <a:p>
            <a:pPr algn="l" defTabSz="0" rtl="0" eaLnBrk="0">
              <a:lnSpc>
                <a:spcPct val="108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08000"/>
              </a:lnSpc>
            </a:pPr>
            <a:endParaRPr sz="1000" dirty="0">
              <a:latin typeface="Arial" panose="020B0604020202020204" pitchFamily="34" charset="0"/>
              <a:ea typeface="Arial" panose="020B0604020202020204" pitchFamily="34" charset="0"/>
              <a:cs typeface="Arial" panose="020B0604020202020204" pitchFamily="34" charset="0"/>
            </a:endParaRPr>
          </a:p>
          <a:p>
            <a:pPr algn="l" defTabSz="0" rtl="0" eaLnBrk="0">
              <a:lnSpc>
                <a:spcPct val="109000"/>
              </a:lnSpc>
            </a:pPr>
            <a:endParaRPr sz="1000" dirty="0">
              <a:latin typeface="Arial" panose="020B0604020202020204" pitchFamily="34" charset="0"/>
              <a:ea typeface="Arial" panose="020B0604020202020204" pitchFamily="34" charset="0"/>
              <a:cs typeface="Arial" panose="020B0604020202020204" pitchFamily="34" charset="0"/>
            </a:endParaRPr>
          </a:p>
          <a:p>
            <a:pPr marL="227965" algn="l" defTabSz="0" rtl="0" eaLnBrk="0">
              <a:lnSpc>
                <a:spcPct val="83000"/>
              </a:lnSpc>
              <a:spcBef>
                <a:spcPts val="700"/>
              </a:spcBef>
            </a:pPr>
            <a:r>
              <a:rPr sz="2300" b="1" kern="0" spc="10" dirty="0">
                <a:solidFill>
                  <a:srgbClr val="262626">
                    <a:alpha val="100000"/>
                  </a:srgbClr>
                </a:solidFill>
                <a:latin typeface="华文楷体" panose="02010600040101010101" charset="-122"/>
                <a:ea typeface="华文楷体" panose="02010600040101010101" charset="-122"/>
                <a:cs typeface="华文楷体" panose="02010600040101010101" charset="-122"/>
              </a:rPr>
              <a:t>2.影响货币政策传递：</a:t>
            </a:r>
            <a:r>
              <a:rPr sz="2300" kern="0" spc="-310" dirty="0">
                <a:solidFill>
                  <a:srgbClr val="262626">
                    <a:alpha val="100000"/>
                  </a:srgbClr>
                </a:solidFill>
                <a:latin typeface="华文楷体" panose="02010600040101010101" charset="-122"/>
                <a:ea typeface="华文楷体" panose="02010600040101010101" charset="-122"/>
                <a:cs typeface="华文楷体" panose="02010600040101010101" charset="-122"/>
              </a:rPr>
              <a:t> </a:t>
            </a:r>
            <a:r>
              <a:rPr sz="2000" kern="0" spc="10" dirty="0">
                <a:solidFill>
                  <a:srgbClr val="FF0000">
                    <a:alpha val="100000"/>
                  </a:srgbClr>
                </a:solidFill>
                <a:latin typeface="华文仿宋" panose="02010600040101010101" charset="-122"/>
                <a:ea typeface="华文仿宋" panose="02010600040101010101" charset="-122"/>
                <a:cs typeface="华文仿宋" panose="02010600040101010101" charset="-122"/>
              </a:rPr>
              <a:t>稳定币具有的侵蚀货币主权的能力，</a:t>
            </a:r>
            <a:r>
              <a:rPr sz="2000" kern="0" spc="-36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kern="0" spc="10" dirty="0">
                <a:solidFill>
                  <a:srgbClr val="FF0000">
                    <a:alpha val="100000"/>
                  </a:srgbClr>
                </a:solidFill>
                <a:latin typeface="华文仿宋" panose="02010600040101010101" charset="-122"/>
                <a:ea typeface="华文仿宋" panose="02010600040101010101" charset="-122"/>
                <a:cs typeface="华文仿宋" panose="02010600040101010101" charset="-122"/>
              </a:rPr>
              <a:t>决定了稳定币会对一国货币政策</a:t>
            </a:r>
            <a:endParaRPr sz="2000" dirty="0">
              <a:latin typeface="华文仿宋" panose="02010600040101010101" charset="-122"/>
              <a:ea typeface="华文仿宋" panose="02010600040101010101" charset="-122"/>
              <a:cs typeface="华文仿宋" panose="02010600040101010101" charset="-122"/>
            </a:endParaRPr>
          </a:p>
          <a:p>
            <a:pPr marL="26670" algn="l" defTabSz="0" rtl="0" eaLnBrk="0">
              <a:lnSpc>
                <a:spcPct val="81000"/>
              </a:lnSpc>
              <a:spcBef>
                <a:spcPts val="250"/>
              </a:spcBef>
            </a:pPr>
            <a:r>
              <a:rPr sz="2000" kern="0" spc="-30" dirty="0">
                <a:solidFill>
                  <a:srgbClr val="FF0000">
                    <a:alpha val="100000"/>
                  </a:srgbClr>
                </a:solidFill>
                <a:latin typeface="华文仿宋" panose="02010600040101010101" charset="-122"/>
                <a:ea typeface="华文仿宋" panose="02010600040101010101" charset="-122"/>
                <a:cs typeface="华文仿宋" panose="02010600040101010101" charset="-122"/>
              </a:rPr>
              <a:t>的传导机制产生影响，</a:t>
            </a:r>
            <a:r>
              <a:rPr sz="2000" kern="0" spc="-35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kern="0" spc="-30" dirty="0">
                <a:solidFill>
                  <a:srgbClr val="FF0000">
                    <a:alpha val="100000"/>
                  </a:srgbClr>
                </a:solidFill>
                <a:latin typeface="华文仿宋" panose="02010600040101010101" charset="-122"/>
                <a:ea typeface="华文仿宋" panose="02010600040101010101" charset="-122"/>
                <a:cs typeface="华文仿宋" panose="02010600040101010101" charset="-122"/>
              </a:rPr>
              <a:t>可能包括：</a:t>
            </a:r>
            <a:endParaRPr sz="2000" dirty="0">
              <a:latin typeface="华文仿宋" panose="02010600040101010101" charset="-122"/>
              <a:ea typeface="华文仿宋" panose="02010600040101010101" charset="-122"/>
              <a:cs typeface="华文仿宋" panose="02010600040101010101" charset="-122"/>
            </a:endParaRPr>
          </a:p>
          <a:p>
            <a:pPr marL="12700" indent="392430" algn="l" defTabSz="0" rtl="0" eaLnBrk="0">
              <a:lnSpc>
                <a:spcPct val="94000"/>
              </a:lnSpc>
              <a:spcBef>
                <a:spcPts val="805"/>
              </a:spcBef>
            </a:pPr>
            <a:r>
              <a:rPr sz="2000" b="1" kern="0" spc="-50" dirty="0">
                <a:solidFill>
                  <a:srgbClr val="262626">
                    <a:alpha val="100000"/>
                  </a:srgbClr>
                </a:solidFill>
                <a:latin typeface="华文仿宋" panose="02010600040101010101" charset="-122"/>
                <a:ea typeface="华文仿宋" panose="02010600040101010101" charset="-122"/>
                <a:cs typeface="华文仿宋" panose="02010600040101010101" charset="-122"/>
              </a:rPr>
              <a:t>（1）</a:t>
            </a:r>
            <a:r>
              <a:rPr sz="2000" kern="0" spc="-280" dirty="0">
                <a:solidFill>
                  <a:srgbClr val="262626">
                    <a:alpha val="100000"/>
                  </a:srgbClr>
                </a:solidFill>
                <a:highlight>
                  <a:srgbClr val="FFFF00"/>
                </a:highlight>
                <a:latin typeface="华文仿宋" panose="02010600040101010101" charset="-122"/>
                <a:ea typeface="华文仿宋" panose="02010600040101010101" charset="-122"/>
                <a:cs typeface="华文仿宋" panose="02010600040101010101" charset="-122"/>
              </a:rPr>
              <a:t> </a:t>
            </a:r>
            <a:r>
              <a:rPr sz="2000" b="1" kern="0" spc="-50" dirty="0">
                <a:solidFill>
                  <a:srgbClr val="262626">
                    <a:alpha val="100000"/>
                  </a:srgbClr>
                </a:solidFill>
                <a:highlight>
                  <a:srgbClr val="FFFF00"/>
                </a:highlight>
                <a:latin typeface="华文仿宋" panose="02010600040101010101" charset="-122"/>
                <a:ea typeface="华文仿宋" panose="02010600040101010101" charset="-122"/>
                <a:cs typeface="华文仿宋" panose="02010600040101010101" charset="-122"/>
              </a:rPr>
              <a:t>影响利率调控敏感性：</a:t>
            </a:r>
            <a:r>
              <a:rPr sz="2000" kern="0" spc="-260" dirty="0">
                <a:solidFill>
                  <a:srgbClr val="262626">
                    <a:alpha val="100000"/>
                  </a:srgbClr>
                </a:solidFill>
                <a:highlight>
                  <a:srgbClr val="FFFF00"/>
                </a:highlight>
                <a:latin typeface="华文仿宋" panose="02010600040101010101" charset="-122"/>
                <a:ea typeface="华文仿宋" panose="02010600040101010101" charset="-122"/>
                <a:cs typeface="华文仿宋" panose="02010600040101010101" charset="-122"/>
              </a:rPr>
              <a:t> </a:t>
            </a:r>
            <a:r>
              <a:rPr sz="2000" kern="0" spc="-50" dirty="0">
                <a:solidFill>
                  <a:srgbClr val="262626">
                    <a:alpha val="100000"/>
                  </a:srgbClr>
                </a:solidFill>
                <a:highlight>
                  <a:srgbClr val="FFFF00"/>
                </a:highlight>
                <a:latin typeface="华文仿宋" panose="02010600040101010101" charset="-122"/>
                <a:ea typeface="华文仿宋" panose="02010600040101010101" charset="-122"/>
                <a:cs typeface="华文仿宋" panose="02010600040101010101" charset="-122"/>
              </a:rPr>
              <a:t>资金以链上稳定币形式持有，</a:t>
            </a:r>
            <a:r>
              <a:rPr sz="2000" kern="0" spc="-280" dirty="0">
                <a:solidFill>
                  <a:srgbClr val="262626">
                    <a:alpha val="100000"/>
                  </a:srgbClr>
                </a:solidFill>
                <a:highlight>
                  <a:srgbClr val="FFFF00"/>
                </a:highlight>
                <a:latin typeface="华文仿宋" panose="02010600040101010101" charset="-122"/>
                <a:ea typeface="华文仿宋" panose="02010600040101010101" charset="-122"/>
                <a:cs typeface="华文仿宋" panose="02010600040101010101" charset="-122"/>
              </a:rPr>
              <a:t> </a:t>
            </a:r>
            <a:r>
              <a:rPr sz="2000" kern="0" spc="-50" dirty="0">
                <a:solidFill>
                  <a:srgbClr val="262626">
                    <a:alpha val="100000"/>
                  </a:srgbClr>
                </a:solidFill>
                <a:highlight>
                  <a:srgbClr val="FFFF00"/>
                </a:highlight>
                <a:latin typeface="华文仿宋" panose="02010600040101010101" charset="-122"/>
                <a:ea typeface="华文仿宋" panose="02010600040101010101" charset="-122"/>
                <a:cs typeface="华文仿宋" panose="02010600040101010101" charset="-122"/>
              </a:rPr>
              <a:t>而非存放在商业银行，</a:t>
            </a:r>
            <a:r>
              <a:rPr sz="2000" kern="0" spc="-380" dirty="0">
                <a:solidFill>
                  <a:srgbClr val="262626">
                    <a:alpha val="100000"/>
                  </a:srgbClr>
                </a:solidFill>
                <a:highlight>
                  <a:srgbClr val="FFFF00"/>
                </a:highlight>
                <a:latin typeface="华文仿宋" panose="02010600040101010101" charset="-122"/>
                <a:ea typeface="华文仿宋" panose="02010600040101010101" charset="-122"/>
                <a:cs typeface="华文仿宋" panose="02010600040101010101" charset="-122"/>
              </a:rPr>
              <a:t> </a:t>
            </a:r>
            <a:r>
              <a:rPr sz="2000" kern="0" spc="-60" dirty="0">
                <a:solidFill>
                  <a:srgbClr val="262626">
                    <a:alpha val="100000"/>
                  </a:srgbClr>
                </a:solidFill>
                <a:highlight>
                  <a:srgbClr val="FFFF00"/>
                </a:highlight>
                <a:latin typeface="华文仿宋" panose="02010600040101010101" charset="-122"/>
                <a:ea typeface="华文仿宋" panose="02010600040101010101" charset="-122"/>
                <a:cs typeface="华文仿宋" panose="02010600040101010101" charset="-122"/>
              </a:rPr>
              <a:t>存款转移导致</a:t>
            </a:r>
            <a:r>
              <a:rPr sz="2000" kern="0" spc="-10" dirty="0">
                <a:solidFill>
                  <a:srgbClr val="262626">
                    <a:alpha val="100000"/>
                  </a:srgbClr>
                </a:solidFill>
                <a:highlight>
                  <a:srgbClr val="FFFF00"/>
                </a:highlight>
                <a:latin typeface="华文仿宋" panose="02010600040101010101" charset="-122"/>
                <a:ea typeface="华文仿宋" panose="02010600040101010101" charset="-122"/>
                <a:cs typeface="华文仿宋" panose="02010600040101010101" charset="-122"/>
              </a:rPr>
              <a:t>货币政策利率变动对消费、</a:t>
            </a:r>
            <a:r>
              <a:rPr sz="2000" kern="0" spc="-370" dirty="0">
                <a:solidFill>
                  <a:srgbClr val="262626">
                    <a:alpha val="100000"/>
                  </a:srgbClr>
                </a:solidFill>
                <a:highlight>
                  <a:srgbClr val="FFFF00"/>
                </a:highlight>
                <a:latin typeface="华文仿宋" panose="02010600040101010101" charset="-122"/>
                <a:ea typeface="华文仿宋" panose="02010600040101010101" charset="-122"/>
                <a:cs typeface="华文仿宋" panose="02010600040101010101" charset="-122"/>
              </a:rPr>
              <a:t> </a:t>
            </a:r>
            <a:r>
              <a:rPr sz="2000" kern="0" spc="-10" dirty="0">
                <a:solidFill>
                  <a:srgbClr val="262626">
                    <a:alpha val="100000"/>
                  </a:srgbClr>
                </a:solidFill>
                <a:highlight>
                  <a:srgbClr val="FFFF00"/>
                </a:highlight>
                <a:latin typeface="华文仿宋" panose="02010600040101010101" charset="-122"/>
                <a:ea typeface="华文仿宋" panose="02010600040101010101" charset="-122"/>
                <a:cs typeface="华文仿宋" panose="02010600040101010101" charset="-122"/>
              </a:rPr>
              <a:t>投资与信贷行为的</a:t>
            </a:r>
            <a:r>
              <a:rPr sz="2000" kern="0" spc="-20" dirty="0">
                <a:solidFill>
                  <a:srgbClr val="262626">
                    <a:alpha val="100000"/>
                  </a:srgbClr>
                </a:solidFill>
                <a:highlight>
                  <a:srgbClr val="FFFF00"/>
                </a:highlight>
                <a:latin typeface="华文仿宋" panose="02010600040101010101" charset="-122"/>
                <a:ea typeface="华文仿宋" panose="02010600040101010101" charset="-122"/>
                <a:cs typeface="华文仿宋" panose="02010600040101010101" charset="-122"/>
              </a:rPr>
              <a:t>影响力下降</a:t>
            </a: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endParaRPr sz="2000" dirty="0">
              <a:latin typeface="华文仿宋" panose="02010600040101010101" charset="-122"/>
              <a:ea typeface="华文仿宋" panose="02010600040101010101" charset="-122"/>
              <a:cs typeface="华文仿宋" panose="02010600040101010101" charset="-122"/>
            </a:endParaRPr>
          </a:p>
          <a:p>
            <a:pPr marL="12700" indent="392430" algn="l" defTabSz="0" rtl="0" eaLnBrk="0">
              <a:lnSpc>
                <a:spcPct val="93000"/>
              </a:lnSpc>
              <a:spcBef>
                <a:spcPts val="785"/>
              </a:spcBef>
            </a:pPr>
            <a:r>
              <a:rPr sz="2000" b="1" kern="0" spc="-50" dirty="0">
                <a:solidFill>
                  <a:srgbClr val="262626">
                    <a:alpha val="100000"/>
                  </a:srgbClr>
                </a:solidFill>
                <a:latin typeface="华文仿宋" panose="02010600040101010101" charset="-122"/>
                <a:ea typeface="华文仿宋" panose="02010600040101010101" charset="-122"/>
                <a:cs typeface="华文仿宋" panose="02010600040101010101" charset="-122"/>
              </a:rPr>
              <a:t>（2）</a:t>
            </a:r>
            <a:r>
              <a:rPr sz="2000" kern="0" spc="-180" dirty="0">
                <a:solidFill>
                  <a:schemeClr val="tx1">
                    <a:alpha val="100000"/>
                  </a:schemeClr>
                </a:solidFill>
                <a:latin typeface="华文仿宋" panose="02010600040101010101" charset="-122"/>
                <a:ea typeface="华文仿宋" panose="02010600040101010101" charset="-122"/>
                <a:cs typeface="华文仿宋" panose="02010600040101010101" charset="-122"/>
              </a:rPr>
              <a:t> </a:t>
            </a:r>
            <a:r>
              <a:rPr sz="2000" b="1" kern="0" spc="-50" dirty="0">
                <a:solidFill>
                  <a:schemeClr val="tx1">
                    <a:alpha val="100000"/>
                  </a:schemeClr>
                </a:solidFill>
                <a:latin typeface="华文仿宋" panose="02010600040101010101" charset="-122"/>
                <a:ea typeface="华文仿宋" panose="02010600040101010101" charset="-122"/>
                <a:cs typeface="华文仿宋" panose="02010600040101010101" charset="-122"/>
              </a:rPr>
              <a:t>削弱银行中介的信用创造：</a:t>
            </a:r>
            <a:r>
              <a:rPr sz="2000" kern="0" spc="-350" dirty="0">
                <a:solidFill>
                  <a:schemeClr val="tx1">
                    <a:alpha val="100000"/>
                  </a:schemeClr>
                </a:solidFill>
                <a:latin typeface="华文仿宋" panose="02010600040101010101" charset="-122"/>
                <a:ea typeface="华文仿宋" panose="02010600040101010101" charset="-122"/>
                <a:cs typeface="华文仿宋" panose="02010600040101010101" charset="-122"/>
              </a:rPr>
              <a:t> </a:t>
            </a:r>
            <a:r>
              <a:rPr sz="2000" kern="0" spc="-50" dirty="0">
                <a:solidFill>
                  <a:schemeClr val="tx1">
                    <a:alpha val="100000"/>
                  </a:schemeClr>
                </a:solidFill>
                <a:latin typeface="华文仿宋" panose="02010600040101010101" charset="-122"/>
                <a:ea typeface="华文仿宋" panose="02010600040101010101" charset="-122"/>
                <a:cs typeface="华文仿宋" panose="02010600040101010101" charset="-122"/>
              </a:rPr>
              <a:t>稳定币不创造信用，</a:t>
            </a:r>
            <a:r>
              <a:rPr sz="2000" kern="0" spc="-330" dirty="0">
                <a:solidFill>
                  <a:schemeClr val="tx1">
                    <a:alpha val="100000"/>
                  </a:schemeClr>
                </a:solidFill>
                <a:latin typeface="华文仿宋" panose="02010600040101010101" charset="-122"/>
                <a:ea typeface="华文仿宋" panose="02010600040101010101" charset="-122"/>
                <a:cs typeface="华文仿宋" panose="02010600040101010101" charset="-122"/>
              </a:rPr>
              <a:t> </a:t>
            </a:r>
            <a:r>
              <a:rPr sz="2000" kern="0" spc="-50" dirty="0">
                <a:solidFill>
                  <a:schemeClr val="tx1">
                    <a:alpha val="100000"/>
                  </a:schemeClr>
                </a:solidFill>
                <a:latin typeface="华文仿宋" panose="02010600040101010101" charset="-122"/>
                <a:ea typeface="华文仿宋" panose="02010600040101010101" charset="-122"/>
                <a:cs typeface="华文仿宋" panose="02010600040101010101" charset="-122"/>
              </a:rPr>
              <a:t>不参与</a:t>
            </a:r>
            <a:r>
              <a:rPr sz="2000" kern="0" spc="-60" dirty="0">
                <a:solidFill>
                  <a:schemeClr val="tx1">
                    <a:alpha val="100000"/>
                  </a:schemeClr>
                </a:solidFill>
                <a:latin typeface="华文仿宋" panose="02010600040101010101" charset="-122"/>
                <a:ea typeface="华文仿宋" panose="02010600040101010101" charset="-122"/>
                <a:cs typeface="华文仿宋" panose="02010600040101010101" charset="-122"/>
              </a:rPr>
              <a:t>信贷中介信用创造功能，</a:t>
            </a:r>
            <a:r>
              <a:rPr sz="2000" kern="0" spc="-280" dirty="0">
                <a:solidFill>
                  <a:schemeClr val="tx1">
                    <a:alpha val="100000"/>
                  </a:schemeClr>
                </a:solidFill>
                <a:latin typeface="华文仿宋" panose="02010600040101010101" charset="-122"/>
                <a:ea typeface="华文仿宋" panose="02010600040101010101" charset="-122"/>
                <a:cs typeface="华文仿宋" panose="02010600040101010101" charset="-122"/>
              </a:rPr>
              <a:t> </a:t>
            </a:r>
            <a:r>
              <a:rPr sz="2000" kern="0" spc="-60" dirty="0">
                <a:solidFill>
                  <a:schemeClr val="tx1">
                    <a:alpha val="100000"/>
                  </a:schemeClr>
                </a:solidFill>
                <a:latin typeface="华文仿宋" panose="02010600040101010101" charset="-122"/>
                <a:ea typeface="华文仿宋" panose="02010600040101010101" charset="-122"/>
                <a:cs typeface="华文仿宋" panose="02010600040101010101" charset="-122"/>
              </a:rPr>
              <a:t>影响</a:t>
            </a:r>
            <a:r>
              <a:rPr sz="2000" b="1" kern="0" spc="-60" dirty="0">
                <a:solidFill>
                  <a:schemeClr val="tx1">
                    <a:alpha val="100000"/>
                  </a:schemeClr>
                </a:solidFill>
                <a:latin typeface="华文仿宋" panose="02010600040101010101" charset="-122"/>
                <a:ea typeface="华文仿宋" panose="02010600040101010101" charset="-122"/>
                <a:cs typeface="华文仿宋" panose="02010600040101010101" charset="-122"/>
              </a:rPr>
              <a:t>央行</a:t>
            </a:r>
            <a:r>
              <a:rPr sz="2000" b="1" kern="0" spc="-30" dirty="0">
                <a:solidFill>
                  <a:schemeClr val="tx1">
                    <a:alpha val="100000"/>
                  </a:schemeClr>
                </a:solidFill>
                <a:latin typeface="华文仿宋" panose="02010600040101010101" charset="-122"/>
                <a:ea typeface="华文仿宋" panose="02010600040101010101" charset="-122"/>
                <a:cs typeface="华文仿宋" panose="02010600040101010101" charset="-122"/>
              </a:rPr>
              <a:t>货币供应的信用扩张</a:t>
            </a:r>
            <a:r>
              <a:rPr sz="2000" kern="0" spc="-240" dirty="0">
                <a:solidFill>
                  <a:schemeClr val="tx1">
                    <a:alpha val="100000"/>
                  </a:schemeClr>
                </a:solidFill>
                <a:latin typeface="华文仿宋" panose="02010600040101010101" charset="-122"/>
                <a:ea typeface="华文仿宋" panose="02010600040101010101" charset="-122"/>
                <a:cs typeface="华文仿宋" panose="02010600040101010101" charset="-122"/>
              </a:rPr>
              <a:t> </a:t>
            </a:r>
            <a:r>
              <a:rPr sz="2000" kern="0" spc="-30" dirty="0">
                <a:solidFill>
                  <a:schemeClr val="tx1">
                    <a:alpha val="100000"/>
                  </a:schemeClr>
                </a:solidFill>
                <a:latin typeface="华文仿宋" panose="02010600040101010101" charset="-122"/>
                <a:ea typeface="华文仿宋" panose="02010600040101010101" charset="-122"/>
                <a:cs typeface="华文仿宋" panose="02010600040101010101" charset="-122"/>
              </a:rPr>
              <a:t>。</a:t>
            </a:r>
            <a:r>
              <a:rPr sz="2000" kern="0" spc="-360" dirty="0">
                <a:solidFill>
                  <a:schemeClr val="tx1">
                    <a:alpha val="100000"/>
                  </a:schemeClr>
                </a:solidFill>
                <a:latin typeface="华文仿宋" panose="02010600040101010101" charset="-122"/>
                <a:ea typeface="华文仿宋" panose="02010600040101010101" charset="-122"/>
                <a:cs typeface="华文仿宋" panose="02010600040101010101" charset="-122"/>
              </a:rPr>
              <a:t> </a:t>
            </a:r>
            <a:r>
              <a:rPr sz="2000" kern="0" spc="-30" dirty="0">
                <a:solidFill>
                  <a:schemeClr val="tx1">
                    <a:alpha val="100000"/>
                  </a:schemeClr>
                </a:solidFill>
                <a:latin typeface="华文仿宋" panose="02010600040101010101" charset="-122"/>
                <a:ea typeface="华文仿宋" panose="02010600040101010101" charset="-122"/>
                <a:cs typeface="华文仿宋" panose="02010600040101010101" charset="-122"/>
              </a:rPr>
              <a:t>但</a:t>
            </a:r>
            <a:r>
              <a:rPr sz="2000" b="1" kern="0" spc="-30" dirty="0">
                <a:solidFill>
                  <a:schemeClr val="tx1">
                    <a:alpha val="100000"/>
                  </a:schemeClr>
                </a:solidFill>
                <a:latin typeface="华文仿宋" panose="02010600040101010101" charset="-122"/>
                <a:ea typeface="华文仿宋" panose="02010600040101010101" charset="-122"/>
                <a:cs typeface="华文仿宋" panose="02010600040101010101" charset="-122"/>
              </a:rPr>
              <a:t>加密金融系统通过链上合约实现了</a:t>
            </a:r>
            <a:r>
              <a:rPr sz="2000" b="1" kern="0" spc="-40" dirty="0">
                <a:solidFill>
                  <a:schemeClr val="tx1">
                    <a:alpha val="100000"/>
                  </a:schemeClr>
                </a:solidFill>
                <a:latin typeface="华文仿宋" panose="02010600040101010101" charset="-122"/>
                <a:ea typeface="华文仿宋" panose="02010600040101010101" charset="-122"/>
                <a:cs typeface="华文仿宋" panose="02010600040101010101" charset="-122"/>
              </a:rPr>
              <a:t>类似“</a:t>
            </a:r>
            <a:r>
              <a:rPr sz="2000" kern="0" spc="-330" dirty="0">
                <a:solidFill>
                  <a:schemeClr val="tx1">
                    <a:alpha val="100000"/>
                  </a:schemeClr>
                </a:solidFill>
                <a:latin typeface="华文仿宋" panose="02010600040101010101" charset="-122"/>
                <a:ea typeface="华文仿宋" panose="02010600040101010101" charset="-122"/>
                <a:cs typeface="华文仿宋" panose="02010600040101010101" charset="-122"/>
              </a:rPr>
              <a:t> </a:t>
            </a:r>
            <a:r>
              <a:rPr sz="2000" b="1" kern="0" spc="-40" dirty="0">
                <a:solidFill>
                  <a:schemeClr val="tx1">
                    <a:alpha val="100000"/>
                  </a:schemeClr>
                </a:solidFill>
                <a:latin typeface="华文仿宋" panose="02010600040101010101" charset="-122"/>
                <a:ea typeface="华文仿宋" panose="02010600040101010101" charset="-122"/>
                <a:cs typeface="华文仿宋" panose="02010600040101010101" charset="-122"/>
              </a:rPr>
              <a:t>货币乘数</a:t>
            </a:r>
            <a:r>
              <a:rPr sz="2000" kern="0" spc="-330" dirty="0">
                <a:solidFill>
                  <a:schemeClr val="tx1">
                    <a:alpha val="100000"/>
                  </a:schemeClr>
                </a:solidFill>
                <a:latin typeface="华文仿宋" panose="02010600040101010101" charset="-122"/>
                <a:ea typeface="华文仿宋" panose="02010600040101010101" charset="-122"/>
                <a:cs typeface="华文仿宋" panose="02010600040101010101" charset="-122"/>
              </a:rPr>
              <a:t> </a:t>
            </a:r>
            <a:r>
              <a:rPr sz="2000" b="1" kern="0" spc="-40" dirty="0">
                <a:solidFill>
                  <a:schemeClr val="tx1">
                    <a:alpha val="100000"/>
                  </a:schemeClr>
                </a:solidFill>
                <a:latin typeface="华文仿宋" panose="02010600040101010101" charset="-122"/>
                <a:ea typeface="华文仿宋" panose="02010600040101010101" charset="-122"/>
                <a:cs typeface="华文仿宋" panose="02010600040101010101" charset="-122"/>
              </a:rPr>
              <a:t>”</a:t>
            </a:r>
            <a:r>
              <a:rPr sz="2000" kern="0" spc="-390" dirty="0">
                <a:solidFill>
                  <a:schemeClr val="tx1">
                    <a:alpha val="100000"/>
                  </a:schemeClr>
                </a:solidFill>
                <a:latin typeface="华文仿宋" panose="02010600040101010101" charset="-122"/>
                <a:ea typeface="华文仿宋" panose="02010600040101010101" charset="-122"/>
                <a:cs typeface="华文仿宋" panose="02010600040101010101" charset="-122"/>
              </a:rPr>
              <a:t> </a:t>
            </a:r>
            <a:r>
              <a:rPr sz="2000" b="1" kern="0" spc="-40" dirty="0">
                <a:solidFill>
                  <a:schemeClr val="tx1">
                    <a:alpha val="100000"/>
                  </a:schemeClr>
                </a:solidFill>
                <a:latin typeface="华文仿宋" panose="02010600040101010101" charset="-122"/>
                <a:ea typeface="华文仿宋" panose="02010600040101010101" charset="-122"/>
                <a:cs typeface="华文仿宋" panose="02010600040101010101" charset="-122"/>
              </a:rPr>
              <a:t>的信用扩张机制，</a:t>
            </a:r>
            <a:r>
              <a:rPr sz="2000" kern="0" spc="-380" dirty="0">
                <a:solidFill>
                  <a:schemeClr val="tx1">
                    <a:alpha val="100000"/>
                  </a:schemeClr>
                </a:solidFill>
                <a:latin typeface="华文仿宋" panose="02010600040101010101" charset="-122"/>
                <a:ea typeface="华文仿宋" panose="02010600040101010101" charset="-122"/>
                <a:cs typeface="华文仿宋" panose="02010600040101010101" charset="-122"/>
              </a:rPr>
              <a:t> </a:t>
            </a:r>
            <a:r>
              <a:rPr sz="2000" kern="0" spc="-40" dirty="0">
                <a:solidFill>
                  <a:schemeClr val="tx1">
                    <a:alpha val="100000"/>
                  </a:schemeClr>
                </a:solidFill>
                <a:latin typeface="华文仿宋" panose="02010600040101010101" charset="-122"/>
                <a:ea typeface="华文仿宋" panose="02010600040101010101" charset="-122"/>
                <a:cs typeface="华文仿宋" panose="02010600040101010101" charset="-122"/>
              </a:rPr>
              <a:t>这</a:t>
            </a:r>
            <a:r>
              <a:rPr sz="2000" kern="0" spc="-10" dirty="0">
                <a:solidFill>
                  <a:schemeClr val="tx1">
                    <a:alpha val="100000"/>
                  </a:schemeClr>
                </a:solidFill>
                <a:latin typeface="华文仿宋" panose="02010600040101010101" charset="-122"/>
                <a:ea typeface="华文仿宋" panose="02010600040101010101" charset="-122"/>
                <a:cs typeface="华文仿宋" panose="02010600040101010101" charset="-122"/>
              </a:rPr>
              <a:t>一机制并非源于信贷，</a:t>
            </a:r>
            <a:r>
              <a:rPr sz="2000" kern="0" spc="-290" dirty="0">
                <a:solidFill>
                  <a:schemeClr val="tx1">
                    <a:alpha val="100000"/>
                  </a:schemeClr>
                </a:solidFill>
                <a:latin typeface="华文仿宋" panose="02010600040101010101" charset="-122"/>
                <a:ea typeface="华文仿宋" panose="02010600040101010101" charset="-122"/>
                <a:cs typeface="华文仿宋" panose="02010600040101010101" charset="-122"/>
              </a:rPr>
              <a:t> </a:t>
            </a:r>
            <a:r>
              <a:rPr sz="2000" kern="0" spc="-10" dirty="0">
                <a:solidFill>
                  <a:schemeClr val="tx1">
                    <a:alpha val="100000"/>
                  </a:schemeClr>
                </a:solidFill>
                <a:latin typeface="华文仿宋" panose="02010600040101010101" charset="-122"/>
                <a:ea typeface="华文仿宋" panose="02010600040101010101" charset="-122"/>
                <a:cs typeface="华文仿宋" panose="02010600040101010101" charset="-122"/>
              </a:rPr>
              <a:t>而是通过</a:t>
            </a:r>
            <a:r>
              <a:rPr sz="2000" b="1" kern="0" spc="-10" dirty="0">
                <a:solidFill>
                  <a:schemeClr val="tx1">
                    <a:alpha val="100000"/>
                  </a:schemeClr>
                </a:solidFill>
                <a:latin typeface="华文仿宋" panose="02010600040101010101" charset="-122"/>
                <a:ea typeface="华文仿宋" panose="02010600040101010101" charset="-122"/>
                <a:cs typeface="华文仿宋" panose="02010600040101010101" charset="-122"/>
              </a:rPr>
              <a:t>稳定币的重复使</a:t>
            </a:r>
            <a:r>
              <a:rPr sz="2000" b="1" kern="0" spc="-20" dirty="0">
                <a:solidFill>
                  <a:schemeClr val="tx1">
                    <a:alpha val="100000"/>
                  </a:schemeClr>
                </a:solidFill>
                <a:latin typeface="华文仿宋" panose="02010600040101010101" charset="-122"/>
                <a:ea typeface="华文仿宋" panose="02010600040101010101" charset="-122"/>
                <a:cs typeface="华文仿宋" panose="02010600040101010101" charset="-122"/>
              </a:rPr>
              <a:t>用与抵押路径的多层嵌套</a:t>
            </a:r>
            <a:r>
              <a:rPr sz="2000" kern="0" spc="-20" dirty="0">
                <a:solidFill>
                  <a:schemeClr val="tx1">
                    <a:alpha val="100000"/>
                  </a:schemeClr>
                </a:solidFill>
                <a:latin typeface="华文仿宋" panose="02010600040101010101" charset="-122"/>
                <a:ea typeface="华文仿宋" panose="02010600040101010101" charset="-122"/>
                <a:cs typeface="华文仿宋" panose="02010600040101010101" charset="-122"/>
              </a:rPr>
              <a:t>构建而来。</a:t>
            </a:r>
            <a:r>
              <a:rPr lang="zh-CN" sz="2000" kern="0" spc="-20" dirty="0">
                <a:solidFill>
                  <a:schemeClr val="tx1">
                    <a:alpha val="100000"/>
                  </a:schemeClr>
                </a:solidFill>
                <a:latin typeface="华文仿宋" panose="02010600040101010101" charset="-122"/>
                <a:ea typeface="华文仿宋" panose="02010600040101010101" charset="-122"/>
                <a:cs typeface="华文仿宋" panose="02010600040101010101" charset="-122"/>
              </a:rPr>
              <a:t>（通过</a:t>
            </a:r>
            <a:r>
              <a:rPr lang="en-US" altLang="zh-CN" sz="2000" dirty="0">
                <a:solidFill>
                  <a:schemeClr val="tx1"/>
                </a:solidFill>
                <a:latin typeface="华文仿宋" panose="02010600040101010101" charset="-122"/>
                <a:ea typeface="华文仿宋" panose="02010600040101010101" charset="-122"/>
                <a:cs typeface="华文仿宋" panose="02010600040101010101" charset="-122"/>
              </a:rPr>
              <a:t>DeFi </a:t>
            </a:r>
            <a:r>
              <a:rPr lang="zh-CN" altLang="en-US" sz="2000" dirty="0">
                <a:solidFill>
                  <a:schemeClr val="tx1"/>
                </a:solidFill>
                <a:latin typeface="华文仿宋" panose="02010600040101010101" charset="-122"/>
                <a:ea typeface="华文仿宋" panose="02010600040101010101" charset="-122"/>
                <a:cs typeface="华文仿宋" panose="02010600040101010101" charset="-122"/>
              </a:rPr>
              <a:t>借贷平台）</a:t>
            </a:r>
            <a:endParaRPr lang="zh-CN" altLang="en-US" sz="2000" dirty="0">
              <a:solidFill>
                <a:schemeClr val="tx1"/>
              </a:solidFill>
              <a:latin typeface="华文仿宋" panose="02010600040101010101" charset="-122"/>
              <a:ea typeface="华文仿宋" panose="02010600040101010101" charset="-122"/>
              <a:cs typeface="华文仿宋" panose="02010600040101010101" charset="-122"/>
            </a:endParaRPr>
          </a:p>
          <a:p>
            <a:pPr marL="19685" indent="320675" algn="l" defTabSz="0" rtl="0" eaLnBrk="0">
              <a:lnSpc>
                <a:spcPct val="94000"/>
              </a:lnSpc>
              <a:spcBef>
                <a:spcPts val="820"/>
              </a:spcBef>
            </a:pPr>
            <a:r>
              <a:rPr sz="2000" b="1" kern="0" spc="-50" dirty="0">
                <a:solidFill>
                  <a:srgbClr val="262626">
                    <a:alpha val="100000"/>
                  </a:srgbClr>
                </a:solidFill>
                <a:latin typeface="华文仿宋" panose="02010600040101010101" charset="-122"/>
                <a:ea typeface="华文仿宋" panose="02010600040101010101" charset="-122"/>
                <a:cs typeface="华文仿宋" panose="02010600040101010101" charset="-122"/>
              </a:rPr>
              <a:t>（3）</a:t>
            </a:r>
            <a:r>
              <a:rPr sz="2000" kern="0" spc="-27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262626">
                    <a:alpha val="100000"/>
                  </a:srgbClr>
                </a:solidFill>
                <a:latin typeface="华文仿宋" panose="02010600040101010101" charset="-122"/>
                <a:ea typeface="华文仿宋" panose="02010600040101010101" charset="-122"/>
                <a:cs typeface="华文仿宋" panose="02010600040101010101" charset="-122"/>
              </a:rPr>
              <a:t>资本流动“</a:t>
            </a:r>
            <a:r>
              <a:rPr sz="2000" kern="0" spc="-31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50" dirty="0">
                <a:solidFill>
                  <a:srgbClr val="262626">
                    <a:alpha val="100000"/>
                  </a:srgbClr>
                </a:solidFill>
                <a:latin typeface="华文仿宋" panose="02010600040101010101" charset="-122"/>
                <a:ea typeface="华文仿宋" panose="02010600040101010101" charset="-122"/>
                <a:cs typeface="华文仿宋" panose="02010600040101010101" charset="-122"/>
              </a:rPr>
              <a:t>去管</a:t>
            </a:r>
            <a:r>
              <a:rPr sz="2000" b="1" kern="0" spc="-60" dirty="0">
                <a:solidFill>
                  <a:srgbClr val="262626">
                    <a:alpha val="100000"/>
                  </a:srgbClr>
                </a:solidFill>
                <a:latin typeface="华文仿宋" panose="02010600040101010101" charset="-122"/>
                <a:ea typeface="华文仿宋" panose="02010600040101010101" charset="-122"/>
                <a:cs typeface="华文仿宋" panose="02010600040101010101" charset="-122"/>
              </a:rPr>
              <a:t>道化</a:t>
            </a:r>
            <a:r>
              <a:rPr sz="2000" kern="0" spc="-33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b="1" kern="0" spc="-60" dirty="0">
                <a:solidFill>
                  <a:srgbClr val="262626">
                    <a:alpha val="100000"/>
                  </a:srgbClr>
                </a:solidFill>
                <a:latin typeface="华文仿宋" panose="02010600040101010101" charset="-122"/>
                <a:ea typeface="华文仿宋" panose="02010600040101010101" charset="-122"/>
                <a:cs typeface="华文仿宋" panose="02010600040101010101" charset="-122"/>
              </a:rPr>
              <a:t>”：</a:t>
            </a:r>
            <a:r>
              <a:rPr sz="2000" kern="0" spc="15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60" dirty="0">
                <a:solidFill>
                  <a:srgbClr val="262626">
                    <a:alpha val="100000"/>
                  </a:srgbClr>
                </a:solidFill>
                <a:latin typeface="华文仿宋" panose="02010600040101010101" charset="-122"/>
                <a:ea typeface="华文仿宋" panose="02010600040101010101" charset="-122"/>
                <a:cs typeface="华文仿宋" panose="02010600040101010101" charset="-122"/>
              </a:rPr>
              <a:t>稳定币允许资金绕过传统外汇管制和资本监管，</a:t>
            </a:r>
            <a:r>
              <a:rPr sz="2000" kern="0" spc="-18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60" dirty="0">
                <a:solidFill>
                  <a:srgbClr val="262626">
                    <a:alpha val="100000"/>
                  </a:srgbClr>
                </a:solidFill>
                <a:latin typeface="华文仿宋" panose="02010600040101010101" charset="-122"/>
                <a:ea typeface="华文仿宋" panose="02010600040101010101" charset="-122"/>
                <a:cs typeface="华文仿宋" panose="02010600040101010101" charset="-122"/>
              </a:rPr>
              <a:t>削弱本国对跨境</a:t>
            </a:r>
            <a:r>
              <a:rPr sz="2000" kern="0" spc="-30" dirty="0">
                <a:solidFill>
                  <a:srgbClr val="262626">
                    <a:alpha val="100000"/>
                  </a:srgbClr>
                </a:solidFill>
                <a:latin typeface="华文仿宋" panose="02010600040101010101" charset="-122"/>
                <a:ea typeface="华文仿宋" panose="02010600040101010101" charset="-122"/>
                <a:cs typeface="华文仿宋" panose="02010600040101010101" charset="-122"/>
              </a:rPr>
              <a:t>资金流动的管理能力，</a:t>
            </a:r>
            <a:r>
              <a:rPr sz="2000" kern="0" spc="-340" dirty="0">
                <a:solidFill>
                  <a:srgbClr val="262626">
                    <a:alpha val="100000"/>
                  </a:srgbClr>
                </a:solidFill>
                <a:latin typeface="华文仿宋" panose="02010600040101010101" charset="-122"/>
                <a:ea typeface="华文仿宋" panose="02010600040101010101" charset="-122"/>
                <a:cs typeface="华文仿宋" panose="02010600040101010101" charset="-122"/>
              </a:rPr>
              <a:t> </a:t>
            </a:r>
            <a:r>
              <a:rPr sz="2000" kern="0" spc="-40" dirty="0">
                <a:solidFill>
                  <a:srgbClr val="262626">
                    <a:alpha val="100000"/>
                  </a:srgbClr>
                </a:solidFill>
                <a:latin typeface="华文仿宋" panose="02010600040101010101" charset="-122"/>
                <a:ea typeface="华文仿宋" panose="02010600040101010101" charset="-122"/>
                <a:cs typeface="华文仿宋" panose="02010600040101010101" charset="-122"/>
              </a:rPr>
              <a:t>可能引发</a:t>
            </a:r>
            <a:r>
              <a:rPr sz="2000" b="1"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资金“</a:t>
            </a:r>
            <a:r>
              <a:rPr sz="2000" kern="0" spc="-33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无序</a:t>
            </a:r>
            <a:r>
              <a:rPr sz="2000" kern="0" spc="-33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40" dirty="0">
                <a:solidFill>
                  <a:srgbClr val="FF0000">
                    <a:alpha val="100000"/>
                  </a:srgbClr>
                </a:solidFill>
                <a:latin typeface="华文仿宋" panose="02010600040101010101" charset="-122"/>
                <a:ea typeface="华文仿宋" panose="02010600040101010101" charset="-122"/>
                <a:cs typeface="华文仿宋" panose="02010600040101010101" charset="-122"/>
              </a:rPr>
              <a:t>”流动。</a:t>
            </a:r>
            <a:endParaRPr sz="2000" dirty="0">
              <a:latin typeface="华文仿宋" panose="02010600040101010101" charset="-122"/>
              <a:ea typeface="华文仿宋" panose="02010600040101010101" charset="-122"/>
              <a:cs typeface="华文仿宋" panose="02010600040101010101" charset="-122"/>
            </a:endParaRPr>
          </a:p>
          <a:p>
            <a:pPr algn="l" defTabSz="0" rtl="0" eaLnBrk="0">
              <a:lnSpc>
                <a:spcPct val="110000"/>
              </a:lnSpc>
            </a:pPr>
            <a:endParaRPr sz="900" dirty="0">
              <a:latin typeface="Arial" panose="020B0604020202020204" pitchFamily="34" charset="0"/>
              <a:ea typeface="Arial" panose="020B0604020202020204" pitchFamily="34" charset="0"/>
              <a:cs typeface="Arial" panose="020B0604020202020204" pitchFamily="34" charset="0"/>
            </a:endParaRPr>
          </a:p>
          <a:p>
            <a:pPr marL="390525" algn="l" defTabSz="0" rtl="0" eaLnBrk="0">
              <a:lnSpc>
                <a:spcPct val="82000"/>
              </a:lnSpc>
              <a:spcBef>
                <a:spcPts val="5"/>
              </a:spcBef>
            </a:pPr>
            <a:r>
              <a:rPr sz="2000" kern="0" spc="-20" dirty="0">
                <a:solidFill>
                  <a:srgbClr val="262626">
                    <a:alpha val="100000"/>
                  </a:srgbClr>
                </a:solidFill>
                <a:latin typeface="华文仿宋" panose="02010600040101010101" charset="-122"/>
                <a:ea typeface="华文仿宋" panose="02010600040101010101" charset="-122"/>
                <a:cs typeface="华文仿宋" panose="02010600040101010101" charset="-122"/>
              </a:rPr>
              <a:t>上述</a:t>
            </a:r>
            <a:r>
              <a:rPr sz="2000" b="1"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对一国货币政策传导机制的影响，</a:t>
            </a:r>
            <a:r>
              <a:rPr sz="2000" kern="0" spc="-310" dirty="0">
                <a:solidFill>
                  <a:srgbClr val="FF0000">
                    <a:alpha val="100000"/>
                  </a:srgbClr>
                </a:solidFill>
                <a:latin typeface="华文仿宋" panose="02010600040101010101" charset="-122"/>
                <a:ea typeface="华文仿宋" panose="02010600040101010101" charset="-122"/>
                <a:cs typeface="华文仿宋" panose="02010600040101010101" charset="-122"/>
              </a:rPr>
              <a:t> </a:t>
            </a:r>
            <a:r>
              <a:rPr sz="2000" b="1" kern="0" spc="-20" dirty="0">
                <a:solidFill>
                  <a:srgbClr val="FF0000">
                    <a:alpha val="100000"/>
                  </a:srgbClr>
                </a:solidFill>
                <a:latin typeface="华文仿宋" panose="02010600040101010101" charset="-122"/>
                <a:ea typeface="华文仿宋" panose="02010600040101010101" charset="-122"/>
                <a:cs typeface="华文仿宋" panose="02010600040101010101" charset="-122"/>
              </a:rPr>
              <a:t>将取决于稳定币的规模。</a:t>
            </a:r>
            <a:endParaRPr sz="2000" dirty="0">
              <a:latin typeface="华文仿宋" panose="02010600040101010101" charset="-122"/>
              <a:ea typeface="华文仿宋" panose="02010600040101010101" charset="-122"/>
              <a:cs typeface="华文仿宋" panose="02010600040101010101" charset="-122"/>
            </a:endParaRPr>
          </a:p>
        </p:txBody>
      </p:sp>
      <p:sp>
        <p:nvSpPr>
          <p:cNvPr id="190" name="rect 190"/>
          <p:cNvSpPr/>
          <p:nvPr/>
        </p:nvSpPr>
        <p:spPr>
          <a:xfrm>
            <a:off x="0" y="6556247"/>
            <a:ext cx="12192000" cy="301752"/>
          </a:xfrm>
          <a:prstGeom prst="rect">
            <a:avLst/>
          </a:prstGeom>
          <a:solidFill>
            <a:srgbClr val="AE0B2A">
              <a:alpha val="100000"/>
            </a:srgbClr>
          </a:solidFill>
          <a:ln w="0" cap="flat">
            <a:noFill/>
            <a:prstDash val="solid"/>
            <a:miter lim="0"/>
          </a:ln>
        </p:spPr>
        <p:txBody>
          <a:bodyPr rtlCol="0"/>
          <a:lstStyle/>
          <a:p>
            <a:pPr algn="ctr"/>
            <a:endParaRPr lang="zh-CN" altLang="en-US"/>
          </a:p>
        </p:txBody>
      </p:sp>
      <p:pic>
        <p:nvPicPr>
          <p:cNvPr id="194" name="picture 194"/>
          <p:cNvPicPr>
            <a:picLocks noChangeAspect="1"/>
          </p:cNvPicPr>
          <p:nvPr/>
        </p:nvPicPr>
        <p:blipFill>
          <a:blip r:embed="rId1"/>
          <a:stretch>
            <a:fillRect/>
          </a:stretch>
        </p:blipFill>
        <p:spPr>
          <a:xfrm rot="21600000">
            <a:off x="2752725" y="451954"/>
            <a:ext cx="9439275" cy="19050"/>
          </a:xfrm>
          <a:prstGeom prst="rect">
            <a:avLst/>
          </a:prstGeom>
        </p:spPr>
      </p:pic>
      <p:pic>
        <p:nvPicPr>
          <p:cNvPr id="196" name="picture 196"/>
          <p:cNvPicPr>
            <a:picLocks noChangeAspect="1"/>
          </p:cNvPicPr>
          <p:nvPr/>
        </p:nvPicPr>
        <p:blipFill>
          <a:blip r:embed="rId2"/>
          <a:stretch>
            <a:fillRect/>
          </a:stretch>
        </p:blipFill>
        <p:spPr>
          <a:xfrm rot="21600000">
            <a:off x="0" y="451954"/>
            <a:ext cx="901700" cy="1905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rot="21600000">
            <a:off x="0" y="658"/>
            <a:ext cx="12192000" cy="6856728"/>
          </a:xfrm>
          <a:prstGeom prst="rect">
            <a:avLst/>
          </a:prstGeom>
        </p:spPr>
      </p:pic>
      <p:pic>
        <p:nvPicPr>
          <p:cNvPr id="4" name="picture 4"/>
          <p:cNvPicPr>
            <a:picLocks noChangeAspect="1"/>
          </p:cNvPicPr>
          <p:nvPr/>
        </p:nvPicPr>
        <p:blipFill>
          <a:blip r:embed="rId2"/>
          <a:stretch>
            <a:fillRect/>
          </a:stretch>
        </p:blipFill>
        <p:spPr>
          <a:xfrm rot="21600000">
            <a:off x="1318132" y="505846"/>
            <a:ext cx="10062971" cy="6058293"/>
          </a:xfrm>
          <a:prstGeom prst="rect">
            <a:avLst/>
          </a:prstGeom>
        </p:spPr>
      </p:pic>
      <p:sp>
        <p:nvSpPr>
          <p:cNvPr id="6" name="textbox 6"/>
          <p:cNvSpPr/>
          <p:nvPr/>
        </p:nvSpPr>
        <p:spPr>
          <a:xfrm>
            <a:off x="1493520" y="2566035"/>
            <a:ext cx="10760710" cy="1092200"/>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pitchFamily="34" charset="0"/>
              <a:ea typeface="Arial" panose="020B0604020202020204" pitchFamily="34" charset="0"/>
              <a:cs typeface="Arial" panose="020B0604020202020204" pitchFamily="34" charset="0"/>
            </a:endParaRPr>
          </a:p>
          <a:p>
            <a:pPr marL="29845" algn="l" rtl="0" eaLnBrk="0">
              <a:lnSpc>
                <a:spcPct val="86000"/>
              </a:lnSpc>
            </a:pPr>
            <a:endParaRPr sz="3200" dirty="0">
              <a:latin typeface="楷体" panose="02010609060101010101" charset="-122"/>
              <a:ea typeface="楷体" panose="02010609060101010101" charset="-122"/>
              <a:cs typeface="楷体" panose="02010609060101010101" charset="-122"/>
            </a:endParaRPr>
          </a:p>
          <a:p>
            <a:pPr algn="l" rtl="0" eaLnBrk="0">
              <a:lnSpc>
                <a:spcPct val="104000"/>
              </a:lnSpc>
            </a:pPr>
            <a:r>
              <a:rPr lang="zh-CN" altLang="en-US" sz="3200" b="1" kern="0" spc="-20" dirty="0">
                <a:solidFill>
                  <a:srgbClr val="FBFBFC">
                    <a:alpha val="100000"/>
                  </a:srgbClr>
                </a:solidFill>
                <a:latin typeface="楷体" panose="02010609060101010101" charset="-122"/>
                <a:ea typeface="楷体" panose="02010609060101010101" charset="-122"/>
                <a:cs typeface="楷体" panose="02010609060101010101" charset="-122"/>
                <a:sym typeface="+mn-ea"/>
              </a:rPr>
              <a:t>Part </a:t>
            </a:r>
            <a:r>
              <a:rPr lang="en-US" altLang="zh-CN" sz="3200" b="1" kern="0" spc="-20" dirty="0">
                <a:solidFill>
                  <a:srgbClr val="FBFBFC">
                    <a:alpha val="100000"/>
                  </a:srgbClr>
                </a:solidFill>
                <a:latin typeface="楷体" panose="02010609060101010101" charset="-122"/>
                <a:ea typeface="楷体" panose="02010609060101010101" charset="-122"/>
                <a:cs typeface="楷体" panose="02010609060101010101" charset="-122"/>
                <a:sym typeface="+mn-ea"/>
              </a:rPr>
              <a:t>5</a:t>
            </a:r>
            <a:r>
              <a:rPr lang="zh-CN" altLang="en-US" sz="3200" b="1" kern="0" spc="-20" dirty="0">
                <a:solidFill>
                  <a:srgbClr val="FBFBFC">
                    <a:alpha val="100000"/>
                  </a:srgbClr>
                </a:solidFill>
                <a:latin typeface="楷体" panose="02010609060101010101" charset="-122"/>
                <a:ea typeface="楷体" panose="02010609060101010101" charset="-122"/>
                <a:cs typeface="楷体" panose="02010609060101010101" charset="-122"/>
                <a:sym typeface="+mn-ea"/>
              </a:rPr>
              <a:t>:</a:t>
            </a:r>
            <a:r>
              <a:rPr lang="zh-CN" altLang="en-US" sz="3200" b="1" kern="0" spc="-20" dirty="0">
                <a:solidFill>
                  <a:srgbClr val="FBFBFC">
                    <a:alpha val="100000"/>
                  </a:srgbClr>
                </a:solidFill>
                <a:latin typeface="楷体" panose="02010609060101010101" charset="-122"/>
                <a:ea typeface="楷体" panose="02010609060101010101" charset="-122"/>
                <a:cs typeface="楷体" panose="02010609060101010101" charset="-122"/>
                <a:sym typeface="+mn-ea"/>
              </a:rPr>
              <a:t>稳定币与数字人民币协同推进人民币国际化</a:t>
            </a:r>
            <a:endParaRPr lang="zh-CN" altLang="en-US" sz="3200" b="1" kern="0" spc="-20" dirty="0">
              <a:solidFill>
                <a:srgbClr val="FBFBFC">
                  <a:alpha val="100000"/>
                </a:srgbClr>
              </a:solidFill>
              <a:latin typeface="楷体" panose="02010609060101010101" charset="-122"/>
              <a:ea typeface="楷体" panose="02010609060101010101" charset="-122"/>
              <a:cs typeface="楷体" panose="02010609060101010101" charset="-122"/>
            </a:endParaRPr>
          </a:p>
          <a:p>
            <a:pPr algn="l" rtl="0" eaLnBrk="0">
              <a:lnSpc>
                <a:spcPct val="104000"/>
              </a:lnSpc>
            </a:pPr>
            <a:r>
              <a:rPr lang="zh-CN" altLang="en-US" sz="3600" b="1" kern="0" spc="-20" dirty="0">
                <a:solidFill>
                  <a:srgbClr val="FBFBFC">
                    <a:alpha val="100000"/>
                  </a:srgbClr>
                </a:solidFill>
                <a:latin typeface="楷体" panose="02010609060101010101" charset="-122"/>
                <a:ea typeface="楷体" panose="02010609060101010101" charset="-122"/>
                <a:cs typeface="楷体" panose="02010609060101010101" charset="-122"/>
                <a:sym typeface="+mn-ea"/>
              </a:rPr>
              <a:t> </a:t>
            </a:r>
            <a:endParaRPr lang="zh-CN" altLang="en-US" sz="3600" b="1" kern="0" spc="-20" dirty="0">
              <a:solidFill>
                <a:srgbClr val="FBFBFC">
                  <a:alpha val="100000"/>
                </a:srgbClr>
              </a:solidFill>
              <a:latin typeface="楷体" panose="02010609060101010101" charset="-122"/>
              <a:ea typeface="楷体" panose="02010609060101010101" charset="-122"/>
              <a:cs typeface="楷体" panose="02010609060101010101" charset="-122"/>
            </a:endParaRPr>
          </a:p>
          <a:p>
            <a:pPr algn="l" rtl="0" eaLnBrk="0">
              <a:lnSpc>
                <a:spcPct val="104000"/>
              </a:lnSpc>
            </a:pPr>
            <a:endParaRPr lang="zh-CN" altLang="en-US" sz="3600" b="1" kern="0" spc="-20" dirty="0">
              <a:solidFill>
                <a:schemeClr val="bg1"/>
              </a:solidFill>
              <a:latin typeface="华文楷体" panose="02010600040101010101" charset="-122"/>
              <a:ea typeface="华文楷体" panose="02010600040101010101" charset="-122"/>
              <a:cs typeface="华文楷体" panose="02010600040101010101" charset="-122"/>
            </a:endParaRPr>
          </a:p>
        </p:txBody>
      </p:sp>
      <p:pic>
        <p:nvPicPr>
          <p:cNvPr id="10" name="picture 10"/>
          <p:cNvPicPr>
            <a:picLocks noChangeAspect="1"/>
          </p:cNvPicPr>
          <p:nvPr/>
        </p:nvPicPr>
        <p:blipFill>
          <a:blip r:embed="rId3"/>
          <a:stretch>
            <a:fillRect/>
          </a:stretch>
        </p:blipFill>
        <p:spPr>
          <a:xfrm rot="21600000">
            <a:off x="9027245" y="4694442"/>
            <a:ext cx="1902037" cy="1157539"/>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6" name="picture 476"/>
          <p:cNvPicPr>
            <a:picLocks noChangeAspect="1"/>
          </p:cNvPicPr>
          <p:nvPr/>
        </p:nvPicPr>
        <p:blipFill>
          <a:blip r:embed="rId1"/>
          <a:stretch>
            <a:fillRect/>
          </a:stretch>
        </p:blipFill>
        <p:spPr>
          <a:xfrm rot="21600000">
            <a:off x="1793875" y="3429000"/>
            <a:ext cx="10052671" cy="3289934"/>
          </a:xfrm>
          <a:prstGeom prst="rect">
            <a:avLst/>
          </a:prstGeom>
        </p:spPr>
      </p:pic>
      <p:sp>
        <p:nvSpPr>
          <p:cNvPr id="478" name="textbox 478"/>
          <p:cNvSpPr/>
          <p:nvPr/>
        </p:nvSpPr>
        <p:spPr>
          <a:xfrm>
            <a:off x="346591" y="1087501"/>
            <a:ext cx="11497944" cy="2653664"/>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Arial" panose="020B0604020202020204" pitchFamily="34" charset="0"/>
              <a:ea typeface="Arial" panose="020B0604020202020204" pitchFamily="34" charset="0"/>
              <a:cs typeface="Arial" panose="020B0604020202020204" pitchFamily="34" charset="0"/>
            </a:endParaRPr>
          </a:p>
          <a:p>
            <a:pPr marL="333375" algn="l" rtl="0" eaLnBrk="0">
              <a:lnSpc>
                <a:spcPct val="93000"/>
              </a:lnSpc>
            </a:pPr>
            <a:r>
              <a:rPr sz="18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mBridge项目与东盟等国合作落地情况</a:t>
            </a:r>
            <a:endParaRPr sz="1800" dirty="0">
              <a:latin typeface="微软雅黑" panose="020B0503020204020204" charset="-122"/>
              <a:ea typeface="微软雅黑" panose="020B0503020204020204" charset="-122"/>
              <a:cs typeface="微软雅黑" panose="020B0503020204020204" charset="-122"/>
            </a:endParaRPr>
          </a:p>
          <a:p>
            <a:pPr marL="285115" indent="-272415" algn="l" rtl="0" eaLnBrk="0">
              <a:lnSpc>
                <a:spcPct val="142000"/>
              </a:lnSpc>
              <a:spcBef>
                <a:spcPts val="70"/>
              </a:spcBef>
            </a:pPr>
            <a:r>
              <a:rPr sz="1500" b="1" kern="0" spc="0" dirty="0">
                <a:solidFill>
                  <a:srgbClr val="B12727">
                    <a:alpha val="100000"/>
                  </a:srgbClr>
                </a:solidFill>
                <a:latin typeface="Wingdings" panose="05000000000000000000" pitchFamily="2" charset="2"/>
                <a:ea typeface="Wingdings" panose="05000000000000000000" pitchFamily="2" charset="2"/>
                <a:cs typeface="Wingdings" panose="05000000000000000000" pitchFamily="2" charset="2"/>
              </a:rPr>
              <a:t>n</a:t>
            </a:r>
            <a:r>
              <a:rPr sz="1500" kern="0" spc="-320" dirty="0">
                <a:solidFill>
                  <a:srgbClr val="B12727">
                    <a:alpha val="100000"/>
                  </a:srgbClr>
                </a:solidFill>
                <a:latin typeface="Wingdings" panose="05000000000000000000" pitchFamily="2" charset="2"/>
                <a:ea typeface="Wingdings" panose="05000000000000000000" pitchFamily="2" charset="2"/>
                <a:cs typeface="Wingdings" panose="05000000000000000000" pitchFamily="2" charset="2"/>
              </a:rPr>
              <a:t> </a:t>
            </a:r>
            <a:r>
              <a:rPr sz="1500" b="1" kern="0" spc="0" dirty="0">
                <a:solidFill>
                  <a:srgbClr val="12181D">
                    <a:alpha val="100000"/>
                  </a:srgbClr>
                </a:solidFill>
                <a:latin typeface="微软雅黑" panose="020B0503020204020204" charset="-122"/>
                <a:ea typeface="微软雅黑" panose="020B0503020204020204" charset="-122"/>
                <a:cs typeface="微软雅黑" panose="020B0503020204020204" charset="-122"/>
              </a:rPr>
              <a:t>mBridge</a:t>
            </a:r>
            <a:r>
              <a:rPr sz="1500" b="1" kern="0" spc="100" dirty="0">
                <a:solidFill>
                  <a:srgbClr val="12181D">
                    <a:alpha val="100000"/>
                  </a:srgbClr>
                </a:solidFill>
                <a:latin typeface="微软雅黑" panose="020B0503020204020204" charset="-122"/>
                <a:ea typeface="微软雅黑" panose="020B0503020204020204" charset="-122"/>
                <a:cs typeface="微软雅黑" panose="020B0503020204020204" charset="-122"/>
              </a:rPr>
              <a:t>简介： </a:t>
            </a:r>
            <a:r>
              <a:rPr sz="1500" kern="0" spc="100" dirty="0">
                <a:solidFill>
                  <a:srgbClr val="12181D">
                    <a:alpha val="100000"/>
                  </a:srgbClr>
                </a:solidFill>
                <a:latin typeface="微软雅黑" panose="020B0503020204020204" charset="-122"/>
                <a:ea typeface="微软雅黑" panose="020B0503020204020204" charset="-122"/>
                <a:cs typeface="微软雅黑" panose="020B0503020204020204" charset="-122"/>
              </a:rPr>
              <a:t>由中国人民银行数字货币研究所、香港金管局、泰国</a:t>
            </a:r>
            <a:r>
              <a:rPr sz="1500" kern="0" spc="90" dirty="0">
                <a:solidFill>
                  <a:srgbClr val="12181D">
                    <a:alpha val="100000"/>
                  </a:srgbClr>
                </a:solidFill>
                <a:latin typeface="微软雅黑" panose="020B0503020204020204" charset="-122"/>
                <a:ea typeface="微软雅黑" panose="020B0503020204020204" charset="-122"/>
                <a:cs typeface="微软雅黑" panose="020B0503020204020204" charset="-122"/>
              </a:rPr>
              <a:t>央行、阿联酋央行及</a:t>
            </a:r>
            <a:r>
              <a:rPr sz="1500" kern="0" spc="0" dirty="0">
                <a:solidFill>
                  <a:srgbClr val="12181D">
                    <a:alpha val="100000"/>
                  </a:srgbClr>
                </a:solidFill>
                <a:latin typeface="微软雅黑" panose="020B0503020204020204" charset="-122"/>
                <a:ea typeface="微软雅黑" panose="020B0503020204020204" charset="-122"/>
                <a:cs typeface="微软雅黑" panose="020B0503020204020204" charset="-122"/>
              </a:rPr>
              <a:t>BIS</a:t>
            </a:r>
            <a:r>
              <a:rPr sz="1500" kern="0" spc="90" dirty="0">
                <a:solidFill>
                  <a:srgbClr val="12181D">
                    <a:alpha val="100000"/>
                  </a:srgbClr>
                </a:solidFill>
                <a:latin typeface="微软雅黑" panose="020B0503020204020204" charset="-122"/>
                <a:ea typeface="微软雅黑" panose="020B0503020204020204" charset="-122"/>
                <a:cs typeface="微软雅黑" panose="020B0503020204020204" charset="-122"/>
              </a:rPr>
              <a:t>创新中心联合发起，是一个多边</a:t>
            </a:r>
            <a:r>
              <a:rPr sz="1500" kern="0" spc="80" dirty="0">
                <a:solidFill>
                  <a:srgbClr val="12181D">
                    <a:alpha val="100000"/>
                  </a:srgbClr>
                </a:solidFill>
                <a:latin typeface="微软雅黑" panose="020B0503020204020204" charset="-122"/>
                <a:ea typeface="微软雅黑" panose="020B0503020204020204" charset="-122"/>
                <a:cs typeface="微软雅黑" panose="020B0503020204020204" charset="-122"/>
              </a:rPr>
              <a:t>央行数字货币跨境支付平台，基于区块链技术。</a:t>
            </a:r>
            <a:endParaRPr sz="1500" dirty="0">
              <a:latin typeface="微软雅黑" panose="020B0503020204020204" charset="-122"/>
              <a:ea typeface="微软雅黑" panose="020B0503020204020204" charset="-122"/>
              <a:cs typeface="微软雅黑" panose="020B0503020204020204" charset="-122"/>
            </a:endParaRPr>
          </a:p>
          <a:p>
            <a:pPr marL="283845" indent="-271780" algn="l" rtl="0" eaLnBrk="0">
              <a:lnSpc>
                <a:spcPct val="148000"/>
              </a:lnSpc>
              <a:spcBef>
                <a:spcPts val="70"/>
              </a:spcBef>
            </a:pPr>
            <a:r>
              <a:rPr sz="1500" b="1" kern="0" spc="80" dirty="0">
                <a:solidFill>
                  <a:srgbClr val="B12727">
                    <a:alpha val="100000"/>
                  </a:srgbClr>
                </a:solidFill>
                <a:latin typeface="Wingdings" panose="05000000000000000000" pitchFamily="2" charset="2"/>
                <a:ea typeface="Wingdings" panose="05000000000000000000" pitchFamily="2" charset="2"/>
                <a:cs typeface="Wingdings" panose="05000000000000000000" pitchFamily="2" charset="2"/>
              </a:rPr>
              <a:t>n</a:t>
            </a:r>
            <a:r>
              <a:rPr sz="1500" kern="0" spc="-420" dirty="0">
                <a:solidFill>
                  <a:srgbClr val="B12727">
                    <a:alpha val="100000"/>
                  </a:srgbClr>
                </a:solidFill>
                <a:latin typeface="Wingdings" panose="05000000000000000000" pitchFamily="2" charset="2"/>
                <a:ea typeface="Wingdings" panose="05000000000000000000" pitchFamily="2" charset="2"/>
                <a:cs typeface="Wingdings" panose="05000000000000000000" pitchFamily="2" charset="2"/>
              </a:rPr>
              <a:t> </a:t>
            </a:r>
            <a:r>
              <a:rPr sz="1500" b="1" kern="0" spc="80" dirty="0">
                <a:solidFill>
                  <a:srgbClr val="12181D">
                    <a:alpha val="100000"/>
                  </a:srgbClr>
                </a:solidFill>
                <a:latin typeface="微软雅黑" panose="020B0503020204020204" charset="-122"/>
                <a:ea typeface="微软雅黑" panose="020B0503020204020204" charset="-122"/>
                <a:cs typeface="微软雅黑" panose="020B0503020204020204" charset="-122"/>
              </a:rPr>
              <a:t>测试进展： </a:t>
            </a:r>
            <a:r>
              <a:rPr sz="1500" kern="0" spc="80" dirty="0">
                <a:solidFill>
                  <a:srgbClr val="12181D">
                    <a:alpha val="100000"/>
                  </a:srgbClr>
                </a:solidFill>
                <a:latin typeface="微软雅黑" panose="020B0503020204020204" charset="-122"/>
                <a:ea typeface="微软雅黑" panose="020B0503020204020204" charset="-122"/>
                <a:cs typeface="微软雅黑" panose="020B0503020204020204" charset="-122"/>
              </a:rPr>
              <a:t>2022年发布的</a:t>
            </a:r>
            <a:r>
              <a:rPr sz="1500" kern="0" spc="0" dirty="0">
                <a:solidFill>
                  <a:srgbClr val="12181D">
                    <a:alpha val="100000"/>
                  </a:srgbClr>
                </a:solidFill>
                <a:latin typeface="微软雅黑" panose="020B0503020204020204" charset="-122"/>
                <a:ea typeface="微软雅黑" panose="020B0503020204020204" charset="-122"/>
                <a:cs typeface="微软雅黑" panose="020B0503020204020204" charset="-122"/>
              </a:rPr>
              <a:t>mBridge</a:t>
            </a:r>
            <a:r>
              <a:rPr sz="1500" kern="0" spc="80" dirty="0">
                <a:solidFill>
                  <a:srgbClr val="12181D">
                    <a:alpha val="100000"/>
                  </a:srgbClr>
                </a:solidFill>
                <a:latin typeface="微软雅黑" panose="020B0503020204020204" charset="-122"/>
                <a:ea typeface="微软雅黑" panose="020B0503020204020204" charset="-122"/>
                <a:cs typeface="微软雅黑" panose="020B0503020204020204" charset="-122"/>
              </a:rPr>
              <a:t>试点报告中， 中国工商银行、农业银行等多家机构已参与</a:t>
            </a:r>
            <a:r>
              <a:rPr sz="1500" kern="0" spc="70" dirty="0">
                <a:solidFill>
                  <a:srgbClr val="12181D">
                    <a:alpha val="100000"/>
                  </a:srgbClr>
                </a:solidFill>
                <a:latin typeface="微软雅黑" panose="020B0503020204020204" charset="-122"/>
                <a:ea typeface="微软雅黑" panose="020B0503020204020204" charset="-122"/>
                <a:cs typeface="微软雅黑" panose="020B0503020204020204" charset="-122"/>
              </a:rPr>
              <a:t>测试。测试涵盖跨境汇款、跨币</a:t>
            </a:r>
            <a:r>
              <a:rPr sz="1500" kern="0" spc="90" dirty="0">
                <a:solidFill>
                  <a:srgbClr val="12181D">
                    <a:alpha val="100000"/>
                  </a:srgbClr>
                </a:solidFill>
                <a:latin typeface="微软雅黑" panose="020B0503020204020204" charset="-122"/>
                <a:ea typeface="微软雅黑" panose="020B0503020204020204" charset="-122"/>
                <a:cs typeface="微软雅黑" panose="020B0503020204020204" charset="-122"/>
              </a:rPr>
              <a:t>种支付等功能，具有实时结算、成本低、操作简便等优势。</a:t>
            </a:r>
            <a:endParaRPr sz="1500" dirty="0">
              <a:latin typeface="微软雅黑" panose="020B0503020204020204" charset="-122"/>
              <a:ea typeface="微软雅黑" panose="020B0503020204020204" charset="-122"/>
              <a:cs typeface="微软雅黑" panose="020B0503020204020204" charset="-122"/>
            </a:endParaRPr>
          </a:p>
          <a:p>
            <a:pPr marL="287020" indent="-274320" algn="l" rtl="0" eaLnBrk="0">
              <a:lnSpc>
                <a:spcPct val="148000"/>
              </a:lnSpc>
              <a:spcBef>
                <a:spcPts val="110"/>
              </a:spcBef>
            </a:pPr>
            <a:r>
              <a:rPr sz="1500" b="1" kern="0" spc="80" dirty="0">
                <a:solidFill>
                  <a:srgbClr val="B12727">
                    <a:alpha val="100000"/>
                  </a:srgbClr>
                </a:solidFill>
                <a:latin typeface="Wingdings" panose="05000000000000000000" pitchFamily="2" charset="2"/>
                <a:ea typeface="Wingdings" panose="05000000000000000000" pitchFamily="2" charset="2"/>
                <a:cs typeface="Wingdings" panose="05000000000000000000" pitchFamily="2" charset="2"/>
              </a:rPr>
              <a:t>n</a:t>
            </a:r>
            <a:r>
              <a:rPr sz="1500" kern="0" spc="-400" dirty="0">
                <a:solidFill>
                  <a:srgbClr val="B12727">
                    <a:alpha val="100000"/>
                  </a:srgbClr>
                </a:solidFill>
                <a:latin typeface="Wingdings" panose="05000000000000000000" pitchFamily="2" charset="2"/>
                <a:ea typeface="Wingdings" panose="05000000000000000000" pitchFamily="2" charset="2"/>
                <a:cs typeface="Wingdings" panose="05000000000000000000" pitchFamily="2" charset="2"/>
              </a:rPr>
              <a:t> </a:t>
            </a:r>
            <a:r>
              <a:rPr sz="1500" b="1" kern="0" spc="80" dirty="0">
                <a:solidFill>
                  <a:srgbClr val="12181D">
                    <a:alpha val="100000"/>
                  </a:srgbClr>
                </a:solidFill>
                <a:latin typeface="微软雅黑" panose="020B0503020204020204" charset="-122"/>
                <a:ea typeface="微软雅黑" panose="020B0503020204020204" charset="-122"/>
                <a:cs typeface="微软雅黑" panose="020B0503020204020204" charset="-122"/>
              </a:rPr>
              <a:t>与东盟国家合作落地情况：  </a:t>
            </a:r>
            <a:r>
              <a:rPr sz="1500" kern="0" spc="80" dirty="0">
                <a:solidFill>
                  <a:srgbClr val="12181D">
                    <a:alpha val="100000"/>
                  </a:srgbClr>
                </a:solidFill>
                <a:latin typeface="微软雅黑" panose="020B0503020204020204" charset="-122"/>
                <a:ea typeface="微软雅黑" panose="020B0503020204020204" charset="-122"/>
                <a:cs typeface="微软雅黑" panose="020B0503020204020204" charset="-122"/>
              </a:rPr>
              <a:t>泰国、马来西亚、</a:t>
            </a:r>
            <a:r>
              <a:rPr sz="1500" kern="0" spc="70" dirty="0">
                <a:solidFill>
                  <a:srgbClr val="12181D">
                    <a:alpha val="100000"/>
                  </a:srgbClr>
                </a:solidFill>
                <a:latin typeface="微软雅黑" panose="020B0503020204020204" charset="-122"/>
                <a:ea typeface="微软雅黑" panose="020B0503020204020204" charset="-122"/>
                <a:cs typeface="微软雅黑" panose="020B0503020204020204" charset="-122"/>
              </a:rPr>
              <a:t>新加坡等国家均在测试中担任节点；与</a:t>
            </a:r>
            <a:r>
              <a:rPr sz="1500" kern="0" spc="-340" dirty="0">
                <a:solidFill>
                  <a:srgbClr val="12181D">
                    <a:alpha val="100000"/>
                  </a:srgbClr>
                </a:solidFill>
                <a:latin typeface="微软雅黑" panose="020B0503020204020204" charset="-122"/>
                <a:ea typeface="微软雅黑" panose="020B0503020204020204" charset="-122"/>
                <a:cs typeface="微软雅黑" panose="020B0503020204020204" charset="-122"/>
              </a:rPr>
              <a:t> </a:t>
            </a:r>
            <a:r>
              <a:rPr sz="1500" kern="0" spc="70" dirty="0">
                <a:solidFill>
                  <a:srgbClr val="12181D">
                    <a:alpha val="100000"/>
                  </a:srgbClr>
                </a:solidFill>
                <a:latin typeface="微软雅黑" panose="020B0503020204020204" charset="-122"/>
                <a:ea typeface="微软雅黑" panose="020B0503020204020204" charset="-122"/>
                <a:cs typeface="微软雅黑" panose="020B0503020204020204" charset="-122"/>
              </a:rPr>
              <a:t>“一带一路”倡议结合，推动东盟在跨境</a:t>
            </a:r>
            <a:r>
              <a:rPr sz="1500" kern="0" spc="100" dirty="0">
                <a:solidFill>
                  <a:srgbClr val="12181D">
                    <a:alpha val="100000"/>
                  </a:srgbClr>
                </a:solidFill>
                <a:latin typeface="微软雅黑" panose="020B0503020204020204" charset="-122"/>
                <a:ea typeface="微软雅黑" panose="020B0503020204020204" charset="-122"/>
                <a:cs typeface="微软雅黑" panose="020B0503020204020204" charset="-122"/>
              </a:rPr>
              <a:t>贸易、劳务汇款场景中接受e-</a:t>
            </a:r>
            <a:r>
              <a:rPr sz="1500" kern="0" spc="0" dirty="0">
                <a:solidFill>
                  <a:srgbClr val="12181D">
                    <a:alpha val="100000"/>
                  </a:srgbClr>
                </a:solidFill>
                <a:latin typeface="微软雅黑" panose="020B0503020204020204" charset="-122"/>
                <a:ea typeface="微软雅黑" panose="020B0503020204020204" charset="-122"/>
                <a:cs typeface="微软雅黑" panose="020B0503020204020204" charset="-122"/>
              </a:rPr>
              <a:t>CNY</a:t>
            </a:r>
            <a:r>
              <a:rPr sz="1500" kern="0" spc="100" dirty="0">
                <a:solidFill>
                  <a:srgbClr val="12181D">
                    <a:alpha val="100000"/>
                  </a:srgbClr>
                </a:solidFill>
                <a:latin typeface="微软雅黑" panose="020B0503020204020204" charset="-122"/>
                <a:ea typeface="微软雅黑" panose="020B0503020204020204" charset="-122"/>
                <a:cs typeface="微软雅黑" panose="020B0503020204020204" charset="-122"/>
              </a:rPr>
              <a:t>；实际案例：</a:t>
            </a:r>
            <a:r>
              <a:rPr sz="1500" kern="0" spc="-90" dirty="0">
                <a:solidFill>
                  <a:srgbClr val="12181D">
                    <a:alpha val="100000"/>
                  </a:srgbClr>
                </a:solidFill>
                <a:latin typeface="微软雅黑" panose="020B0503020204020204" charset="-122"/>
                <a:ea typeface="微软雅黑" panose="020B0503020204020204" charset="-122"/>
                <a:cs typeface="微软雅黑" panose="020B0503020204020204" charset="-122"/>
              </a:rPr>
              <a:t> </a:t>
            </a:r>
            <a:r>
              <a:rPr sz="1500" kern="0" spc="100" dirty="0">
                <a:solidFill>
                  <a:srgbClr val="12181D">
                    <a:alpha val="100000"/>
                  </a:srgbClr>
                </a:solidFill>
                <a:latin typeface="微软雅黑" panose="020B0503020204020204" charset="-122"/>
                <a:ea typeface="微软雅黑" panose="020B0503020204020204" charset="-122"/>
                <a:cs typeface="微软雅黑" panose="020B0503020204020204" charset="-122"/>
              </a:rPr>
              <a:t>部分港企通</a:t>
            </a:r>
            <a:r>
              <a:rPr sz="1500" kern="0" spc="90" dirty="0">
                <a:solidFill>
                  <a:srgbClr val="12181D">
                    <a:alpha val="100000"/>
                  </a:srgbClr>
                </a:solidFill>
                <a:latin typeface="微软雅黑" panose="020B0503020204020204" charset="-122"/>
                <a:ea typeface="微软雅黑" panose="020B0503020204020204" charset="-122"/>
                <a:cs typeface="微软雅黑" panose="020B0503020204020204" charset="-122"/>
              </a:rPr>
              <a:t>过e-</a:t>
            </a:r>
            <a:r>
              <a:rPr sz="1500" kern="0" spc="0" dirty="0">
                <a:solidFill>
                  <a:srgbClr val="12181D">
                    <a:alpha val="100000"/>
                  </a:srgbClr>
                </a:solidFill>
                <a:latin typeface="微软雅黑" panose="020B0503020204020204" charset="-122"/>
                <a:ea typeface="微软雅黑" panose="020B0503020204020204" charset="-122"/>
                <a:cs typeface="微软雅黑" panose="020B0503020204020204" charset="-122"/>
              </a:rPr>
              <a:t>CNY</a:t>
            </a:r>
            <a:r>
              <a:rPr sz="1500" kern="0" spc="90" dirty="0">
                <a:solidFill>
                  <a:srgbClr val="12181D">
                    <a:alpha val="100000"/>
                  </a:srgbClr>
                </a:solidFill>
                <a:latin typeface="微软雅黑" panose="020B0503020204020204" charset="-122"/>
                <a:ea typeface="微软雅黑" panose="020B0503020204020204" charset="-122"/>
                <a:cs typeface="微软雅黑" panose="020B0503020204020204" charset="-122"/>
              </a:rPr>
              <a:t>向东盟供应商支付货款，实现秒级到账；挑战与限制：东</a:t>
            </a:r>
            <a:r>
              <a:rPr sz="1500" kern="0" spc="80" dirty="0">
                <a:solidFill>
                  <a:srgbClr val="12181D">
                    <a:alpha val="100000"/>
                  </a:srgbClr>
                </a:solidFill>
                <a:latin typeface="微软雅黑" panose="020B0503020204020204" charset="-122"/>
                <a:ea typeface="微软雅黑" panose="020B0503020204020204" charset="-122"/>
                <a:cs typeface="微软雅黑" panose="020B0503020204020204" charset="-122"/>
              </a:rPr>
              <a:t>盟国家普遍仍处于“观察期”</a:t>
            </a:r>
            <a:r>
              <a:rPr sz="1500" kern="0" spc="-210" dirty="0">
                <a:solidFill>
                  <a:srgbClr val="12181D">
                    <a:alpha val="100000"/>
                  </a:srgbClr>
                </a:solidFill>
                <a:latin typeface="微软雅黑" panose="020B0503020204020204" charset="-122"/>
                <a:ea typeface="微软雅黑" panose="020B0503020204020204" charset="-122"/>
                <a:cs typeface="微软雅黑" panose="020B0503020204020204" charset="-122"/>
              </a:rPr>
              <a:t> </a:t>
            </a:r>
            <a:r>
              <a:rPr sz="1500" kern="0" spc="80" dirty="0">
                <a:solidFill>
                  <a:srgbClr val="12181D">
                    <a:alpha val="100000"/>
                  </a:srgbClr>
                </a:solidFill>
                <a:latin typeface="微软雅黑" panose="020B0503020204020204" charset="-122"/>
                <a:ea typeface="微软雅黑" panose="020B0503020204020204" charset="-122"/>
                <a:cs typeface="微软雅黑" panose="020B0503020204020204" charset="-122"/>
              </a:rPr>
              <a:t>，需进一</a:t>
            </a:r>
            <a:r>
              <a:rPr sz="1500" kern="0" spc="70" dirty="0">
                <a:solidFill>
                  <a:srgbClr val="12181D">
                    <a:alpha val="100000"/>
                  </a:srgbClr>
                </a:solidFill>
                <a:latin typeface="微软雅黑" panose="020B0503020204020204" charset="-122"/>
                <a:ea typeface="微软雅黑" panose="020B0503020204020204" charset="-122"/>
                <a:cs typeface="微软雅黑" panose="020B0503020204020204" charset="-122"/>
              </a:rPr>
              <a:t>步解决汇率兑换机制、</a:t>
            </a:r>
            <a:r>
              <a:rPr sz="1500" kern="0" spc="-90" dirty="0">
                <a:solidFill>
                  <a:srgbClr val="12181D">
                    <a:alpha val="100000"/>
                  </a:srgbClr>
                </a:solidFill>
                <a:latin typeface="微软雅黑" panose="020B0503020204020204" charset="-122"/>
                <a:ea typeface="微软雅黑" panose="020B0503020204020204" charset="-122"/>
                <a:cs typeface="微软雅黑" panose="020B0503020204020204" charset="-122"/>
              </a:rPr>
              <a:t> </a:t>
            </a:r>
            <a:r>
              <a:rPr sz="1500" kern="0" spc="0" dirty="0">
                <a:solidFill>
                  <a:srgbClr val="12181D">
                    <a:alpha val="100000"/>
                  </a:srgbClr>
                </a:solidFill>
                <a:latin typeface="微软雅黑" panose="020B0503020204020204" charset="-122"/>
                <a:ea typeface="微软雅黑" panose="020B0503020204020204" charset="-122"/>
                <a:cs typeface="微软雅黑" panose="020B0503020204020204" charset="-122"/>
              </a:rPr>
              <a:t>KYC</a:t>
            </a:r>
            <a:r>
              <a:rPr sz="1500" kern="0" spc="70" dirty="0">
                <a:solidFill>
                  <a:srgbClr val="12181D">
                    <a:alpha val="100000"/>
                  </a:srgbClr>
                </a:solidFill>
                <a:latin typeface="微软雅黑" panose="020B0503020204020204" charset="-122"/>
                <a:ea typeface="微软雅黑" panose="020B0503020204020204" charset="-122"/>
                <a:cs typeface="微软雅黑" panose="020B0503020204020204" charset="-122"/>
              </a:rPr>
              <a:t>。</a:t>
            </a:r>
            <a:endParaRPr sz="1500" dirty="0">
              <a:latin typeface="微软雅黑" panose="020B0503020204020204" charset="-122"/>
              <a:ea typeface="微软雅黑" panose="020B0503020204020204" charset="-122"/>
              <a:cs typeface="微软雅黑" panose="020B0503020204020204" charset="-122"/>
            </a:endParaRPr>
          </a:p>
        </p:txBody>
      </p:sp>
      <p:sp>
        <p:nvSpPr>
          <p:cNvPr id="480" name="path 480"/>
          <p:cNvSpPr/>
          <p:nvPr/>
        </p:nvSpPr>
        <p:spPr>
          <a:xfrm>
            <a:off x="1274627" y="838839"/>
            <a:ext cx="8762816" cy="21590"/>
          </a:xfrm>
          <a:custGeom>
            <a:avLst/>
            <a:gdLst/>
            <a:ahLst/>
            <a:cxnLst/>
            <a:rect l="0" t="0" r="0" b="0"/>
            <a:pathLst>
              <a:path w="13799" h="34">
                <a:moveTo>
                  <a:pt x="0" y="15"/>
                </a:moveTo>
                <a:lnTo>
                  <a:pt x="13799" y="19"/>
                </a:lnTo>
              </a:path>
            </a:pathLst>
          </a:custGeom>
          <a:noFill/>
          <a:ln w="19050" cap="flat">
            <a:solidFill>
              <a:srgbClr val="BFBFBF"/>
            </a:solidFill>
            <a:prstDash val="dash"/>
            <a:round/>
          </a:ln>
        </p:spPr>
        <p:txBody>
          <a:bodyPr rtlCol="0"/>
          <a:lstStyle/>
          <a:p>
            <a:pPr algn="ctr"/>
            <a:endParaRPr lang="zh-CN" altLang="en-US"/>
          </a:p>
        </p:txBody>
      </p:sp>
      <p:sp>
        <p:nvSpPr>
          <p:cNvPr id="482" name="textbox 482"/>
          <p:cNvSpPr/>
          <p:nvPr/>
        </p:nvSpPr>
        <p:spPr>
          <a:xfrm>
            <a:off x="21590" y="224637"/>
            <a:ext cx="5695315" cy="646430"/>
          </a:xfrm>
          <a:prstGeom prst="rect">
            <a:avLst/>
          </a:prstGeom>
          <a:noFill/>
          <a:ln w="0" cap="flat">
            <a:noFill/>
            <a:prstDash val="solid"/>
            <a:miter lim="0"/>
          </a:ln>
        </p:spPr>
        <p:txBody>
          <a:bodyPr vert="horz" wrap="square" lIns="0" tIns="0" rIns="0" bIns="0"/>
          <a:lstStyle/>
          <a:p>
            <a:pPr algn="l" rtl="0" eaLnBrk="0">
              <a:lnSpc>
                <a:spcPct val="108000"/>
              </a:lnSpc>
            </a:pPr>
            <a:endParaRPr sz="1000" dirty="0">
              <a:latin typeface="Arial" panose="020B0604020202020204" pitchFamily="34" charset="0"/>
              <a:ea typeface="Arial" panose="020B0604020202020204" pitchFamily="34" charset="0"/>
              <a:cs typeface="Arial" panose="020B0604020202020204" pitchFamily="34" charset="0"/>
            </a:endParaRPr>
          </a:p>
          <a:p>
            <a:pPr marL="797560" algn="l" defTabSz="0" rtl="0" eaLnBrk="0">
              <a:lnSpc>
                <a:spcPts val="3690"/>
              </a:lnSpc>
              <a:spcBef>
                <a:spcPts val="0"/>
              </a:spcBef>
              <a:tabLst>
                <a:tab pos="1240155" algn="l"/>
              </a:tabLst>
            </a:pPr>
            <a:r>
              <a:rPr sz="27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	</a:t>
            </a:r>
            <a:r>
              <a:rPr lang="en-US" sz="27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5</a:t>
            </a:r>
            <a:r>
              <a:rPr sz="2700" b="1" kern="0" spc="80" dirty="0">
                <a:solidFill>
                  <a:srgbClr val="C00000">
                    <a:alpha val="100000"/>
                  </a:srgbClr>
                </a:solidFill>
                <a:latin typeface="微软雅黑" panose="020B0503020204020204" charset="-122"/>
                <a:ea typeface="微软雅黑" panose="020B0503020204020204" charset="-122"/>
                <a:cs typeface="微软雅黑" panose="020B0503020204020204" charset="-122"/>
              </a:rPr>
              <a:t>.1数字人民币跨境拓展现状</a:t>
            </a:r>
            <a:endParaRPr sz="2700" dirty="0">
              <a:latin typeface="微软雅黑" panose="020B0503020204020204" charset="-122"/>
              <a:ea typeface="微软雅黑" panose="020B0503020204020204" charset="-122"/>
              <a:cs typeface="微软雅黑" panose="020B0503020204020204" charset="-122"/>
            </a:endParaRPr>
          </a:p>
        </p:txBody>
      </p:sp>
      <p:grpSp>
        <p:nvGrpSpPr>
          <p:cNvPr id="64" name="group 64"/>
          <p:cNvGrpSpPr/>
          <p:nvPr/>
        </p:nvGrpSpPr>
        <p:grpSpPr>
          <a:xfrm rot="21600000">
            <a:off x="34290" y="237337"/>
            <a:ext cx="785266" cy="478129"/>
            <a:chOff x="0" y="0"/>
            <a:chExt cx="785266" cy="478129"/>
          </a:xfrm>
        </p:grpSpPr>
        <p:sp>
          <p:nvSpPr>
            <p:cNvPr id="484" name="path 484"/>
            <p:cNvSpPr/>
            <p:nvPr/>
          </p:nvSpPr>
          <p:spPr>
            <a:xfrm>
              <a:off x="0" y="0"/>
              <a:ext cx="124879" cy="478129"/>
            </a:xfrm>
            <a:custGeom>
              <a:avLst/>
              <a:gdLst/>
              <a:ahLst/>
              <a:cxnLst/>
              <a:rect l="0" t="0" r="0" b="0"/>
              <a:pathLst>
                <a:path w="196" h="752">
                  <a:moveTo>
                    <a:pt x="0" y="0"/>
                  </a:moveTo>
                  <a:lnTo>
                    <a:pt x="196" y="0"/>
                  </a:lnTo>
                  <a:lnTo>
                    <a:pt x="196" y="752"/>
                  </a:lnTo>
                  <a:lnTo>
                    <a:pt x="0" y="752"/>
                  </a:lnTo>
                  <a:lnTo>
                    <a:pt x="0" y="0"/>
                  </a:lnTo>
                  <a:close/>
                </a:path>
              </a:pathLst>
            </a:custGeom>
            <a:solidFill>
              <a:srgbClr val="475F77">
                <a:alpha val="100000"/>
              </a:srgbClr>
            </a:solidFill>
            <a:ln w="0" cap="flat">
              <a:noFill/>
              <a:prstDash val="solid"/>
              <a:miter lim="0"/>
            </a:ln>
          </p:spPr>
          <p:txBody>
            <a:bodyPr rtlCol="0"/>
            <a:lstStyle/>
            <a:p>
              <a:pPr algn="ctr"/>
              <a:endParaRPr lang="zh-CN" altLang="en-US"/>
            </a:p>
          </p:txBody>
        </p:sp>
        <p:sp>
          <p:nvSpPr>
            <p:cNvPr id="486" name="path 486"/>
            <p:cNvSpPr/>
            <p:nvPr/>
          </p:nvSpPr>
          <p:spPr>
            <a:xfrm>
              <a:off x="146050" y="0"/>
              <a:ext cx="639216" cy="478129"/>
            </a:xfrm>
            <a:custGeom>
              <a:avLst/>
              <a:gdLst/>
              <a:ahLst/>
              <a:cxnLst/>
              <a:rect l="0" t="0" r="0" b="0"/>
              <a:pathLst>
                <a:path w="1006" h="752">
                  <a:moveTo>
                    <a:pt x="0" y="0"/>
                  </a:moveTo>
                  <a:lnTo>
                    <a:pt x="1006" y="0"/>
                  </a:lnTo>
                  <a:lnTo>
                    <a:pt x="1006" y="752"/>
                  </a:lnTo>
                  <a:lnTo>
                    <a:pt x="0" y="752"/>
                  </a:lnTo>
                  <a:lnTo>
                    <a:pt x="0" y="0"/>
                  </a:lnTo>
                  <a:close/>
                </a:path>
              </a:pathLst>
            </a:custGeom>
            <a:solidFill>
              <a:srgbClr val="CD2D2D">
                <a:alpha val="100000"/>
              </a:srgbClr>
            </a:solidFill>
            <a:ln w="0" cap="flat">
              <a:noFill/>
              <a:prstDash val="solid"/>
              <a:miter lim="0"/>
            </a:ln>
          </p:spPr>
          <p:txBody>
            <a:bodyPr rtlCol="0"/>
            <a:lstStyle/>
            <a:p>
              <a:pPr algn="ctr"/>
              <a:endParaRPr lang="zh-CN" altLang="en-US"/>
            </a:p>
          </p:txBody>
        </p:sp>
      </p:grpSp>
      <p:sp>
        <p:nvSpPr>
          <p:cNvPr id="488" name="textbox 488"/>
          <p:cNvSpPr/>
          <p:nvPr/>
        </p:nvSpPr>
        <p:spPr>
          <a:xfrm>
            <a:off x="826769" y="4210050"/>
            <a:ext cx="1233169" cy="1795779"/>
          </a:xfrm>
          <a:prstGeom prst="rect">
            <a:avLst/>
          </a:prstGeom>
          <a:solidFill>
            <a:srgbClr val="CD2D2D">
              <a:alpha val="100000"/>
            </a:srgbClr>
          </a:solidFill>
          <a:ln w="0" cap="flat">
            <a:noFill/>
            <a:prstDash val="solid"/>
            <a:miter lim="0"/>
          </a:ln>
        </p:spPr>
        <p:txBody>
          <a:bodyPr vert="horz" wrap="square" lIns="0" tIns="0" rIns="0" bIns="0"/>
          <a:lstStyle/>
          <a:p>
            <a:pPr algn="l" rtl="0" eaLnBrk="0">
              <a:lnSpc>
                <a:spcPct val="123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24000"/>
              </a:lnSpc>
            </a:pPr>
            <a:endParaRPr sz="1000" dirty="0">
              <a:latin typeface="Arial" panose="020B0604020202020204" pitchFamily="34" charset="0"/>
              <a:ea typeface="Arial" panose="020B0604020202020204" pitchFamily="34" charset="0"/>
              <a:cs typeface="Arial" panose="020B0604020202020204" pitchFamily="34" charset="0"/>
            </a:endParaRPr>
          </a:p>
          <a:p>
            <a:pPr marL="155575" algn="l" rtl="0" eaLnBrk="0">
              <a:lnSpc>
                <a:spcPts val="2060"/>
              </a:lnSpc>
              <a:spcBef>
                <a:spcPts val="0"/>
              </a:spcBef>
            </a:pPr>
            <a:r>
              <a:rPr sz="1500" kern="0" spc="30" dirty="0">
                <a:solidFill>
                  <a:srgbClr val="FFFFFF">
                    <a:alpha val="100000"/>
                  </a:srgbClr>
                </a:solidFill>
                <a:latin typeface="微软雅黑" panose="020B0503020204020204" charset="-122"/>
                <a:ea typeface="微软雅黑" panose="020B0503020204020204" charset="-122"/>
                <a:cs typeface="微软雅黑" panose="020B0503020204020204" charset="-122"/>
              </a:rPr>
              <a:t>图表：</a:t>
            </a:r>
            <a:endParaRPr sz="1500" dirty="0">
              <a:latin typeface="微软雅黑" panose="020B0503020204020204" charset="-122"/>
              <a:ea typeface="微软雅黑" panose="020B0503020204020204" charset="-122"/>
              <a:cs typeface="微软雅黑" panose="020B0503020204020204" charset="-122"/>
            </a:endParaRPr>
          </a:p>
          <a:p>
            <a:pPr marL="158750" algn="l" rtl="0" eaLnBrk="0">
              <a:lnSpc>
                <a:spcPct val="87000"/>
              </a:lnSpc>
              <a:spcBef>
                <a:spcPts val="650"/>
              </a:spcBef>
            </a:pPr>
            <a:r>
              <a:rPr sz="1500" kern="0" spc="60" dirty="0">
                <a:solidFill>
                  <a:srgbClr val="FFFFFF">
                    <a:alpha val="100000"/>
                  </a:srgbClr>
                </a:solidFill>
                <a:latin typeface="微软雅黑" panose="020B0503020204020204" charset="-122"/>
                <a:ea typeface="微软雅黑" panose="020B0503020204020204" charset="-122"/>
                <a:cs typeface="微软雅黑" panose="020B0503020204020204" charset="-122"/>
              </a:rPr>
              <a:t>中泰芒果</a:t>
            </a:r>
            <a:endParaRPr sz="1500" dirty="0">
              <a:latin typeface="微软雅黑" panose="020B0503020204020204" charset="-122"/>
              <a:ea typeface="微软雅黑" panose="020B0503020204020204" charset="-122"/>
              <a:cs typeface="微软雅黑" panose="020B0503020204020204" charset="-122"/>
            </a:endParaRPr>
          </a:p>
          <a:p>
            <a:pPr marL="149225" algn="l" rtl="0" eaLnBrk="0">
              <a:lnSpc>
                <a:spcPct val="88000"/>
              </a:lnSpc>
              <a:spcBef>
                <a:spcPts val="145"/>
              </a:spcBef>
            </a:pPr>
            <a:r>
              <a:rPr sz="1500" kern="0" spc="70" dirty="0">
                <a:solidFill>
                  <a:srgbClr val="FFFFFF">
                    <a:alpha val="100000"/>
                  </a:srgbClr>
                </a:solidFill>
                <a:latin typeface="微软雅黑" panose="020B0503020204020204" charset="-122"/>
                <a:ea typeface="微软雅黑" panose="020B0503020204020204" charset="-122"/>
                <a:cs typeface="微软雅黑" panose="020B0503020204020204" charset="-122"/>
              </a:rPr>
              <a:t>贸易结算</a:t>
            </a:r>
            <a:endParaRPr sz="1500" dirty="0">
              <a:latin typeface="微软雅黑" panose="020B0503020204020204" charset="-122"/>
              <a:ea typeface="微软雅黑" panose="020B0503020204020204" charset="-122"/>
              <a:cs typeface="微软雅黑" panose="020B0503020204020204" charset="-122"/>
            </a:endParaRPr>
          </a:p>
          <a:p>
            <a:pPr marL="144780" algn="l" rtl="0" eaLnBrk="0">
              <a:lnSpc>
                <a:spcPct val="95000"/>
              </a:lnSpc>
              <a:spcBef>
                <a:spcPts val="10"/>
              </a:spcBef>
            </a:pPr>
            <a:r>
              <a:rPr sz="1500" kern="0" spc="80" dirty="0">
                <a:solidFill>
                  <a:srgbClr val="FFFFFF">
                    <a:alpha val="100000"/>
                  </a:srgbClr>
                </a:solidFill>
                <a:latin typeface="微软雅黑" panose="020B0503020204020204" charset="-122"/>
                <a:ea typeface="微软雅黑" panose="020B0503020204020204" charset="-122"/>
                <a:cs typeface="微软雅黑" panose="020B0503020204020204" charset="-122"/>
              </a:rPr>
              <a:t>流程</a:t>
            </a:r>
            <a:endParaRPr sz="1500" dirty="0">
              <a:latin typeface="微软雅黑" panose="020B0503020204020204" charset="-122"/>
              <a:ea typeface="微软雅黑" panose="020B0503020204020204" charset="-122"/>
              <a:cs typeface="微软雅黑" panose="020B0503020204020204" charset="-122"/>
            </a:endParaRPr>
          </a:p>
        </p:txBody>
      </p:sp>
      <p:sp>
        <p:nvSpPr>
          <p:cNvPr id="492" name="textbox 492"/>
          <p:cNvSpPr/>
          <p:nvPr/>
        </p:nvSpPr>
        <p:spPr>
          <a:xfrm>
            <a:off x="907786" y="6520740"/>
            <a:ext cx="2428239" cy="151764"/>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2000"/>
              </a:lnSpc>
            </a:pPr>
            <a:r>
              <a:rPr sz="9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资料来源：中国人民</a:t>
            </a:r>
            <a:r>
              <a:rPr sz="9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银行</a:t>
            </a:r>
            <a:endParaRPr sz="900" dirty="0">
              <a:latin typeface="微软雅黑" panose="020B0503020204020204" charset="-122"/>
              <a:ea typeface="微软雅黑" panose="020B0503020204020204" charset="-122"/>
              <a:cs typeface="微软雅黑" panose="020B0503020204020204" charset="-122"/>
            </a:endParaRPr>
          </a:p>
        </p:txBody>
      </p:sp>
      <p:sp>
        <p:nvSpPr>
          <p:cNvPr id="494" name="path 494"/>
          <p:cNvSpPr/>
          <p:nvPr/>
        </p:nvSpPr>
        <p:spPr>
          <a:xfrm>
            <a:off x="751110" y="3896630"/>
            <a:ext cx="10689590" cy="9525"/>
          </a:xfrm>
          <a:custGeom>
            <a:avLst/>
            <a:gdLst/>
            <a:ahLst/>
            <a:cxnLst/>
            <a:rect l="0" t="0" r="0" b="0"/>
            <a:pathLst>
              <a:path w="16834" h="15">
                <a:moveTo>
                  <a:pt x="0" y="7"/>
                </a:moveTo>
                <a:lnTo>
                  <a:pt x="16834" y="7"/>
                </a:lnTo>
              </a:path>
            </a:pathLst>
          </a:custGeom>
          <a:noFill/>
          <a:ln w="9525" cap="flat">
            <a:solidFill>
              <a:srgbClr val="B02323"/>
            </a:solidFill>
            <a:prstDash val="solid"/>
            <a:round/>
          </a:ln>
        </p:spPr>
        <p:txBody>
          <a:bodyPr rtlCol="0"/>
          <a:lstStyle/>
          <a:p>
            <a:pPr algn="ctr"/>
            <a:endParaRPr lang="zh-CN" altLang="en-US"/>
          </a:p>
        </p:txBody>
      </p:sp>
      <p:sp>
        <p:nvSpPr>
          <p:cNvPr id="496" name="path 496"/>
          <p:cNvSpPr/>
          <p:nvPr/>
        </p:nvSpPr>
        <p:spPr>
          <a:xfrm>
            <a:off x="953675" y="6308995"/>
            <a:ext cx="10689590" cy="9525"/>
          </a:xfrm>
          <a:custGeom>
            <a:avLst/>
            <a:gdLst/>
            <a:ahLst/>
            <a:cxnLst/>
            <a:rect l="0" t="0" r="0" b="0"/>
            <a:pathLst>
              <a:path w="16834" h="15">
                <a:moveTo>
                  <a:pt x="0" y="7"/>
                </a:moveTo>
                <a:lnTo>
                  <a:pt x="16834" y="7"/>
                </a:lnTo>
              </a:path>
            </a:pathLst>
          </a:custGeom>
          <a:noFill/>
          <a:ln w="9525" cap="flat">
            <a:solidFill>
              <a:srgbClr val="B02323"/>
            </a:solidFill>
            <a:prstDash val="solid"/>
            <a:round/>
          </a:ln>
        </p:spPr>
        <p:txBody>
          <a:bodyPr rtlCol="0"/>
          <a:lstStyle/>
          <a:p>
            <a:pPr algn="ctr"/>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 name="textbox 498"/>
          <p:cNvSpPr/>
          <p:nvPr/>
        </p:nvSpPr>
        <p:spPr>
          <a:xfrm>
            <a:off x="498381" y="6448304"/>
            <a:ext cx="10758169" cy="28829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ts val="2065"/>
              </a:lnSpc>
              <a:tabLst>
                <a:tab pos="106045" algn="l"/>
              </a:tabLst>
            </a:pPr>
            <a:r>
              <a:rPr sz="9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500" kern="0" spc="10" baseline="-4000" dirty="0">
                <a:solidFill>
                  <a:srgbClr val="000000">
                    <a:alpha val="100000"/>
                  </a:srgbClr>
                </a:solidFill>
                <a:latin typeface="微软雅黑" panose="020B0503020204020204" charset="-122"/>
                <a:ea typeface="微软雅黑" panose="020B0503020204020204" charset="-122"/>
                <a:cs typeface="微软雅黑" panose="020B0503020204020204" charset="-122"/>
              </a:rPr>
              <a:t>资料来源：香港金管局</a:t>
            </a:r>
            <a:r>
              <a:rPr sz="9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9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sz="2000" baseline="23000" dirty="0">
              <a:latin typeface="微软雅黑" panose="020B0503020204020204" charset="-122"/>
              <a:ea typeface="微软雅黑" panose="020B0503020204020204" charset="-122"/>
              <a:cs typeface="微软雅黑" panose="020B0503020204020204" charset="-122"/>
            </a:endParaRPr>
          </a:p>
        </p:txBody>
      </p:sp>
      <p:pic>
        <p:nvPicPr>
          <p:cNvPr id="500" name="picture 500"/>
          <p:cNvPicPr>
            <a:picLocks noChangeAspect="1"/>
          </p:cNvPicPr>
          <p:nvPr/>
        </p:nvPicPr>
        <p:blipFill>
          <a:blip r:embed="rId1"/>
          <a:stretch>
            <a:fillRect/>
          </a:stretch>
        </p:blipFill>
        <p:spPr>
          <a:xfrm rot="21600000">
            <a:off x="341629" y="3695065"/>
            <a:ext cx="11062968" cy="2825749"/>
          </a:xfrm>
          <a:prstGeom prst="rect">
            <a:avLst/>
          </a:prstGeom>
        </p:spPr>
      </p:pic>
      <p:sp>
        <p:nvSpPr>
          <p:cNvPr id="502" name="textbox 502"/>
          <p:cNvSpPr/>
          <p:nvPr/>
        </p:nvSpPr>
        <p:spPr>
          <a:xfrm>
            <a:off x="346273" y="1117166"/>
            <a:ext cx="11231244" cy="1659254"/>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ts val="2060"/>
              </a:lnSpc>
            </a:pPr>
            <a:r>
              <a:rPr sz="1500" b="1" kern="0" spc="80" dirty="0">
                <a:solidFill>
                  <a:srgbClr val="B12727">
                    <a:alpha val="100000"/>
                  </a:srgbClr>
                </a:solidFill>
                <a:latin typeface="Wingdings" panose="05000000000000000000" pitchFamily="2" charset="2"/>
                <a:ea typeface="Wingdings" panose="05000000000000000000" pitchFamily="2" charset="2"/>
                <a:cs typeface="Wingdings" panose="05000000000000000000" pitchFamily="2" charset="2"/>
              </a:rPr>
              <a:t>n</a:t>
            </a:r>
            <a:r>
              <a:rPr sz="1500" kern="0" spc="-430" dirty="0">
                <a:solidFill>
                  <a:srgbClr val="B12727">
                    <a:alpha val="100000"/>
                  </a:srgbClr>
                </a:solidFill>
                <a:latin typeface="Wingdings" panose="05000000000000000000" pitchFamily="2" charset="2"/>
                <a:ea typeface="Wingdings" panose="05000000000000000000" pitchFamily="2" charset="2"/>
                <a:cs typeface="Wingdings" panose="05000000000000000000" pitchFamily="2" charset="2"/>
              </a:rPr>
              <a:t> </a:t>
            </a:r>
            <a:r>
              <a:rPr sz="1500" b="1" kern="0" spc="80" dirty="0">
                <a:solidFill>
                  <a:srgbClr val="12181D">
                    <a:alpha val="100000"/>
                  </a:srgbClr>
                </a:solidFill>
                <a:latin typeface="微软雅黑" panose="020B0503020204020204" charset="-122"/>
                <a:ea typeface="微软雅黑" panose="020B0503020204020204" charset="-122"/>
                <a:cs typeface="微软雅黑" panose="020B0503020204020204" charset="-122"/>
              </a:rPr>
              <a:t>政策背景： </a:t>
            </a:r>
            <a:r>
              <a:rPr sz="1500" kern="0" spc="80" dirty="0">
                <a:solidFill>
                  <a:srgbClr val="12181D">
                    <a:alpha val="100000"/>
                  </a:srgbClr>
                </a:solidFill>
                <a:latin typeface="微软雅黑" panose="020B0503020204020204" charset="-122"/>
                <a:ea typeface="微软雅黑" panose="020B0503020204020204" charset="-122"/>
                <a:cs typeface="微软雅黑" panose="020B0503020204020204" charset="-122"/>
              </a:rPr>
              <a:t>香港</a:t>
            </a:r>
            <a:r>
              <a:rPr sz="1500" kern="0" spc="70" dirty="0">
                <a:solidFill>
                  <a:srgbClr val="12181D">
                    <a:alpha val="100000"/>
                  </a:srgbClr>
                </a:solidFill>
                <a:latin typeface="微软雅黑" panose="020B0503020204020204" charset="-122"/>
                <a:ea typeface="微软雅黑" panose="020B0503020204020204" charset="-122"/>
                <a:cs typeface="微软雅黑" panose="020B0503020204020204" charset="-122"/>
              </a:rPr>
              <a:t>金管局与证券及期货事务监察委员会（</a:t>
            </a:r>
            <a:r>
              <a:rPr sz="1500" kern="0" spc="0" dirty="0">
                <a:solidFill>
                  <a:srgbClr val="12181D">
                    <a:alpha val="100000"/>
                  </a:srgbClr>
                </a:solidFill>
                <a:latin typeface="微软雅黑" panose="020B0503020204020204" charset="-122"/>
                <a:ea typeface="微软雅黑" panose="020B0503020204020204" charset="-122"/>
                <a:cs typeface="微软雅黑" panose="020B0503020204020204" charset="-122"/>
              </a:rPr>
              <a:t>SFC</a:t>
            </a:r>
            <a:r>
              <a:rPr sz="1500" kern="0" spc="70" dirty="0">
                <a:solidFill>
                  <a:srgbClr val="12181D">
                    <a:alpha val="100000"/>
                  </a:srgbClr>
                </a:solidFill>
                <a:latin typeface="微软雅黑" panose="020B0503020204020204" charset="-122"/>
                <a:ea typeface="微软雅黑" panose="020B0503020204020204" charset="-122"/>
                <a:cs typeface="微软雅黑" panose="020B0503020204020204" charset="-122"/>
              </a:rPr>
              <a:t>）于2023年正式推出虚拟资产服务提供商（</a:t>
            </a:r>
            <a:r>
              <a:rPr sz="1500" kern="0" spc="0" dirty="0">
                <a:solidFill>
                  <a:srgbClr val="12181D">
                    <a:alpha val="100000"/>
                  </a:srgbClr>
                </a:solidFill>
                <a:latin typeface="微软雅黑" panose="020B0503020204020204" charset="-122"/>
                <a:ea typeface="微软雅黑" panose="020B0503020204020204" charset="-122"/>
                <a:cs typeface="微软雅黑" panose="020B0503020204020204" charset="-122"/>
              </a:rPr>
              <a:t>VASP</a:t>
            </a:r>
            <a:r>
              <a:rPr sz="1500" kern="0" spc="70" dirty="0">
                <a:solidFill>
                  <a:srgbClr val="12181D">
                    <a:alpha val="100000"/>
                  </a:srgbClr>
                </a:solidFill>
                <a:latin typeface="微软雅黑" panose="020B0503020204020204" charset="-122"/>
                <a:ea typeface="微软雅黑" panose="020B0503020204020204" charset="-122"/>
                <a:cs typeface="微软雅黑" panose="020B0503020204020204" charset="-122"/>
              </a:rPr>
              <a:t>）发牌制度，</a:t>
            </a:r>
            <a:endParaRPr sz="1500" dirty="0">
              <a:latin typeface="微软雅黑" panose="020B0503020204020204" charset="-122"/>
              <a:ea typeface="微软雅黑" panose="020B0503020204020204" charset="-122"/>
              <a:cs typeface="微软雅黑" panose="020B0503020204020204" charset="-122"/>
            </a:endParaRPr>
          </a:p>
          <a:p>
            <a:pPr marL="285750" algn="l" rtl="0" eaLnBrk="0">
              <a:lnSpc>
                <a:spcPts val="2515"/>
              </a:lnSpc>
            </a:pPr>
            <a:r>
              <a:rPr sz="1500" kern="0" spc="100" dirty="0">
                <a:solidFill>
                  <a:srgbClr val="12181D">
                    <a:alpha val="100000"/>
                  </a:srgbClr>
                </a:solidFill>
                <a:latin typeface="微软雅黑" panose="020B0503020204020204" charset="-122"/>
                <a:ea typeface="微软雅黑" panose="020B0503020204020204" charset="-122"/>
                <a:cs typeface="微软雅黑" panose="020B0503020204020204" charset="-122"/>
              </a:rPr>
              <a:t>鼓励合规发行锚定法币的稳定币</a:t>
            </a:r>
            <a:r>
              <a:rPr sz="1500" kern="0" spc="90" dirty="0">
                <a:solidFill>
                  <a:srgbClr val="12181D">
                    <a:alpha val="100000"/>
                  </a:srgbClr>
                </a:solidFill>
                <a:latin typeface="微软雅黑" panose="020B0503020204020204" charset="-122"/>
                <a:ea typeface="微软雅黑" panose="020B0503020204020204" charset="-122"/>
                <a:cs typeface="微软雅黑" panose="020B0503020204020204" charset="-122"/>
              </a:rPr>
              <a:t>，为人民币离岸稳定币提供了法律与监管基础。</a:t>
            </a:r>
            <a:endParaRPr sz="1500" dirty="0">
              <a:latin typeface="微软雅黑" panose="020B0503020204020204" charset="-122"/>
              <a:ea typeface="微软雅黑" panose="020B0503020204020204" charset="-122"/>
              <a:cs typeface="微软雅黑" panose="020B0503020204020204" charset="-122"/>
            </a:endParaRPr>
          </a:p>
          <a:p>
            <a:pPr marL="283845" indent="-271145" algn="l" rtl="0" eaLnBrk="0">
              <a:lnSpc>
                <a:spcPct val="143000"/>
              </a:lnSpc>
              <a:spcBef>
                <a:spcPts val="540"/>
              </a:spcBef>
            </a:pPr>
            <a:r>
              <a:rPr sz="1500" b="1" kern="0" spc="80" dirty="0">
                <a:solidFill>
                  <a:srgbClr val="B12727">
                    <a:alpha val="100000"/>
                  </a:srgbClr>
                </a:solidFill>
                <a:latin typeface="Wingdings" panose="05000000000000000000" pitchFamily="2" charset="2"/>
                <a:ea typeface="Wingdings" panose="05000000000000000000" pitchFamily="2" charset="2"/>
                <a:cs typeface="Wingdings" panose="05000000000000000000" pitchFamily="2" charset="2"/>
              </a:rPr>
              <a:t>n</a:t>
            </a:r>
            <a:r>
              <a:rPr sz="1500" kern="0" spc="-420" dirty="0">
                <a:solidFill>
                  <a:srgbClr val="B12727">
                    <a:alpha val="100000"/>
                  </a:srgbClr>
                </a:solidFill>
                <a:latin typeface="Wingdings" panose="05000000000000000000" pitchFamily="2" charset="2"/>
                <a:ea typeface="Wingdings" panose="05000000000000000000" pitchFamily="2" charset="2"/>
                <a:cs typeface="Wingdings" panose="05000000000000000000" pitchFamily="2" charset="2"/>
              </a:rPr>
              <a:t> </a:t>
            </a:r>
            <a:r>
              <a:rPr sz="1500" b="1" kern="0" spc="80" dirty="0">
                <a:solidFill>
                  <a:srgbClr val="12181D">
                    <a:alpha val="100000"/>
                  </a:srgbClr>
                </a:solidFill>
                <a:latin typeface="微软雅黑" panose="020B0503020204020204" charset="-122"/>
                <a:ea typeface="微软雅黑" panose="020B0503020204020204" charset="-122"/>
                <a:cs typeface="微软雅黑" panose="020B0503020204020204" charset="-122"/>
              </a:rPr>
              <a:t>汇率风险： </a:t>
            </a:r>
            <a:r>
              <a:rPr sz="1500" kern="0" spc="80" dirty="0">
                <a:solidFill>
                  <a:srgbClr val="12181D">
                    <a:alpha val="100000"/>
                  </a:srgbClr>
                </a:solidFill>
                <a:latin typeface="微软雅黑" panose="020B0503020204020204" charset="-122"/>
                <a:ea typeface="微软雅黑" panose="020B0503020204020204" charset="-122"/>
                <a:cs typeface="微软雅黑" panose="020B0503020204020204" charset="-122"/>
              </a:rPr>
              <a:t>建立动态平衡机制。当</a:t>
            </a:r>
            <a:r>
              <a:rPr sz="1500" kern="0" spc="0" dirty="0">
                <a:solidFill>
                  <a:srgbClr val="12181D">
                    <a:alpha val="100000"/>
                  </a:srgbClr>
                </a:solidFill>
                <a:latin typeface="微软雅黑" panose="020B0503020204020204" charset="-122"/>
                <a:ea typeface="微软雅黑" panose="020B0503020204020204" charset="-122"/>
                <a:cs typeface="微软雅黑" panose="020B0503020204020204" charset="-122"/>
              </a:rPr>
              <a:t>CNH</a:t>
            </a:r>
            <a:r>
              <a:rPr sz="1500" kern="0" spc="80" dirty="0">
                <a:solidFill>
                  <a:srgbClr val="12181D">
                    <a:alpha val="100000"/>
                  </a:srgbClr>
                </a:solidFill>
                <a:latin typeface="微软雅黑" panose="020B0503020204020204" charset="-122"/>
                <a:ea typeface="微软雅黑" panose="020B0503020204020204" charset="-122"/>
                <a:cs typeface="微软雅黑" panose="020B0503020204020204" charset="-122"/>
              </a:rPr>
              <a:t>/</a:t>
            </a:r>
            <a:r>
              <a:rPr sz="1500" kern="0" spc="0" dirty="0">
                <a:solidFill>
                  <a:srgbClr val="12181D">
                    <a:alpha val="100000"/>
                  </a:srgbClr>
                </a:solidFill>
                <a:latin typeface="微软雅黑" panose="020B0503020204020204" charset="-122"/>
                <a:ea typeface="微软雅黑" panose="020B0503020204020204" charset="-122"/>
                <a:cs typeface="微软雅黑" panose="020B0503020204020204" charset="-122"/>
              </a:rPr>
              <a:t>CNY</a:t>
            </a:r>
            <a:r>
              <a:rPr sz="1500" kern="0" spc="80" dirty="0">
                <a:solidFill>
                  <a:srgbClr val="12181D">
                    <a:alpha val="100000"/>
                  </a:srgbClr>
                </a:solidFill>
                <a:latin typeface="微软雅黑" panose="020B0503020204020204" charset="-122"/>
                <a:ea typeface="微软雅黑" panose="020B0503020204020204" charset="-122"/>
                <a:cs typeface="微软雅黑" panose="020B0503020204020204" charset="-122"/>
              </a:rPr>
              <a:t>价差&gt;1.5%时，自动调整兑换</a:t>
            </a:r>
            <a:r>
              <a:rPr sz="1500" kern="0" spc="70" dirty="0">
                <a:solidFill>
                  <a:srgbClr val="12181D">
                    <a:alpha val="100000"/>
                  </a:srgbClr>
                </a:solidFill>
                <a:latin typeface="微软雅黑" panose="020B0503020204020204" charset="-122"/>
                <a:ea typeface="微软雅黑" panose="020B0503020204020204" charset="-122"/>
                <a:cs typeface="微软雅黑" panose="020B0503020204020204" charset="-122"/>
              </a:rPr>
              <a:t>手续费（0.1%-0.5%浮动）</a:t>
            </a:r>
            <a:r>
              <a:rPr sz="1500" kern="0" spc="-100" dirty="0">
                <a:solidFill>
                  <a:srgbClr val="12181D">
                    <a:alpha val="100000"/>
                  </a:srgbClr>
                </a:solidFill>
                <a:latin typeface="微软雅黑" panose="020B0503020204020204" charset="-122"/>
                <a:ea typeface="微软雅黑" panose="020B0503020204020204" charset="-122"/>
                <a:cs typeface="微软雅黑" panose="020B0503020204020204" charset="-122"/>
              </a:rPr>
              <a:t> </a:t>
            </a:r>
            <a:r>
              <a:rPr sz="1500" kern="0" spc="70" dirty="0">
                <a:solidFill>
                  <a:srgbClr val="12181D">
                    <a:alpha val="100000"/>
                  </a:srgbClr>
                </a:solidFill>
                <a:latin typeface="微软雅黑" panose="020B0503020204020204" charset="-122"/>
                <a:ea typeface="微软雅黑" panose="020B0503020204020204" charset="-122"/>
                <a:cs typeface="微软雅黑" panose="020B0503020204020204" charset="-122"/>
              </a:rPr>
              <a:t>设置每日套利交易限</a:t>
            </a:r>
            <a:r>
              <a:rPr sz="1500" kern="0" spc="90" dirty="0">
                <a:solidFill>
                  <a:srgbClr val="12181D">
                    <a:alpha val="100000"/>
                  </a:srgbClr>
                </a:solidFill>
                <a:latin typeface="微软雅黑" panose="020B0503020204020204" charset="-122"/>
                <a:ea typeface="微软雅黑" panose="020B0503020204020204" charset="-122"/>
                <a:cs typeface="微软雅黑" panose="020B0503020204020204" charset="-122"/>
              </a:rPr>
              <a:t>额（个人50万</a:t>
            </a:r>
            <a:r>
              <a:rPr sz="1500" kern="0" spc="0" dirty="0">
                <a:solidFill>
                  <a:srgbClr val="12181D">
                    <a:alpha val="100000"/>
                  </a:srgbClr>
                </a:solidFill>
                <a:latin typeface="微软雅黑" panose="020B0503020204020204" charset="-122"/>
                <a:ea typeface="微软雅黑" panose="020B0503020204020204" charset="-122"/>
                <a:cs typeface="微软雅黑" panose="020B0503020204020204" charset="-122"/>
              </a:rPr>
              <a:t>CNY</a:t>
            </a:r>
            <a:r>
              <a:rPr sz="1500" kern="0" spc="90" dirty="0">
                <a:solidFill>
                  <a:srgbClr val="12181D">
                    <a:alpha val="100000"/>
                  </a:srgbClr>
                </a:solidFill>
                <a:latin typeface="微软雅黑" panose="020B0503020204020204" charset="-122"/>
                <a:ea typeface="微软雅黑" panose="020B0503020204020204" charset="-122"/>
                <a:cs typeface="微软雅黑" panose="020B0503020204020204" charset="-122"/>
              </a:rPr>
              <a:t>/机构500万</a:t>
            </a:r>
            <a:r>
              <a:rPr sz="1500" kern="0" spc="0" dirty="0">
                <a:solidFill>
                  <a:srgbClr val="12181D">
                    <a:alpha val="100000"/>
                  </a:srgbClr>
                </a:solidFill>
                <a:latin typeface="微软雅黑" panose="020B0503020204020204" charset="-122"/>
                <a:ea typeface="微软雅黑" panose="020B0503020204020204" charset="-122"/>
                <a:cs typeface="微软雅黑" panose="020B0503020204020204" charset="-122"/>
              </a:rPr>
              <a:t>CNY</a:t>
            </a:r>
            <a:r>
              <a:rPr sz="1500" kern="0" spc="90" dirty="0">
                <a:solidFill>
                  <a:srgbClr val="12181D">
                    <a:alpha val="100000"/>
                  </a:srgbClr>
                </a:solidFill>
                <a:latin typeface="微软雅黑" panose="020B0503020204020204" charset="-122"/>
                <a:ea typeface="微软雅黑" panose="020B0503020204020204" charset="-122"/>
                <a:cs typeface="微软雅黑" panose="020B0503020204020204" charset="-122"/>
              </a:rPr>
              <a:t>）</a:t>
            </a:r>
            <a:r>
              <a:rPr sz="1500" kern="0" spc="-330" dirty="0">
                <a:solidFill>
                  <a:srgbClr val="12181D">
                    <a:alpha val="100000"/>
                  </a:srgbClr>
                </a:solidFill>
                <a:latin typeface="微软雅黑" panose="020B0503020204020204" charset="-122"/>
                <a:ea typeface="微软雅黑" panose="020B0503020204020204" charset="-122"/>
                <a:cs typeface="微软雅黑" panose="020B0503020204020204" charset="-122"/>
              </a:rPr>
              <a:t> </a:t>
            </a:r>
            <a:r>
              <a:rPr sz="1500" kern="0" spc="90" dirty="0">
                <a:solidFill>
                  <a:srgbClr val="12181D">
                    <a:alpha val="100000"/>
                  </a:srgbClr>
                </a:solidFill>
                <a:latin typeface="微软雅黑" panose="020B0503020204020204" charset="-122"/>
                <a:ea typeface="微软雅黑" panose="020B0503020204020204" charset="-122"/>
                <a:cs typeface="微软雅黑" panose="020B0503020204020204" charset="-122"/>
              </a:rPr>
              <a:t>。</a:t>
            </a:r>
            <a:endParaRPr sz="1500" dirty="0">
              <a:latin typeface="微软雅黑" panose="020B0503020204020204" charset="-122"/>
              <a:ea typeface="微软雅黑" panose="020B0503020204020204" charset="-122"/>
              <a:cs typeface="微软雅黑" panose="020B0503020204020204" charset="-122"/>
            </a:endParaRPr>
          </a:p>
          <a:p>
            <a:pPr algn="l" rtl="0" eaLnBrk="0">
              <a:lnSpc>
                <a:spcPct val="111000"/>
              </a:lnSpc>
            </a:pPr>
            <a:endParaRPr sz="4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ts val="2060"/>
              </a:lnSpc>
              <a:spcBef>
                <a:spcPts val="5"/>
              </a:spcBef>
            </a:pPr>
            <a:r>
              <a:rPr sz="1500" b="1" kern="0" spc="80" dirty="0">
                <a:solidFill>
                  <a:srgbClr val="B12727">
                    <a:alpha val="100000"/>
                  </a:srgbClr>
                </a:solidFill>
                <a:latin typeface="Wingdings" panose="05000000000000000000" pitchFamily="2" charset="2"/>
                <a:ea typeface="Wingdings" panose="05000000000000000000" pitchFamily="2" charset="2"/>
                <a:cs typeface="Wingdings" panose="05000000000000000000" pitchFamily="2" charset="2"/>
              </a:rPr>
              <a:t>n</a:t>
            </a:r>
            <a:r>
              <a:rPr sz="1500" kern="0" spc="-420" dirty="0">
                <a:solidFill>
                  <a:srgbClr val="B12727">
                    <a:alpha val="100000"/>
                  </a:srgbClr>
                </a:solidFill>
                <a:latin typeface="Wingdings" panose="05000000000000000000" pitchFamily="2" charset="2"/>
                <a:ea typeface="Wingdings" panose="05000000000000000000" pitchFamily="2" charset="2"/>
                <a:cs typeface="Wingdings" panose="05000000000000000000" pitchFamily="2" charset="2"/>
              </a:rPr>
              <a:t> </a:t>
            </a:r>
            <a:r>
              <a:rPr sz="1500" b="1" kern="0" spc="80" dirty="0">
                <a:solidFill>
                  <a:srgbClr val="12181D">
                    <a:alpha val="100000"/>
                  </a:srgbClr>
                </a:solidFill>
                <a:latin typeface="微软雅黑" panose="020B0503020204020204" charset="-122"/>
                <a:ea typeface="微软雅黑" panose="020B0503020204020204" charset="-122"/>
                <a:cs typeface="微软雅黑" panose="020B0503020204020204" charset="-122"/>
              </a:rPr>
              <a:t>监管套利： </a:t>
            </a:r>
            <a:r>
              <a:rPr sz="1500" kern="0" spc="80" dirty="0">
                <a:solidFill>
                  <a:srgbClr val="12181D">
                    <a:alpha val="100000"/>
                  </a:srgbClr>
                </a:solidFill>
                <a:latin typeface="微软雅黑" panose="020B0503020204020204" charset="-122"/>
                <a:ea typeface="微软雅黑" panose="020B0503020204020204" charset="-122"/>
                <a:cs typeface="微软雅黑" panose="020B0503020204020204" charset="-122"/>
              </a:rPr>
              <a:t>实施"</a:t>
            </a:r>
            <a:r>
              <a:rPr sz="1500" kern="0" spc="70" dirty="0">
                <a:solidFill>
                  <a:srgbClr val="12181D">
                    <a:alpha val="100000"/>
                  </a:srgbClr>
                </a:solidFill>
                <a:latin typeface="微软雅黑" panose="020B0503020204020204" charset="-122"/>
                <a:ea typeface="微软雅黑" panose="020B0503020204020204" charset="-122"/>
                <a:cs typeface="微软雅黑" panose="020B0503020204020204" charset="-122"/>
              </a:rPr>
              <a:t>监管沙盒2.0"要求所有交易上链可追溯与内地央行建立实时数据共享系统（延迟&lt;1秒）</a:t>
            </a:r>
            <a:r>
              <a:rPr sz="1500" kern="0" spc="-240" dirty="0">
                <a:solidFill>
                  <a:srgbClr val="12181D">
                    <a:alpha val="100000"/>
                  </a:srgbClr>
                </a:solidFill>
                <a:latin typeface="微软雅黑" panose="020B0503020204020204" charset="-122"/>
                <a:ea typeface="微软雅黑" panose="020B0503020204020204" charset="-122"/>
                <a:cs typeface="微软雅黑" panose="020B0503020204020204" charset="-122"/>
              </a:rPr>
              <a:t> </a:t>
            </a:r>
            <a:r>
              <a:rPr sz="1500" kern="0" spc="70" dirty="0">
                <a:solidFill>
                  <a:srgbClr val="12181D">
                    <a:alpha val="100000"/>
                  </a:srgbClr>
                </a:solidFill>
                <a:latin typeface="微软雅黑" panose="020B0503020204020204" charset="-122"/>
                <a:ea typeface="微软雅黑" panose="020B0503020204020204" charset="-122"/>
                <a:cs typeface="微软雅黑" panose="020B0503020204020204" charset="-122"/>
              </a:rPr>
              <a:t>。</a:t>
            </a:r>
            <a:endParaRPr sz="1500" dirty="0">
              <a:latin typeface="微软雅黑" panose="020B0503020204020204" charset="-122"/>
              <a:ea typeface="微软雅黑" panose="020B0503020204020204" charset="-122"/>
              <a:cs typeface="微软雅黑" panose="020B0503020204020204" charset="-122"/>
            </a:endParaRPr>
          </a:p>
        </p:txBody>
      </p:sp>
      <p:sp>
        <p:nvSpPr>
          <p:cNvPr id="504" name="path 504"/>
          <p:cNvSpPr/>
          <p:nvPr/>
        </p:nvSpPr>
        <p:spPr>
          <a:xfrm>
            <a:off x="1274627" y="838839"/>
            <a:ext cx="8762816" cy="21590"/>
          </a:xfrm>
          <a:custGeom>
            <a:avLst/>
            <a:gdLst/>
            <a:ahLst/>
            <a:cxnLst/>
            <a:rect l="0" t="0" r="0" b="0"/>
            <a:pathLst>
              <a:path w="13799" h="34">
                <a:moveTo>
                  <a:pt x="0" y="15"/>
                </a:moveTo>
                <a:lnTo>
                  <a:pt x="13799" y="19"/>
                </a:lnTo>
              </a:path>
            </a:pathLst>
          </a:custGeom>
          <a:noFill/>
          <a:ln w="19050" cap="flat">
            <a:solidFill>
              <a:srgbClr val="BFBFBF"/>
            </a:solidFill>
            <a:prstDash val="dash"/>
            <a:round/>
          </a:ln>
        </p:spPr>
        <p:txBody>
          <a:bodyPr rtlCol="0"/>
          <a:lstStyle/>
          <a:p>
            <a:pPr algn="ctr"/>
            <a:endParaRPr lang="zh-CN" altLang="en-US"/>
          </a:p>
        </p:txBody>
      </p:sp>
      <p:sp>
        <p:nvSpPr>
          <p:cNvPr id="506" name="textbox 506"/>
          <p:cNvSpPr/>
          <p:nvPr/>
        </p:nvSpPr>
        <p:spPr>
          <a:xfrm>
            <a:off x="21590" y="224637"/>
            <a:ext cx="7115809" cy="646430"/>
          </a:xfrm>
          <a:prstGeom prst="rect">
            <a:avLst/>
          </a:prstGeom>
          <a:noFill/>
          <a:ln w="0" cap="flat">
            <a:noFill/>
            <a:prstDash val="solid"/>
            <a:miter lim="0"/>
          </a:ln>
        </p:spPr>
        <p:txBody>
          <a:bodyPr vert="horz" wrap="square" lIns="0" tIns="0" rIns="0" bIns="0"/>
          <a:lstStyle/>
          <a:p>
            <a:pPr algn="l" rtl="0" eaLnBrk="0">
              <a:lnSpc>
                <a:spcPct val="108000"/>
              </a:lnSpc>
            </a:pPr>
            <a:endParaRPr sz="1000" dirty="0">
              <a:latin typeface="Arial" panose="020B0604020202020204" pitchFamily="34" charset="0"/>
              <a:ea typeface="Arial" panose="020B0604020202020204" pitchFamily="34" charset="0"/>
              <a:cs typeface="Arial" panose="020B0604020202020204" pitchFamily="34" charset="0"/>
            </a:endParaRPr>
          </a:p>
          <a:p>
            <a:pPr marL="797560" algn="l" defTabSz="0" rtl="0" eaLnBrk="0">
              <a:lnSpc>
                <a:spcPts val="3690"/>
              </a:lnSpc>
              <a:spcBef>
                <a:spcPts val="0"/>
              </a:spcBef>
              <a:tabLst>
                <a:tab pos="1240155" algn="l"/>
              </a:tabLst>
            </a:pPr>
            <a:r>
              <a:rPr sz="27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	</a:t>
            </a:r>
            <a:r>
              <a:rPr lang="en-US" sz="27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5</a:t>
            </a:r>
            <a:r>
              <a:rPr sz="2700" b="1" kern="0" spc="90" dirty="0">
                <a:solidFill>
                  <a:srgbClr val="C00000">
                    <a:alpha val="100000"/>
                  </a:srgbClr>
                </a:solidFill>
                <a:latin typeface="微软雅黑" panose="020B0503020204020204" charset="-122"/>
                <a:ea typeface="微软雅黑" panose="020B0503020204020204" charset="-122"/>
                <a:cs typeface="微软雅黑" panose="020B0503020204020204" charset="-122"/>
              </a:rPr>
              <a:t>.2香港离岸人民币</a:t>
            </a:r>
            <a:r>
              <a:rPr sz="2700" b="1" kern="0" spc="80" dirty="0">
                <a:solidFill>
                  <a:srgbClr val="C00000">
                    <a:alpha val="100000"/>
                  </a:srgbClr>
                </a:solidFill>
                <a:latin typeface="微软雅黑" panose="020B0503020204020204" charset="-122"/>
                <a:ea typeface="微软雅黑" panose="020B0503020204020204" charset="-122"/>
                <a:cs typeface="微软雅黑" panose="020B0503020204020204" charset="-122"/>
              </a:rPr>
              <a:t>稳定币可行性探讨</a:t>
            </a:r>
            <a:endParaRPr sz="2700" dirty="0">
              <a:latin typeface="微软雅黑" panose="020B0503020204020204" charset="-122"/>
              <a:ea typeface="微软雅黑" panose="020B0503020204020204" charset="-122"/>
              <a:cs typeface="微软雅黑" panose="020B0503020204020204" charset="-122"/>
            </a:endParaRPr>
          </a:p>
        </p:txBody>
      </p:sp>
      <p:grpSp>
        <p:nvGrpSpPr>
          <p:cNvPr id="66" name="group 66"/>
          <p:cNvGrpSpPr/>
          <p:nvPr/>
        </p:nvGrpSpPr>
        <p:grpSpPr>
          <a:xfrm rot="21600000">
            <a:off x="34290" y="237337"/>
            <a:ext cx="785266" cy="478129"/>
            <a:chOff x="0" y="0"/>
            <a:chExt cx="785266" cy="478129"/>
          </a:xfrm>
        </p:grpSpPr>
        <p:sp>
          <p:nvSpPr>
            <p:cNvPr id="508" name="path 508"/>
            <p:cNvSpPr/>
            <p:nvPr/>
          </p:nvSpPr>
          <p:spPr>
            <a:xfrm>
              <a:off x="0" y="0"/>
              <a:ext cx="124879" cy="478129"/>
            </a:xfrm>
            <a:custGeom>
              <a:avLst/>
              <a:gdLst/>
              <a:ahLst/>
              <a:cxnLst/>
              <a:rect l="0" t="0" r="0" b="0"/>
              <a:pathLst>
                <a:path w="196" h="752">
                  <a:moveTo>
                    <a:pt x="0" y="0"/>
                  </a:moveTo>
                  <a:lnTo>
                    <a:pt x="196" y="0"/>
                  </a:lnTo>
                  <a:lnTo>
                    <a:pt x="196" y="752"/>
                  </a:lnTo>
                  <a:lnTo>
                    <a:pt x="0" y="752"/>
                  </a:lnTo>
                  <a:lnTo>
                    <a:pt x="0" y="0"/>
                  </a:lnTo>
                  <a:close/>
                </a:path>
              </a:pathLst>
            </a:custGeom>
            <a:solidFill>
              <a:srgbClr val="475F77">
                <a:alpha val="100000"/>
              </a:srgbClr>
            </a:solidFill>
            <a:ln w="0" cap="flat">
              <a:noFill/>
              <a:prstDash val="solid"/>
              <a:miter lim="0"/>
            </a:ln>
          </p:spPr>
          <p:txBody>
            <a:bodyPr rtlCol="0"/>
            <a:lstStyle/>
            <a:p>
              <a:pPr algn="ctr"/>
              <a:endParaRPr lang="zh-CN" altLang="en-US"/>
            </a:p>
          </p:txBody>
        </p:sp>
        <p:sp>
          <p:nvSpPr>
            <p:cNvPr id="510" name="path 510"/>
            <p:cNvSpPr/>
            <p:nvPr/>
          </p:nvSpPr>
          <p:spPr>
            <a:xfrm>
              <a:off x="146050" y="0"/>
              <a:ext cx="639216" cy="478129"/>
            </a:xfrm>
            <a:custGeom>
              <a:avLst/>
              <a:gdLst/>
              <a:ahLst/>
              <a:cxnLst/>
              <a:rect l="0" t="0" r="0" b="0"/>
              <a:pathLst>
                <a:path w="1006" h="752">
                  <a:moveTo>
                    <a:pt x="0" y="0"/>
                  </a:moveTo>
                  <a:lnTo>
                    <a:pt x="1006" y="0"/>
                  </a:lnTo>
                  <a:lnTo>
                    <a:pt x="1006" y="752"/>
                  </a:lnTo>
                  <a:lnTo>
                    <a:pt x="0" y="752"/>
                  </a:lnTo>
                  <a:lnTo>
                    <a:pt x="0" y="0"/>
                  </a:lnTo>
                  <a:close/>
                </a:path>
              </a:pathLst>
            </a:custGeom>
            <a:solidFill>
              <a:srgbClr val="CD2D2D">
                <a:alpha val="100000"/>
              </a:srgbClr>
            </a:solidFill>
            <a:ln w="0" cap="flat">
              <a:noFill/>
              <a:prstDash val="solid"/>
              <a:miter lim="0"/>
            </a:ln>
          </p:spPr>
          <p:txBody>
            <a:bodyPr rtlCol="0"/>
            <a:lstStyle/>
            <a:p>
              <a:pPr algn="ctr"/>
              <a:endParaRPr lang="zh-CN" altLang="en-US"/>
            </a:p>
          </p:txBody>
        </p:sp>
      </p:grpSp>
      <p:sp>
        <p:nvSpPr>
          <p:cNvPr id="512" name="textbox 512"/>
          <p:cNvSpPr/>
          <p:nvPr/>
        </p:nvSpPr>
        <p:spPr>
          <a:xfrm>
            <a:off x="341541" y="2998978"/>
            <a:ext cx="6251575" cy="316229"/>
          </a:xfrm>
          <a:prstGeom prst="rect">
            <a:avLst/>
          </a:prstGeom>
          <a:solidFill>
            <a:srgbClr val="CD2D2D">
              <a:alpha val="100000"/>
            </a:srgbClr>
          </a:solidFill>
          <a:ln w="0" cap="flat">
            <a:noFill/>
            <a:prstDash val="solid"/>
            <a:miter lim="0"/>
          </a:ln>
        </p:spPr>
        <p:txBody>
          <a:bodyPr vert="horz" wrap="square" lIns="0" tIns="0" rIns="0" bIns="0"/>
          <a:lstStyle/>
          <a:p>
            <a:pPr algn="l" rtl="0" eaLnBrk="0">
              <a:lnSpc>
                <a:spcPct val="58000"/>
              </a:lnSpc>
            </a:pPr>
            <a:endParaRPr sz="100" dirty="0">
              <a:latin typeface="Arial" panose="020B0604020202020204" pitchFamily="34" charset="0"/>
              <a:ea typeface="Arial" panose="020B0604020202020204" pitchFamily="34" charset="0"/>
              <a:cs typeface="Arial" panose="020B0604020202020204" pitchFamily="34" charset="0"/>
            </a:endParaRPr>
          </a:p>
          <a:p>
            <a:pPr marL="155575" algn="l" rtl="0" eaLnBrk="0">
              <a:lnSpc>
                <a:spcPts val="2060"/>
              </a:lnSpc>
            </a:pPr>
            <a:r>
              <a:rPr sz="1500" kern="0" spc="70" dirty="0">
                <a:solidFill>
                  <a:srgbClr val="FFFFFF">
                    <a:alpha val="100000"/>
                  </a:srgbClr>
                </a:solidFill>
                <a:latin typeface="微软雅黑" panose="020B0503020204020204" charset="-122"/>
                <a:ea typeface="微软雅黑" panose="020B0503020204020204" charset="-122"/>
                <a:cs typeface="微软雅黑" panose="020B0503020204020204" charset="-122"/>
              </a:rPr>
              <a:t>图表17:技术实施方案</a:t>
            </a:r>
            <a:endParaRPr sz="1500" dirty="0">
              <a:latin typeface="微软雅黑" panose="020B0503020204020204" charset="-122"/>
              <a:ea typeface="微软雅黑" panose="020B0503020204020204" charset="-122"/>
              <a:cs typeface="微软雅黑" panose="020B0503020204020204" charset="-122"/>
            </a:endParaRPr>
          </a:p>
        </p:txBody>
      </p:sp>
      <p:sp>
        <p:nvSpPr>
          <p:cNvPr id="516" name="path 516"/>
          <p:cNvSpPr/>
          <p:nvPr/>
        </p:nvSpPr>
        <p:spPr>
          <a:xfrm>
            <a:off x="341536" y="3523250"/>
            <a:ext cx="10905490" cy="9525"/>
          </a:xfrm>
          <a:custGeom>
            <a:avLst/>
            <a:gdLst/>
            <a:ahLst/>
            <a:cxnLst/>
            <a:rect l="0" t="0" r="0" b="0"/>
            <a:pathLst>
              <a:path w="17174" h="15">
                <a:moveTo>
                  <a:pt x="0" y="7"/>
                </a:moveTo>
                <a:lnTo>
                  <a:pt x="17174" y="7"/>
                </a:lnTo>
              </a:path>
            </a:pathLst>
          </a:custGeom>
          <a:noFill/>
          <a:ln w="9525" cap="flat">
            <a:solidFill>
              <a:srgbClr val="B02323"/>
            </a:solidFill>
            <a:prstDash val="solid"/>
            <a:round/>
          </a:ln>
        </p:spPr>
        <p:txBody>
          <a:bodyPr rtlCol="0"/>
          <a:lstStyle/>
          <a:p>
            <a:pPr algn="ctr"/>
            <a:endParaRPr lang="zh-CN" altLang="en-US"/>
          </a:p>
        </p:txBody>
      </p:sp>
      <p:sp>
        <p:nvSpPr>
          <p:cNvPr id="518" name="path 518"/>
          <p:cNvSpPr/>
          <p:nvPr/>
        </p:nvSpPr>
        <p:spPr>
          <a:xfrm>
            <a:off x="617126" y="6506480"/>
            <a:ext cx="10787380" cy="9525"/>
          </a:xfrm>
          <a:custGeom>
            <a:avLst/>
            <a:gdLst/>
            <a:ahLst/>
            <a:cxnLst/>
            <a:rect l="0" t="0" r="0" b="0"/>
            <a:pathLst>
              <a:path w="16988" h="15">
                <a:moveTo>
                  <a:pt x="0" y="7"/>
                </a:moveTo>
                <a:lnTo>
                  <a:pt x="16988" y="7"/>
                </a:lnTo>
              </a:path>
            </a:pathLst>
          </a:custGeom>
          <a:noFill/>
          <a:ln w="9525" cap="flat">
            <a:solidFill>
              <a:srgbClr val="B02323"/>
            </a:solidFill>
            <a:prstDash val="solid"/>
            <a:round/>
          </a:ln>
        </p:spPr>
        <p:txBody>
          <a:bodyPr rtlCol="0"/>
          <a:lstStyle/>
          <a:p>
            <a:pPr algn="ctr"/>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0" name="picture 520"/>
          <p:cNvPicPr>
            <a:picLocks noChangeAspect="1"/>
          </p:cNvPicPr>
          <p:nvPr/>
        </p:nvPicPr>
        <p:blipFill>
          <a:blip r:embed="rId1"/>
          <a:stretch>
            <a:fillRect/>
          </a:stretch>
        </p:blipFill>
        <p:spPr>
          <a:xfrm rot="21600000">
            <a:off x="5024754" y="1674495"/>
            <a:ext cx="6449059" cy="4379593"/>
          </a:xfrm>
          <a:prstGeom prst="rect">
            <a:avLst/>
          </a:prstGeom>
        </p:spPr>
      </p:pic>
      <p:sp>
        <p:nvSpPr>
          <p:cNvPr id="522" name="textbox 522"/>
          <p:cNvSpPr/>
          <p:nvPr/>
        </p:nvSpPr>
        <p:spPr>
          <a:xfrm>
            <a:off x="346591" y="1010030"/>
            <a:ext cx="4377054" cy="4788534"/>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280670" algn="l" rtl="0" eaLnBrk="0">
              <a:lnSpc>
                <a:spcPct val="87000"/>
              </a:lnSpc>
            </a:pPr>
            <a:r>
              <a:rPr sz="18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合规锚定 vs 普惠普及</a:t>
            </a:r>
            <a:endParaRPr sz="1800" dirty="0">
              <a:latin typeface="微软雅黑" panose="020B0503020204020204" charset="-122"/>
              <a:ea typeface="微软雅黑" panose="020B0503020204020204" charset="-122"/>
              <a:cs typeface="微软雅黑" panose="020B0503020204020204" charset="-122"/>
            </a:endParaRPr>
          </a:p>
          <a:p>
            <a:pPr marL="12700" algn="l" rtl="0" eaLnBrk="0">
              <a:lnSpc>
                <a:spcPct val="98000"/>
              </a:lnSpc>
              <a:spcBef>
                <a:spcPts val="1430"/>
              </a:spcBef>
            </a:pPr>
            <a:r>
              <a:rPr sz="1500" b="1" kern="0" spc="20" dirty="0">
                <a:solidFill>
                  <a:srgbClr val="B12727">
                    <a:alpha val="100000"/>
                  </a:srgbClr>
                </a:solidFill>
                <a:latin typeface="Wingdings" panose="05000000000000000000" pitchFamily="2" charset="2"/>
                <a:ea typeface="Wingdings" panose="05000000000000000000" pitchFamily="2" charset="2"/>
                <a:cs typeface="Wingdings" panose="05000000000000000000" pitchFamily="2" charset="2"/>
              </a:rPr>
              <a:t>n</a:t>
            </a:r>
            <a:r>
              <a:rPr sz="1500" kern="0" spc="-410" dirty="0">
                <a:solidFill>
                  <a:srgbClr val="B12727">
                    <a:alpha val="100000"/>
                  </a:srgbClr>
                </a:solidFill>
                <a:latin typeface="Wingdings" panose="05000000000000000000" pitchFamily="2" charset="2"/>
                <a:ea typeface="Wingdings" panose="05000000000000000000" pitchFamily="2" charset="2"/>
                <a:cs typeface="Wingdings" panose="05000000000000000000" pitchFamily="2" charset="2"/>
              </a:rPr>
              <a:t> </a:t>
            </a:r>
            <a:r>
              <a:rPr sz="1500" b="1" kern="0" spc="20" dirty="0">
                <a:solidFill>
                  <a:srgbClr val="12181D">
                    <a:alpha val="100000"/>
                  </a:srgbClr>
                </a:solidFill>
                <a:latin typeface="微软雅黑" panose="020B0503020204020204" charset="-122"/>
                <a:ea typeface="微软雅黑" panose="020B0503020204020204" charset="-122"/>
                <a:cs typeface="微软雅黑" panose="020B0503020204020204" charset="-122"/>
              </a:rPr>
              <a:t>合规锚定路径（稳定币</a:t>
            </a:r>
            <a:r>
              <a:rPr sz="1500" b="1" kern="0" spc="10" dirty="0">
                <a:solidFill>
                  <a:srgbClr val="12181D">
                    <a:alpha val="100000"/>
                  </a:srgbClr>
                </a:solidFill>
                <a:latin typeface="微软雅黑" panose="020B0503020204020204" charset="-122"/>
                <a:ea typeface="微软雅黑" panose="020B0503020204020204" charset="-122"/>
                <a:cs typeface="微软雅黑" panose="020B0503020204020204" charset="-122"/>
              </a:rPr>
              <a:t>）</a:t>
            </a:r>
            <a:r>
              <a:rPr sz="1500" b="1" kern="0" spc="350" dirty="0">
                <a:solidFill>
                  <a:srgbClr val="12181D">
                    <a:alpha val="100000"/>
                  </a:srgbClr>
                </a:solidFill>
                <a:latin typeface="微软雅黑" panose="020B0503020204020204" charset="-122"/>
                <a:ea typeface="微软雅黑" panose="020B0503020204020204" charset="-122"/>
                <a:cs typeface="微软雅黑" panose="020B0503020204020204" charset="-122"/>
              </a:rPr>
              <a:t> </a:t>
            </a:r>
            <a:r>
              <a:rPr sz="1500" kern="0" spc="10" dirty="0">
                <a:solidFill>
                  <a:srgbClr val="12181D">
                    <a:alpha val="100000"/>
                  </a:srgbClr>
                </a:solidFill>
                <a:latin typeface="微软雅黑" panose="020B0503020204020204" charset="-122"/>
                <a:ea typeface="微软雅黑" panose="020B0503020204020204" charset="-122"/>
                <a:cs typeface="微软雅黑" panose="020B0503020204020204" charset="-122"/>
              </a:rPr>
              <a:t>：</a:t>
            </a:r>
            <a:r>
              <a:rPr sz="1500" kern="0" spc="20" dirty="0">
                <a:solidFill>
                  <a:srgbClr val="12181D">
                    <a:alpha val="100000"/>
                  </a:srgbClr>
                </a:solidFill>
                <a:latin typeface="微软雅黑" panose="020B0503020204020204" charset="-122"/>
                <a:ea typeface="微软雅黑" panose="020B0503020204020204" charset="-122"/>
                <a:cs typeface="微软雅黑" panose="020B0503020204020204" charset="-122"/>
              </a:rPr>
              <a:t>适用于金融机构、</a:t>
            </a:r>
            <a:endParaRPr sz="1500" dirty="0">
              <a:latin typeface="微软雅黑" panose="020B0503020204020204" charset="-122"/>
              <a:ea typeface="微软雅黑" panose="020B0503020204020204" charset="-122"/>
              <a:cs typeface="微软雅黑" panose="020B0503020204020204" charset="-122"/>
            </a:endParaRPr>
          </a:p>
          <a:p>
            <a:pPr marL="283845" indent="-635" algn="l" rtl="0" eaLnBrk="0">
              <a:lnSpc>
                <a:spcPct val="150000"/>
              </a:lnSpc>
              <a:spcBef>
                <a:spcPts val="35"/>
              </a:spcBef>
            </a:pPr>
            <a:r>
              <a:rPr sz="1500" kern="0" spc="90" dirty="0">
                <a:solidFill>
                  <a:srgbClr val="12181D">
                    <a:alpha val="100000"/>
                  </a:srgbClr>
                </a:solidFill>
                <a:latin typeface="微软雅黑" panose="020B0503020204020204" charset="-122"/>
                <a:ea typeface="微软雅黑" panose="020B0503020204020204" charset="-122"/>
                <a:cs typeface="微软雅黑" panose="020B0503020204020204" charset="-122"/>
              </a:rPr>
              <a:t>跨境资本结算、高净值客户，强调</a:t>
            </a:r>
            <a:r>
              <a:rPr sz="1500" kern="0" spc="80" dirty="0">
                <a:solidFill>
                  <a:srgbClr val="12181D">
                    <a:alpha val="100000"/>
                  </a:srgbClr>
                </a:solidFill>
                <a:latin typeface="微软雅黑" panose="020B0503020204020204" charset="-122"/>
                <a:ea typeface="微软雅黑" panose="020B0503020204020204" charset="-122"/>
                <a:cs typeface="微软雅黑" panose="020B0503020204020204" charset="-122"/>
              </a:rPr>
              <a:t>监管对接、</a:t>
            </a:r>
            <a:r>
              <a:rPr sz="1500" kern="0" spc="60" dirty="0">
                <a:solidFill>
                  <a:srgbClr val="12181D">
                    <a:alpha val="100000"/>
                  </a:srgbClr>
                </a:solidFill>
                <a:latin typeface="微软雅黑" panose="020B0503020204020204" charset="-122"/>
                <a:ea typeface="微软雅黑" panose="020B0503020204020204" charset="-122"/>
                <a:cs typeface="微软雅黑" panose="020B0503020204020204" charset="-122"/>
              </a:rPr>
              <a:t>法币锚定、可追踪性强。</a:t>
            </a:r>
            <a:endParaRPr sz="1500" dirty="0">
              <a:latin typeface="微软雅黑" panose="020B0503020204020204" charset="-122"/>
              <a:ea typeface="微软雅黑" panose="020B0503020204020204" charset="-122"/>
              <a:cs typeface="微软雅黑" panose="020B0503020204020204" charset="-122"/>
            </a:endParaRPr>
          </a:p>
          <a:p>
            <a:pPr marL="282575" indent="-270510" algn="l" rtl="0" eaLnBrk="0">
              <a:lnSpc>
                <a:spcPct val="148000"/>
              </a:lnSpc>
              <a:spcBef>
                <a:spcPts val="110"/>
              </a:spcBef>
            </a:pPr>
            <a:r>
              <a:rPr sz="1500" b="1" kern="0" spc="20" dirty="0">
                <a:solidFill>
                  <a:srgbClr val="B12727">
                    <a:alpha val="100000"/>
                  </a:srgbClr>
                </a:solidFill>
                <a:latin typeface="Wingdings" panose="05000000000000000000" pitchFamily="2" charset="2"/>
                <a:ea typeface="Wingdings" panose="05000000000000000000" pitchFamily="2" charset="2"/>
                <a:cs typeface="Wingdings" panose="05000000000000000000" pitchFamily="2" charset="2"/>
              </a:rPr>
              <a:t>n</a:t>
            </a:r>
            <a:r>
              <a:rPr sz="1500" kern="0" spc="-390" dirty="0">
                <a:solidFill>
                  <a:srgbClr val="B12727">
                    <a:alpha val="100000"/>
                  </a:srgbClr>
                </a:solidFill>
                <a:latin typeface="Wingdings" panose="05000000000000000000" pitchFamily="2" charset="2"/>
                <a:ea typeface="Wingdings" panose="05000000000000000000" pitchFamily="2" charset="2"/>
                <a:cs typeface="Wingdings" panose="05000000000000000000" pitchFamily="2" charset="2"/>
              </a:rPr>
              <a:t> </a:t>
            </a:r>
            <a:r>
              <a:rPr sz="1500" b="1" kern="0" spc="20" dirty="0">
                <a:solidFill>
                  <a:srgbClr val="12181D">
                    <a:alpha val="100000"/>
                  </a:srgbClr>
                </a:solidFill>
                <a:latin typeface="微软雅黑" panose="020B0503020204020204" charset="-122"/>
                <a:ea typeface="微软雅黑" panose="020B0503020204020204" charset="-122"/>
                <a:cs typeface="微软雅黑" panose="020B0503020204020204" charset="-122"/>
              </a:rPr>
              <a:t>普惠普及路径（数字人民币</a:t>
            </a:r>
            <a:r>
              <a:rPr sz="1500" b="1" kern="0" spc="10" dirty="0">
                <a:solidFill>
                  <a:srgbClr val="12181D">
                    <a:alpha val="100000"/>
                  </a:srgbClr>
                </a:solidFill>
                <a:latin typeface="微软雅黑" panose="020B0503020204020204" charset="-122"/>
                <a:ea typeface="微软雅黑" panose="020B0503020204020204" charset="-122"/>
                <a:cs typeface="微软雅黑" panose="020B0503020204020204" charset="-122"/>
              </a:rPr>
              <a:t>）</a:t>
            </a:r>
            <a:r>
              <a:rPr sz="1500" b="1" kern="0" spc="200" dirty="0">
                <a:solidFill>
                  <a:srgbClr val="12181D">
                    <a:alpha val="100000"/>
                  </a:srgbClr>
                </a:solidFill>
                <a:latin typeface="微软雅黑" panose="020B0503020204020204" charset="-122"/>
                <a:ea typeface="微软雅黑" panose="020B0503020204020204" charset="-122"/>
                <a:cs typeface="微软雅黑" panose="020B0503020204020204" charset="-122"/>
              </a:rPr>
              <a:t>  </a:t>
            </a:r>
            <a:r>
              <a:rPr sz="1500" kern="0" spc="10" dirty="0">
                <a:solidFill>
                  <a:srgbClr val="12181D">
                    <a:alpha val="100000"/>
                  </a:srgbClr>
                </a:solidFill>
                <a:latin typeface="微软雅黑" panose="020B0503020204020204" charset="-122"/>
                <a:ea typeface="微软雅黑" panose="020B0503020204020204" charset="-122"/>
                <a:cs typeface="微软雅黑" panose="020B0503020204020204" charset="-122"/>
              </a:rPr>
              <a:t>：</a:t>
            </a:r>
            <a:r>
              <a:rPr sz="1500" kern="0" spc="20" dirty="0">
                <a:solidFill>
                  <a:srgbClr val="12181D">
                    <a:alpha val="100000"/>
                  </a:srgbClr>
                </a:solidFill>
                <a:latin typeface="微软雅黑" panose="020B0503020204020204" charset="-122"/>
                <a:ea typeface="微软雅黑" panose="020B0503020204020204" charset="-122"/>
                <a:cs typeface="微软雅黑" panose="020B0503020204020204" charset="-122"/>
              </a:rPr>
              <a:t>适用于小额</a:t>
            </a:r>
            <a:r>
              <a:rPr sz="1500" kern="0" spc="0" dirty="0">
                <a:solidFill>
                  <a:srgbClr val="12181D">
                    <a:alpha val="100000"/>
                  </a:srgbClr>
                </a:solidFill>
                <a:latin typeface="微软雅黑" panose="020B0503020204020204" charset="-122"/>
                <a:ea typeface="微软雅黑" panose="020B0503020204020204" charset="-122"/>
                <a:cs typeface="微软雅黑" panose="020B0503020204020204" charset="-122"/>
              </a:rPr>
              <a:t>  </a:t>
            </a:r>
            <a:r>
              <a:rPr sz="1500" kern="0" spc="30" dirty="0">
                <a:solidFill>
                  <a:srgbClr val="12181D">
                    <a:alpha val="100000"/>
                  </a:srgbClr>
                </a:solidFill>
                <a:latin typeface="微软雅黑" panose="020B0503020204020204" charset="-122"/>
                <a:ea typeface="微软雅黑" panose="020B0503020204020204" charset="-122"/>
                <a:cs typeface="微软雅黑" panose="020B0503020204020204" charset="-122"/>
              </a:rPr>
              <a:t>跨境支付、电商交易、旅游消费等，</a:t>
            </a:r>
            <a:r>
              <a:rPr sz="1500" kern="0" spc="160" dirty="0">
                <a:solidFill>
                  <a:srgbClr val="12181D">
                    <a:alpha val="100000"/>
                  </a:srgbClr>
                </a:solidFill>
                <a:latin typeface="微软雅黑" panose="020B0503020204020204" charset="-122"/>
                <a:ea typeface="微软雅黑" panose="020B0503020204020204" charset="-122"/>
                <a:cs typeface="微软雅黑" panose="020B0503020204020204" charset="-122"/>
              </a:rPr>
              <a:t>  </a:t>
            </a:r>
            <a:r>
              <a:rPr sz="1500" kern="0" spc="30" dirty="0">
                <a:solidFill>
                  <a:srgbClr val="12181D">
                    <a:alpha val="100000"/>
                  </a:srgbClr>
                </a:solidFill>
                <a:latin typeface="微软雅黑" panose="020B0503020204020204" charset="-122"/>
                <a:ea typeface="微软雅黑" panose="020B0503020204020204" charset="-122"/>
                <a:cs typeface="微软雅黑" panose="020B0503020204020204" charset="-122"/>
              </a:rPr>
              <a:t>强调支</a:t>
            </a:r>
            <a:r>
              <a:rPr sz="1500" kern="0" spc="0" dirty="0">
                <a:solidFill>
                  <a:srgbClr val="12181D">
                    <a:alpha val="100000"/>
                  </a:srgbClr>
                </a:solidFill>
                <a:latin typeface="微软雅黑" panose="020B0503020204020204" charset="-122"/>
                <a:ea typeface="微软雅黑" panose="020B0503020204020204" charset="-122"/>
                <a:cs typeface="微软雅黑" panose="020B0503020204020204" charset="-122"/>
              </a:rPr>
              <a:t>  </a:t>
            </a:r>
            <a:r>
              <a:rPr sz="1500" kern="0" spc="40" dirty="0">
                <a:solidFill>
                  <a:srgbClr val="12181D">
                    <a:alpha val="100000"/>
                  </a:srgbClr>
                </a:solidFill>
                <a:latin typeface="微软雅黑" panose="020B0503020204020204" charset="-122"/>
                <a:ea typeface="微软雅黑" panose="020B0503020204020204" charset="-122"/>
                <a:cs typeface="微软雅黑" panose="020B0503020204020204" charset="-122"/>
              </a:rPr>
              <a:t>付效率与普及性。</a:t>
            </a:r>
            <a:endParaRPr sz="1500" dirty="0">
              <a:latin typeface="微软雅黑" panose="020B0503020204020204" charset="-122"/>
              <a:ea typeface="微软雅黑" panose="020B0503020204020204" charset="-122"/>
              <a:cs typeface="微软雅黑" panose="020B0503020204020204" charset="-122"/>
            </a:endParaRPr>
          </a:p>
          <a:p>
            <a:pPr marL="282575" indent="-270510" algn="l" rtl="0" eaLnBrk="0">
              <a:lnSpc>
                <a:spcPct val="149000"/>
              </a:lnSpc>
              <a:spcBef>
                <a:spcPts val="75"/>
              </a:spcBef>
            </a:pPr>
            <a:r>
              <a:rPr sz="1500" b="1" kern="0" spc="80" dirty="0">
                <a:solidFill>
                  <a:srgbClr val="B12727">
                    <a:alpha val="100000"/>
                  </a:srgbClr>
                </a:solidFill>
                <a:latin typeface="Wingdings" panose="05000000000000000000" pitchFamily="2" charset="2"/>
                <a:ea typeface="Wingdings" panose="05000000000000000000" pitchFamily="2" charset="2"/>
                <a:cs typeface="Wingdings" panose="05000000000000000000" pitchFamily="2" charset="2"/>
              </a:rPr>
              <a:t>n</a:t>
            </a:r>
            <a:r>
              <a:rPr sz="1500" kern="0" spc="-350" dirty="0">
                <a:solidFill>
                  <a:srgbClr val="B12727">
                    <a:alpha val="100000"/>
                  </a:srgbClr>
                </a:solidFill>
                <a:latin typeface="Wingdings" panose="05000000000000000000" pitchFamily="2" charset="2"/>
                <a:ea typeface="Wingdings" panose="05000000000000000000" pitchFamily="2" charset="2"/>
                <a:cs typeface="Wingdings" panose="05000000000000000000" pitchFamily="2" charset="2"/>
              </a:rPr>
              <a:t> </a:t>
            </a:r>
            <a:r>
              <a:rPr sz="1500" b="1" kern="0" spc="80" dirty="0">
                <a:solidFill>
                  <a:srgbClr val="12181D">
                    <a:alpha val="100000"/>
                  </a:srgbClr>
                </a:solidFill>
                <a:latin typeface="微软雅黑" panose="020B0503020204020204" charset="-122"/>
                <a:ea typeface="微软雅黑" panose="020B0503020204020204" charset="-122"/>
                <a:cs typeface="微软雅黑" panose="020B0503020204020204" charset="-122"/>
              </a:rPr>
              <a:t>互补关系</a:t>
            </a:r>
            <a:r>
              <a:rPr sz="1500" kern="0" spc="80" dirty="0">
                <a:solidFill>
                  <a:srgbClr val="12181D">
                    <a:alpha val="100000"/>
                  </a:srgbClr>
                </a:solidFill>
                <a:latin typeface="微软雅黑" panose="020B0503020204020204" charset="-122"/>
                <a:ea typeface="微软雅黑" panose="020B0503020204020204" charset="-122"/>
                <a:cs typeface="微软雅黑" panose="020B0503020204020204" charset="-122"/>
              </a:rPr>
              <a:t>： 稳定币在跨境资本市场实现“高</a:t>
            </a:r>
            <a:r>
              <a:rPr sz="1500" kern="0" spc="100" dirty="0">
                <a:solidFill>
                  <a:srgbClr val="12181D">
                    <a:alpha val="100000"/>
                  </a:srgbClr>
                </a:solidFill>
                <a:latin typeface="微软雅黑" panose="020B0503020204020204" charset="-122"/>
                <a:ea typeface="微软雅黑" panose="020B0503020204020204" charset="-122"/>
                <a:cs typeface="微软雅黑" panose="020B0503020204020204" charset="-122"/>
              </a:rPr>
              <a:t>层次对接”；数字人民</a:t>
            </a:r>
            <a:r>
              <a:rPr sz="1500" kern="0" spc="90" dirty="0">
                <a:solidFill>
                  <a:srgbClr val="12181D">
                    <a:alpha val="100000"/>
                  </a:srgbClr>
                </a:solidFill>
                <a:latin typeface="微软雅黑" panose="020B0503020204020204" charset="-122"/>
                <a:ea typeface="微软雅黑" panose="020B0503020204020204" charset="-122"/>
                <a:cs typeface="微软雅黑" panose="020B0503020204020204" charset="-122"/>
              </a:rPr>
              <a:t>币则面向零售终端和</a:t>
            </a:r>
            <a:r>
              <a:rPr sz="1500" kern="0" spc="-10" dirty="0">
                <a:solidFill>
                  <a:srgbClr val="12181D">
                    <a:alpha val="100000"/>
                  </a:srgbClr>
                </a:solidFill>
                <a:latin typeface="微软雅黑" panose="020B0503020204020204" charset="-122"/>
                <a:ea typeface="微软雅黑" panose="020B0503020204020204" charset="-122"/>
                <a:cs typeface="微软雅黑" panose="020B0503020204020204" charset="-122"/>
              </a:rPr>
              <a:t> </a:t>
            </a:r>
            <a:r>
              <a:rPr sz="1500" kern="0" spc="100" dirty="0">
                <a:solidFill>
                  <a:srgbClr val="12181D">
                    <a:alpha val="100000"/>
                  </a:srgbClr>
                </a:solidFill>
                <a:latin typeface="微软雅黑" panose="020B0503020204020204" charset="-122"/>
                <a:ea typeface="微软雅黑" panose="020B0503020204020204" charset="-122"/>
                <a:cs typeface="微软雅黑" panose="020B0503020204020204" charset="-122"/>
              </a:rPr>
              <a:t>民间使用；形成“一币</a:t>
            </a:r>
            <a:r>
              <a:rPr sz="1500" kern="0" spc="90" dirty="0">
                <a:solidFill>
                  <a:srgbClr val="12181D">
                    <a:alpha val="100000"/>
                  </a:srgbClr>
                </a:solidFill>
                <a:latin typeface="微软雅黑" panose="020B0503020204020204" charset="-122"/>
                <a:ea typeface="微软雅黑" panose="020B0503020204020204" charset="-122"/>
                <a:cs typeface="微软雅黑" panose="020B0503020204020204" charset="-122"/>
              </a:rPr>
              <a:t>双轨、协同运行”的</a:t>
            </a:r>
            <a:r>
              <a:rPr sz="1500" kern="0" spc="-10" dirty="0">
                <a:solidFill>
                  <a:srgbClr val="12181D">
                    <a:alpha val="100000"/>
                  </a:srgbClr>
                </a:solidFill>
                <a:latin typeface="微软雅黑" panose="020B0503020204020204" charset="-122"/>
                <a:ea typeface="微软雅黑" panose="020B0503020204020204" charset="-122"/>
                <a:cs typeface="微软雅黑" panose="020B0503020204020204" charset="-122"/>
              </a:rPr>
              <a:t>  </a:t>
            </a:r>
            <a:r>
              <a:rPr sz="1500" kern="0" spc="-30" dirty="0">
                <a:solidFill>
                  <a:srgbClr val="12181D">
                    <a:alpha val="100000"/>
                  </a:srgbClr>
                </a:solidFill>
                <a:latin typeface="微软雅黑" panose="020B0503020204020204" charset="-122"/>
                <a:ea typeface="微软雅黑" panose="020B0503020204020204" charset="-122"/>
                <a:cs typeface="微软雅黑" panose="020B0503020204020204" charset="-122"/>
              </a:rPr>
              <a:t>格局。</a:t>
            </a:r>
            <a:endParaRPr sz="1500" dirty="0">
              <a:latin typeface="微软雅黑" panose="020B0503020204020204" charset="-122"/>
              <a:ea typeface="微软雅黑" panose="020B0503020204020204" charset="-122"/>
              <a:cs typeface="微软雅黑" panose="020B0503020204020204" charset="-122"/>
            </a:endParaRPr>
          </a:p>
          <a:p>
            <a:pPr marL="285115" indent="-272415" algn="l" rtl="0" eaLnBrk="0">
              <a:lnSpc>
                <a:spcPct val="148000"/>
              </a:lnSpc>
              <a:spcBef>
                <a:spcPts val="110"/>
              </a:spcBef>
            </a:pPr>
            <a:r>
              <a:rPr sz="1500" b="1" kern="0" spc="70" dirty="0">
                <a:solidFill>
                  <a:srgbClr val="B12727">
                    <a:alpha val="100000"/>
                  </a:srgbClr>
                </a:solidFill>
                <a:latin typeface="Wingdings" panose="05000000000000000000" pitchFamily="2" charset="2"/>
                <a:ea typeface="Wingdings" panose="05000000000000000000" pitchFamily="2" charset="2"/>
                <a:cs typeface="Wingdings" panose="05000000000000000000" pitchFamily="2" charset="2"/>
              </a:rPr>
              <a:t>n</a:t>
            </a:r>
            <a:r>
              <a:rPr sz="1500" kern="0" spc="70" dirty="0">
                <a:solidFill>
                  <a:srgbClr val="B12727">
                    <a:alpha val="100000"/>
                  </a:srgbClr>
                </a:solidFill>
                <a:latin typeface="Wingdings" panose="05000000000000000000" pitchFamily="2" charset="2"/>
                <a:ea typeface="Wingdings" panose="05000000000000000000" pitchFamily="2" charset="2"/>
                <a:cs typeface="Wingdings" panose="05000000000000000000" pitchFamily="2" charset="2"/>
              </a:rPr>
              <a:t> </a:t>
            </a:r>
            <a:r>
              <a:rPr sz="1500" b="1" kern="0" spc="70" dirty="0">
                <a:solidFill>
                  <a:srgbClr val="12181D">
                    <a:alpha val="100000"/>
                  </a:srgbClr>
                </a:solidFill>
                <a:latin typeface="微软雅黑" panose="020B0503020204020204" charset="-122"/>
                <a:ea typeface="微软雅黑" panose="020B0503020204020204" charset="-122"/>
                <a:cs typeface="微软雅黑" panose="020B0503020204020204" charset="-122"/>
              </a:rPr>
              <a:t>政策建议</a:t>
            </a:r>
            <a:r>
              <a:rPr sz="1500" kern="0" spc="70" dirty="0">
                <a:solidFill>
                  <a:srgbClr val="12181D">
                    <a:alpha val="100000"/>
                  </a:srgbClr>
                </a:solidFill>
                <a:latin typeface="微软雅黑" panose="020B0503020204020204" charset="-122"/>
                <a:ea typeface="微软雅黑" panose="020B0503020204020204" charset="-122"/>
                <a:cs typeface="微软雅黑" panose="020B0503020204020204" charset="-122"/>
              </a:rPr>
              <a:t>：</a:t>
            </a:r>
            <a:r>
              <a:rPr sz="1500" kern="0" spc="-280" dirty="0">
                <a:solidFill>
                  <a:srgbClr val="12181D">
                    <a:alpha val="100000"/>
                  </a:srgbClr>
                </a:solidFill>
                <a:latin typeface="微软雅黑" panose="020B0503020204020204" charset="-122"/>
                <a:ea typeface="微软雅黑" panose="020B0503020204020204" charset="-122"/>
                <a:cs typeface="微软雅黑" panose="020B0503020204020204" charset="-122"/>
              </a:rPr>
              <a:t> </a:t>
            </a:r>
            <a:r>
              <a:rPr sz="1500" kern="0" spc="70" dirty="0">
                <a:solidFill>
                  <a:srgbClr val="12181D">
                    <a:alpha val="100000"/>
                  </a:srgbClr>
                </a:solidFill>
                <a:latin typeface="微软雅黑" panose="020B0503020204020204" charset="-122"/>
                <a:ea typeface="微软雅黑" panose="020B0503020204020204" charset="-122"/>
                <a:cs typeface="微软雅黑" panose="020B0503020204020204" charset="-122"/>
              </a:rPr>
              <a:t>构建统一的身份认证与钱包标准；</a:t>
            </a:r>
            <a:r>
              <a:rPr sz="1500" kern="0" spc="100" dirty="0">
                <a:solidFill>
                  <a:srgbClr val="12181D">
                    <a:alpha val="100000"/>
                  </a:srgbClr>
                </a:solidFill>
                <a:latin typeface="微软雅黑" panose="020B0503020204020204" charset="-122"/>
                <a:ea typeface="微软雅黑" panose="020B0503020204020204" charset="-122"/>
                <a:cs typeface="微软雅黑" panose="020B0503020204020204" charset="-122"/>
              </a:rPr>
              <a:t>建立跨境支付白名单</a:t>
            </a:r>
            <a:r>
              <a:rPr sz="1500" kern="0" spc="90" dirty="0">
                <a:solidFill>
                  <a:srgbClr val="12181D">
                    <a:alpha val="100000"/>
                  </a:srgbClr>
                </a:solidFill>
                <a:latin typeface="微软雅黑" panose="020B0503020204020204" charset="-122"/>
                <a:ea typeface="微软雅黑" panose="020B0503020204020204" charset="-122"/>
                <a:cs typeface="微软雅黑" panose="020B0503020204020204" charset="-122"/>
              </a:rPr>
              <a:t>机制；鼓励中资银行主</a:t>
            </a:r>
            <a:r>
              <a:rPr sz="1500" kern="0" spc="-10" dirty="0">
                <a:solidFill>
                  <a:srgbClr val="12181D">
                    <a:alpha val="100000"/>
                  </a:srgbClr>
                </a:solidFill>
                <a:latin typeface="微软雅黑" panose="020B0503020204020204" charset="-122"/>
                <a:ea typeface="微软雅黑" panose="020B0503020204020204" charset="-122"/>
                <a:cs typeface="微软雅黑" panose="020B0503020204020204" charset="-122"/>
              </a:rPr>
              <a:t> </a:t>
            </a:r>
            <a:r>
              <a:rPr sz="1500" kern="0" spc="50" dirty="0">
                <a:solidFill>
                  <a:srgbClr val="12181D">
                    <a:alpha val="100000"/>
                  </a:srgbClr>
                </a:solidFill>
                <a:latin typeface="微软雅黑" panose="020B0503020204020204" charset="-122"/>
                <a:ea typeface="微软雅黑" panose="020B0503020204020204" charset="-122"/>
                <a:cs typeface="微软雅黑" panose="020B0503020204020204" charset="-122"/>
              </a:rPr>
              <a:t>导离岸稳定币试点。</a:t>
            </a:r>
            <a:endParaRPr sz="1500" dirty="0">
              <a:latin typeface="微软雅黑" panose="020B0503020204020204" charset="-122"/>
              <a:ea typeface="微软雅黑" panose="020B0503020204020204" charset="-122"/>
              <a:cs typeface="微软雅黑" panose="020B0503020204020204" charset="-122"/>
            </a:endParaRPr>
          </a:p>
        </p:txBody>
      </p:sp>
      <p:sp>
        <p:nvSpPr>
          <p:cNvPr id="524" name="path 524"/>
          <p:cNvSpPr/>
          <p:nvPr/>
        </p:nvSpPr>
        <p:spPr>
          <a:xfrm>
            <a:off x="1274627" y="838839"/>
            <a:ext cx="8762816" cy="21590"/>
          </a:xfrm>
          <a:custGeom>
            <a:avLst/>
            <a:gdLst/>
            <a:ahLst/>
            <a:cxnLst/>
            <a:rect l="0" t="0" r="0" b="0"/>
            <a:pathLst>
              <a:path w="13799" h="34">
                <a:moveTo>
                  <a:pt x="0" y="15"/>
                </a:moveTo>
                <a:lnTo>
                  <a:pt x="13799" y="19"/>
                </a:lnTo>
              </a:path>
            </a:pathLst>
          </a:custGeom>
          <a:noFill/>
          <a:ln w="19050" cap="flat">
            <a:solidFill>
              <a:srgbClr val="BFBFBF"/>
            </a:solidFill>
            <a:prstDash val="dash"/>
            <a:round/>
          </a:ln>
        </p:spPr>
        <p:txBody>
          <a:bodyPr rtlCol="0"/>
          <a:lstStyle/>
          <a:p>
            <a:pPr algn="ctr"/>
            <a:endParaRPr lang="zh-CN" altLang="en-US"/>
          </a:p>
        </p:txBody>
      </p:sp>
      <p:sp>
        <p:nvSpPr>
          <p:cNvPr id="526" name="textbox 526"/>
          <p:cNvSpPr/>
          <p:nvPr/>
        </p:nvSpPr>
        <p:spPr>
          <a:xfrm>
            <a:off x="21590" y="224637"/>
            <a:ext cx="8537575" cy="646430"/>
          </a:xfrm>
          <a:prstGeom prst="rect">
            <a:avLst/>
          </a:prstGeom>
          <a:noFill/>
          <a:ln w="0" cap="flat">
            <a:noFill/>
            <a:prstDash val="solid"/>
            <a:miter lim="0"/>
          </a:ln>
        </p:spPr>
        <p:txBody>
          <a:bodyPr vert="horz" wrap="square" lIns="0" tIns="0" rIns="0" bIns="0"/>
          <a:lstStyle/>
          <a:p>
            <a:pPr algn="l" rtl="0" eaLnBrk="0">
              <a:lnSpc>
                <a:spcPct val="108000"/>
              </a:lnSpc>
            </a:pPr>
            <a:endParaRPr sz="1000" dirty="0">
              <a:latin typeface="Arial" panose="020B0604020202020204" pitchFamily="34" charset="0"/>
              <a:ea typeface="Arial" panose="020B0604020202020204" pitchFamily="34" charset="0"/>
              <a:cs typeface="Arial" panose="020B0604020202020204" pitchFamily="34" charset="0"/>
            </a:endParaRPr>
          </a:p>
          <a:p>
            <a:pPr marL="797560" algn="l" defTabSz="0" rtl="0" eaLnBrk="0">
              <a:lnSpc>
                <a:spcPts val="3690"/>
              </a:lnSpc>
              <a:spcBef>
                <a:spcPts val="0"/>
              </a:spcBef>
              <a:tabLst>
                <a:tab pos="1240155" algn="l"/>
              </a:tabLst>
            </a:pPr>
            <a:r>
              <a:rPr sz="27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	</a:t>
            </a:r>
            <a:r>
              <a:rPr lang="en-US" sz="27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5</a:t>
            </a:r>
            <a:r>
              <a:rPr sz="2700" b="1" kern="0" spc="90" dirty="0">
                <a:solidFill>
                  <a:srgbClr val="C00000">
                    <a:alpha val="100000"/>
                  </a:srgbClr>
                </a:solidFill>
                <a:latin typeface="微软雅黑" panose="020B0503020204020204" charset="-122"/>
                <a:ea typeface="微软雅黑" panose="020B0503020204020204" charset="-122"/>
                <a:cs typeface="微软雅黑" panose="020B0503020204020204" charset="-122"/>
              </a:rPr>
              <a:t>.2</a:t>
            </a:r>
            <a:r>
              <a:rPr sz="2700" b="1" kern="0" spc="90" dirty="0">
                <a:solidFill>
                  <a:srgbClr val="C00000">
                    <a:alpha val="100000"/>
                  </a:srgbClr>
                </a:solidFill>
                <a:highlight>
                  <a:srgbClr val="FFFF00"/>
                </a:highlight>
                <a:latin typeface="微软雅黑" panose="020B0503020204020204" charset="-122"/>
                <a:ea typeface="微软雅黑" panose="020B0503020204020204" charset="-122"/>
                <a:cs typeface="微软雅黑" panose="020B0503020204020204" charset="-122"/>
              </a:rPr>
              <a:t>稳定币与数字人民币协同推进人</a:t>
            </a:r>
            <a:r>
              <a:rPr sz="2700" b="1" kern="0" spc="80" dirty="0">
                <a:solidFill>
                  <a:srgbClr val="C00000">
                    <a:alpha val="100000"/>
                  </a:srgbClr>
                </a:solidFill>
                <a:highlight>
                  <a:srgbClr val="FFFF00"/>
                </a:highlight>
                <a:latin typeface="微软雅黑" panose="020B0503020204020204" charset="-122"/>
                <a:ea typeface="微软雅黑" panose="020B0503020204020204" charset="-122"/>
                <a:cs typeface="微软雅黑" panose="020B0503020204020204" charset="-122"/>
              </a:rPr>
              <a:t>民币国际化</a:t>
            </a:r>
            <a:endParaRPr sz="2700" b="1" kern="0" spc="80" dirty="0">
              <a:solidFill>
                <a:srgbClr val="C00000">
                  <a:alpha val="100000"/>
                </a:srgbClr>
              </a:solidFill>
              <a:highlight>
                <a:srgbClr val="FFFF00"/>
              </a:highlight>
              <a:latin typeface="微软雅黑" panose="020B0503020204020204" charset="-122"/>
              <a:ea typeface="微软雅黑" panose="020B0503020204020204" charset="-122"/>
              <a:cs typeface="微软雅黑" panose="020B0503020204020204" charset="-122"/>
            </a:endParaRPr>
          </a:p>
        </p:txBody>
      </p:sp>
      <p:grpSp>
        <p:nvGrpSpPr>
          <p:cNvPr id="68" name="group 68"/>
          <p:cNvGrpSpPr/>
          <p:nvPr/>
        </p:nvGrpSpPr>
        <p:grpSpPr>
          <a:xfrm rot="21600000">
            <a:off x="34290" y="237337"/>
            <a:ext cx="785266" cy="478129"/>
            <a:chOff x="0" y="0"/>
            <a:chExt cx="785266" cy="478129"/>
          </a:xfrm>
        </p:grpSpPr>
        <p:sp>
          <p:nvSpPr>
            <p:cNvPr id="528" name="path 528"/>
            <p:cNvSpPr/>
            <p:nvPr/>
          </p:nvSpPr>
          <p:spPr>
            <a:xfrm>
              <a:off x="0" y="0"/>
              <a:ext cx="124879" cy="478129"/>
            </a:xfrm>
            <a:custGeom>
              <a:avLst/>
              <a:gdLst/>
              <a:ahLst/>
              <a:cxnLst/>
              <a:rect l="0" t="0" r="0" b="0"/>
              <a:pathLst>
                <a:path w="196" h="752">
                  <a:moveTo>
                    <a:pt x="0" y="0"/>
                  </a:moveTo>
                  <a:lnTo>
                    <a:pt x="196" y="0"/>
                  </a:lnTo>
                  <a:lnTo>
                    <a:pt x="196" y="752"/>
                  </a:lnTo>
                  <a:lnTo>
                    <a:pt x="0" y="752"/>
                  </a:lnTo>
                  <a:lnTo>
                    <a:pt x="0" y="0"/>
                  </a:lnTo>
                  <a:close/>
                </a:path>
              </a:pathLst>
            </a:custGeom>
            <a:solidFill>
              <a:srgbClr val="475F77">
                <a:alpha val="100000"/>
              </a:srgbClr>
            </a:solidFill>
            <a:ln w="0" cap="flat">
              <a:noFill/>
              <a:prstDash val="solid"/>
              <a:miter lim="0"/>
            </a:ln>
          </p:spPr>
          <p:txBody>
            <a:bodyPr rtlCol="0"/>
            <a:lstStyle/>
            <a:p>
              <a:pPr algn="ctr"/>
              <a:endParaRPr lang="zh-CN" altLang="en-US"/>
            </a:p>
          </p:txBody>
        </p:sp>
        <p:sp>
          <p:nvSpPr>
            <p:cNvPr id="530" name="path 530"/>
            <p:cNvSpPr/>
            <p:nvPr/>
          </p:nvSpPr>
          <p:spPr>
            <a:xfrm>
              <a:off x="146050" y="0"/>
              <a:ext cx="639216" cy="478129"/>
            </a:xfrm>
            <a:custGeom>
              <a:avLst/>
              <a:gdLst/>
              <a:ahLst/>
              <a:cxnLst/>
              <a:rect l="0" t="0" r="0" b="0"/>
              <a:pathLst>
                <a:path w="1006" h="752">
                  <a:moveTo>
                    <a:pt x="0" y="0"/>
                  </a:moveTo>
                  <a:lnTo>
                    <a:pt x="1006" y="0"/>
                  </a:lnTo>
                  <a:lnTo>
                    <a:pt x="1006" y="752"/>
                  </a:lnTo>
                  <a:lnTo>
                    <a:pt x="0" y="752"/>
                  </a:lnTo>
                  <a:lnTo>
                    <a:pt x="0" y="0"/>
                  </a:lnTo>
                  <a:close/>
                </a:path>
              </a:pathLst>
            </a:custGeom>
            <a:solidFill>
              <a:srgbClr val="CD2D2D">
                <a:alpha val="100000"/>
              </a:srgbClr>
            </a:solidFill>
            <a:ln w="0" cap="flat">
              <a:noFill/>
              <a:prstDash val="solid"/>
              <a:miter lim="0"/>
            </a:ln>
          </p:spPr>
          <p:txBody>
            <a:bodyPr rtlCol="0"/>
            <a:lstStyle/>
            <a:p>
              <a:pPr algn="ctr"/>
              <a:endParaRPr lang="zh-CN" altLang="en-US"/>
            </a:p>
          </p:txBody>
        </p:sp>
      </p:grpSp>
      <p:sp>
        <p:nvSpPr>
          <p:cNvPr id="532" name="rect 532"/>
          <p:cNvSpPr/>
          <p:nvPr/>
        </p:nvSpPr>
        <p:spPr>
          <a:xfrm>
            <a:off x="5024754" y="951865"/>
            <a:ext cx="6250939" cy="315595"/>
          </a:xfrm>
          <a:prstGeom prst="rect">
            <a:avLst/>
          </a:prstGeom>
          <a:solidFill>
            <a:srgbClr val="CD2D2D">
              <a:alpha val="100000"/>
            </a:srgbClr>
          </a:solidFill>
          <a:ln w="0" cap="flat">
            <a:noFill/>
            <a:prstDash val="solid"/>
            <a:miter lim="0"/>
          </a:ln>
        </p:spPr>
        <p:txBody>
          <a:bodyPr rtlCol="0"/>
          <a:lstStyle/>
          <a:p>
            <a:pPr algn="ctr"/>
            <a:endParaRPr lang="zh-CN" altLang="en-US"/>
          </a:p>
        </p:txBody>
      </p:sp>
      <p:sp>
        <p:nvSpPr>
          <p:cNvPr id="534" name="textbox 534"/>
          <p:cNvSpPr/>
          <p:nvPr/>
        </p:nvSpPr>
        <p:spPr>
          <a:xfrm>
            <a:off x="5349611" y="6443905"/>
            <a:ext cx="5906770" cy="248284"/>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ts val="1755"/>
              </a:lnSpc>
            </a:pPr>
            <a:r>
              <a:rPr sz="1500" kern="0" spc="10" baseline="26000" dirty="0">
                <a:solidFill>
                  <a:srgbClr val="000000">
                    <a:alpha val="100000"/>
                  </a:srgbClr>
                </a:solidFill>
                <a:latin typeface="微软雅黑" panose="020B0503020204020204" charset="-122"/>
                <a:ea typeface="微软雅黑" panose="020B0503020204020204" charset="-122"/>
                <a:cs typeface="微软雅黑" panose="020B0503020204020204" charset="-122"/>
              </a:rPr>
              <a:t>资料来源：</a:t>
            </a:r>
            <a:r>
              <a:rPr sz="9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500" kern="0" spc="10" baseline="26000" dirty="0">
                <a:solidFill>
                  <a:srgbClr val="000000">
                    <a:alpha val="100000"/>
                  </a:srgbClr>
                </a:solidFill>
                <a:latin typeface="微软雅黑" panose="020B0503020204020204" charset="-122"/>
                <a:ea typeface="微软雅黑" panose="020B0503020204020204" charset="-122"/>
                <a:cs typeface="微软雅黑" panose="020B0503020204020204" charset="-122"/>
              </a:rPr>
              <a:t>中国人民银行</a:t>
            </a:r>
            <a:r>
              <a:rPr sz="9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9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sz="2000" baseline="-7000" dirty="0">
              <a:latin typeface="微软雅黑" panose="020B0503020204020204" charset="-122"/>
              <a:ea typeface="微软雅黑" panose="020B0503020204020204" charset="-122"/>
              <a:cs typeface="微软雅黑" panose="020B0503020204020204" charset="-122"/>
            </a:endParaRPr>
          </a:p>
        </p:txBody>
      </p:sp>
      <p:sp>
        <p:nvSpPr>
          <p:cNvPr id="538" name="textbox 538"/>
          <p:cNvSpPr/>
          <p:nvPr/>
        </p:nvSpPr>
        <p:spPr>
          <a:xfrm>
            <a:off x="5167874" y="947933"/>
            <a:ext cx="1920239" cy="287654"/>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ts val="2060"/>
              </a:lnSpc>
            </a:pPr>
            <a:r>
              <a:rPr sz="1500" kern="0" spc="70" dirty="0">
                <a:solidFill>
                  <a:srgbClr val="FFFFFF">
                    <a:alpha val="100000"/>
                  </a:srgbClr>
                </a:solidFill>
                <a:latin typeface="微软雅黑" panose="020B0503020204020204" charset="-122"/>
                <a:ea typeface="微软雅黑" panose="020B0503020204020204" charset="-122"/>
                <a:cs typeface="微软雅黑" panose="020B0503020204020204" charset="-122"/>
              </a:rPr>
              <a:t>图表18:双轨协同模型</a:t>
            </a:r>
            <a:endParaRPr sz="1500" dirty="0">
              <a:latin typeface="微软雅黑" panose="020B0503020204020204" charset="-122"/>
              <a:ea typeface="微软雅黑" panose="020B0503020204020204" charset="-122"/>
              <a:cs typeface="微软雅黑" panose="020B0503020204020204" charset="-122"/>
            </a:endParaRPr>
          </a:p>
        </p:txBody>
      </p:sp>
      <p:sp>
        <p:nvSpPr>
          <p:cNvPr id="540" name="path 540"/>
          <p:cNvSpPr/>
          <p:nvPr/>
        </p:nvSpPr>
        <p:spPr>
          <a:xfrm>
            <a:off x="5024661" y="1453150"/>
            <a:ext cx="6313170" cy="9525"/>
          </a:xfrm>
          <a:custGeom>
            <a:avLst/>
            <a:gdLst/>
            <a:ahLst/>
            <a:cxnLst/>
            <a:rect l="0" t="0" r="0" b="0"/>
            <a:pathLst>
              <a:path w="9942" h="15">
                <a:moveTo>
                  <a:pt x="0" y="7"/>
                </a:moveTo>
                <a:lnTo>
                  <a:pt x="9942" y="7"/>
                </a:lnTo>
              </a:path>
            </a:pathLst>
          </a:custGeom>
          <a:noFill/>
          <a:ln w="9525" cap="flat">
            <a:solidFill>
              <a:srgbClr val="B02323"/>
            </a:solidFill>
            <a:prstDash val="solid"/>
            <a:round/>
          </a:ln>
        </p:spPr>
        <p:txBody>
          <a:bodyPr rtlCol="0"/>
          <a:lstStyle/>
          <a:p>
            <a:pPr algn="ctr"/>
            <a:endParaRPr lang="zh-CN" altLang="en-US"/>
          </a:p>
        </p:txBody>
      </p:sp>
      <p:sp>
        <p:nvSpPr>
          <p:cNvPr id="542" name="path 542"/>
          <p:cNvSpPr/>
          <p:nvPr/>
        </p:nvSpPr>
        <p:spPr>
          <a:xfrm>
            <a:off x="5268501" y="6220730"/>
            <a:ext cx="6313170" cy="9525"/>
          </a:xfrm>
          <a:custGeom>
            <a:avLst/>
            <a:gdLst/>
            <a:ahLst/>
            <a:cxnLst/>
            <a:rect l="0" t="0" r="0" b="0"/>
            <a:pathLst>
              <a:path w="9942" h="15">
                <a:moveTo>
                  <a:pt x="0" y="7"/>
                </a:moveTo>
                <a:lnTo>
                  <a:pt x="9942" y="7"/>
                </a:lnTo>
              </a:path>
            </a:pathLst>
          </a:custGeom>
          <a:noFill/>
          <a:ln w="9525" cap="flat">
            <a:solidFill>
              <a:srgbClr val="B02323"/>
            </a:solidFill>
            <a:prstDash val="solid"/>
            <a:round/>
          </a:ln>
        </p:spPr>
        <p:txBody>
          <a:bodyPr rtlCol="0"/>
          <a:lstStyle/>
          <a:p>
            <a:pPr algn="ctr"/>
            <a:endParaRPr lang="zh-CN" altLang="en-US"/>
          </a:p>
        </p:txBody>
      </p:sp>
      <mc:AlternateContent xmlns:mc="http://schemas.openxmlformats.org/markup-compatibility/2006" xmlns:p14="http://schemas.microsoft.com/office/powerpoint/2010/main">
        <mc:Choice Requires="p14">
          <p:contentPart r:id="rId2" p14:bwMode="auto">
            <p14:nvContentPartPr>
              <p14:cNvPr id="2" name="墨迹 1"/>
              <p14:cNvContentPartPr/>
              <p14:nvPr/>
            </p14:nvContentPartPr>
            <p14:xfrm>
              <a:off x="4893710" y="3124661"/>
              <a:ext cx="150584" cy="183915"/>
            </p14:xfrm>
          </p:contentPart>
        </mc:Choice>
        <mc:Fallback xmlns="">
          <p:pic>
            <p:nvPicPr>
              <p:cNvPr id="2" name="墨迹 1"/>
            </p:nvPicPr>
            <p:blipFill>
              <a:blip r:embed="rId3"/>
            </p:blipFill>
            <p:spPr>
              <a:xfrm>
                <a:off x="4893710" y="3124661"/>
                <a:ext cx="150584" cy="183915"/>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3" name="墨迹 2"/>
              <p14:cNvContentPartPr/>
              <p14:nvPr/>
            </p14:nvContentPartPr>
            <p14:xfrm>
              <a:off x="4878656" y="3310301"/>
              <a:ext cx="20099" cy="223271"/>
            </p14:xfrm>
          </p:contentPart>
        </mc:Choice>
        <mc:Fallback xmlns="">
          <p:pic>
            <p:nvPicPr>
              <p:cNvPr id="3" name="墨迹 2"/>
            </p:nvPicPr>
            <p:blipFill>
              <a:blip r:embed="rId5"/>
            </p:blipFill>
            <p:spPr>
              <a:xfrm>
                <a:off x="4878656" y="3310301"/>
                <a:ext cx="20099" cy="223271"/>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4" name="墨迹 3"/>
              <p14:cNvContentPartPr/>
              <p14:nvPr/>
            </p14:nvContentPartPr>
            <p14:xfrm>
              <a:off x="4948923" y="3270163"/>
              <a:ext cx="100376" cy="336160"/>
            </p14:xfrm>
          </p:contentPart>
        </mc:Choice>
        <mc:Fallback xmlns="">
          <p:pic>
            <p:nvPicPr>
              <p:cNvPr id="4" name="墨迹 3"/>
            </p:nvPicPr>
            <p:blipFill>
              <a:blip r:embed="rId7"/>
            </p:blipFill>
            <p:spPr>
              <a:xfrm>
                <a:off x="4948923" y="3270163"/>
                <a:ext cx="100376" cy="33616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5" name="墨迹 4"/>
              <p14:cNvContentPartPr/>
              <p14:nvPr/>
            </p14:nvContentPartPr>
            <p14:xfrm>
              <a:off x="4923819" y="3345423"/>
              <a:ext cx="95371" cy="98621"/>
            </p14:xfrm>
          </p:contentPart>
        </mc:Choice>
        <mc:Fallback xmlns="">
          <p:pic>
            <p:nvPicPr>
              <p:cNvPr id="5" name="墨迹 4"/>
            </p:nvPicPr>
            <p:blipFill>
              <a:blip r:embed="rId9"/>
            </p:blipFill>
            <p:spPr>
              <a:xfrm>
                <a:off x="4923819" y="3345423"/>
                <a:ext cx="95371" cy="98621"/>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6" name="墨迹 5"/>
              <p14:cNvContentPartPr/>
              <p14:nvPr/>
            </p14:nvContentPartPr>
            <p14:xfrm>
              <a:off x="4957116" y="3321590"/>
              <a:ext cx="34468" cy="159300"/>
            </p14:xfrm>
          </p:contentPart>
        </mc:Choice>
        <mc:Fallback xmlns="">
          <p:pic>
            <p:nvPicPr>
              <p:cNvPr id="6" name="墨迹 5"/>
            </p:nvPicPr>
            <p:blipFill>
              <a:blip r:embed="rId11"/>
            </p:blipFill>
            <p:spPr>
              <a:xfrm>
                <a:off x="4957116" y="3321590"/>
                <a:ext cx="34468" cy="15930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7" name="墨迹 6"/>
              <p14:cNvContentPartPr/>
              <p14:nvPr/>
            </p14:nvContentPartPr>
            <p14:xfrm>
              <a:off x="5084453" y="3179851"/>
              <a:ext cx="73576" cy="190658"/>
            </p14:xfrm>
          </p:contentPart>
        </mc:Choice>
        <mc:Fallback xmlns="">
          <p:pic>
            <p:nvPicPr>
              <p:cNvPr id="7" name="墨迹 6"/>
            </p:nvPicPr>
            <p:blipFill>
              <a:blip r:embed="rId13"/>
            </p:blipFill>
            <p:spPr>
              <a:xfrm>
                <a:off x="5084453" y="3179851"/>
                <a:ext cx="73576" cy="190658"/>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8" name="墨迹 7"/>
              <p14:cNvContentPartPr/>
              <p14:nvPr/>
            </p14:nvContentPartPr>
            <p14:xfrm>
              <a:off x="5076138" y="3194903"/>
              <a:ext cx="140696" cy="408284"/>
            </p14:xfrm>
          </p:contentPart>
        </mc:Choice>
        <mc:Fallback xmlns="">
          <p:pic>
            <p:nvPicPr>
              <p:cNvPr id="8" name="墨迹 7"/>
            </p:nvPicPr>
            <p:blipFill>
              <a:blip r:embed="rId15"/>
            </p:blipFill>
            <p:spPr>
              <a:xfrm>
                <a:off x="5076138" y="3194903"/>
                <a:ext cx="140696" cy="408284"/>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9" name="墨迹 8"/>
              <p14:cNvContentPartPr/>
              <p14:nvPr/>
            </p14:nvContentPartPr>
            <p14:xfrm>
              <a:off x="5255095" y="3300267"/>
              <a:ext cx="60258" cy="27595"/>
            </p14:xfrm>
          </p:contentPart>
        </mc:Choice>
        <mc:Fallback xmlns="">
          <p:pic>
            <p:nvPicPr>
              <p:cNvPr id="9" name="墨迹 8"/>
            </p:nvPicPr>
            <p:blipFill>
              <a:blip r:embed="rId17"/>
            </p:blipFill>
            <p:spPr>
              <a:xfrm>
                <a:off x="5255095" y="3300267"/>
                <a:ext cx="60258" cy="27595"/>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0" name="墨迹 9"/>
              <p14:cNvContentPartPr/>
              <p14:nvPr/>
            </p14:nvContentPartPr>
            <p14:xfrm>
              <a:off x="5236893" y="3380544"/>
              <a:ext cx="85967" cy="88116"/>
            </p14:xfrm>
          </p:contentPart>
        </mc:Choice>
        <mc:Fallback xmlns="">
          <p:pic>
            <p:nvPicPr>
              <p:cNvPr id="10" name="墨迹 9"/>
            </p:nvPicPr>
            <p:blipFill>
              <a:blip r:embed="rId19"/>
            </p:blipFill>
            <p:spPr>
              <a:xfrm>
                <a:off x="5236893" y="3380544"/>
                <a:ext cx="85967" cy="88116"/>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1" name="墨迹 10"/>
              <p14:cNvContentPartPr/>
              <p14:nvPr/>
            </p14:nvContentPartPr>
            <p14:xfrm>
              <a:off x="5343565" y="3214972"/>
              <a:ext cx="144933" cy="201320"/>
            </p14:xfrm>
          </p:contentPart>
        </mc:Choice>
        <mc:Fallback xmlns="">
          <p:pic>
            <p:nvPicPr>
              <p:cNvPr id="11" name="墨迹 10"/>
            </p:nvPicPr>
            <p:blipFill>
              <a:blip r:embed="rId21"/>
            </p:blipFill>
            <p:spPr>
              <a:xfrm>
                <a:off x="5343565" y="3214972"/>
                <a:ext cx="144933" cy="201320"/>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12" name="墨迹 11"/>
              <p14:cNvContentPartPr/>
              <p14:nvPr/>
            </p14:nvContentPartPr>
            <p14:xfrm>
              <a:off x="5352969" y="3179851"/>
              <a:ext cx="92869" cy="362658"/>
            </p14:xfrm>
          </p:contentPart>
        </mc:Choice>
        <mc:Fallback xmlns="">
          <p:pic>
            <p:nvPicPr>
              <p:cNvPr id="12" name="墨迹 11"/>
            </p:nvPicPr>
            <p:blipFill>
              <a:blip r:embed="rId23"/>
            </p:blipFill>
            <p:spPr>
              <a:xfrm>
                <a:off x="5352969" y="3179851"/>
                <a:ext cx="92869" cy="362658"/>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13" name="墨迹 12"/>
              <p14:cNvContentPartPr/>
              <p14:nvPr/>
            </p14:nvContentPartPr>
            <p14:xfrm>
              <a:off x="5400675" y="3335388"/>
              <a:ext cx="105380" cy="135468"/>
            </p14:xfrm>
          </p:contentPart>
        </mc:Choice>
        <mc:Fallback xmlns="">
          <p:pic>
            <p:nvPicPr>
              <p:cNvPr id="13" name="墨迹 12"/>
            </p:nvPicPr>
            <p:blipFill>
              <a:blip r:embed="rId25"/>
            </p:blipFill>
            <p:spPr>
              <a:xfrm>
                <a:off x="5400675" y="3335388"/>
                <a:ext cx="105380" cy="135468"/>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14" name="墨迹 13"/>
              <p14:cNvContentPartPr/>
              <p14:nvPr/>
            </p14:nvContentPartPr>
            <p14:xfrm>
              <a:off x="5538706" y="3166524"/>
              <a:ext cx="57715" cy="181408"/>
            </p14:xfrm>
          </p:contentPart>
        </mc:Choice>
        <mc:Fallback xmlns="">
          <p:pic>
            <p:nvPicPr>
              <p:cNvPr id="14" name="墨迹 13"/>
            </p:nvPicPr>
            <p:blipFill>
              <a:blip r:embed="rId27"/>
            </p:blipFill>
            <p:spPr>
              <a:xfrm>
                <a:off x="5538706" y="3166524"/>
                <a:ext cx="57715" cy="181408"/>
              </a:xfrm>
              <a:prstGeom prst="rect"/>
            </p:spPr>
          </p:pic>
        </mc:Fallback>
      </mc:AlternateContent>
      <mc:AlternateContent xmlns:mc="http://schemas.openxmlformats.org/markup-compatibility/2006" xmlns:p14="http://schemas.microsoft.com/office/powerpoint/2010/main">
        <mc:Choice Requires="p14">
          <p:contentPart r:id="rId28" p14:bwMode="auto">
            <p14:nvContentPartPr>
              <p14:cNvPr id="15" name="墨迹 14"/>
              <p14:cNvContentPartPr/>
              <p14:nvPr/>
            </p14:nvContentPartPr>
            <p14:xfrm>
              <a:off x="5586372" y="3225007"/>
              <a:ext cx="72769" cy="25087"/>
            </p14:xfrm>
          </p:contentPart>
        </mc:Choice>
        <mc:Fallback xmlns="">
          <p:pic>
            <p:nvPicPr>
              <p:cNvPr id="15" name="墨迹 14"/>
            </p:nvPicPr>
            <p:blipFill>
              <a:blip r:embed="rId29"/>
            </p:blipFill>
            <p:spPr>
              <a:xfrm>
                <a:off x="5586372" y="3225007"/>
                <a:ext cx="72769" cy="25087"/>
              </a:xfrm>
              <a:prstGeom prst="rect"/>
            </p:spPr>
          </p:pic>
        </mc:Fallback>
      </mc:AlternateContent>
      <mc:AlternateContent xmlns:mc="http://schemas.openxmlformats.org/markup-compatibility/2006" xmlns:p14="http://schemas.microsoft.com/office/powerpoint/2010/main">
        <mc:Choice Requires="p14">
          <p:contentPart r:id="rId30" p14:bwMode="auto">
            <p14:nvContentPartPr>
              <p14:cNvPr id="16" name="墨迹 15"/>
              <p14:cNvContentPartPr/>
              <p14:nvPr/>
            </p14:nvContentPartPr>
            <p14:xfrm>
              <a:off x="5573820" y="3280197"/>
              <a:ext cx="90366" cy="41394"/>
            </p14:xfrm>
          </p:contentPart>
        </mc:Choice>
        <mc:Fallback xmlns="">
          <p:pic>
            <p:nvPicPr>
              <p:cNvPr id="16" name="墨迹 15"/>
            </p:nvPicPr>
            <p:blipFill>
              <a:blip r:embed="rId31"/>
            </p:blipFill>
            <p:spPr>
              <a:xfrm>
                <a:off x="5573820" y="3280197"/>
                <a:ext cx="90366" cy="41394"/>
              </a:xfrm>
              <a:prstGeom prst="rect"/>
            </p:spPr>
          </p:pic>
        </mc:Fallback>
      </mc:AlternateContent>
      <mc:AlternateContent xmlns:mc="http://schemas.openxmlformats.org/markup-compatibility/2006" xmlns:p14="http://schemas.microsoft.com/office/powerpoint/2010/main">
        <mc:Choice Requires="p14">
          <p:contentPart r:id="rId32" p14:bwMode="auto">
            <p14:nvContentPartPr>
              <p14:cNvPr id="17" name="墨迹 16"/>
              <p14:cNvContentPartPr/>
              <p14:nvPr/>
            </p14:nvContentPartPr>
            <p14:xfrm>
              <a:off x="5528051" y="3350440"/>
              <a:ext cx="131090" cy="101287"/>
            </p14:xfrm>
          </p:contentPart>
        </mc:Choice>
        <mc:Fallback xmlns="">
          <p:pic>
            <p:nvPicPr>
              <p:cNvPr id="17" name="墨迹 16"/>
            </p:nvPicPr>
            <p:blipFill>
              <a:blip r:embed="rId33"/>
            </p:blipFill>
            <p:spPr>
              <a:xfrm>
                <a:off x="5528051" y="3350440"/>
                <a:ext cx="131090" cy="101287"/>
              </a:xfrm>
              <a:prstGeom prst="rect"/>
            </p:spPr>
          </p:pic>
        </mc:Fallback>
      </mc:AlternateContent>
      <mc:AlternateContent xmlns:mc="http://schemas.openxmlformats.org/markup-compatibility/2006" xmlns:p14="http://schemas.microsoft.com/office/powerpoint/2010/main">
        <mc:Choice Requires="p14">
          <p:contentPart r:id="rId34" p14:bwMode="auto">
            <p14:nvContentPartPr>
              <p14:cNvPr id="18" name="墨迹 17"/>
              <p14:cNvContentPartPr/>
              <p14:nvPr/>
            </p14:nvContentPartPr>
            <p14:xfrm>
              <a:off x="5586372" y="3340405"/>
              <a:ext cx="72769" cy="205083"/>
            </p14:xfrm>
          </p:contentPart>
        </mc:Choice>
        <mc:Fallback xmlns="">
          <p:pic>
            <p:nvPicPr>
              <p:cNvPr id="18" name="墨迹 17"/>
            </p:nvPicPr>
            <p:blipFill>
              <a:blip r:embed="rId35"/>
            </p:blipFill>
            <p:spPr>
              <a:xfrm>
                <a:off x="5586372" y="3340405"/>
                <a:ext cx="72769" cy="205083"/>
              </a:xfrm>
              <a:prstGeom prst="rect"/>
            </p:spPr>
          </p:pic>
        </mc:Fallback>
      </mc:AlternateContent>
      <mc:AlternateContent xmlns:mc="http://schemas.openxmlformats.org/markup-compatibility/2006" xmlns:p14="http://schemas.microsoft.com/office/powerpoint/2010/main">
        <mc:Choice Requires="p14">
          <p:contentPart r:id="rId36" p14:bwMode="auto">
            <p14:nvContentPartPr>
              <p14:cNvPr id="19" name="墨迹 18"/>
              <p14:cNvContentPartPr/>
              <p14:nvPr/>
            </p14:nvContentPartPr>
            <p14:xfrm>
              <a:off x="5676738" y="3275180"/>
              <a:ext cx="57715" cy="15052"/>
            </p14:xfrm>
          </p:contentPart>
        </mc:Choice>
        <mc:Fallback xmlns="">
          <p:pic>
            <p:nvPicPr>
              <p:cNvPr id="19" name="墨迹 18"/>
            </p:nvPicPr>
            <p:blipFill>
              <a:blip r:embed="rId37"/>
            </p:blipFill>
            <p:spPr>
              <a:xfrm>
                <a:off x="5676738" y="3275180"/>
                <a:ext cx="57715" cy="15052"/>
              </a:xfrm>
              <a:prstGeom prst="rect"/>
            </p:spPr>
          </p:pic>
        </mc:Fallback>
      </mc:AlternateContent>
      <mc:AlternateContent xmlns:mc="http://schemas.openxmlformats.org/markup-compatibility/2006" xmlns:p14="http://schemas.microsoft.com/office/powerpoint/2010/main">
        <mc:Choice Requires="p14">
          <p:contentPart r:id="rId38" p14:bwMode="auto">
            <p14:nvContentPartPr>
              <p14:cNvPr id="20" name="墨迹 19"/>
              <p14:cNvContentPartPr/>
              <p14:nvPr/>
            </p14:nvContentPartPr>
            <p14:xfrm>
              <a:off x="5664186" y="3275180"/>
              <a:ext cx="125479" cy="133743"/>
            </p14:xfrm>
          </p:contentPart>
        </mc:Choice>
        <mc:Fallback xmlns="">
          <p:pic>
            <p:nvPicPr>
              <p:cNvPr id="20" name="墨迹 19"/>
            </p:nvPicPr>
            <p:blipFill>
              <a:blip r:embed="rId39"/>
            </p:blipFill>
            <p:spPr>
              <a:xfrm>
                <a:off x="5664186" y="3275180"/>
                <a:ext cx="125479" cy="133743"/>
              </a:xfrm>
              <a:prstGeom prst="rect"/>
            </p:spPr>
          </p:pic>
        </mc:Fallback>
      </mc:AlternateContent>
      <mc:AlternateContent xmlns:mc="http://schemas.openxmlformats.org/markup-compatibility/2006" xmlns:p14="http://schemas.microsoft.com/office/powerpoint/2010/main">
        <mc:Choice Requires="p14">
          <p:contentPart r:id="rId40" p14:bwMode="auto">
            <p14:nvContentPartPr>
              <p14:cNvPr id="21" name="墨迹 20"/>
              <p14:cNvContentPartPr/>
              <p14:nvPr/>
            </p14:nvContentPartPr>
            <p14:xfrm>
              <a:off x="5731911" y="3225007"/>
              <a:ext cx="105420" cy="314366"/>
            </p14:xfrm>
          </p:contentPart>
        </mc:Choice>
        <mc:Fallback xmlns="">
          <p:pic>
            <p:nvPicPr>
              <p:cNvPr id="21" name="墨迹 20"/>
            </p:nvPicPr>
            <p:blipFill>
              <a:blip r:embed="rId41"/>
            </p:blipFill>
            <p:spPr>
              <a:xfrm>
                <a:off x="5731911" y="3225007"/>
                <a:ext cx="105420" cy="314366"/>
              </a:xfrm>
              <a:prstGeom prst="rect"/>
            </p:spPr>
          </p:pic>
        </mc:Fallback>
      </mc:AlternateContent>
      <mc:AlternateContent xmlns:mc="http://schemas.openxmlformats.org/markup-compatibility/2006" xmlns:p14="http://schemas.microsoft.com/office/powerpoint/2010/main">
        <mc:Choice Requires="p14">
          <p:contentPart r:id="rId42" p14:bwMode="auto">
            <p14:nvContentPartPr>
              <p14:cNvPr id="22" name="墨迹 21"/>
              <p14:cNvContentPartPr/>
              <p14:nvPr/>
            </p14:nvContentPartPr>
            <p14:xfrm>
              <a:off x="5676738" y="3307322"/>
              <a:ext cx="145539" cy="226250"/>
            </p14:xfrm>
          </p:contentPart>
        </mc:Choice>
        <mc:Fallback xmlns="">
          <p:pic>
            <p:nvPicPr>
              <p:cNvPr id="22" name="墨迹 21"/>
            </p:nvPicPr>
            <p:blipFill>
              <a:blip r:embed="rId43"/>
            </p:blipFill>
            <p:spPr>
              <a:xfrm>
                <a:off x="5676738" y="3307322"/>
                <a:ext cx="145539" cy="226250"/>
              </a:xfrm>
              <a:prstGeom prst="rect"/>
            </p:spPr>
          </p:pic>
        </mc:Fallback>
      </mc:AlternateContent>
      <mc:AlternateContent xmlns:mc="http://schemas.openxmlformats.org/markup-compatibility/2006" xmlns:p14="http://schemas.microsoft.com/office/powerpoint/2010/main">
        <mc:Choice Requires="p14">
          <p:contentPart r:id="rId44" p14:bwMode="auto">
            <p14:nvContentPartPr>
              <p14:cNvPr id="23" name="墨迹 22"/>
              <p14:cNvContentPartPr/>
              <p14:nvPr/>
            </p14:nvContentPartPr>
            <p14:xfrm>
              <a:off x="5752010" y="3194903"/>
              <a:ext cx="50208" cy="22578"/>
            </p14:xfrm>
          </p:contentPart>
        </mc:Choice>
        <mc:Fallback xmlns="">
          <p:pic>
            <p:nvPicPr>
              <p:cNvPr id="23" name="墨迹 22"/>
            </p:nvPicPr>
            <p:blipFill>
              <a:blip r:embed="rId45"/>
            </p:blipFill>
            <p:spPr>
              <a:xfrm>
                <a:off x="5752010" y="3194903"/>
                <a:ext cx="50208" cy="22578"/>
              </a:xfrm>
              <a:prstGeom prst="rect"/>
            </p:spPr>
          </p:pic>
        </mc:Fallback>
      </mc:AlternateContent>
      <mc:AlternateContent xmlns:mc="http://schemas.openxmlformats.org/markup-compatibility/2006" xmlns:p14="http://schemas.microsoft.com/office/powerpoint/2010/main">
        <mc:Choice Requires="p14">
          <p:contentPart r:id="rId46" p14:bwMode="auto">
            <p14:nvContentPartPr>
              <p14:cNvPr id="24" name="墨迹 23"/>
              <p14:cNvContentPartPr/>
              <p14:nvPr/>
            </p14:nvContentPartPr>
            <p14:xfrm>
              <a:off x="5907598" y="3260128"/>
              <a:ext cx="35154" cy="22578"/>
            </p14:xfrm>
          </p:contentPart>
        </mc:Choice>
        <mc:Fallback xmlns="">
          <p:pic>
            <p:nvPicPr>
              <p:cNvPr id="24" name="墨迹 23"/>
            </p:nvPicPr>
            <p:blipFill>
              <a:blip r:embed="rId47"/>
            </p:blipFill>
            <p:spPr>
              <a:xfrm>
                <a:off x="5907598" y="3260128"/>
                <a:ext cx="35154" cy="22578"/>
              </a:xfrm>
              <a:prstGeom prst="rect"/>
            </p:spPr>
          </p:pic>
        </mc:Fallback>
      </mc:AlternateContent>
      <mc:AlternateContent xmlns:mc="http://schemas.openxmlformats.org/markup-compatibility/2006" xmlns:p14="http://schemas.microsoft.com/office/powerpoint/2010/main">
        <mc:Choice Requires="p14">
          <p:contentPart r:id="rId48" p14:bwMode="auto">
            <p14:nvContentPartPr>
              <p14:cNvPr id="25" name="墨迹 24"/>
              <p14:cNvContentPartPr/>
              <p14:nvPr/>
            </p14:nvContentPartPr>
            <p14:xfrm>
              <a:off x="5859933" y="3159782"/>
              <a:ext cx="42661" cy="180623"/>
            </p14:xfrm>
          </p:contentPart>
        </mc:Choice>
        <mc:Fallback xmlns="">
          <p:pic>
            <p:nvPicPr>
              <p:cNvPr id="25" name="墨迹 24"/>
            </p:nvPicPr>
            <p:blipFill>
              <a:blip r:embed="rId49"/>
            </p:blipFill>
            <p:spPr>
              <a:xfrm>
                <a:off x="5859933" y="3159782"/>
                <a:ext cx="42661" cy="180623"/>
              </a:xfrm>
              <a:prstGeom prst="rect"/>
            </p:spPr>
          </p:pic>
        </mc:Fallback>
      </mc:AlternateContent>
      <mc:AlternateContent xmlns:mc="http://schemas.openxmlformats.org/markup-compatibility/2006" xmlns:p14="http://schemas.microsoft.com/office/powerpoint/2010/main">
        <mc:Choice Requires="p14">
          <p:contentPart r:id="rId50" p14:bwMode="auto">
            <p14:nvContentPartPr>
              <p14:cNvPr id="26" name="墨迹 25"/>
              <p14:cNvContentPartPr/>
              <p14:nvPr/>
            </p14:nvContentPartPr>
            <p14:xfrm>
              <a:off x="5897548" y="3164799"/>
              <a:ext cx="97268" cy="55191"/>
            </p14:xfrm>
          </p:contentPart>
        </mc:Choice>
        <mc:Fallback xmlns="">
          <p:pic>
            <p:nvPicPr>
              <p:cNvPr id="26" name="墨迹 25"/>
            </p:nvPicPr>
            <p:blipFill>
              <a:blip r:embed="rId51"/>
            </p:blipFill>
            <p:spPr>
              <a:xfrm>
                <a:off x="5897548" y="3164799"/>
                <a:ext cx="97268" cy="55191"/>
              </a:xfrm>
              <a:prstGeom prst="rect"/>
            </p:spPr>
          </p:pic>
        </mc:Fallback>
      </mc:AlternateContent>
      <mc:AlternateContent xmlns:mc="http://schemas.openxmlformats.org/markup-compatibility/2006" xmlns:p14="http://schemas.microsoft.com/office/powerpoint/2010/main">
        <mc:Choice Requires="p14">
          <p:contentPart r:id="rId52" p14:bwMode="auto">
            <p14:nvContentPartPr>
              <p14:cNvPr id="27" name="墨迹 26"/>
              <p14:cNvContentPartPr/>
              <p14:nvPr/>
            </p14:nvContentPartPr>
            <p14:xfrm>
              <a:off x="5937707" y="3194903"/>
              <a:ext cx="10050" cy="210727"/>
            </p14:xfrm>
          </p:contentPart>
        </mc:Choice>
        <mc:Fallback xmlns="">
          <p:pic>
            <p:nvPicPr>
              <p:cNvPr id="27" name="墨迹 26"/>
            </p:nvPicPr>
            <p:blipFill>
              <a:blip r:embed="rId53"/>
            </p:blipFill>
            <p:spPr>
              <a:xfrm>
                <a:off x="5937707" y="3194903"/>
                <a:ext cx="10050" cy="210727"/>
              </a:xfrm>
              <a:prstGeom prst="rect"/>
            </p:spPr>
          </p:pic>
        </mc:Fallback>
      </mc:AlternateContent>
      <mc:AlternateContent xmlns:mc="http://schemas.openxmlformats.org/markup-compatibility/2006" xmlns:p14="http://schemas.microsoft.com/office/powerpoint/2010/main">
        <mc:Choice Requires="p14">
          <p:contentPart r:id="rId54" p14:bwMode="auto">
            <p14:nvContentPartPr>
              <p14:cNvPr id="28" name="墨迹 27"/>
              <p14:cNvContentPartPr/>
              <p14:nvPr/>
            </p14:nvContentPartPr>
            <p14:xfrm>
              <a:off x="5942752" y="3250094"/>
              <a:ext cx="67724" cy="67733"/>
            </p14:xfrm>
          </p:contentPart>
        </mc:Choice>
        <mc:Fallback xmlns="">
          <p:pic>
            <p:nvPicPr>
              <p:cNvPr id="28" name="墨迹 27"/>
            </p:nvPicPr>
            <p:blipFill>
              <a:blip r:embed="rId55"/>
            </p:blipFill>
            <p:spPr>
              <a:xfrm>
                <a:off x="5942752" y="3250094"/>
                <a:ext cx="67724" cy="67733"/>
              </a:xfrm>
              <a:prstGeom prst="rect"/>
            </p:spPr>
          </p:pic>
        </mc:Fallback>
      </mc:AlternateContent>
      <mc:AlternateContent xmlns:mc="http://schemas.openxmlformats.org/markup-compatibility/2006" xmlns:p14="http://schemas.microsoft.com/office/powerpoint/2010/main">
        <mc:Choice Requires="p14">
          <p:contentPart r:id="rId56" p14:bwMode="auto">
            <p14:nvContentPartPr>
              <p14:cNvPr id="29" name="墨迹 28"/>
              <p14:cNvContentPartPr/>
              <p14:nvPr/>
            </p14:nvContentPartPr>
            <p14:xfrm>
              <a:off x="5897548" y="3395596"/>
              <a:ext cx="5046" cy="135467"/>
            </p14:xfrm>
          </p:contentPart>
        </mc:Choice>
        <mc:Fallback xmlns="">
          <p:pic>
            <p:nvPicPr>
              <p:cNvPr id="29" name="墨迹 28"/>
            </p:nvPicPr>
            <p:blipFill>
              <a:blip r:embed="rId57"/>
            </p:blipFill>
            <p:spPr>
              <a:xfrm>
                <a:off x="5897548" y="3395596"/>
                <a:ext cx="5046" cy="135467"/>
              </a:xfrm>
              <a:prstGeom prst="rect"/>
            </p:spPr>
          </p:pic>
        </mc:Fallback>
      </mc:AlternateContent>
      <mc:AlternateContent xmlns:mc="http://schemas.openxmlformats.org/markup-compatibility/2006" xmlns:p14="http://schemas.microsoft.com/office/powerpoint/2010/main">
        <mc:Choice Requires="p14">
          <p:contentPart r:id="rId58" p14:bwMode="auto">
            <p14:nvContentPartPr>
              <p14:cNvPr id="30" name="墨迹 29"/>
              <p14:cNvContentPartPr/>
              <p14:nvPr/>
            </p14:nvContentPartPr>
            <p14:xfrm>
              <a:off x="5922653" y="3385561"/>
              <a:ext cx="158898" cy="108656"/>
            </p14:xfrm>
          </p:contentPart>
        </mc:Choice>
        <mc:Fallback xmlns="">
          <p:pic>
            <p:nvPicPr>
              <p:cNvPr id="30" name="墨迹 29"/>
            </p:nvPicPr>
            <p:blipFill>
              <a:blip r:embed="rId59"/>
            </p:blipFill>
            <p:spPr>
              <a:xfrm>
                <a:off x="5922653" y="3385561"/>
                <a:ext cx="158898" cy="108656"/>
              </a:xfrm>
              <a:prstGeom prst="rect"/>
            </p:spPr>
          </p:pic>
        </mc:Fallback>
      </mc:AlternateContent>
      <mc:AlternateContent xmlns:mc="http://schemas.openxmlformats.org/markup-compatibility/2006" xmlns:p14="http://schemas.microsoft.com/office/powerpoint/2010/main">
        <mc:Choice Requires="p14">
          <p:contentPart r:id="rId60" p14:bwMode="auto">
            <p14:nvContentPartPr>
              <p14:cNvPr id="31" name="墨迹 30"/>
              <p14:cNvContentPartPr/>
              <p14:nvPr/>
            </p14:nvContentPartPr>
            <p14:xfrm>
              <a:off x="6088291" y="3255111"/>
              <a:ext cx="63244" cy="168080"/>
            </p14:xfrm>
          </p:contentPart>
        </mc:Choice>
        <mc:Fallback xmlns="">
          <p:pic>
            <p:nvPicPr>
              <p:cNvPr id="31" name="墨迹 30"/>
            </p:nvPicPr>
            <p:blipFill>
              <a:blip r:embed="rId61"/>
            </p:blipFill>
            <p:spPr>
              <a:xfrm>
                <a:off x="6088291" y="3255111"/>
                <a:ext cx="63244" cy="168080"/>
              </a:xfrm>
              <a:prstGeom prst="rect"/>
            </p:spPr>
          </p:pic>
        </mc:Fallback>
      </mc:AlternateContent>
      <mc:AlternateContent xmlns:mc="http://schemas.openxmlformats.org/markup-compatibility/2006" xmlns:p14="http://schemas.microsoft.com/office/powerpoint/2010/main">
        <mc:Choice Requires="p14">
          <p:contentPart r:id="rId62" p14:bwMode="auto">
            <p14:nvContentPartPr>
              <p14:cNvPr id="32" name="墨迹 31"/>
              <p14:cNvContentPartPr/>
              <p14:nvPr/>
            </p14:nvContentPartPr>
            <p14:xfrm>
              <a:off x="6120135" y="3305284"/>
              <a:ext cx="98640" cy="180623"/>
            </p14:xfrm>
          </p:contentPart>
        </mc:Choice>
        <mc:Fallback xmlns="">
          <p:pic>
            <p:nvPicPr>
              <p:cNvPr id="32" name="墨迹 31"/>
            </p:nvPicPr>
            <p:blipFill>
              <a:blip r:embed="rId63"/>
            </p:blipFill>
            <p:spPr>
              <a:xfrm>
                <a:off x="6120135" y="3305284"/>
                <a:ext cx="98640" cy="180623"/>
              </a:xfrm>
              <a:prstGeom prst="rect"/>
            </p:spPr>
          </p:pic>
        </mc:Fallback>
      </mc:AlternateContent>
      <mc:AlternateContent xmlns:mc="http://schemas.openxmlformats.org/markup-compatibility/2006" xmlns:p14="http://schemas.microsoft.com/office/powerpoint/2010/main">
        <mc:Choice Requires="p14">
          <p:contentPart r:id="rId64" p14:bwMode="auto">
            <p14:nvContentPartPr>
              <p14:cNvPr id="33" name="墨迹 32"/>
              <p14:cNvContentPartPr/>
              <p14:nvPr/>
            </p14:nvContentPartPr>
            <p14:xfrm>
              <a:off x="6210945" y="3226888"/>
              <a:ext cx="128144" cy="275953"/>
            </p14:xfrm>
          </p:contentPart>
        </mc:Choice>
        <mc:Fallback xmlns="">
          <p:pic>
            <p:nvPicPr>
              <p:cNvPr id="33" name="墨迹 32"/>
            </p:nvPicPr>
            <p:blipFill>
              <a:blip r:embed="rId65"/>
            </p:blipFill>
            <p:spPr>
              <a:xfrm>
                <a:off x="6210945" y="3226888"/>
                <a:ext cx="128144" cy="275953"/>
              </a:xfrm>
              <a:prstGeom prst="rect"/>
            </p:spPr>
          </p:pic>
        </mc:Fallback>
      </mc:AlternateContent>
      <mc:AlternateContent xmlns:mc="http://schemas.openxmlformats.org/markup-compatibility/2006" xmlns:p14="http://schemas.microsoft.com/office/powerpoint/2010/main">
        <mc:Choice Requires="p14">
          <p:contentPart r:id="rId66" p14:bwMode="auto">
            <p14:nvContentPartPr>
              <p14:cNvPr id="34" name="墨迹 33"/>
              <p14:cNvContentPartPr/>
              <p14:nvPr/>
            </p14:nvContentPartPr>
            <p14:xfrm>
              <a:off x="6347685" y="3230024"/>
              <a:ext cx="69380" cy="30104"/>
            </p14:xfrm>
          </p:contentPart>
        </mc:Choice>
        <mc:Fallback xmlns="">
          <p:pic>
            <p:nvPicPr>
              <p:cNvPr id="34" name="墨迹 33"/>
            </p:nvPicPr>
            <p:blipFill>
              <a:blip r:embed="rId67"/>
            </p:blipFill>
            <p:spPr>
              <a:xfrm>
                <a:off x="6347685" y="3230024"/>
                <a:ext cx="69380" cy="30104"/>
              </a:xfrm>
              <a:prstGeom prst="rect"/>
            </p:spPr>
          </p:pic>
        </mc:Fallback>
      </mc:AlternateContent>
      <mc:AlternateContent xmlns:mc="http://schemas.openxmlformats.org/markup-compatibility/2006" xmlns:p14="http://schemas.microsoft.com/office/powerpoint/2010/main">
        <mc:Choice Requires="p14">
          <p:contentPart r:id="rId68" p14:bwMode="auto">
            <p14:nvContentPartPr>
              <p14:cNvPr id="35" name="墨迹 34"/>
              <p14:cNvContentPartPr/>
              <p14:nvPr/>
            </p14:nvContentPartPr>
            <p14:xfrm>
              <a:off x="6381911" y="3194903"/>
              <a:ext cx="12552" cy="173097"/>
            </p14:xfrm>
          </p:contentPart>
        </mc:Choice>
        <mc:Fallback xmlns="">
          <p:pic>
            <p:nvPicPr>
              <p:cNvPr id="35" name="墨迹 34"/>
            </p:nvPicPr>
            <p:blipFill>
              <a:blip r:embed="rId69"/>
            </p:blipFill>
            <p:spPr>
              <a:xfrm>
                <a:off x="6381911" y="3194903"/>
                <a:ext cx="12552" cy="173097"/>
              </a:xfrm>
              <a:prstGeom prst="rect"/>
            </p:spPr>
          </p:pic>
        </mc:Fallback>
      </mc:AlternateContent>
      <mc:AlternateContent xmlns:mc="http://schemas.openxmlformats.org/markup-compatibility/2006" xmlns:p14="http://schemas.microsoft.com/office/powerpoint/2010/main">
        <mc:Choice Requires="p14">
          <p:contentPart r:id="rId70" p14:bwMode="auto">
            <p14:nvContentPartPr>
              <p14:cNvPr id="36" name="墨迹 35"/>
              <p14:cNvContentPartPr/>
              <p14:nvPr/>
            </p14:nvContentPartPr>
            <p14:xfrm>
              <a:off x="6369359" y="3284588"/>
              <a:ext cx="68411" cy="183759"/>
            </p14:xfrm>
          </p:contentPart>
        </mc:Choice>
        <mc:Fallback xmlns="">
          <p:pic>
            <p:nvPicPr>
              <p:cNvPr id="36" name="墨迹 35"/>
            </p:nvPicPr>
            <p:blipFill>
              <a:blip r:embed="rId71"/>
            </p:blipFill>
            <p:spPr>
              <a:xfrm>
                <a:off x="6369359" y="3284588"/>
                <a:ext cx="68411" cy="183759"/>
              </a:xfrm>
              <a:prstGeom prst="rect"/>
            </p:spPr>
          </p:pic>
        </mc:Fallback>
      </mc:AlternateContent>
      <mc:AlternateContent xmlns:mc="http://schemas.openxmlformats.org/markup-compatibility/2006" xmlns:p14="http://schemas.microsoft.com/office/powerpoint/2010/main">
        <mc:Choice Requires="p14">
          <p:contentPart r:id="rId72" p14:bwMode="auto">
            <p14:nvContentPartPr>
              <p14:cNvPr id="37" name="墨迹 36"/>
              <p14:cNvContentPartPr/>
              <p14:nvPr/>
            </p14:nvContentPartPr>
            <p14:xfrm>
              <a:off x="6359350" y="3359220"/>
              <a:ext cx="98035" cy="181877"/>
            </p14:xfrm>
          </p:contentPart>
        </mc:Choice>
        <mc:Fallback xmlns="">
          <p:pic>
            <p:nvPicPr>
              <p:cNvPr id="37" name="墨迹 36"/>
            </p:nvPicPr>
            <p:blipFill>
              <a:blip r:embed="rId73"/>
            </p:blipFill>
            <p:spPr>
              <a:xfrm>
                <a:off x="6359350" y="3359220"/>
                <a:ext cx="98035" cy="181877"/>
              </a:xfrm>
              <a:prstGeom prst="rect"/>
            </p:spPr>
          </p:pic>
        </mc:Fallback>
      </mc:AlternateContent>
      <mc:AlternateContent xmlns:mc="http://schemas.openxmlformats.org/markup-compatibility/2006" xmlns:p14="http://schemas.microsoft.com/office/powerpoint/2010/main">
        <mc:Choice Requires="p14">
          <p:contentPart r:id="rId74" p14:bwMode="auto">
            <p14:nvContentPartPr>
              <p14:cNvPr id="38" name="墨迹 37"/>
              <p14:cNvContentPartPr/>
              <p14:nvPr/>
            </p14:nvContentPartPr>
            <p14:xfrm>
              <a:off x="6489834" y="3145357"/>
              <a:ext cx="50208" cy="197557"/>
            </p14:xfrm>
          </p:contentPart>
        </mc:Choice>
        <mc:Fallback xmlns="">
          <p:pic>
            <p:nvPicPr>
              <p:cNvPr id="38" name="墨迹 37"/>
            </p:nvPicPr>
            <p:blipFill>
              <a:blip r:embed="rId75"/>
            </p:blipFill>
            <p:spPr>
              <a:xfrm>
                <a:off x="6489834" y="3145357"/>
                <a:ext cx="50208" cy="197557"/>
              </a:xfrm>
              <a:prstGeom prst="rect"/>
            </p:spPr>
          </p:pic>
        </mc:Fallback>
      </mc:AlternateContent>
      <mc:AlternateContent xmlns:mc="http://schemas.openxmlformats.org/markup-compatibility/2006" xmlns:p14="http://schemas.microsoft.com/office/powerpoint/2010/main">
        <mc:Choice Requires="p14">
          <p:contentPart r:id="rId76" p14:bwMode="auto">
            <p14:nvContentPartPr>
              <p14:cNvPr id="39" name="墨迹 38"/>
              <p14:cNvContentPartPr/>
              <p14:nvPr/>
            </p14:nvContentPartPr>
            <p14:xfrm>
              <a:off x="6540042" y="3179851"/>
              <a:ext cx="47020" cy="70243"/>
            </p14:xfrm>
          </p:contentPart>
        </mc:Choice>
        <mc:Fallback xmlns="">
          <p:pic>
            <p:nvPicPr>
              <p:cNvPr id="39" name="墨迹 38"/>
            </p:nvPicPr>
            <p:blipFill>
              <a:blip r:embed="rId77"/>
            </p:blipFill>
            <p:spPr>
              <a:xfrm>
                <a:off x="6540042" y="3179851"/>
                <a:ext cx="47020" cy="70243"/>
              </a:xfrm>
              <a:prstGeom prst="rect"/>
            </p:spPr>
          </p:pic>
        </mc:Fallback>
      </mc:AlternateContent>
      <mc:AlternateContent xmlns:mc="http://schemas.openxmlformats.org/markup-compatibility/2006" xmlns:p14="http://schemas.microsoft.com/office/powerpoint/2010/main">
        <mc:Choice Requires="p14">
          <p:contentPart r:id="rId78" p14:bwMode="auto">
            <p14:nvContentPartPr>
              <p14:cNvPr id="40" name="墨迹 39"/>
              <p14:cNvContentPartPr/>
              <p14:nvPr/>
            </p14:nvContentPartPr>
            <p14:xfrm>
              <a:off x="6566841" y="3119643"/>
              <a:ext cx="41410" cy="136095"/>
            </p14:xfrm>
          </p:contentPart>
        </mc:Choice>
        <mc:Fallback xmlns="">
          <p:pic>
            <p:nvPicPr>
              <p:cNvPr id="40" name="墨迹 39"/>
            </p:nvPicPr>
            <p:blipFill>
              <a:blip r:embed="rId79"/>
            </p:blipFill>
            <p:spPr>
              <a:xfrm>
                <a:off x="6566841" y="3119643"/>
                <a:ext cx="41410" cy="136095"/>
              </a:xfrm>
              <a:prstGeom prst="rect"/>
            </p:spPr>
          </p:pic>
        </mc:Fallback>
      </mc:AlternateContent>
      <mc:AlternateContent xmlns:mc="http://schemas.openxmlformats.org/markup-compatibility/2006" xmlns:p14="http://schemas.microsoft.com/office/powerpoint/2010/main">
        <mc:Choice Requires="p14">
          <p:contentPart r:id="rId80" p14:bwMode="auto">
            <p14:nvContentPartPr>
              <p14:cNvPr id="41" name="墨迹 40"/>
              <p14:cNvContentPartPr/>
              <p14:nvPr/>
            </p14:nvContentPartPr>
            <p14:xfrm>
              <a:off x="6540042" y="3157273"/>
              <a:ext cx="121686" cy="233305"/>
            </p14:xfrm>
          </p:contentPart>
        </mc:Choice>
        <mc:Fallback xmlns="">
          <p:pic>
            <p:nvPicPr>
              <p:cNvPr id="41" name="墨迹 40"/>
            </p:nvPicPr>
            <p:blipFill>
              <a:blip r:embed="rId81"/>
            </p:blipFill>
            <p:spPr>
              <a:xfrm>
                <a:off x="6540042" y="3157273"/>
                <a:ext cx="121686" cy="233305"/>
              </a:xfrm>
              <a:prstGeom prst="rect"/>
            </p:spPr>
          </p:pic>
        </mc:Fallback>
      </mc:AlternateContent>
      <mc:AlternateContent xmlns:mc="http://schemas.openxmlformats.org/markup-compatibility/2006" xmlns:p14="http://schemas.microsoft.com/office/powerpoint/2010/main">
        <mc:Choice Requires="p14">
          <p:contentPart r:id="rId82" p14:bwMode="auto">
            <p14:nvContentPartPr>
              <p14:cNvPr id="42" name="墨迹 41"/>
              <p14:cNvContentPartPr/>
              <p14:nvPr/>
            </p14:nvContentPartPr>
            <p14:xfrm>
              <a:off x="6580160" y="3223126"/>
              <a:ext cx="25145" cy="204141"/>
            </p14:xfrm>
          </p:contentPart>
        </mc:Choice>
        <mc:Fallback xmlns="">
          <p:pic>
            <p:nvPicPr>
              <p:cNvPr id="42" name="墨迹 41"/>
            </p:nvPicPr>
            <p:blipFill>
              <a:blip r:embed="rId83"/>
            </p:blipFill>
            <p:spPr>
              <a:xfrm>
                <a:off x="6580160" y="3223126"/>
                <a:ext cx="25145" cy="204141"/>
              </a:xfrm>
              <a:prstGeom prst="rect"/>
            </p:spPr>
          </p:pic>
        </mc:Fallback>
      </mc:AlternateContent>
      <mc:AlternateContent xmlns:mc="http://schemas.openxmlformats.org/markup-compatibility/2006" xmlns:p14="http://schemas.microsoft.com/office/powerpoint/2010/main">
        <mc:Choice Requires="p14">
          <p:contentPart r:id="rId84" p14:bwMode="auto">
            <p14:nvContentPartPr>
              <p14:cNvPr id="43" name="墨迹 42"/>
              <p14:cNvContentPartPr/>
              <p14:nvPr/>
            </p14:nvContentPartPr>
            <p14:xfrm>
              <a:off x="6528418" y="3250094"/>
              <a:ext cx="129557" cy="135467"/>
            </p14:xfrm>
          </p:contentPart>
        </mc:Choice>
        <mc:Fallback xmlns="">
          <p:pic>
            <p:nvPicPr>
              <p:cNvPr id="43" name="墨迹 42"/>
            </p:nvPicPr>
            <p:blipFill>
              <a:blip r:embed="rId85"/>
            </p:blipFill>
            <p:spPr>
              <a:xfrm>
                <a:off x="6528418" y="3250094"/>
                <a:ext cx="129557" cy="135467"/>
              </a:xfrm>
              <a:prstGeom prst="rect"/>
            </p:spPr>
          </p:pic>
        </mc:Fallback>
      </mc:AlternateContent>
      <mc:AlternateContent xmlns:mc="http://schemas.openxmlformats.org/markup-compatibility/2006" xmlns:p14="http://schemas.microsoft.com/office/powerpoint/2010/main">
        <mc:Choice Requires="p14">
          <p:contentPart r:id="rId86" p14:bwMode="auto">
            <p14:nvContentPartPr>
              <p14:cNvPr id="44" name="墨迹 43"/>
              <p14:cNvContentPartPr/>
              <p14:nvPr/>
            </p14:nvContentPartPr>
            <p14:xfrm>
              <a:off x="6570151" y="3265146"/>
              <a:ext cx="45163" cy="238322"/>
            </p14:xfrm>
          </p:contentPart>
        </mc:Choice>
        <mc:Fallback xmlns="">
          <p:pic>
            <p:nvPicPr>
              <p:cNvPr id="44" name="墨迹 43"/>
            </p:nvPicPr>
            <p:blipFill>
              <a:blip r:embed="rId87"/>
            </p:blipFill>
            <p:spPr>
              <a:xfrm>
                <a:off x="6570151" y="3265146"/>
                <a:ext cx="45163" cy="238322"/>
              </a:xfrm>
              <a:prstGeom prst="rect"/>
            </p:spPr>
          </p:pic>
        </mc:Fallback>
      </mc:AlternateContent>
      <mc:AlternateContent xmlns:mc="http://schemas.openxmlformats.org/markup-compatibility/2006" xmlns:p14="http://schemas.microsoft.com/office/powerpoint/2010/main">
        <mc:Choice Requires="p14">
          <p:contentPart r:id="rId88" p14:bwMode="auto">
            <p14:nvContentPartPr>
              <p14:cNvPr id="45" name="墨迹 44"/>
              <p14:cNvContentPartPr/>
              <p14:nvPr/>
            </p14:nvContentPartPr>
            <p14:xfrm>
              <a:off x="6612811" y="3300267"/>
              <a:ext cx="35558" cy="376298"/>
            </p14:xfrm>
          </p:contentPart>
        </mc:Choice>
        <mc:Fallback xmlns="">
          <p:pic>
            <p:nvPicPr>
              <p:cNvPr id="45" name="墨迹 44"/>
            </p:nvPicPr>
            <p:blipFill>
              <a:blip r:embed="rId89"/>
            </p:blipFill>
            <p:spPr>
              <a:xfrm>
                <a:off x="6612811" y="3300267"/>
                <a:ext cx="35558" cy="376298"/>
              </a:xfrm>
              <a:prstGeom prst="rect"/>
            </p:spPr>
          </p:pic>
        </mc:Fallback>
      </mc:AlternateContent>
      <mc:AlternateContent xmlns:mc="http://schemas.openxmlformats.org/markup-compatibility/2006" xmlns:p14="http://schemas.microsoft.com/office/powerpoint/2010/main">
        <mc:Choice Requires="p14">
          <p:contentPart r:id="rId90" p14:bwMode="auto">
            <p14:nvContentPartPr>
              <p14:cNvPr id="46" name="墨迹 45"/>
              <p14:cNvContentPartPr/>
              <p14:nvPr/>
            </p14:nvContentPartPr>
            <p14:xfrm>
              <a:off x="4853552" y="3613065"/>
              <a:ext cx="2040327" cy="113674"/>
            </p14:xfrm>
          </p:contentPart>
        </mc:Choice>
        <mc:Fallback xmlns="">
          <p:pic>
            <p:nvPicPr>
              <p:cNvPr id="46" name="墨迹 45"/>
            </p:nvPicPr>
            <p:blipFill>
              <a:blip r:embed="rId91"/>
            </p:blipFill>
            <p:spPr>
              <a:xfrm>
                <a:off x="4853552" y="3613065"/>
                <a:ext cx="2040327" cy="113674"/>
              </a:xfrm>
              <a:prstGeom prst="rect"/>
            </p:spPr>
          </p:pic>
        </mc:Fallback>
      </mc:AlternateContent>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14505</Words>
  <Application>WPS 演示</Application>
  <PresentationFormat/>
  <Paragraphs>883</Paragraphs>
  <Slides>47</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47</vt:i4>
      </vt:variant>
    </vt:vector>
  </HeadingPairs>
  <TitlesOfParts>
    <vt:vector size="62" baseType="lpstr">
      <vt:lpstr>Arial</vt:lpstr>
      <vt:lpstr>宋体</vt:lpstr>
      <vt:lpstr>Wingdings</vt:lpstr>
      <vt:lpstr>微软雅黑</vt:lpstr>
      <vt:lpstr>楷体</vt:lpstr>
      <vt:lpstr>华文楷体</vt:lpstr>
      <vt:lpstr>华文新魏</vt:lpstr>
      <vt:lpstr>华文仿宋</vt:lpstr>
      <vt:lpstr>Arial Unicode MS</vt:lpstr>
      <vt:lpstr>Calibri</vt:lpstr>
      <vt:lpstr>Arial Unicode MS</vt:lpstr>
      <vt:lpstr>FangSong_GB2312</vt:lpstr>
      <vt:lpstr>仿宋</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Rainlin</cp:lastModifiedBy>
  <cp:revision>13</cp:revision>
  <dcterms:created xsi:type="dcterms:W3CDTF">1900-01-01T00:00:00Z</dcterms:created>
  <dcterms:modified xsi:type="dcterms:W3CDTF">2026-09-09T13:49:23Z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wqlLaW5nc29mdCBQREYgdG8gV1BTIDEyMA</vt:lpwstr>
  </property>
  <property fmtid="{D5CDD505-2E9C-101B-9397-08002B2CF9AE}" pid="3" name="Created">
    <vt:filetime>1900-01-01T00:00:00Z</vt:filetime>
  </property>
  <property fmtid="{D5CDD505-2E9C-101B-9397-08002B2CF9AE}" pid="4" name="ICV">
    <vt:lpwstr>9DE0CB414E8B434987894FC7DBB7D93B_13</vt:lpwstr>
  </property>
  <property fmtid="{D5CDD505-2E9C-101B-9397-08002B2CF9AE}" pid="5" name="KSOProductBuildVer">
    <vt:lpwstr>2052-12.1.0.28043</vt:lpwstr>
  </property>
</Properties>
</file>